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15" autoAdjust="0"/>
  </p:normalViewPr>
  <p:slideViewPr>
    <p:cSldViewPr>
      <p:cViewPr>
        <p:scale>
          <a:sx n="71" d="100"/>
          <a:sy n="71" d="100"/>
        </p:scale>
        <p:origin x="-13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87041-E065-43E7-80B3-78CEBD137838}" type="datetimeFigureOut">
              <a:rPr lang="fr-FR" smtClean="0"/>
              <a:pPr/>
              <a:t>12/04/2017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B903AF-83D2-4E34-A9F3-0D2B0D89452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B903AF-83D2-4E34-A9F3-0D2B0D894525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38729-4FF0-4E22-B267-571BA06C0E45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F2D1-AB0F-4EA7-BC96-7DD256BD1164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0CF6B-966C-45F7-85AF-FEFBD8C5E02C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C3D7B6E7-2A9C-4C2F-A246-217555B6AD62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FEA9D-EC49-43AA-A662-1B0B0B695801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B2EFA-5AF7-41D3-B350-8942D15601D7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0C02-E963-4DCA-AE96-420402AC18E5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35564-484D-4F7E-A774-F58EC07DCCE1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5F440E95-773E-400B-9891-C2500FE26908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90B5-ADBB-4BED-ABCA-9046CEFF1E14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803A-68FE-4C3B-88EB-3C062B0382CC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DA67433-7334-4432-85F8-0D521CB3D39B}" type="datetime1">
              <a:rPr lang="fr-FR" smtClean="0"/>
              <a:pPr/>
              <a:t>12/04/2017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E7315D6-C9F4-47EB-B13E-8BFE726CDFC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537592"/>
          </a:xfrm>
        </p:spPr>
        <p:txBody>
          <a:bodyPr>
            <a:normAutofit/>
          </a:bodyPr>
          <a:lstStyle/>
          <a:p>
            <a:r>
              <a:rPr lang="fr-FR" dirty="0" smtClean="0"/>
              <a:t>Présenté par : DR. T. BENOUHIBA</a:t>
            </a:r>
          </a:p>
          <a:p>
            <a:endParaRPr lang="fr-FR" dirty="0" smtClean="0"/>
          </a:p>
        </p:txBody>
      </p:sp>
      <p:sp>
        <p:nvSpPr>
          <p:cNvPr id="37" name="Espace réservé du pied de page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1520" y="381000"/>
            <a:ext cx="8496944" cy="1752600"/>
          </a:xfrm>
        </p:spPr>
        <p:txBody>
          <a:bodyPr>
            <a:normAutofit/>
          </a:bodyPr>
          <a:lstStyle/>
          <a:p>
            <a:r>
              <a:rPr lang="fr-FR" sz="3200" dirty="0" smtClean="0"/>
              <a:t>Chapitre 3 : les formalismes sémantiques de spécification</a:t>
            </a:r>
            <a:endParaRPr lang="fr-FR" sz="3200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79512" y="116632"/>
          <a:ext cx="87849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3"/>
                <a:gridCol w="2288391"/>
                <a:gridCol w="2680162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Master ILC</a:t>
                      </a:r>
                    </a:p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Département d’informatique</a:t>
                      </a:r>
                    </a:p>
                    <a:p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Université </a:t>
                      </a:r>
                      <a:r>
                        <a:rPr lang="fr-FR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Badji</a:t>
                      </a:r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 </a:t>
                      </a:r>
                      <a:r>
                        <a:rPr lang="fr-FR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Mokhtar</a:t>
                      </a:r>
                      <a:r>
                        <a:rPr lang="fr-FR" sz="1600" dirty="0" smtClean="0">
                          <a:solidFill>
                            <a:schemeClr val="tx2"/>
                          </a:solidFill>
                          <a:latin typeface="+mj-lt"/>
                        </a:rPr>
                        <a:t> Annaba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6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160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ماستر</a:t>
                      </a:r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 هندسة البرامج المعقدة</a:t>
                      </a:r>
                    </a:p>
                    <a:p>
                      <a:pPr algn="r"/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قسم الإعلام الآلي</a:t>
                      </a:r>
                    </a:p>
                    <a:p>
                      <a:pPr algn="r"/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جامعة </a:t>
                      </a:r>
                      <a:r>
                        <a:rPr lang="ar-DZ" sz="1600" baseline="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باجي</a:t>
                      </a:r>
                      <a:r>
                        <a:rPr lang="ar-DZ" sz="1600" baseline="0" dirty="0" smtClean="0">
                          <a:solidFill>
                            <a:schemeClr val="tx2"/>
                          </a:solidFill>
                          <a:latin typeface="+mj-lt"/>
                        </a:rPr>
                        <a:t> مختار </a:t>
                      </a:r>
                      <a:r>
                        <a:rPr lang="ar-DZ" sz="1600" baseline="0" dirty="0" err="1" smtClean="0">
                          <a:solidFill>
                            <a:schemeClr val="tx2"/>
                          </a:solidFill>
                          <a:latin typeface="+mj-lt"/>
                        </a:rPr>
                        <a:t>عنابة</a:t>
                      </a:r>
                      <a:endParaRPr lang="fr-FR" sz="1600" dirty="0">
                        <a:solidFill>
                          <a:schemeClr val="tx2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4427984" y="188640"/>
          <a:ext cx="1057275" cy="790575"/>
        </p:xfrm>
        <a:graphic>
          <a:graphicData uri="http://schemas.openxmlformats.org/presentationml/2006/ole">
            <p:oleObj spid="_x0000_s1026" name="Picture" r:id="rId3" imgW="1051741" imgH="785820" progId="Word.Picture.8">
              <p:embed/>
            </p:oleObj>
          </a:graphicData>
        </a:graphic>
      </p:graphicFrame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1823045" y="3501008"/>
            <a:ext cx="5629275" cy="2408237"/>
            <a:chOff x="1538" y="1936"/>
            <a:chExt cx="8864" cy="3791"/>
          </a:xfrm>
        </p:grpSpPr>
        <p:sp>
          <p:nvSpPr>
            <p:cNvPr id="16389" name="AutoShape 5"/>
            <p:cNvSpPr>
              <a:spLocks noChangeArrowheads="1"/>
            </p:cNvSpPr>
            <p:nvPr/>
          </p:nvSpPr>
          <p:spPr bwMode="auto">
            <a:xfrm rot="10800000">
              <a:off x="6839" y="2391"/>
              <a:ext cx="3387" cy="953"/>
            </a:xfrm>
            <a:prstGeom prst="rtTriangle">
              <a:avLst/>
            </a:prstGeom>
            <a:solidFill>
              <a:srgbClr val="FABF8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5348" y="2467"/>
              <a:ext cx="4953" cy="1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ar-DZ" sz="2800" b="0" i="0" u="none" strike="noStrike" cap="none" normalizeH="0" baseline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Simplified Arabic" pitchFamily="18" charset="-78"/>
                  <a:ea typeface="Arial" pitchFamily="34" charset="0"/>
                  <a:cs typeface="Simplified Arabic" pitchFamily="18" charset="-78"/>
                </a:rPr>
                <a:t>مــخبر هــندسـة</a:t>
              </a:r>
              <a:endParaRPr kumimoji="0" lang="fr-FR" sz="2800" b="0" i="0" u="none" strike="noStrike" cap="none" normalizeH="0" baseline="0" smtClean="0">
                <a:ln>
                  <a:noFill/>
                </a:ln>
                <a:solidFill>
                  <a:srgbClr val="00359E"/>
                </a:solidFill>
                <a:effectLst/>
                <a:latin typeface="Arial" pitchFamily="34" charset="0"/>
                <a:ea typeface="Arial" pitchFamily="34" charset="0"/>
                <a:cs typeface="Simplified Arabic" pitchFamily="18" charset="-78"/>
              </a:endParaRPr>
            </a:p>
            <a:p>
              <a:pPr marL="0" marR="0" lvl="0" indent="0" algn="ctr" defTabSz="914400" rtl="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ar-DZ" sz="2800" b="0" i="0" u="none" strike="noStrike" cap="none" normalizeH="0" baseline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Simplified Arabic" pitchFamily="18" charset="-78"/>
                  <a:ea typeface="Arial" pitchFamily="34" charset="0"/>
                  <a:cs typeface="Simplified Arabic" pitchFamily="18" charset="-78"/>
                </a:rPr>
                <a:t>الأنـظمـة الـمعقـدة</a:t>
              </a:r>
              <a:endParaRPr kumimoji="0" 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391" name="AutoShape 7"/>
            <p:cNvSpPr>
              <a:spLocks noChangeArrowheads="1"/>
            </p:cNvSpPr>
            <p:nvPr/>
          </p:nvSpPr>
          <p:spPr bwMode="auto">
            <a:xfrm>
              <a:off x="5449" y="4407"/>
              <a:ext cx="3388" cy="954"/>
            </a:xfrm>
            <a:prstGeom prst="rtTriangle">
              <a:avLst/>
            </a:prstGeom>
            <a:solidFill>
              <a:srgbClr val="FABF8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898" y="3806"/>
              <a:ext cx="8403" cy="1276"/>
              <a:chOff x="3449" y="2209"/>
              <a:chExt cx="3691" cy="582"/>
            </a:xfrm>
          </p:grpSpPr>
          <p:sp>
            <p:nvSpPr>
              <p:cNvPr id="16393" name="Freeform 9"/>
              <p:cNvSpPr>
                <a:spLocks/>
              </p:cNvSpPr>
              <p:nvPr/>
            </p:nvSpPr>
            <p:spPr bwMode="auto">
              <a:xfrm>
                <a:off x="3449" y="2209"/>
                <a:ext cx="3688" cy="465"/>
              </a:xfrm>
              <a:custGeom>
                <a:avLst/>
                <a:gdLst/>
                <a:ahLst/>
                <a:cxnLst>
                  <a:cxn ang="0">
                    <a:pos x="0" y="465"/>
                  </a:cxn>
                  <a:cxn ang="0">
                    <a:pos x="1201" y="6"/>
                  </a:cxn>
                  <a:cxn ang="0">
                    <a:pos x="3688" y="6"/>
                  </a:cxn>
                </a:cxnLst>
                <a:rect l="0" t="0" r="r" b="b"/>
                <a:pathLst>
                  <a:path w="3688" h="465">
                    <a:moveTo>
                      <a:pt x="0" y="465"/>
                    </a:moveTo>
                    <a:cubicBezTo>
                      <a:pt x="308" y="254"/>
                      <a:pt x="531" y="0"/>
                      <a:pt x="1201" y="6"/>
                    </a:cubicBezTo>
                    <a:lnTo>
                      <a:pt x="3688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4" name="Freeform 10"/>
              <p:cNvSpPr>
                <a:spLocks/>
              </p:cNvSpPr>
              <p:nvPr/>
            </p:nvSpPr>
            <p:spPr bwMode="auto">
              <a:xfrm>
                <a:off x="3449" y="2248"/>
                <a:ext cx="3686" cy="474"/>
              </a:xfrm>
              <a:custGeom>
                <a:avLst/>
                <a:gdLst/>
                <a:ahLst/>
                <a:cxnLst>
                  <a:cxn ang="0">
                    <a:pos x="0" y="474"/>
                  </a:cxn>
                  <a:cxn ang="0">
                    <a:pos x="1199" y="6"/>
                  </a:cxn>
                  <a:cxn ang="0">
                    <a:pos x="3686" y="6"/>
                  </a:cxn>
                </a:cxnLst>
                <a:rect l="0" t="0" r="r" b="b"/>
                <a:pathLst>
                  <a:path w="3686" h="474">
                    <a:moveTo>
                      <a:pt x="0" y="474"/>
                    </a:moveTo>
                    <a:cubicBezTo>
                      <a:pt x="308" y="263"/>
                      <a:pt x="529" y="0"/>
                      <a:pt x="1199" y="6"/>
                    </a:cubicBezTo>
                    <a:lnTo>
                      <a:pt x="3686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5" name="Freeform 11"/>
              <p:cNvSpPr>
                <a:spLocks/>
              </p:cNvSpPr>
              <p:nvPr/>
            </p:nvSpPr>
            <p:spPr bwMode="auto">
              <a:xfrm>
                <a:off x="3500" y="2290"/>
                <a:ext cx="3637" cy="441"/>
              </a:xfrm>
              <a:custGeom>
                <a:avLst/>
                <a:gdLst/>
                <a:ahLst/>
                <a:cxnLst>
                  <a:cxn ang="0">
                    <a:pos x="0" y="441"/>
                  </a:cxn>
                  <a:cxn ang="0">
                    <a:pos x="1150" y="6"/>
                  </a:cxn>
                  <a:cxn ang="0">
                    <a:pos x="3637" y="6"/>
                  </a:cxn>
                </a:cxnLst>
                <a:rect l="0" t="0" r="r" b="b"/>
                <a:pathLst>
                  <a:path w="3637" h="441">
                    <a:moveTo>
                      <a:pt x="0" y="441"/>
                    </a:moveTo>
                    <a:cubicBezTo>
                      <a:pt x="308" y="230"/>
                      <a:pt x="480" y="0"/>
                      <a:pt x="1150" y="6"/>
                    </a:cubicBezTo>
                    <a:lnTo>
                      <a:pt x="3637" y="6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396" name="Freeform 12"/>
              <p:cNvSpPr>
                <a:spLocks/>
              </p:cNvSpPr>
              <p:nvPr/>
            </p:nvSpPr>
            <p:spPr bwMode="auto">
              <a:xfrm>
                <a:off x="3482" y="2329"/>
                <a:ext cx="3658" cy="462"/>
              </a:xfrm>
              <a:custGeom>
                <a:avLst/>
                <a:gdLst/>
                <a:ahLst/>
                <a:cxnLst>
                  <a:cxn ang="0">
                    <a:pos x="0" y="462"/>
                  </a:cxn>
                  <a:cxn ang="0">
                    <a:pos x="1166" y="6"/>
                  </a:cxn>
                  <a:cxn ang="0">
                    <a:pos x="3658" y="4"/>
                  </a:cxn>
                </a:cxnLst>
                <a:rect l="0" t="0" r="r" b="b"/>
                <a:pathLst>
                  <a:path w="3658" h="462">
                    <a:moveTo>
                      <a:pt x="0" y="462"/>
                    </a:moveTo>
                    <a:cubicBezTo>
                      <a:pt x="308" y="251"/>
                      <a:pt x="496" y="0"/>
                      <a:pt x="1166" y="6"/>
                    </a:cubicBezTo>
                    <a:lnTo>
                      <a:pt x="3658" y="4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  <p:sp>
          <p:nvSpPr>
            <p:cNvPr id="16397" name="Rectangle 13"/>
            <p:cNvSpPr>
              <a:spLocks noChangeArrowheads="1"/>
            </p:cNvSpPr>
            <p:nvPr/>
          </p:nvSpPr>
          <p:spPr bwMode="auto">
            <a:xfrm>
              <a:off x="10246" y="3734"/>
              <a:ext cx="156" cy="3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6398" name="Text Box 14"/>
            <p:cNvSpPr txBox="1">
              <a:spLocks noChangeArrowheads="1"/>
            </p:cNvSpPr>
            <p:nvPr/>
          </p:nvSpPr>
          <p:spPr bwMode="auto">
            <a:xfrm>
              <a:off x="5413" y="4225"/>
              <a:ext cx="4794" cy="1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2200" b="1" i="0" u="none" strike="noStrike" cap="none" normalizeH="0" baseline="0" dirty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Laboratoire  d’Ingénierie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sz="2200" b="1" i="0" u="none" strike="noStrike" cap="none" normalizeH="0" baseline="0" dirty="0" smtClean="0">
                  <a:ln>
                    <a:noFill/>
                  </a:ln>
                  <a:solidFill>
                    <a:srgbClr val="00359E"/>
                  </a:solidFill>
                  <a:effectLst/>
                  <a:latin typeface="Calibri" pitchFamily="34" charset="0"/>
                  <a:ea typeface="Arial" pitchFamily="34" charset="0"/>
                  <a:cs typeface="Arial" pitchFamily="34" charset="0"/>
                </a:rPr>
                <a:t>des  Systèmes  Complexes</a:t>
              </a:r>
              <a:endParaRPr kumimoji="0" lang="fr-F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1538" y="1936"/>
              <a:ext cx="3784" cy="3791"/>
              <a:chOff x="3301" y="1332"/>
              <a:chExt cx="1726" cy="1729"/>
            </a:xfrm>
          </p:grpSpPr>
          <p:sp>
            <p:nvSpPr>
              <p:cNvPr id="16400" name="Freeform 16"/>
              <p:cNvSpPr>
                <a:spLocks/>
              </p:cNvSpPr>
              <p:nvPr/>
            </p:nvSpPr>
            <p:spPr bwMode="auto">
              <a:xfrm>
                <a:off x="4131" y="1776"/>
                <a:ext cx="244" cy="295"/>
              </a:xfrm>
              <a:custGeom>
                <a:avLst/>
                <a:gdLst/>
                <a:ahLst/>
                <a:cxnLst>
                  <a:cxn ang="0">
                    <a:pos x="120" y="238"/>
                  </a:cxn>
                  <a:cxn ang="0">
                    <a:pos x="190" y="55"/>
                  </a:cxn>
                  <a:cxn ang="0">
                    <a:pos x="47" y="118"/>
                  </a:cxn>
                  <a:cxn ang="0">
                    <a:pos x="82" y="295"/>
                  </a:cxn>
                  <a:cxn ang="0">
                    <a:pos x="58" y="149"/>
                  </a:cxn>
                  <a:cxn ang="0">
                    <a:pos x="152" y="100"/>
                  </a:cxn>
                  <a:cxn ang="0">
                    <a:pos x="120" y="238"/>
                  </a:cxn>
                </a:cxnLst>
                <a:rect l="0" t="0" r="r" b="b"/>
                <a:pathLst>
                  <a:path w="244" h="295">
                    <a:moveTo>
                      <a:pt x="120" y="238"/>
                    </a:moveTo>
                    <a:cubicBezTo>
                      <a:pt x="184" y="192"/>
                      <a:pt x="244" y="110"/>
                      <a:pt x="190" y="55"/>
                    </a:cubicBezTo>
                    <a:cubicBezTo>
                      <a:pt x="136" y="0"/>
                      <a:pt x="64" y="81"/>
                      <a:pt x="47" y="118"/>
                    </a:cubicBezTo>
                    <a:cubicBezTo>
                      <a:pt x="29" y="156"/>
                      <a:pt x="0" y="220"/>
                      <a:pt x="82" y="295"/>
                    </a:cubicBezTo>
                    <a:cubicBezTo>
                      <a:pt x="35" y="244"/>
                      <a:pt x="36" y="183"/>
                      <a:pt x="58" y="149"/>
                    </a:cubicBezTo>
                    <a:cubicBezTo>
                      <a:pt x="81" y="115"/>
                      <a:pt x="115" y="70"/>
                      <a:pt x="152" y="100"/>
                    </a:cubicBezTo>
                    <a:cubicBezTo>
                      <a:pt x="188" y="129"/>
                      <a:pt x="159" y="194"/>
                      <a:pt x="120" y="238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1" name="Freeform 17"/>
              <p:cNvSpPr>
                <a:spLocks/>
              </p:cNvSpPr>
              <p:nvPr/>
            </p:nvSpPr>
            <p:spPr bwMode="auto">
              <a:xfrm>
                <a:off x="4246" y="1937"/>
                <a:ext cx="226" cy="190"/>
              </a:xfrm>
              <a:custGeom>
                <a:avLst/>
                <a:gdLst/>
                <a:ahLst/>
                <a:cxnLst>
                  <a:cxn ang="0">
                    <a:pos x="151" y="0"/>
                  </a:cxn>
                  <a:cxn ang="0">
                    <a:pos x="0" y="152"/>
                  </a:cxn>
                  <a:cxn ang="0">
                    <a:pos x="202" y="107"/>
                  </a:cxn>
                  <a:cxn ang="0">
                    <a:pos x="151" y="0"/>
                  </a:cxn>
                </a:cxnLst>
                <a:rect l="0" t="0" r="r" b="b"/>
                <a:pathLst>
                  <a:path w="226" h="190">
                    <a:moveTo>
                      <a:pt x="151" y="0"/>
                    </a:moveTo>
                    <a:cubicBezTo>
                      <a:pt x="121" y="55"/>
                      <a:pt x="83" y="151"/>
                      <a:pt x="0" y="152"/>
                    </a:cubicBezTo>
                    <a:cubicBezTo>
                      <a:pt x="69" y="190"/>
                      <a:pt x="178" y="151"/>
                      <a:pt x="202" y="107"/>
                    </a:cubicBezTo>
                    <a:cubicBezTo>
                      <a:pt x="226" y="64"/>
                      <a:pt x="196" y="12"/>
                      <a:pt x="151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2" name="Freeform 18"/>
              <p:cNvSpPr>
                <a:spLocks noChangeAspect="1"/>
              </p:cNvSpPr>
              <p:nvPr/>
            </p:nvSpPr>
            <p:spPr bwMode="auto">
              <a:xfrm rot="-451034">
                <a:off x="4367" y="1996"/>
                <a:ext cx="57" cy="48"/>
              </a:xfrm>
              <a:custGeom>
                <a:avLst/>
                <a:gdLst/>
                <a:ahLst/>
                <a:cxnLst>
                  <a:cxn ang="0">
                    <a:pos x="111" y="0"/>
                  </a:cxn>
                  <a:cxn ang="0">
                    <a:pos x="0" y="182"/>
                  </a:cxn>
                  <a:cxn ang="0">
                    <a:pos x="133" y="86"/>
                  </a:cxn>
                  <a:cxn ang="0">
                    <a:pos x="111" y="0"/>
                  </a:cxn>
                </a:cxnLst>
                <a:rect l="0" t="0" r="r" b="b"/>
                <a:pathLst>
                  <a:path w="146" h="182">
                    <a:moveTo>
                      <a:pt x="111" y="0"/>
                    </a:moveTo>
                    <a:cubicBezTo>
                      <a:pt x="90" y="56"/>
                      <a:pt x="60" y="128"/>
                      <a:pt x="0" y="182"/>
                    </a:cubicBezTo>
                    <a:cubicBezTo>
                      <a:pt x="107" y="129"/>
                      <a:pt x="121" y="112"/>
                      <a:pt x="133" y="86"/>
                    </a:cubicBezTo>
                    <a:cubicBezTo>
                      <a:pt x="146" y="60"/>
                      <a:pt x="123" y="9"/>
                      <a:pt x="1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3" name="Freeform 19"/>
              <p:cNvSpPr>
                <a:spLocks/>
              </p:cNvSpPr>
              <p:nvPr/>
            </p:nvSpPr>
            <p:spPr bwMode="auto">
              <a:xfrm>
                <a:off x="3921" y="1687"/>
                <a:ext cx="390" cy="562"/>
              </a:xfrm>
              <a:custGeom>
                <a:avLst/>
                <a:gdLst/>
                <a:ahLst/>
                <a:cxnLst>
                  <a:cxn ang="0">
                    <a:pos x="224" y="0"/>
                  </a:cxn>
                  <a:cxn ang="0">
                    <a:pos x="114" y="529"/>
                  </a:cxn>
                  <a:cxn ang="0">
                    <a:pos x="324" y="286"/>
                  </a:cxn>
                  <a:cxn ang="0">
                    <a:pos x="210" y="307"/>
                  </a:cxn>
                  <a:cxn ang="0">
                    <a:pos x="260" y="421"/>
                  </a:cxn>
                  <a:cxn ang="0">
                    <a:pos x="227" y="356"/>
                  </a:cxn>
                  <a:cxn ang="0">
                    <a:pos x="288" y="319"/>
                  </a:cxn>
                  <a:cxn ang="0">
                    <a:pos x="174" y="466"/>
                  </a:cxn>
                  <a:cxn ang="0">
                    <a:pos x="224" y="0"/>
                  </a:cxn>
                </a:cxnLst>
                <a:rect l="0" t="0" r="r" b="b"/>
                <a:pathLst>
                  <a:path w="390" h="562">
                    <a:moveTo>
                      <a:pt x="224" y="0"/>
                    </a:moveTo>
                    <a:cubicBezTo>
                      <a:pt x="183" y="287"/>
                      <a:pt x="0" y="496"/>
                      <a:pt x="114" y="529"/>
                    </a:cubicBezTo>
                    <a:cubicBezTo>
                      <a:pt x="228" y="562"/>
                      <a:pt x="390" y="373"/>
                      <a:pt x="324" y="286"/>
                    </a:cubicBezTo>
                    <a:cubicBezTo>
                      <a:pt x="290" y="239"/>
                      <a:pt x="225" y="265"/>
                      <a:pt x="210" y="307"/>
                    </a:cubicBezTo>
                    <a:cubicBezTo>
                      <a:pt x="195" y="349"/>
                      <a:pt x="200" y="394"/>
                      <a:pt x="260" y="421"/>
                    </a:cubicBezTo>
                    <a:cubicBezTo>
                      <a:pt x="228" y="408"/>
                      <a:pt x="223" y="380"/>
                      <a:pt x="227" y="356"/>
                    </a:cubicBezTo>
                    <a:cubicBezTo>
                      <a:pt x="231" y="332"/>
                      <a:pt x="252" y="280"/>
                      <a:pt x="288" y="319"/>
                    </a:cubicBezTo>
                    <a:cubicBezTo>
                      <a:pt x="324" y="358"/>
                      <a:pt x="264" y="474"/>
                      <a:pt x="174" y="466"/>
                    </a:cubicBezTo>
                    <a:cubicBezTo>
                      <a:pt x="84" y="458"/>
                      <a:pt x="183" y="281"/>
                      <a:pt x="224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4" name="Freeform 20"/>
              <p:cNvSpPr>
                <a:spLocks/>
              </p:cNvSpPr>
              <p:nvPr/>
            </p:nvSpPr>
            <p:spPr bwMode="auto">
              <a:xfrm rot="870589">
                <a:off x="3721" y="1921"/>
                <a:ext cx="273" cy="347"/>
              </a:xfrm>
              <a:custGeom>
                <a:avLst/>
                <a:gdLst/>
                <a:ahLst/>
                <a:cxnLst>
                  <a:cxn ang="0">
                    <a:pos x="980" y="0"/>
                  </a:cxn>
                  <a:cxn ang="0">
                    <a:pos x="0" y="1804"/>
                  </a:cxn>
                  <a:cxn ang="0">
                    <a:pos x="1355" y="597"/>
                  </a:cxn>
                  <a:cxn ang="0">
                    <a:pos x="980" y="0"/>
                  </a:cxn>
                </a:cxnLst>
                <a:rect l="0" t="0" r="r" b="b"/>
                <a:pathLst>
                  <a:path w="1424" h="1804">
                    <a:moveTo>
                      <a:pt x="980" y="0"/>
                    </a:moveTo>
                    <a:cubicBezTo>
                      <a:pt x="876" y="574"/>
                      <a:pt x="486" y="1238"/>
                      <a:pt x="0" y="1804"/>
                    </a:cubicBezTo>
                    <a:cubicBezTo>
                      <a:pt x="1057" y="699"/>
                      <a:pt x="1286" y="889"/>
                      <a:pt x="1355" y="597"/>
                    </a:cubicBezTo>
                    <a:cubicBezTo>
                      <a:pt x="1424" y="305"/>
                      <a:pt x="1136" y="42"/>
                      <a:pt x="980" y="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5" name="Freeform 21"/>
              <p:cNvSpPr>
                <a:spLocks/>
              </p:cNvSpPr>
              <p:nvPr/>
            </p:nvSpPr>
            <p:spPr bwMode="auto">
              <a:xfrm rot="32812">
                <a:off x="3896" y="2009"/>
                <a:ext cx="71" cy="71"/>
              </a:xfrm>
              <a:custGeom>
                <a:avLst/>
                <a:gdLst/>
                <a:ahLst/>
                <a:cxnLst>
                  <a:cxn ang="0">
                    <a:pos x="1386" y="0"/>
                  </a:cxn>
                  <a:cxn ang="0">
                    <a:pos x="0" y="1515"/>
                  </a:cxn>
                  <a:cxn ang="0">
                    <a:pos x="1625" y="682"/>
                  </a:cxn>
                  <a:cxn ang="0">
                    <a:pos x="1386" y="0"/>
                  </a:cxn>
                </a:cxnLst>
                <a:rect l="0" t="0" r="r" b="b"/>
                <a:pathLst>
                  <a:path w="1768" h="1515">
                    <a:moveTo>
                      <a:pt x="1386" y="0"/>
                    </a:moveTo>
                    <a:cubicBezTo>
                      <a:pt x="1147" y="532"/>
                      <a:pt x="437" y="1255"/>
                      <a:pt x="0" y="1515"/>
                    </a:cubicBezTo>
                    <a:cubicBezTo>
                      <a:pt x="1004" y="941"/>
                      <a:pt x="1482" y="934"/>
                      <a:pt x="1625" y="682"/>
                    </a:cubicBezTo>
                    <a:cubicBezTo>
                      <a:pt x="1768" y="430"/>
                      <a:pt x="1527" y="79"/>
                      <a:pt x="1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6" name="Freeform 22"/>
              <p:cNvSpPr>
                <a:spLocks/>
              </p:cNvSpPr>
              <p:nvPr/>
            </p:nvSpPr>
            <p:spPr bwMode="auto">
              <a:xfrm>
                <a:off x="3917" y="2188"/>
                <a:ext cx="206" cy="369"/>
              </a:xfrm>
              <a:custGeom>
                <a:avLst/>
                <a:gdLst/>
                <a:ahLst/>
                <a:cxnLst>
                  <a:cxn ang="0">
                    <a:pos x="83" y="116"/>
                  </a:cxn>
                  <a:cxn ang="0">
                    <a:pos x="238" y="1923"/>
                  </a:cxn>
                  <a:cxn ang="0">
                    <a:pos x="960" y="1542"/>
                  </a:cxn>
                  <a:cxn ang="0">
                    <a:pos x="1075" y="1209"/>
                  </a:cxn>
                  <a:cxn ang="0">
                    <a:pos x="363" y="1682"/>
                  </a:cxn>
                  <a:cxn ang="0">
                    <a:pos x="455" y="450"/>
                  </a:cxn>
                  <a:cxn ang="0">
                    <a:pos x="83" y="116"/>
                  </a:cxn>
                </a:cxnLst>
                <a:rect l="0" t="0" r="r" b="b"/>
                <a:pathLst>
                  <a:path w="1075" h="1923">
                    <a:moveTo>
                      <a:pt x="83" y="116"/>
                    </a:moveTo>
                    <a:cubicBezTo>
                      <a:pt x="0" y="232"/>
                      <a:pt x="261" y="1218"/>
                      <a:pt x="238" y="1923"/>
                    </a:cubicBezTo>
                    <a:cubicBezTo>
                      <a:pt x="645" y="1654"/>
                      <a:pt x="784" y="1611"/>
                      <a:pt x="960" y="1542"/>
                    </a:cubicBezTo>
                    <a:lnTo>
                      <a:pt x="1075" y="1209"/>
                    </a:lnTo>
                    <a:cubicBezTo>
                      <a:pt x="812" y="1357"/>
                      <a:pt x="705" y="1598"/>
                      <a:pt x="363" y="1682"/>
                    </a:cubicBezTo>
                    <a:cubicBezTo>
                      <a:pt x="488" y="625"/>
                      <a:pt x="722" y="590"/>
                      <a:pt x="455" y="450"/>
                    </a:cubicBezTo>
                    <a:cubicBezTo>
                      <a:pt x="188" y="310"/>
                      <a:pt x="166" y="0"/>
                      <a:pt x="83" y="116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7" name="Freeform 23"/>
              <p:cNvSpPr>
                <a:spLocks/>
              </p:cNvSpPr>
              <p:nvPr/>
            </p:nvSpPr>
            <p:spPr bwMode="auto">
              <a:xfrm>
                <a:off x="4069" y="2279"/>
                <a:ext cx="64" cy="144"/>
              </a:xfrm>
              <a:custGeom>
                <a:avLst/>
                <a:gdLst/>
                <a:ahLst/>
                <a:cxnLst>
                  <a:cxn ang="0">
                    <a:pos x="64" y="101"/>
                  </a:cxn>
                  <a:cxn ang="0">
                    <a:pos x="0" y="751"/>
                  </a:cxn>
                  <a:cxn ang="0">
                    <a:pos x="259" y="559"/>
                  </a:cxn>
                  <a:cxn ang="0">
                    <a:pos x="331" y="0"/>
                  </a:cxn>
                  <a:cxn ang="0">
                    <a:pos x="64" y="101"/>
                  </a:cxn>
                </a:cxnLst>
                <a:rect l="0" t="0" r="r" b="b"/>
                <a:pathLst>
                  <a:path w="331" h="751">
                    <a:moveTo>
                      <a:pt x="64" y="101"/>
                    </a:moveTo>
                    <a:cubicBezTo>
                      <a:pt x="11" y="224"/>
                      <a:pt x="190" y="233"/>
                      <a:pt x="0" y="751"/>
                    </a:cubicBezTo>
                    <a:cubicBezTo>
                      <a:pt x="103" y="666"/>
                      <a:pt x="143" y="624"/>
                      <a:pt x="259" y="559"/>
                    </a:cubicBezTo>
                    <a:cubicBezTo>
                      <a:pt x="207" y="320"/>
                      <a:pt x="303" y="111"/>
                      <a:pt x="331" y="0"/>
                    </a:cubicBezTo>
                    <a:cubicBezTo>
                      <a:pt x="192" y="139"/>
                      <a:pt x="115" y="83"/>
                      <a:pt x="64" y="101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8" name="Freeform 24"/>
              <p:cNvSpPr>
                <a:spLocks/>
              </p:cNvSpPr>
              <p:nvPr/>
            </p:nvSpPr>
            <p:spPr bwMode="auto">
              <a:xfrm>
                <a:off x="4142" y="2176"/>
                <a:ext cx="170" cy="287"/>
              </a:xfrm>
              <a:custGeom>
                <a:avLst/>
                <a:gdLst/>
                <a:ahLst/>
                <a:cxnLst>
                  <a:cxn ang="0">
                    <a:pos x="515" y="55"/>
                  </a:cxn>
                  <a:cxn ang="0">
                    <a:pos x="885" y="0"/>
                  </a:cxn>
                  <a:cxn ang="0">
                    <a:pos x="784" y="166"/>
                  </a:cxn>
                  <a:cxn ang="0">
                    <a:pos x="321" y="447"/>
                  </a:cxn>
                  <a:cxn ang="0">
                    <a:pos x="719" y="962"/>
                  </a:cxn>
                  <a:cxn ang="0">
                    <a:pos x="0" y="1500"/>
                  </a:cxn>
                  <a:cxn ang="0">
                    <a:pos x="93" y="1218"/>
                  </a:cxn>
                  <a:cxn ang="0">
                    <a:pos x="557" y="957"/>
                  </a:cxn>
                  <a:cxn ang="0">
                    <a:pos x="137" y="503"/>
                  </a:cxn>
                  <a:cxn ang="0">
                    <a:pos x="515" y="55"/>
                  </a:cxn>
                </a:cxnLst>
                <a:rect l="0" t="0" r="r" b="b"/>
                <a:pathLst>
                  <a:path w="885" h="1500">
                    <a:moveTo>
                      <a:pt x="515" y="55"/>
                    </a:moveTo>
                    <a:cubicBezTo>
                      <a:pt x="674" y="21"/>
                      <a:pt x="691" y="21"/>
                      <a:pt x="885" y="0"/>
                    </a:cubicBezTo>
                    <a:cubicBezTo>
                      <a:pt x="885" y="0"/>
                      <a:pt x="835" y="88"/>
                      <a:pt x="784" y="166"/>
                    </a:cubicBezTo>
                    <a:cubicBezTo>
                      <a:pt x="566" y="210"/>
                      <a:pt x="393" y="183"/>
                      <a:pt x="321" y="447"/>
                    </a:cubicBezTo>
                    <a:cubicBezTo>
                      <a:pt x="249" y="711"/>
                      <a:pt x="770" y="592"/>
                      <a:pt x="719" y="962"/>
                    </a:cubicBezTo>
                    <a:cubicBezTo>
                      <a:pt x="668" y="1332"/>
                      <a:pt x="537" y="1198"/>
                      <a:pt x="0" y="1500"/>
                    </a:cubicBezTo>
                    <a:lnTo>
                      <a:pt x="93" y="1218"/>
                    </a:lnTo>
                    <a:cubicBezTo>
                      <a:pt x="353" y="1106"/>
                      <a:pt x="516" y="1200"/>
                      <a:pt x="557" y="957"/>
                    </a:cubicBezTo>
                    <a:cubicBezTo>
                      <a:pt x="598" y="714"/>
                      <a:pt x="100" y="835"/>
                      <a:pt x="137" y="503"/>
                    </a:cubicBezTo>
                    <a:cubicBezTo>
                      <a:pt x="174" y="170"/>
                      <a:pt x="356" y="89"/>
                      <a:pt x="515" y="55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09" name="Freeform 25"/>
              <p:cNvSpPr>
                <a:spLocks/>
              </p:cNvSpPr>
              <p:nvPr/>
            </p:nvSpPr>
            <p:spPr bwMode="auto">
              <a:xfrm rot="245917">
                <a:off x="4290" y="2157"/>
                <a:ext cx="187" cy="263"/>
              </a:xfrm>
              <a:custGeom>
                <a:avLst/>
                <a:gdLst/>
                <a:ahLst/>
                <a:cxnLst>
                  <a:cxn ang="0">
                    <a:pos x="956" y="22"/>
                  </a:cxn>
                  <a:cxn ang="0">
                    <a:pos x="327" y="219"/>
                  </a:cxn>
                  <a:cxn ang="0">
                    <a:pos x="275" y="1175"/>
                  </a:cxn>
                  <a:cxn ang="0">
                    <a:pos x="973" y="1031"/>
                  </a:cxn>
                  <a:cxn ang="0">
                    <a:pos x="891" y="883"/>
                  </a:cxn>
                  <a:cxn ang="0">
                    <a:pos x="372" y="1027"/>
                  </a:cxn>
                  <a:cxn ang="0">
                    <a:pos x="386" y="416"/>
                  </a:cxn>
                  <a:cxn ang="0">
                    <a:pos x="840" y="295"/>
                  </a:cxn>
                  <a:cxn ang="0">
                    <a:pos x="956" y="22"/>
                  </a:cxn>
                </a:cxnLst>
                <a:rect l="0" t="0" r="r" b="b"/>
                <a:pathLst>
                  <a:path w="973" h="1370">
                    <a:moveTo>
                      <a:pt x="956" y="22"/>
                    </a:moveTo>
                    <a:cubicBezTo>
                      <a:pt x="673" y="15"/>
                      <a:pt x="508" y="0"/>
                      <a:pt x="327" y="219"/>
                    </a:cubicBezTo>
                    <a:cubicBezTo>
                      <a:pt x="146" y="437"/>
                      <a:pt x="0" y="980"/>
                      <a:pt x="275" y="1175"/>
                    </a:cubicBezTo>
                    <a:cubicBezTo>
                      <a:pt x="551" y="1370"/>
                      <a:pt x="878" y="1101"/>
                      <a:pt x="973" y="1031"/>
                    </a:cubicBezTo>
                    <a:cubicBezTo>
                      <a:pt x="931" y="967"/>
                      <a:pt x="914" y="957"/>
                      <a:pt x="891" y="883"/>
                    </a:cubicBezTo>
                    <a:cubicBezTo>
                      <a:pt x="717" y="1109"/>
                      <a:pt x="497" y="1106"/>
                      <a:pt x="372" y="1027"/>
                    </a:cubicBezTo>
                    <a:cubicBezTo>
                      <a:pt x="247" y="948"/>
                      <a:pt x="256" y="681"/>
                      <a:pt x="386" y="416"/>
                    </a:cubicBezTo>
                    <a:cubicBezTo>
                      <a:pt x="517" y="150"/>
                      <a:pt x="731" y="218"/>
                      <a:pt x="840" y="295"/>
                    </a:cubicBezTo>
                    <a:cubicBezTo>
                      <a:pt x="872" y="198"/>
                      <a:pt x="877" y="129"/>
                      <a:pt x="956" y="22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0" name="AutoShape 26"/>
              <p:cNvSpPr>
                <a:spLocks noChangeArrowheads="1"/>
              </p:cNvSpPr>
              <p:nvPr/>
            </p:nvSpPr>
            <p:spPr bwMode="auto">
              <a:xfrm rot="386608">
                <a:off x="4485" y="2169"/>
                <a:ext cx="100" cy="188"/>
              </a:xfrm>
              <a:custGeom>
                <a:avLst/>
                <a:gdLst>
                  <a:gd name="G0" fmla="+- 4491 0 0"/>
                  <a:gd name="G1" fmla="+- 21600 0 4491"/>
                  <a:gd name="G2" fmla="+- 21600 0 4491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491" y="10800"/>
                    </a:moveTo>
                    <a:cubicBezTo>
                      <a:pt x="4491" y="14284"/>
                      <a:pt x="7316" y="17109"/>
                      <a:pt x="10800" y="17109"/>
                    </a:cubicBezTo>
                    <a:cubicBezTo>
                      <a:pt x="14284" y="17109"/>
                      <a:pt x="17109" y="14284"/>
                      <a:pt x="17109" y="10800"/>
                    </a:cubicBezTo>
                    <a:cubicBezTo>
                      <a:pt x="17109" y="7316"/>
                      <a:pt x="14284" y="4491"/>
                      <a:pt x="10800" y="4491"/>
                    </a:cubicBezTo>
                    <a:cubicBezTo>
                      <a:pt x="7316" y="4491"/>
                      <a:pt x="4491" y="7316"/>
                      <a:pt x="4491" y="10800"/>
                    </a:cubicBezTo>
                    <a:close/>
                  </a:path>
                </a:pathLst>
              </a:cu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1" name="Oval 27"/>
              <p:cNvSpPr>
                <a:spLocks noChangeArrowheads="1"/>
              </p:cNvSpPr>
              <p:nvPr/>
            </p:nvSpPr>
            <p:spPr bwMode="auto">
              <a:xfrm>
                <a:off x="4085" y="2239"/>
                <a:ext cx="32" cy="30"/>
              </a:xfrm>
              <a:prstGeom prst="ellipse">
                <a:avLst/>
              </a:prstGeom>
              <a:solidFill>
                <a:srgbClr val="C4BC96"/>
              </a:solidFill>
              <a:ln w="6350">
                <a:solidFill>
                  <a:srgbClr val="0D0D0D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2" name="Freeform 28"/>
              <p:cNvSpPr>
                <a:spLocks/>
              </p:cNvSpPr>
              <p:nvPr/>
            </p:nvSpPr>
            <p:spPr bwMode="auto">
              <a:xfrm rot="10800000">
                <a:off x="4100" y="1524"/>
                <a:ext cx="927" cy="1510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3" name="Freeform 29"/>
              <p:cNvSpPr>
                <a:spLocks/>
              </p:cNvSpPr>
              <p:nvPr/>
            </p:nvSpPr>
            <p:spPr bwMode="auto">
              <a:xfrm>
                <a:off x="3301" y="1357"/>
                <a:ext cx="927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4" name="Freeform 30"/>
              <p:cNvSpPr>
                <a:spLocks/>
              </p:cNvSpPr>
              <p:nvPr/>
            </p:nvSpPr>
            <p:spPr bwMode="auto">
              <a:xfrm rot="5400000">
                <a:off x="3788" y="1039"/>
                <a:ext cx="926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5" name="Freeform 31"/>
              <p:cNvSpPr>
                <a:spLocks/>
              </p:cNvSpPr>
              <p:nvPr/>
            </p:nvSpPr>
            <p:spPr bwMode="auto">
              <a:xfrm rot="16200000">
                <a:off x="3616" y="1842"/>
                <a:ext cx="926" cy="1511"/>
              </a:xfrm>
              <a:custGeom>
                <a:avLst/>
                <a:gdLst/>
                <a:ahLst/>
                <a:cxnLst>
                  <a:cxn ang="0">
                    <a:pos x="4829" y="93"/>
                  </a:cxn>
                  <a:cxn ang="0">
                    <a:pos x="3324" y="495"/>
                  </a:cxn>
                  <a:cxn ang="0">
                    <a:pos x="631" y="3142"/>
                  </a:cxn>
                  <a:cxn ang="0">
                    <a:pos x="532" y="4523"/>
                  </a:cxn>
                  <a:cxn ang="0">
                    <a:pos x="3492" y="7490"/>
                  </a:cxn>
                  <a:cxn ang="0">
                    <a:pos x="4511" y="7508"/>
                  </a:cxn>
                  <a:cxn ang="0">
                    <a:pos x="1369" y="4367"/>
                  </a:cxn>
                  <a:cxn ang="0">
                    <a:pos x="1360" y="3432"/>
                  </a:cxn>
                  <a:cxn ang="0">
                    <a:pos x="4100" y="682"/>
                  </a:cxn>
                  <a:cxn ang="0">
                    <a:pos x="4829" y="93"/>
                  </a:cxn>
                </a:cxnLst>
                <a:rect l="0" t="0" r="r" b="b"/>
                <a:pathLst>
                  <a:path w="4829" h="7874">
                    <a:moveTo>
                      <a:pt x="4829" y="93"/>
                    </a:moveTo>
                    <a:cubicBezTo>
                      <a:pt x="4416" y="88"/>
                      <a:pt x="3932" y="0"/>
                      <a:pt x="3324" y="495"/>
                    </a:cubicBezTo>
                    <a:lnTo>
                      <a:pt x="631" y="3142"/>
                    </a:lnTo>
                    <a:cubicBezTo>
                      <a:pt x="165" y="3589"/>
                      <a:pt x="0" y="4006"/>
                      <a:pt x="532" y="4523"/>
                    </a:cubicBezTo>
                    <a:cubicBezTo>
                      <a:pt x="1064" y="5040"/>
                      <a:pt x="3144" y="7124"/>
                      <a:pt x="3492" y="7490"/>
                    </a:cubicBezTo>
                    <a:cubicBezTo>
                      <a:pt x="3840" y="7855"/>
                      <a:pt x="4120" y="7874"/>
                      <a:pt x="4511" y="7508"/>
                    </a:cubicBezTo>
                    <a:lnTo>
                      <a:pt x="1369" y="4367"/>
                    </a:lnTo>
                    <a:cubicBezTo>
                      <a:pt x="1108" y="4049"/>
                      <a:pt x="1052" y="3760"/>
                      <a:pt x="1360" y="3432"/>
                    </a:cubicBezTo>
                    <a:lnTo>
                      <a:pt x="4100" y="682"/>
                    </a:lnTo>
                    <a:cubicBezTo>
                      <a:pt x="4371" y="411"/>
                      <a:pt x="4539" y="224"/>
                      <a:pt x="4829" y="93"/>
                    </a:cubicBezTo>
                    <a:close/>
                  </a:path>
                </a:pathLst>
              </a:custGeom>
              <a:solidFill>
                <a:srgbClr val="B8CCE4"/>
              </a:solidFill>
              <a:ln w="9525">
                <a:solidFill>
                  <a:srgbClr val="0D0D0D"/>
                </a:solidFill>
                <a:round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  <p:sp>
            <p:nvSpPr>
              <p:cNvPr id="16416" name="Rectangle 32"/>
              <p:cNvSpPr>
                <a:spLocks noChangeArrowheads="1"/>
              </p:cNvSpPr>
              <p:nvPr/>
            </p:nvSpPr>
            <p:spPr bwMode="auto">
              <a:xfrm rot="2724427">
                <a:off x="3355" y="2705"/>
                <a:ext cx="274" cy="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/>
              </a:p>
            </p:txBody>
          </p:sp>
        </p:grpSp>
      </p:grpSp>
      <p:cxnSp>
        <p:nvCxnSpPr>
          <p:cNvPr id="40" name="Connecteur droit 39"/>
          <p:cNvCxnSpPr/>
          <p:nvPr/>
        </p:nvCxnSpPr>
        <p:spPr>
          <a:xfrm>
            <a:off x="323528" y="1052736"/>
            <a:ext cx="8424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du chapitre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 systèmes de transition étiquetés</a:t>
            </a:r>
          </a:p>
          <a:p>
            <a:endParaRPr lang="fr-FR" dirty="0" smtClean="0"/>
          </a:p>
          <a:p>
            <a:r>
              <a:rPr lang="fr-FR" dirty="0" smtClean="0"/>
              <a:t>Les algèbres de processus : CSP</a:t>
            </a:r>
          </a:p>
          <a:p>
            <a:endParaRPr lang="fr-FR" dirty="0" smtClean="0"/>
          </a:p>
          <a:p>
            <a:r>
              <a:rPr lang="fr-FR" dirty="0" smtClean="0"/>
              <a:t>Les réseaux de Pétri</a:t>
            </a:r>
          </a:p>
          <a:p>
            <a:endParaRPr lang="fr-FR" dirty="0" smtClean="0"/>
          </a:p>
          <a:p>
            <a:r>
              <a:rPr lang="fr-FR" dirty="0" smtClean="0"/>
              <a:t>Les systèmes de réécriture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22313" y="404664"/>
            <a:ext cx="7772400" cy="1652736"/>
          </a:xfrm>
        </p:spPr>
        <p:txBody>
          <a:bodyPr>
            <a:noAutofit/>
          </a:bodyPr>
          <a:lstStyle/>
          <a:p>
            <a:r>
              <a:rPr lang="fr-FR" sz="4000" dirty="0" smtClean="0"/>
              <a:t>Principe de raisonnement temporel sur les systèmes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Systèmes de transition étiquetés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Un système de transition défini sur un ensemble de propositions P atomique est défini par : 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W</a:t>
            </a:r>
            <a:r>
              <a:rPr lang="fr-FR" dirty="0" smtClean="0"/>
              <a:t> : l’ensemble des états possibles ;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I</a:t>
            </a:r>
            <a:r>
              <a:rPr lang="fr-FR" dirty="0" smtClean="0"/>
              <a:t> : ensemble des états initiaux ;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: un ensemble d’actions ;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R</a:t>
            </a:r>
            <a:r>
              <a:rPr lang="fr-FR" dirty="0" smtClean="0"/>
              <a:t> : une relation définie sur </a:t>
            </a:r>
            <a:r>
              <a:rPr lang="fr-FR" b="1" dirty="0" smtClean="0">
                <a:solidFill>
                  <a:srgbClr val="FF0000"/>
                </a:solidFill>
              </a:rPr>
              <a:t>W × A ×W </a:t>
            </a:r>
            <a:r>
              <a:rPr lang="fr-FR" dirty="0" smtClean="0"/>
              <a:t>qui associe à chaque état et action un autre état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L</a:t>
            </a:r>
            <a:r>
              <a:rPr lang="fr-FR" dirty="0" smtClean="0"/>
              <a:t> : une fonction d’étiquetage </a:t>
            </a:r>
            <a:r>
              <a:rPr lang="fr-FR" b="1" dirty="0" smtClean="0">
                <a:solidFill>
                  <a:srgbClr val="FF0000"/>
                </a:solidFill>
              </a:rPr>
              <a:t>L : W → 2</a:t>
            </a:r>
            <a:r>
              <a:rPr lang="fr-FR" b="1" baseline="30000" dirty="0" smtClean="0">
                <a:solidFill>
                  <a:srgbClr val="FF0000"/>
                </a:solidFill>
              </a:rPr>
              <a:t>P</a:t>
            </a:r>
            <a:endParaRPr lang="fr-FR" baseline="30000" dirty="0" smtClean="0"/>
          </a:p>
          <a:p>
            <a:endParaRPr lang="fr-FR" dirty="0" smtClean="0"/>
          </a:p>
          <a:p>
            <a:r>
              <a:rPr lang="fr-FR" dirty="0" smtClean="0"/>
              <a:t>Avantage des STE :</a:t>
            </a:r>
          </a:p>
          <a:p>
            <a:pPr lvl="1"/>
            <a:r>
              <a:rPr lang="fr-FR" dirty="0" smtClean="0"/>
              <a:t>C’est un formalisme mathématique permettant de représenter les exécutions d’un système sous-forme d’un langage formel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Offre un haut niveau d’abstraction (ou même plusieurs)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Avantage visuel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En pratique, une transition peut également comporter : </a:t>
            </a:r>
          </a:p>
          <a:p>
            <a:pPr lvl="1"/>
            <a:r>
              <a:rPr lang="fr-FR" dirty="0" smtClean="0"/>
              <a:t>Le choix d’une variable de manière déterministe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Une garde : une condition devant être vraie pour exécuter l’action associée à la transition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Une action de synchronisation, souvent on utilise les canaux et les opérations de L/E</a:t>
            </a:r>
          </a:p>
          <a:p>
            <a:endParaRPr lang="fr-FR" dirty="0" smtClean="0"/>
          </a:p>
          <a:p>
            <a:r>
              <a:rPr lang="fr-FR" dirty="0" smtClean="0"/>
              <a:t>Il y a deux types d’action :</a:t>
            </a:r>
          </a:p>
          <a:p>
            <a:pPr lvl="1"/>
            <a:r>
              <a:rPr lang="fr-FR" dirty="0" smtClean="0"/>
              <a:t>Action visible de l’extérieur : implique un changement visible de l’état du système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Action interne ou invisible de l’extérieur : implique un changement invisible de l’état du système. Pour l’extérieur, l’état du système est toujours le même. Souvent symbolisée :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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Système de transition et structure de </a:t>
            </a:r>
            <a:r>
              <a:rPr lang="fr-FR" dirty="0" err="1" smtClean="0"/>
              <a:t>Kripke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Vu la définition, on peut considérer qu’un système de transition correspond à une structure de </a:t>
            </a:r>
            <a:r>
              <a:rPr lang="fr-FR" dirty="0" err="1" smtClean="0"/>
              <a:t>Kripke</a:t>
            </a:r>
            <a:r>
              <a:rPr lang="fr-FR" dirty="0" smtClean="0"/>
              <a:t> à laquelle on rajoute des actions</a:t>
            </a:r>
          </a:p>
          <a:p>
            <a:pPr lvl="1"/>
            <a:r>
              <a:rPr lang="fr-FR" dirty="0" smtClean="0"/>
              <a:t>Vrai et faux</a:t>
            </a:r>
          </a:p>
          <a:p>
            <a:pPr lvl="2"/>
            <a:r>
              <a:rPr lang="fr-FR" dirty="0" smtClean="0"/>
              <a:t>Vrai : pour des systèmes simples avec un seul processus, on peut passer du système de transition vers une structure de </a:t>
            </a:r>
            <a:r>
              <a:rPr lang="fr-FR" dirty="0" err="1" smtClean="0"/>
              <a:t>Kripke</a:t>
            </a:r>
            <a:r>
              <a:rPr lang="fr-FR" dirty="0" smtClean="0"/>
              <a:t> en faisant abstraction des actions</a:t>
            </a:r>
          </a:p>
          <a:p>
            <a:pPr lvl="2"/>
            <a:endParaRPr lang="fr-FR" dirty="0" smtClean="0"/>
          </a:p>
          <a:p>
            <a:pPr lvl="2"/>
            <a:r>
              <a:rPr lang="fr-FR" dirty="0" smtClean="0"/>
              <a:t>Faux : </a:t>
            </a:r>
          </a:p>
          <a:p>
            <a:pPr lvl="3"/>
            <a:r>
              <a:rPr lang="fr-FR" dirty="0" smtClean="0"/>
              <a:t>Les structures de </a:t>
            </a:r>
            <a:r>
              <a:rPr lang="fr-FR" dirty="0" err="1" smtClean="0"/>
              <a:t>Kripke</a:t>
            </a:r>
            <a:r>
              <a:rPr lang="fr-FR" dirty="0" smtClean="0"/>
              <a:t> sont souvent de bas niveau</a:t>
            </a:r>
          </a:p>
          <a:p>
            <a:pPr lvl="3"/>
            <a:r>
              <a:rPr lang="fr-FR" dirty="0" smtClean="0"/>
              <a:t>Les systèmes de transitions offrent plusieurs d’abstraction permettant par exemple de définir des variables</a:t>
            </a:r>
          </a:p>
          <a:p>
            <a:pPr lvl="4"/>
            <a:r>
              <a:rPr lang="fr-FR" dirty="0" smtClean="0"/>
              <a:t>Les états de la structure de </a:t>
            </a:r>
            <a:r>
              <a:rPr lang="fr-FR" dirty="0" err="1" smtClean="0"/>
              <a:t>Kripke</a:t>
            </a:r>
            <a:r>
              <a:rPr lang="fr-FR" dirty="0" smtClean="0"/>
              <a:t> correspond à l’état du système ainsi que les valeurs des variables à cet état</a:t>
            </a:r>
          </a:p>
          <a:p>
            <a:pPr lvl="4"/>
            <a:r>
              <a:rPr lang="fr-FR" dirty="0" smtClean="0"/>
              <a:t>Ainsi, la structure de </a:t>
            </a:r>
            <a:r>
              <a:rPr lang="fr-FR" dirty="0" err="1" smtClean="0"/>
              <a:t>Kripke</a:t>
            </a:r>
            <a:r>
              <a:rPr lang="fr-FR" dirty="0" smtClean="0"/>
              <a:t> comporte souvent beaucoup plus d’états que le système de transition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189984"/>
          </a:xfrm>
        </p:spPr>
        <p:txBody>
          <a:bodyPr/>
          <a:lstStyle/>
          <a:p>
            <a:r>
              <a:rPr lang="fr-FR" dirty="0" smtClean="0"/>
              <a:t>W = {</a:t>
            </a:r>
            <a:r>
              <a:rPr lang="fr-FR" dirty="0" err="1" smtClean="0"/>
              <a:t>On,Off</a:t>
            </a:r>
            <a:r>
              <a:rPr lang="fr-FR" dirty="0" smtClean="0"/>
              <a:t>}</a:t>
            </a:r>
          </a:p>
          <a:p>
            <a:r>
              <a:rPr lang="fr-FR" dirty="0" smtClean="0"/>
              <a:t>I = {On}</a:t>
            </a:r>
          </a:p>
          <a:p>
            <a:r>
              <a:rPr lang="en-US" dirty="0" smtClean="0"/>
              <a:t>A = {Switch−on, switch−off}</a:t>
            </a:r>
          </a:p>
          <a:p>
            <a:r>
              <a:rPr lang="en-US" dirty="0" smtClean="0"/>
              <a:t>P = {Switched−on, switched−off}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699792" y="4437112"/>
            <a:ext cx="792088" cy="792088"/>
          </a:xfrm>
          <a:prstGeom prst="ellipse">
            <a:avLst/>
          </a:prstGeom>
          <a:ln cmpd="dbl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On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148064" y="4437112"/>
            <a:ext cx="792088" cy="7920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Off</a:t>
            </a:r>
            <a:endParaRPr lang="fr-FR" dirty="0"/>
          </a:p>
        </p:txBody>
      </p:sp>
      <p:cxnSp>
        <p:nvCxnSpPr>
          <p:cNvPr id="8" name="Connecteur en arc 7"/>
          <p:cNvCxnSpPr>
            <a:stCxn id="5" idx="7"/>
            <a:endCxn id="6" idx="1"/>
          </p:cNvCxnSpPr>
          <p:nvPr/>
        </p:nvCxnSpPr>
        <p:spPr>
          <a:xfrm rot="5400000" flipH="1" flipV="1">
            <a:off x="4319972" y="3609020"/>
            <a:ext cx="12700" cy="1888182"/>
          </a:xfrm>
          <a:prstGeom prst="curvedConnector3">
            <a:avLst>
              <a:gd name="adj1" fmla="val 271337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en arc 9"/>
          <p:cNvCxnSpPr>
            <a:stCxn id="6" idx="3"/>
            <a:endCxn id="5" idx="5"/>
          </p:cNvCxnSpPr>
          <p:nvPr/>
        </p:nvCxnSpPr>
        <p:spPr>
          <a:xfrm rot="5400000">
            <a:off x="4319972" y="4169110"/>
            <a:ext cx="12700" cy="1888182"/>
          </a:xfrm>
          <a:prstGeom prst="curvedConnector3">
            <a:avLst>
              <a:gd name="adj1" fmla="val 271337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Forme 11"/>
          <p:cNvCxnSpPr>
            <a:stCxn id="5" idx="2"/>
            <a:endCxn id="5" idx="0"/>
          </p:cNvCxnSpPr>
          <p:nvPr/>
        </p:nvCxnSpPr>
        <p:spPr>
          <a:xfrm rot="10800000" flipH="1">
            <a:off x="2699792" y="4437112"/>
            <a:ext cx="396044" cy="396044"/>
          </a:xfrm>
          <a:prstGeom prst="curvedConnector4">
            <a:avLst>
              <a:gd name="adj1" fmla="val -57721"/>
              <a:gd name="adj2" fmla="val 15772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Forme 20"/>
          <p:cNvCxnSpPr>
            <a:stCxn id="6" idx="0"/>
            <a:endCxn id="6" idx="6"/>
          </p:cNvCxnSpPr>
          <p:nvPr/>
        </p:nvCxnSpPr>
        <p:spPr>
          <a:xfrm rot="16200000" flipH="1">
            <a:off x="5544108" y="4437112"/>
            <a:ext cx="396044" cy="396044"/>
          </a:xfrm>
          <a:prstGeom prst="curvedConnector4">
            <a:avLst>
              <a:gd name="adj1" fmla="val -57721"/>
              <a:gd name="adj2" fmla="val 15772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2051720" y="3861048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Switch-on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5508104" y="3861048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Switch-off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3779912" y="3933056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Switch-off</a:t>
            </a:r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>
            <a:off x="3779912" y="5373216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Switch-on</a:t>
            </a:r>
            <a:endParaRPr lang="fr-FR" dirty="0"/>
          </a:p>
        </p:txBody>
      </p:sp>
      <p:sp>
        <p:nvSpPr>
          <p:cNvPr id="26" name="Ellipse 25"/>
          <p:cNvSpPr/>
          <p:nvPr/>
        </p:nvSpPr>
        <p:spPr>
          <a:xfrm>
            <a:off x="2771800" y="4509120"/>
            <a:ext cx="648072" cy="648072"/>
          </a:xfrm>
          <a:prstGeom prst="ellipse">
            <a:avLst/>
          </a:prstGeom>
          <a:noFill/>
          <a:ln cmpd="dbl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Déterminisme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Un STE est dit déterministe si (sinon il est dit non-déterministe) :</a:t>
            </a:r>
          </a:p>
          <a:p>
            <a:pPr lvl="1"/>
            <a:r>
              <a:rPr lang="fr-FR" dirty="0" smtClean="0"/>
              <a:t>|I|&lt;2</a:t>
            </a:r>
          </a:p>
          <a:p>
            <a:pPr lvl="1"/>
            <a:r>
              <a:rPr lang="fr-FR" dirty="0" smtClean="0">
                <a:sym typeface="Symbol"/>
              </a:rPr>
              <a:t>sa, |{s’|(</a:t>
            </a:r>
            <a:r>
              <a:rPr lang="fr-FR" dirty="0" err="1" smtClean="0">
                <a:sym typeface="Symbol"/>
              </a:rPr>
              <a:t>s,a,s’</a:t>
            </a:r>
            <a:r>
              <a:rPr lang="fr-FR" dirty="0" smtClean="0">
                <a:sym typeface="Symbol"/>
              </a:rPr>
              <a:t>)R}|&lt;2</a:t>
            </a:r>
          </a:p>
          <a:p>
            <a:endParaRPr lang="fr-FR" dirty="0" smtClean="0">
              <a:sym typeface="Symbol"/>
            </a:endParaRPr>
          </a:p>
          <a:p>
            <a:r>
              <a:rPr lang="fr-FR" dirty="0" smtClean="0">
                <a:sym typeface="Symbol"/>
              </a:rPr>
              <a:t>Le non-déterminisme peut indiquer :</a:t>
            </a:r>
          </a:p>
          <a:p>
            <a:pPr lvl="1"/>
            <a:r>
              <a:rPr lang="fr-FR" dirty="0" smtClean="0">
                <a:sym typeface="Symbol"/>
              </a:rPr>
              <a:t>Un environnement stochastique ou non-déterministe (systèmes distribués…)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dirty="0" smtClean="0">
                <a:sym typeface="Symbol"/>
              </a:rPr>
              <a:t>Haut niveau d’abstraction et absence de décision finale d’implémentation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dirty="0" smtClean="0">
                <a:sym typeface="Symbol"/>
              </a:rPr>
              <a:t>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Produits de STE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On peut combiner deux STE pour produire un nouveau STE. La combinaison peut avoir des sémantiques différentes.</a:t>
            </a:r>
          </a:p>
          <a:p>
            <a:endParaRPr lang="fr-FR" dirty="0" smtClean="0"/>
          </a:p>
          <a:p>
            <a:r>
              <a:rPr lang="fr-FR" dirty="0" smtClean="0"/>
              <a:t>Produit synchronisé :</a:t>
            </a:r>
          </a:p>
          <a:p>
            <a:pPr lvl="1"/>
            <a:r>
              <a:rPr lang="fr-FR" dirty="0" smtClean="0"/>
              <a:t>Chacun des STE représente un processus donné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Les deux processus </a:t>
            </a:r>
            <a:r>
              <a:rPr lang="fr-FR" dirty="0" smtClean="0"/>
              <a:t>s’exécutent </a:t>
            </a:r>
            <a:r>
              <a:rPr lang="fr-FR" dirty="0" smtClean="0"/>
              <a:t>en parallèle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Indépendance d’exécution pour les actions indépendantes et synchronisation pour les actions communes</a:t>
            </a:r>
          </a:p>
          <a:p>
            <a:pPr lvl="2"/>
            <a:r>
              <a:rPr lang="fr-FR" dirty="0" smtClean="0"/>
              <a:t>Pour les STE, la synchronisation signifie que les deux processus exécute soit la même action, soit des actions complémentaires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Avantage : simplifier la conception des systèmes parallèles en concevant chaque processus à part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Produit synchronisé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Soient </a:t>
            </a:r>
            <a:r>
              <a:rPr lang="fr-FR" b="1" dirty="0" smtClean="0">
                <a:solidFill>
                  <a:srgbClr val="FF0000"/>
                </a:solidFill>
              </a:rPr>
              <a:t>(W,s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,A,R,L)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(W’,s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’,A’,R’,L’) </a:t>
            </a:r>
            <a:r>
              <a:rPr lang="fr-FR" dirty="0" smtClean="0"/>
              <a:t>deux STE. Soient a</a:t>
            </a:r>
            <a:r>
              <a:rPr lang="fr-FR" dirty="0" smtClean="0">
                <a:sym typeface="Symbol"/>
              </a:rPr>
              <a:t>A-A’, bA’-A, cAA’</a:t>
            </a:r>
          </a:p>
          <a:p>
            <a:endParaRPr lang="fr-FR" dirty="0" smtClean="0">
              <a:sym typeface="Symbol"/>
            </a:endParaRPr>
          </a:p>
          <a:p>
            <a:r>
              <a:rPr lang="fr-FR" dirty="0" smtClean="0">
                <a:sym typeface="Symbol"/>
              </a:rPr>
              <a:t>Le produit synchronisé est donné par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(W’’,s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’’, A’’,R’’,L’’) </a:t>
            </a:r>
            <a:r>
              <a:rPr lang="fr-FR" dirty="0" smtClean="0">
                <a:sym typeface="Symbol"/>
              </a:rPr>
              <a:t>tel que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W’’=W x W’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’’=(s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,s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A’’=AA’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R’’W’’ x A’’ x W’’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s,a,t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 R </a:t>
            </a:r>
            <a:r>
              <a:rPr lang="fr-FR" dirty="0" smtClean="0">
                <a:sym typeface="Symbol"/>
              </a:rPr>
              <a:t>et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s’  W’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 ( (</a:t>
            </a:r>
            <a:r>
              <a:rPr lang="fr-FR" b="1" dirty="0" err="1" smtClean="0">
                <a:solidFill>
                  <a:srgbClr val="FF0000"/>
                </a:solidFill>
                <a:sym typeface="Wingdings" pitchFamily="2" charset="2"/>
              </a:rPr>
              <a:t>s,s’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), a , (</a:t>
            </a:r>
            <a:r>
              <a:rPr lang="fr-FR" b="1" dirty="0" err="1" smtClean="0">
                <a:solidFill>
                  <a:srgbClr val="FF0000"/>
                </a:solidFill>
                <a:sym typeface="Wingdings" pitchFamily="2" charset="2"/>
              </a:rPr>
              <a:t>t,s’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))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 R’’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s W</a:t>
            </a:r>
            <a:r>
              <a:rPr lang="fr-FR" dirty="0" smtClean="0">
                <a:sym typeface="Symbol"/>
              </a:rPr>
              <a:t> et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(s’,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b,t’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 R’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 ( (</a:t>
            </a:r>
            <a:r>
              <a:rPr lang="fr-FR" b="1" dirty="0" err="1" smtClean="0">
                <a:solidFill>
                  <a:srgbClr val="FF0000"/>
                </a:solidFill>
                <a:sym typeface="Wingdings" pitchFamily="2" charset="2"/>
              </a:rPr>
              <a:t>s,s’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), b , (</a:t>
            </a:r>
            <a:r>
              <a:rPr lang="fr-FR" b="1" dirty="0" err="1" smtClean="0">
                <a:solidFill>
                  <a:srgbClr val="FF0000"/>
                </a:solidFill>
                <a:sym typeface="Wingdings" pitchFamily="2" charset="2"/>
              </a:rPr>
              <a:t>s,t’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))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 R’’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s,c,t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 R </a:t>
            </a:r>
            <a:r>
              <a:rPr lang="fr-FR" dirty="0" smtClean="0">
                <a:sym typeface="Symbol"/>
              </a:rPr>
              <a:t>et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(s’,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c,t’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 R’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 ( (</a:t>
            </a:r>
            <a:r>
              <a:rPr lang="fr-FR" b="1" dirty="0" err="1" smtClean="0">
                <a:solidFill>
                  <a:srgbClr val="FF0000"/>
                </a:solidFill>
                <a:sym typeface="Wingdings" pitchFamily="2" charset="2"/>
              </a:rPr>
              <a:t>s,s’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), c , (</a:t>
            </a:r>
            <a:r>
              <a:rPr lang="fr-FR" b="1" dirty="0" err="1" smtClean="0">
                <a:solidFill>
                  <a:srgbClr val="FF0000"/>
                </a:solidFill>
                <a:sym typeface="Wingdings" pitchFamily="2" charset="2"/>
              </a:rPr>
              <a:t>t,t’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))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 R’’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L’’((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s,s’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))=L(s)  L’(s’)</a:t>
            </a:r>
            <a:endParaRPr lang="fr-FR" b="1" dirty="0" smtClean="0">
              <a:solidFill>
                <a:srgbClr val="FF0000"/>
              </a:solidFill>
            </a:endParaRPr>
          </a:p>
          <a:p>
            <a:pPr lvl="2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Deux processus :</a:t>
            </a:r>
          </a:p>
          <a:p>
            <a:pPr lvl="1"/>
            <a:r>
              <a:rPr lang="fr-FR" dirty="0" smtClean="0"/>
              <a:t>Un distributeur qui vend des chocolats en acceptant </a:t>
            </a:r>
            <a:r>
              <a:rPr lang="fr-FR" dirty="0" smtClean="0"/>
              <a:t>le </a:t>
            </a:r>
            <a:r>
              <a:rPr lang="fr-FR" dirty="0" smtClean="0"/>
              <a:t>payement par une pièce ou télécharge la mise à jour de son </a:t>
            </a:r>
            <a:r>
              <a:rPr lang="fr-FR" dirty="0" err="1" smtClean="0"/>
              <a:t>firmware</a:t>
            </a:r>
            <a:r>
              <a:rPr lang="fr-FR" dirty="0" smtClean="0"/>
              <a:t> depuis internet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 usager veut acheter un chocolat mais peut utiliser son téléphone portable pour appeler quelqu’un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Qu’est-ce qui se passe si on les exécute en parallèle ?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du produit synchronisé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481832" y="2060848"/>
            <a:ext cx="720080" cy="72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s0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2714080" y="2060848"/>
            <a:ext cx="720080" cy="72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s1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5" idx="6"/>
            <a:endCxn id="6" idx="2"/>
          </p:cNvCxnSpPr>
          <p:nvPr/>
        </p:nvCxnSpPr>
        <p:spPr>
          <a:xfrm>
            <a:off x="1201912" y="2420888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Forme 12"/>
          <p:cNvCxnSpPr>
            <a:stCxn id="5" idx="2"/>
            <a:endCxn id="5" idx="0"/>
          </p:cNvCxnSpPr>
          <p:nvPr/>
        </p:nvCxnSpPr>
        <p:spPr>
          <a:xfrm rot="10800000" flipH="1">
            <a:off x="481832" y="2060848"/>
            <a:ext cx="360040" cy="360040"/>
          </a:xfrm>
          <a:prstGeom prst="curvedConnector4">
            <a:avLst>
              <a:gd name="adj1" fmla="val -63493"/>
              <a:gd name="adj2" fmla="val 1634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en arc 15"/>
          <p:cNvCxnSpPr>
            <a:stCxn id="6" idx="3"/>
            <a:endCxn id="5" idx="5"/>
          </p:cNvCxnSpPr>
          <p:nvPr/>
        </p:nvCxnSpPr>
        <p:spPr>
          <a:xfrm rot="5400000">
            <a:off x="1957996" y="1813938"/>
            <a:ext cx="12700" cy="1723074"/>
          </a:xfrm>
          <a:prstGeom prst="curvedConnector3">
            <a:avLst>
              <a:gd name="adj1" fmla="val 263033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1561952" y="1988840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coin</a:t>
            </a:r>
            <a:endParaRPr lang="fr-FR" dirty="0"/>
          </a:p>
        </p:txBody>
      </p:sp>
      <p:sp>
        <p:nvSpPr>
          <p:cNvPr id="18" name="ZoneTexte 17"/>
          <p:cNvSpPr txBox="1"/>
          <p:nvPr/>
        </p:nvSpPr>
        <p:spPr>
          <a:xfrm>
            <a:off x="1705968" y="2996952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choc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193800" y="1484784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update</a:t>
            </a:r>
            <a:endParaRPr lang="fr-FR" dirty="0"/>
          </a:p>
        </p:txBody>
      </p:sp>
      <p:sp>
        <p:nvSpPr>
          <p:cNvPr id="20" name="Ellipse 19"/>
          <p:cNvSpPr/>
          <p:nvPr/>
        </p:nvSpPr>
        <p:spPr>
          <a:xfrm>
            <a:off x="481832" y="4365104"/>
            <a:ext cx="720080" cy="7200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t0</a:t>
            </a:r>
            <a:endParaRPr lang="fr-FR" dirty="0"/>
          </a:p>
        </p:txBody>
      </p:sp>
      <p:sp>
        <p:nvSpPr>
          <p:cNvPr id="21" name="Ellipse 20"/>
          <p:cNvSpPr/>
          <p:nvPr/>
        </p:nvSpPr>
        <p:spPr>
          <a:xfrm>
            <a:off x="2714080" y="4365104"/>
            <a:ext cx="720080" cy="7200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t1</a:t>
            </a:r>
            <a:endParaRPr lang="fr-FR" dirty="0"/>
          </a:p>
        </p:txBody>
      </p:sp>
      <p:cxnSp>
        <p:nvCxnSpPr>
          <p:cNvPr id="22" name="Connecteur droit avec flèche 21"/>
          <p:cNvCxnSpPr>
            <a:stCxn id="20" idx="6"/>
            <a:endCxn id="21" idx="2"/>
          </p:cNvCxnSpPr>
          <p:nvPr/>
        </p:nvCxnSpPr>
        <p:spPr>
          <a:xfrm>
            <a:off x="1201912" y="4725144"/>
            <a:ext cx="15121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Forme 22"/>
          <p:cNvCxnSpPr>
            <a:stCxn id="20" idx="2"/>
            <a:endCxn id="20" idx="0"/>
          </p:cNvCxnSpPr>
          <p:nvPr/>
        </p:nvCxnSpPr>
        <p:spPr>
          <a:xfrm rot="10800000" flipH="1">
            <a:off x="481832" y="4365104"/>
            <a:ext cx="360040" cy="360040"/>
          </a:xfrm>
          <a:prstGeom prst="curvedConnector4">
            <a:avLst>
              <a:gd name="adj1" fmla="val -63493"/>
              <a:gd name="adj2" fmla="val 1634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en arc 23"/>
          <p:cNvCxnSpPr>
            <a:stCxn id="21" idx="3"/>
            <a:endCxn id="20" idx="5"/>
          </p:cNvCxnSpPr>
          <p:nvPr/>
        </p:nvCxnSpPr>
        <p:spPr>
          <a:xfrm rot="5400000">
            <a:off x="1957996" y="4118194"/>
            <a:ext cx="12700" cy="1723074"/>
          </a:xfrm>
          <a:prstGeom prst="curvedConnector3">
            <a:avLst>
              <a:gd name="adj1" fmla="val 263033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/>
          <p:cNvSpPr txBox="1"/>
          <p:nvPr/>
        </p:nvSpPr>
        <p:spPr>
          <a:xfrm>
            <a:off x="1561952" y="4293096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coin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1705968" y="5301208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choc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193800" y="378904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phone</a:t>
            </a:r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2786088" y="3717032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phone</a:t>
            </a:r>
            <a:endParaRPr lang="fr-FR" dirty="0"/>
          </a:p>
        </p:txBody>
      </p:sp>
      <p:cxnSp>
        <p:nvCxnSpPr>
          <p:cNvPr id="37" name="Forme 36"/>
          <p:cNvCxnSpPr>
            <a:stCxn id="21" idx="0"/>
            <a:endCxn id="21" idx="6"/>
          </p:cNvCxnSpPr>
          <p:nvPr/>
        </p:nvCxnSpPr>
        <p:spPr>
          <a:xfrm rot="16200000" flipH="1">
            <a:off x="3074120" y="4365104"/>
            <a:ext cx="360040" cy="360040"/>
          </a:xfrm>
          <a:prstGeom prst="curvedConnector4">
            <a:avLst>
              <a:gd name="adj1" fmla="val -63493"/>
              <a:gd name="adj2" fmla="val 1634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39"/>
          <p:cNvSpPr/>
          <p:nvPr/>
        </p:nvSpPr>
        <p:spPr>
          <a:xfrm>
            <a:off x="539552" y="2132856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Ellipse 40"/>
          <p:cNvSpPr/>
          <p:nvPr/>
        </p:nvSpPr>
        <p:spPr>
          <a:xfrm>
            <a:off x="539552" y="4422824"/>
            <a:ext cx="576064" cy="576064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llipse 41"/>
          <p:cNvSpPr/>
          <p:nvPr/>
        </p:nvSpPr>
        <p:spPr>
          <a:xfrm>
            <a:off x="4572000" y="2348880"/>
            <a:ext cx="1008112" cy="100811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s0,t0</a:t>
            </a:r>
            <a:endParaRPr lang="fr-FR" dirty="0"/>
          </a:p>
        </p:txBody>
      </p:sp>
      <p:sp>
        <p:nvSpPr>
          <p:cNvPr id="45" name="Ellipse 44"/>
          <p:cNvSpPr/>
          <p:nvPr/>
        </p:nvSpPr>
        <p:spPr>
          <a:xfrm>
            <a:off x="7236296" y="4437112"/>
            <a:ext cx="1008112" cy="1008112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s1,t1</a:t>
            </a:r>
            <a:endParaRPr lang="fr-FR" dirty="0"/>
          </a:p>
        </p:txBody>
      </p:sp>
      <p:cxnSp>
        <p:nvCxnSpPr>
          <p:cNvPr id="47" name="Forme 46"/>
          <p:cNvCxnSpPr>
            <a:stCxn id="42" idx="0"/>
            <a:endCxn id="42" idx="6"/>
          </p:cNvCxnSpPr>
          <p:nvPr/>
        </p:nvCxnSpPr>
        <p:spPr>
          <a:xfrm rot="16200000" flipH="1">
            <a:off x="5076056" y="2348880"/>
            <a:ext cx="504056" cy="504056"/>
          </a:xfrm>
          <a:prstGeom prst="curvedConnector4">
            <a:avLst>
              <a:gd name="adj1" fmla="val -45352"/>
              <a:gd name="adj2" fmla="val 14535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5292080" y="1772816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update, phone</a:t>
            </a:r>
            <a:endParaRPr lang="fr-FR" dirty="0"/>
          </a:p>
        </p:txBody>
      </p:sp>
      <p:sp>
        <p:nvSpPr>
          <p:cNvPr id="51" name="Ellipse 50"/>
          <p:cNvSpPr/>
          <p:nvPr/>
        </p:nvSpPr>
        <p:spPr>
          <a:xfrm>
            <a:off x="4644008" y="2420888"/>
            <a:ext cx="864096" cy="864096"/>
          </a:xfrm>
          <a:prstGeom prst="ellips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8" name="Connecteur droit avec flèche 57"/>
          <p:cNvCxnSpPr>
            <a:stCxn id="42" idx="5"/>
            <a:endCxn id="45" idx="1"/>
          </p:cNvCxnSpPr>
          <p:nvPr/>
        </p:nvCxnSpPr>
        <p:spPr>
          <a:xfrm>
            <a:off x="5432477" y="3209358"/>
            <a:ext cx="1951454" cy="13753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Forme 59"/>
          <p:cNvCxnSpPr>
            <a:stCxn id="45" idx="2"/>
            <a:endCxn id="42" idx="4"/>
          </p:cNvCxnSpPr>
          <p:nvPr/>
        </p:nvCxnSpPr>
        <p:spPr>
          <a:xfrm rot="10800000">
            <a:off x="5076056" y="3356992"/>
            <a:ext cx="2160240" cy="1584176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956376" y="4005064"/>
            <a:ext cx="849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phone</a:t>
            </a:r>
            <a:endParaRPr lang="fr-FR" dirty="0"/>
          </a:p>
        </p:txBody>
      </p:sp>
      <p:cxnSp>
        <p:nvCxnSpPr>
          <p:cNvPr id="63" name="Forme 62"/>
          <p:cNvCxnSpPr>
            <a:stCxn id="45" idx="0"/>
            <a:endCxn id="45" idx="6"/>
          </p:cNvCxnSpPr>
          <p:nvPr/>
        </p:nvCxnSpPr>
        <p:spPr>
          <a:xfrm rot="16200000" flipH="1">
            <a:off x="7740352" y="4437112"/>
            <a:ext cx="504056" cy="504056"/>
          </a:xfrm>
          <a:prstGeom prst="curvedConnector4">
            <a:avLst>
              <a:gd name="adj1" fmla="val -45352"/>
              <a:gd name="adj2" fmla="val 14535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65"/>
          <p:cNvSpPr txBox="1"/>
          <p:nvPr/>
        </p:nvSpPr>
        <p:spPr>
          <a:xfrm>
            <a:off x="6156176" y="335699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coin</a:t>
            </a:r>
            <a:endParaRPr lang="fr-FR" dirty="0"/>
          </a:p>
        </p:txBody>
      </p:sp>
      <p:sp>
        <p:nvSpPr>
          <p:cNvPr id="67" name="ZoneTexte 66"/>
          <p:cNvSpPr txBox="1"/>
          <p:nvPr/>
        </p:nvSpPr>
        <p:spPr>
          <a:xfrm>
            <a:off x="5148064" y="4365104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choc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 des STE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Chemin :</a:t>
            </a:r>
          </a:p>
          <a:p>
            <a:pPr lvl="1"/>
            <a:r>
              <a:rPr lang="fr-FR" dirty="0" smtClean="0"/>
              <a:t>Un chemin est une séquence d’états s</a:t>
            </a:r>
            <a:r>
              <a:rPr lang="fr-FR" baseline="-25000" dirty="0" smtClean="0"/>
              <a:t>0</a:t>
            </a:r>
            <a:r>
              <a:rPr lang="fr-FR" dirty="0" smtClean="0"/>
              <a:t>s</a:t>
            </a:r>
            <a:r>
              <a:rPr lang="fr-FR" baseline="-25000" dirty="0" smtClean="0"/>
              <a:t>1</a:t>
            </a:r>
            <a:r>
              <a:rPr lang="fr-FR" dirty="0" smtClean="0"/>
              <a:t>s</a:t>
            </a:r>
            <a:r>
              <a:rPr lang="fr-FR" baseline="-25000" dirty="0" smtClean="0"/>
              <a:t>2</a:t>
            </a:r>
            <a:r>
              <a:rPr lang="fr-FR" dirty="0" smtClean="0"/>
              <a:t>… (éventuellement infinie) telle que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I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i,a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: (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s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,a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,s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i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+1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 R</a:t>
            </a:r>
            <a:endParaRPr lang="fr-FR" b="1" dirty="0" smtClean="0">
              <a:solidFill>
                <a:srgbClr val="FF0000"/>
              </a:solidFill>
            </a:endParaRPr>
          </a:p>
          <a:p>
            <a:endParaRPr lang="fr-FR" dirty="0" smtClean="0"/>
          </a:p>
          <a:p>
            <a:r>
              <a:rPr lang="fr-FR" dirty="0" smtClean="0"/>
              <a:t>Trace :</a:t>
            </a:r>
          </a:p>
          <a:p>
            <a:pPr lvl="1"/>
            <a:r>
              <a:rPr lang="fr-FR" dirty="0" smtClean="0"/>
              <a:t>Pour un chemin décrit ci-haut, on appelle la séquence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0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a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2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… </a:t>
            </a:r>
            <a:r>
              <a:rPr lang="fr-FR" dirty="0" smtClean="0">
                <a:sym typeface="Symbol"/>
              </a:rPr>
              <a:t>une trace d’exécution du système</a:t>
            </a:r>
          </a:p>
          <a:p>
            <a:pPr lvl="1"/>
            <a:endParaRPr lang="fr-FR" dirty="0" smtClean="0">
              <a:sym typeface="Symbol"/>
            </a:endParaRPr>
          </a:p>
          <a:p>
            <a:pPr lvl="1"/>
            <a:r>
              <a:rPr lang="fr-FR" dirty="0" smtClean="0">
                <a:sym typeface="Symbol"/>
              </a:rPr>
              <a:t>Une trace correspond à la liste des instructions correspondant à exécution possible du système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Soit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un STE, on note par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L</a:t>
            </a:r>
            <a:r>
              <a:rPr lang="fr-FR" b="1" baseline="30000" dirty="0" smtClean="0">
                <a:solidFill>
                  <a:srgbClr val="FF0000"/>
                </a:solidFill>
              </a:rPr>
              <a:t>*</a:t>
            </a:r>
            <a:r>
              <a:rPr lang="fr-FR" b="1" dirty="0" smtClean="0">
                <a:solidFill>
                  <a:srgbClr val="FF0000"/>
                </a:solidFill>
              </a:rPr>
              <a:t>(S)</a:t>
            </a:r>
            <a:r>
              <a:rPr lang="fr-FR" dirty="0" smtClean="0"/>
              <a:t> : l’ensemble de toutes les traces finies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L</a:t>
            </a:r>
            <a:r>
              <a:rPr lang="fr-FR" b="1" baseline="30000" dirty="0" smtClean="0">
                <a:solidFill>
                  <a:srgbClr val="FF0000"/>
                </a:solidFill>
                <a:sym typeface="Symbol"/>
              </a:rPr>
              <a:t></a:t>
            </a:r>
            <a:r>
              <a:rPr lang="fr-FR" b="1" dirty="0" smtClean="0">
                <a:solidFill>
                  <a:srgbClr val="FF0000"/>
                </a:solidFill>
              </a:rPr>
              <a:t>(S) </a:t>
            </a:r>
            <a:r>
              <a:rPr lang="fr-FR" dirty="0" smtClean="0"/>
              <a:t>: l’ensemble de </a:t>
            </a:r>
            <a:r>
              <a:rPr lang="fr-FR" dirty="0" smtClean="0"/>
              <a:t>toutes </a:t>
            </a:r>
            <a:r>
              <a:rPr lang="fr-FR" dirty="0" smtClean="0"/>
              <a:t>le traces infinies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Dans les deux cas,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est vu comme un automate à états finis dont tous les états sont accepteurs</a:t>
            </a:r>
          </a:p>
          <a:p>
            <a:pPr lvl="1"/>
            <a:r>
              <a:rPr lang="fr-FR" dirty="0" smtClean="0"/>
              <a:t>Attention : les mots infinis et leurs automates sont différents des mots finis et leurs automates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4005064"/>
            <a:ext cx="8503920" cy="2093984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Les traces finies :</a:t>
            </a:r>
          </a:p>
          <a:p>
            <a:pPr lvl="1"/>
            <a:r>
              <a:rPr lang="fr-FR" dirty="0" smtClean="0"/>
              <a:t>{</a:t>
            </a:r>
            <a:r>
              <a:rPr lang="fr-FR" dirty="0" smtClean="0">
                <a:sym typeface="Symbol"/>
              </a:rPr>
              <a:t>,</a:t>
            </a:r>
            <a:r>
              <a:rPr lang="fr-FR" dirty="0" err="1" smtClean="0">
                <a:sym typeface="Symbol"/>
              </a:rPr>
              <a:t>a,ab,ac,ab</a:t>
            </a:r>
            <a:r>
              <a:rPr lang="fr-FR" dirty="0" smtClean="0">
                <a:sym typeface="Symbol"/>
              </a:rPr>
              <a:t></a:t>
            </a:r>
            <a:r>
              <a:rPr lang="fr-FR" baseline="30000" dirty="0" smtClean="0">
                <a:sym typeface="Symbol"/>
              </a:rPr>
              <a:t>*</a:t>
            </a:r>
            <a:r>
              <a:rPr lang="fr-FR" dirty="0" smtClean="0">
                <a:sym typeface="Symbol"/>
              </a:rPr>
              <a:t>, </a:t>
            </a:r>
            <a:r>
              <a:rPr lang="fr-FR" dirty="0" err="1" smtClean="0">
                <a:sym typeface="Symbol"/>
              </a:rPr>
              <a:t>ac</a:t>
            </a:r>
            <a:r>
              <a:rPr lang="fr-FR" dirty="0" smtClean="0">
                <a:sym typeface="Symbol"/>
              </a:rPr>
              <a:t></a:t>
            </a:r>
            <a:r>
              <a:rPr lang="fr-FR" baseline="30000" dirty="0" smtClean="0">
                <a:sym typeface="Symbol"/>
              </a:rPr>
              <a:t>*</a:t>
            </a:r>
            <a:r>
              <a:rPr lang="fr-FR" dirty="0" smtClean="0"/>
              <a:t>}</a:t>
            </a:r>
          </a:p>
          <a:p>
            <a:endParaRPr lang="fr-FR" dirty="0" smtClean="0"/>
          </a:p>
          <a:p>
            <a:r>
              <a:rPr lang="fr-FR" dirty="0" smtClean="0"/>
              <a:t>Les traces infinies :</a:t>
            </a:r>
          </a:p>
          <a:p>
            <a:pPr lvl="1"/>
            <a:r>
              <a:rPr lang="fr-FR" dirty="0" smtClean="0"/>
              <a:t>{</a:t>
            </a:r>
            <a:r>
              <a:rPr lang="fr-FR" dirty="0" smtClean="0">
                <a:sym typeface="Symbol"/>
              </a:rPr>
              <a:t>ab</a:t>
            </a:r>
            <a:r>
              <a:rPr lang="fr-FR" baseline="30000" dirty="0" smtClean="0">
                <a:sym typeface="Symbol"/>
              </a:rPr>
              <a:t></a:t>
            </a:r>
            <a:r>
              <a:rPr lang="fr-FR" dirty="0" smtClean="0">
                <a:sym typeface="Symbol"/>
              </a:rPr>
              <a:t>, </a:t>
            </a:r>
            <a:r>
              <a:rPr lang="fr-FR" dirty="0" err="1" smtClean="0">
                <a:sym typeface="Symbol"/>
              </a:rPr>
              <a:t>ac</a:t>
            </a:r>
            <a:r>
              <a:rPr lang="fr-FR" dirty="0" smtClean="0">
                <a:sym typeface="Symbol"/>
              </a:rPr>
              <a:t></a:t>
            </a:r>
            <a:r>
              <a:rPr lang="fr-FR" baseline="30000" dirty="0" smtClean="0">
                <a:sym typeface="Symbol"/>
              </a:rPr>
              <a:t></a:t>
            </a:r>
            <a:r>
              <a:rPr lang="fr-FR" dirty="0" smtClean="0"/>
              <a:t>}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786088" y="2348880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3707904" y="2348880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5076056" y="184482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5076056" y="278092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cxnSp>
        <p:nvCxnSpPr>
          <p:cNvPr id="11" name="Connecteur droit avec flèche 10"/>
          <p:cNvCxnSpPr>
            <a:stCxn id="24" idx="6"/>
            <a:endCxn id="6" idx="2"/>
          </p:cNvCxnSpPr>
          <p:nvPr/>
        </p:nvCxnSpPr>
        <p:spPr>
          <a:xfrm>
            <a:off x="3239852" y="2600908"/>
            <a:ext cx="4680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>
            <a:stCxn id="6" idx="6"/>
            <a:endCxn id="7" idx="2"/>
          </p:cNvCxnSpPr>
          <p:nvPr/>
        </p:nvCxnSpPr>
        <p:spPr>
          <a:xfrm flipV="1">
            <a:off x="4211960" y="2096852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Forme 18"/>
          <p:cNvCxnSpPr>
            <a:stCxn id="7" idx="0"/>
            <a:endCxn id="7" idx="6"/>
          </p:cNvCxnSpPr>
          <p:nvPr/>
        </p:nvCxnSpPr>
        <p:spPr>
          <a:xfrm rot="16200000" flipH="1">
            <a:off x="5328084" y="1844824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lipse 23"/>
          <p:cNvSpPr/>
          <p:nvPr/>
        </p:nvSpPr>
        <p:spPr>
          <a:xfrm>
            <a:off x="2807804" y="2384884"/>
            <a:ext cx="432048" cy="432048"/>
          </a:xfrm>
          <a:prstGeom prst="ellipse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3203848" y="191683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5724128" y="148478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4427984" y="177281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4572000" y="278092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cxnSp>
        <p:nvCxnSpPr>
          <p:cNvPr id="34" name="Connecteur droit avec flèche 33"/>
          <p:cNvCxnSpPr>
            <a:stCxn id="6" idx="6"/>
            <a:endCxn id="8" idx="2"/>
          </p:cNvCxnSpPr>
          <p:nvPr/>
        </p:nvCxnSpPr>
        <p:spPr>
          <a:xfrm>
            <a:off x="4211960" y="2600908"/>
            <a:ext cx="86409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Forme 34"/>
          <p:cNvCxnSpPr>
            <a:stCxn id="8" idx="0"/>
            <a:endCxn id="8" idx="6"/>
          </p:cNvCxnSpPr>
          <p:nvPr/>
        </p:nvCxnSpPr>
        <p:spPr>
          <a:xfrm rot="16200000" flipH="1">
            <a:off x="5328084" y="2780928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5796136" y="234888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L’arbre d’exécution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Les arbres d’exécution sont une autre caractéristique des STE</a:t>
            </a:r>
          </a:p>
          <a:p>
            <a:endParaRPr lang="fr-FR" dirty="0" smtClean="0"/>
          </a:p>
          <a:p>
            <a:r>
              <a:rPr lang="fr-FR" dirty="0" smtClean="0"/>
              <a:t>Un arbre d’exécution </a:t>
            </a:r>
            <a:r>
              <a:rPr lang="fr-FR" b="1" dirty="0" smtClean="0">
                <a:solidFill>
                  <a:srgbClr val="FF0000"/>
                </a:solidFill>
              </a:rPr>
              <a:t>Arbre(S)</a:t>
            </a:r>
            <a:r>
              <a:rPr lang="fr-FR" dirty="0" smtClean="0"/>
              <a:t> d’un STE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possède les propriétés suivantes :</a:t>
            </a:r>
          </a:p>
          <a:p>
            <a:pPr lvl="1"/>
            <a:r>
              <a:rPr lang="fr-FR" dirty="0" smtClean="0"/>
              <a:t>Les nœuds de </a:t>
            </a:r>
            <a:r>
              <a:rPr lang="fr-FR" b="1" dirty="0" smtClean="0">
                <a:solidFill>
                  <a:srgbClr val="FF0000"/>
                </a:solidFill>
              </a:rPr>
              <a:t>Arbre(S) </a:t>
            </a:r>
            <a:r>
              <a:rPr lang="fr-FR" dirty="0" smtClean="0"/>
              <a:t>sont des états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</a:p>
          <a:p>
            <a:pPr lvl="1"/>
            <a:r>
              <a:rPr lang="fr-FR" dirty="0" smtClean="0"/>
              <a:t>La racine de </a:t>
            </a:r>
            <a:r>
              <a:rPr lang="fr-FR" b="1" dirty="0" smtClean="0">
                <a:solidFill>
                  <a:srgbClr val="FF0000"/>
                </a:solidFill>
              </a:rPr>
              <a:t>Arbre(S) </a:t>
            </a:r>
            <a:r>
              <a:rPr lang="fr-FR" dirty="0" smtClean="0"/>
              <a:t>est un état initial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est un nœud de </a:t>
            </a:r>
            <a:r>
              <a:rPr lang="fr-FR" b="1" dirty="0" smtClean="0">
                <a:solidFill>
                  <a:srgbClr val="FF0000"/>
                </a:solidFill>
              </a:rPr>
              <a:t>Arbre(S)</a:t>
            </a:r>
            <a:r>
              <a:rPr lang="fr-FR" dirty="0" smtClean="0"/>
              <a:t> tel que </a:t>
            </a:r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s,a,s’</a:t>
            </a:r>
            <a:r>
              <a:rPr lang="fr-FR" b="1" dirty="0" smtClean="0">
                <a:solidFill>
                  <a:srgbClr val="FF0000"/>
                </a:solidFill>
              </a:rPr>
              <a:t>) </a:t>
            </a:r>
            <a:r>
              <a:rPr lang="fr-FR" dirty="0" smtClean="0"/>
              <a:t>alors </a:t>
            </a:r>
            <a:r>
              <a:rPr lang="fr-FR" b="1" dirty="0" smtClean="0">
                <a:solidFill>
                  <a:srgbClr val="FF0000"/>
                </a:solidFill>
              </a:rPr>
              <a:t>s’</a:t>
            </a:r>
            <a:r>
              <a:rPr lang="fr-FR" dirty="0" smtClean="0"/>
              <a:t> est un nœud fils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</a:p>
          <a:p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dirty="0" smtClean="0"/>
              <a:t>Le plus souvent, les arbres d’exécution sont infinis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3491880" y="5013176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3491880" y="422108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20" idx="6"/>
            <a:endCxn id="21" idx="2"/>
          </p:cNvCxnSpPr>
          <p:nvPr/>
        </p:nvCxnSpPr>
        <p:spPr>
          <a:xfrm>
            <a:off x="1907704" y="4473116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6876256" y="4293096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20" name="Ellipse 19"/>
          <p:cNvSpPr/>
          <p:nvPr/>
        </p:nvSpPr>
        <p:spPr>
          <a:xfrm>
            <a:off x="1403648" y="422108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21" name="Ellipse 20"/>
          <p:cNvSpPr/>
          <p:nvPr/>
        </p:nvSpPr>
        <p:spPr>
          <a:xfrm>
            <a:off x="2411760" y="422108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cxnSp>
        <p:nvCxnSpPr>
          <p:cNvPr id="26" name="Connecteur droit avec flèche 25"/>
          <p:cNvCxnSpPr>
            <a:stCxn id="21" idx="6"/>
            <a:endCxn id="8" idx="2"/>
          </p:cNvCxnSpPr>
          <p:nvPr/>
        </p:nvCxnSpPr>
        <p:spPr>
          <a:xfrm>
            <a:off x="2915816" y="4473116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>
            <a:stCxn id="21" idx="5"/>
            <a:endCxn id="7" idx="1"/>
          </p:cNvCxnSpPr>
          <p:nvPr/>
        </p:nvCxnSpPr>
        <p:spPr>
          <a:xfrm>
            <a:off x="2841999" y="4651327"/>
            <a:ext cx="723698" cy="4356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e 32"/>
          <p:cNvSpPr/>
          <p:nvPr/>
        </p:nvSpPr>
        <p:spPr>
          <a:xfrm>
            <a:off x="4644008" y="422108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34" name="Ellipse 33"/>
          <p:cNvSpPr/>
          <p:nvPr/>
        </p:nvSpPr>
        <p:spPr>
          <a:xfrm>
            <a:off x="5796136" y="422108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35" name="ZoneTexte 34"/>
          <p:cNvSpPr txBox="1"/>
          <p:nvPr/>
        </p:nvSpPr>
        <p:spPr>
          <a:xfrm>
            <a:off x="6894408" y="5085184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36" name="Ellipse 35"/>
          <p:cNvSpPr/>
          <p:nvPr/>
        </p:nvSpPr>
        <p:spPr>
          <a:xfrm>
            <a:off x="4662160" y="5013176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37" name="Ellipse 36"/>
          <p:cNvSpPr/>
          <p:nvPr/>
        </p:nvSpPr>
        <p:spPr>
          <a:xfrm>
            <a:off x="5796136" y="5013176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cxnSp>
        <p:nvCxnSpPr>
          <p:cNvPr id="38" name="Connecteur droit avec flèche 37"/>
          <p:cNvCxnSpPr>
            <a:stCxn id="8" idx="6"/>
            <a:endCxn id="33" idx="2"/>
          </p:cNvCxnSpPr>
          <p:nvPr/>
        </p:nvCxnSpPr>
        <p:spPr>
          <a:xfrm>
            <a:off x="3995936" y="4473116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>
            <a:stCxn id="33" idx="6"/>
            <a:endCxn id="34" idx="2"/>
          </p:cNvCxnSpPr>
          <p:nvPr/>
        </p:nvCxnSpPr>
        <p:spPr>
          <a:xfrm>
            <a:off x="5148064" y="4473116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>
            <a:stCxn id="34" idx="6"/>
            <a:endCxn id="15" idx="1"/>
          </p:cNvCxnSpPr>
          <p:nvPr/>
        </p:nvCxnSpPr>
        <p:spPr>
          <a:xfrm>
            <a:off x="6300192" y="4473116"/>
            <a:ext cx="576064" cy="4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7" idx="6"/>
            <a:endCxn id="36" idx="2"/>
          </p:cNvCxnSpPr>
          <p:nvPr/>
        </p:nvCxnSpPr>
        <p:spPr>
          <a:xfrm>
            <a:off x="3995936" y="5265204"/>
            <a:ext cx="6662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>
            <a:stCxn id="36" idx="6"/>
            <a:endCxn id="37" idx="2"/>
          </p:cNvCxnSpPr>
          <p:nvPr/>
        </p:nvCxnSpPr>
        <p:spPr>
          <a:xfrm>
            <a:off x="5166216" y="5265204"/>
            <a:ext cx="6299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/>
          <p:cNvCxnSpPr>
            <a:stCxn id="37" idx="6"/>
            <a:endCxn id="35" idx="1"/>
          </p:cNvCxnSpPr>
          <p:nvPr/>
        </p:nvCxnSpPr>
        <p:spPr>
          <a:xfrm>
            <a:off x="6300192" y="5265204"/>
            <a:ext cx="594216" cy="4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lipse 56"/>
          <p:cNvSpPr/>
          <p:nvPr/>
        </p:nvSpPr>
        <p:spPr>
          <a:xfrm>
            <a:off x="2786088" y="2348880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58" name="Ellipse 57"/>
          <p:cNvSpPr/>
          <p:nvPr/>
        </p:nvSpPr>
        <p:spPr>
          <a:xfrm>
            <a:off x="3707904" y="2348880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59" name="Ellipse 58"/>
          <p:cNvSpPr/>
          <p:nvPr/>
        </p:nvSpPr>
        <p:spPr>
          <a:xfrm>
            <a:off x="5076056" y="184482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>
            <a:off x="5076056" y="278092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cxnSp>
        <p:nvCxnSpPr>
          <p:cNvPr id="61" name="Connecteur droit avec flèche 60"/>
          <p:cNvCxnSpPr>
            <a:stCxn id="64" idx="6"/>
            <a:endCxn id="58" idx="2"/>
          </p:cNvCxnSpPr>
          <p:nvPr/>
        </p:nvCxnSpPr>
        <p:spPr>
          <a:xfrm>
            <a:off x="3239852" y="2600908"/>
            <a:ext cx="4680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>
            <a:stCxn id="58" idx="6"/>
            <a:endCxn id="59" idx="2"/>
          </p:cNvCxnSpPr>
          <p:nvPr/>
        </p:nvCxnSpPr>
        <p:spPr>
          <a:xfrm flipV="1">
            <a:off x="4211960" y="2096852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Forme 62"/>
          <p:cNvCxnSpPr>
            <a:stCxn id="59" idx="0"/>
            <a:endCxn id="59" idx="6"/>
          </p:cNvCxnSpPr>
          <p:nvPr/>
        </p:nvCxnSpPr>
        <p:spPr>
          <a:xfrm rot="16200000" flipH="1">
            <a:off x="5328084" y="1844824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lipse 63"/>
          <p:cNvSpPr/>
          <p:nvPr/>
        </p:nvSpPr>
        <p:spPr>
          <a:xfrm>
            <a:off x="2807804" y="2384884"/>
            <a:ext cx="432048" cy="432048"/>
          </a:xfrm>
          <a:prstGeom prst="ellipse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ZoneTexte 64"/>
          <p:cNvSpPr txBox="1"/>
          <p:nvPr/>
        </p:nvSpPr>
        <p:spPr>
          <a:xfrm>
            <a:off x="3203848" y="191683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66" name="ZoneTexte 65"/>
          <p:cNvSpPr txBox="1"/>
          <p:nvPr/>
        </p:nvSpPr>
        <p:spPr>
          <a:xfrm>
            <a:off x="5724128" y="148478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67" name="ZoneTexte 66"/>
          <p:cNvSpPr txBox="1"/>
          <p:nvPr/>
        </p:nvSpPr>
        <p:spPr>
          <a:xfrm>
            <a:off x="4427984" y="177281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68" name="ZoneTexte 67"/>
          <p:cNvSpPr txBox="1"/>
          <p:nvPr/>
        </p:nvSpPr>
        <p:spPr>
          <a:xfrm>
            <a:off x="4572000" y="278092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cxnSp>
        <p:nvCxnSpPr>
          <p:cNvPr id="69" name="Connecteur droit avec flèche 68"/>
          <p:cNvCxnSpPr>
            <a:stCxn id="58" idx="6"/>
            <a:endCxn id="60" idx="2"/>
          </p:cNvCxnSpPr>
          <p:nvPr/>
        </p:nvCxnSpPr>
        <p:spPr>
          <a:xfrm>
            <a:off x="4211960" y="2600908"/>
            <a:ext cx="86409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Forme 69"/>
          <p:cNvCxnSpPr>
            <a:stCxn id="60" idx="0"/>
            <a:endCxn id="60" idx="6"/>
          </p:cNvCxnSpPr>
          <p:nvPr/>
        </p:nvCxnSpPr>
        <p:spPr>
          <a:xfrm rot="16200000" flipH="1">
            <a:off x="5328084" y="2780928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/>
          <p:cNvSpPr txBox="1"/>
          <p:nvPr/>
        </p:nvSpPr>
        <p:spPr>
          <a:xfrm>
            <a:off x="5796136" y="234888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72" name="Flèche vers le bas 71"/>
          <p:cNvSpPr/>
          <p:nvPr/>
        </p:nvSpPr>
        <p:spPr>
          <a:xfrm>
            <a:off x="4283968" y="3429000"/>
            <a:ext cx="360040" cy="50405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Relations entre processus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Deux relations sont intéressantes :</a:t>
            </a:r>
          </a:p>
          <a:p>
            <a:pPr lvl="1"/>
            <a:r>
              <a:rPr lang="fr-FR" dirty="0" smtClean="0"/>
              <a:t>Equivalence des processus</a:t>
            </a:r>
          </a:p>
          <a:p>
            <a:pPr lvl="2"/>
            <a:r>
              <a:rPr lang="fr-FR" dirty="0" smtClean="0"/>
              <a:t>Deux processus sont équivalents « s’ils ont le même comportement »</a:t>
            </a:r>
          </a:p>
          <a:p>
            <a:pPr lvl="2"/>
            <a:r>
              <a:rPr lang="fr-FR" dirty="0" smtClean="0"/>
              <a:t>Intérêt : si deux processus sont « équivalents », ils ont les mêmes propriétés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Raffinement des processus</a:t>
            </a:r>
          </a:p>
          <a:p>
            <a:pPr lvl="2"/>
            <a:r>
              <a:rPr lang="fr-FR" dirty="0" smtClean="0"/>
              <a:t>La raffinement est l’inverse de l’abstraction</a:t>
            </a:r>
          </a:p>
          <a:p>
            <a:pPr lvl="2"/>
            <a:r>
              <a:rPr lang="fr-FR" dirty="0" smtClean="0"/>
              <a:t>Informellement : ajout de détail</a:t>
            </a:r>
          </a:p>
          <a:p>
            <a:pPr lvl="2"/>
            <a:r>
              <a:rPr lang="fr-FR" dirty="0" smtClean="0"/>
              <a:t>Un processus raffine un autre s’il lui rajoute quelques détails…</a:t>
            </a:r>
          </a:p>
          <a:p>
            <a:pPr lvl="2"/>
            <a:r>
              <a:rPr lang="fr-FR" dirty="0" smtClean="0"/>
              <a:t>La notion sera plus détaillée en CSP et au dernier chapitre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Equivalence des processus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Formellement, on dispose de deux façons pour établir l’équivalence entre deux STE :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S’</a:t>
            </a:r>
          </a:p>
          <a:p>
            <a:pPr lvl="1"/>
            <a:r>
              <a:rPr lang="fr-FR" dirty="0" smtClean="0"/>
              <a:t>Equivalence en trace : </a:t>
            </a:r>
            <a:r>
              <a:rPr lang="fr-FR" b="1" dirty="0" smtClean="0">
                <a:solidFill>
                  <a:srgbClr val="FF0000"/>
                </a:solidFill>
              </a:rPr>
              <a:t>Trace(S)=Trace(S’)</a:t>
            </a:r>
          </a:p>
          <a:p>
            <a:pPr lvl="1"/>
            <a:r>
              <a:rPr lang="fr-FR" dirty="0" smtClean="0"/>
              <a:t>Equivalence en structure : </a:t>
            </a:r>
            <a:r>
              <a:rPr lang="fr-FR" b="1" dirty="0" smtClean="0">
                <a:solidFill>
                  <a:srgbClr val="FF0000"/>
                </a:solidFill>
              </a:rPr>
              <a:t>Arbre(S)=Arbre(S’)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Quelle relation y a-t-il entre ces deux équivalences ?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Equivalence en trace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≈</a:t>
            </a:r>
            <a:r>
              <a:rPr lang="fr-FR" b="1" baseline="30000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t</a:t>
            </a:r>
            <a:r>
              <a:rPr lang="fr-FR" b="1" dirty="0" smtClean="0">
                <a:solidFill>
                  <a:srgbClr val="FF0000"/>
                </a:solidFill>
              </a:rPr>
              <a:t> S’ </a:t>
            </a:r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trace(S)=trace(S’)</a:t>
            </a:r>
          </a:p>
          <a:p>
            <a:endParaRPr lang="fr-FR" dirty="0" smtClean="0"/>
          </a:p>
          <a:p>
            <a:r>
              <a:rPr lang="fr-FR" dirty="0" smtClean="0"/>
              <a:t>Exemple : 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Remarque : l’équivalence en trace peut établir l’équivalence entre un processus déterministe et un autre qui ne l’est pas!</a:t>
            </a:r>
          </a:p>
          <a:p>
            <a:pPr lvl="1"/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412200" y="364502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1334016" y="364502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2702168" y="3140968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8" name="Ellipse 7"/>
          <p:cNvSpPr/>
          <p:nvPr/>
        </p:nvSpPr>
        <p:spPr>
          <a:xfrm>
            <a:off x="2702168" y="4077072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12" idx="6"/>
            <a:endCxn id="6" idx="2"/>
          </p:cNvCxnSpPr>
          <p:nvPr/>
        </p:nvCxnSpPr>
        <p:spPr>
          <a:xfrm>
            <a:off x="865964" y="3897052"/>
            <a:ext cx="4680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6" idx="6"/>
            <a:endCxn id="7" idx="2"/>
          </p:cNvCxnSpPr>
          <p:nvPr/>
        </p:nvCxnSpPr>
        <p:spPr>
          <a:xfrm flipV="1">
            <a:off x="1838072" y="3392996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Forme 10"/>
          <p:cNvCxnSpPr>
            <a:stCxn id="7" idx="0"/>
            <a:endCxn id="7" idx="6"/>
          </p:cNvCxnSpPr>
          <p:nvPr/>
        </p:nvCxnSpPr>
        <p:spPr>
          <a:xfrm rot="16200000" flipH="1">
            <a:off x="2954196" y="3140968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/>
          <p:cNvSpPr/>
          <p:nvPr/>
        </p:nvSpPr>
        <p:spPr>
          <a:xfrm>
            <a:off x="433916" y="3681028"/>
            <a:ext cx="432048" cy="432048"/>
          </a:xfrm>
          <a:prstGeom prst="ellipse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829960" y="321297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3350240" y="2780928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2054096" y="306896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2198112" y="4077072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cxnSp>
        <p:nvCxnSpPr>
          <p:cNvPr id="17" name="Connecteur droit avec flèche 16"/>
          <p:cNvCxnSpPr>
            <a:stCxn id="6" idx="6"/>
            <a:endCxn id="8" idx="2"/>
          </p:cNvCxnSpPr>
          <p:nvPr/>
        </p:nvCxnSpPr>
        <p:spPr>
          <a:xfrm>
            <a:off x="1838072" y="3897052"/>
            <a:ext cx="86409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Forme 17"/>
          <p:cNvCxnSpPr>
            <a:stCxn id="8" idx="0"/>
            <a:endCxn id="8" idx="6"/>
          </p:cNvCxnSpPr>
          <p:nvPr/>
        </p:nvCxnSpPr>
        <p:spPr>
          <a:xfrm rot="16200000" flipH="1">
            <a:off x="2954196" y="4077072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3422248" y="364502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20" name="Ellipse 19"/>
          <p:cNvSpPr/>
          <p:nvPr/>
        </p:nvSpPr>
        <p:spPr>
          <a:xfrm>
            <a:off x="5452760" y="3573016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0</a:t>
            </a:r>
            <a:endParaRPr lang="fr-FR" dirty="0"/>
          </a:p>
        </p:txBody>
      </p:sp>
      <p:sp>
        <p:nvSpPr>
          <p:cNvPr id="21" name="Ellipse 20"/>
          <p:cNvSpPr/>
          <p:nvPr/>
        </p:nvSpPr>
        <p:spPr>
          <a:xfrm>
            <a:off x="6446584" y="3068960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22" name="Ellipse 21"/>
          <p:cNvSpPr/>
          <p:nvPr/>
        </p:nvSpPr>
        <p:spPr>
          <a:xfrm>
            <a:off x="7742728" y="3068960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23" name="Ellipse 22"/>
          <p:cNvSpPr/>
          <p:nvPr/>
        </p:nvSpPr>
        <p:spPr>
          <a:xfrm>
            <a:off x="7742728" y="400506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cxnSp>
        <p:nvCxnSpPr>
          <p:cNvPr id="24" name="Connecteur droit avec flèche 23"/>
          <p:cNvCxnSpPr>
            <a:stCxn id="27" idx="6"/>
            <a:endCxn id="21" idx="2"/>
          </p:cNvCxnSpPr>
          <p:nvPr/>
        </p:nvCxnSpPr>
        <p:spPr>
          <a:xfrm flipV="1">
            <a:off x="5906524" y="3320988"/>
            <a:ext cx="540060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21" idx="6"/>
            <a:endCxn id="22" idx="2"/>
          </p:cNvCxnSpPr>
          <p:nvPr/>
        </p:nvCxnSpPr>
        <p:spPr>
          <a:xfrm>
            <a:off x="6950640" y="3320988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Forme 25"/>
          <p:cNvCxnSpPr>
            <a:stCxn id="22" idx="0"/>
            <a:endCxn id="22" idx="6"/>
          </p:cNvCxnSpPr>
          <p:nvPr/>
        </p:nvCxnSpPr>
        <p:spPr>
          <a:xfrm rot="16200000" flipH="1">
            <a:off x="7994756" y="3068960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/>
          <p:cNvSpPr/>
          <p:nvPr/>
        </p:nvSpPr>
        <p:spPr>
          <a:xfrm>
            <a:off x="5474476" y="3609020"/>
            <a:ext cx="432048" cy="432048"/>
          </a:xfrm>
          <a:prstGeom prst="ellipse">
            <a:avLst/>
          </a:prstGeom>
          <a:noFill/>
          <a:ln w="952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5870520" y="31409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  <p:sp>
        <p:nvSpPr>
          <p:cNvPr id="29" name="ZoneTexte 28"/>
          <p:cNvSpPr txBox="1"/>
          <p:nvPr/>
        </p:nvSpPr>
        <p:spPr>
          <a:xfrm>
            <a:off x="8390800" y="270892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30" name="ZoneTexte 29"/>
          <p:cNvSpPr txBox="1"/>
          <p:nvPr/>
        </p:nvSpPr>
        <p:spPr>
          <a:xfrm>
            <a:off x="7094656" y="2996952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7238672" y="386104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cxnSp>
        <p:nvCxnSpPr>
          <p:cNvPr id="32" name="Connecteur droit avec flèche 31"/>
          <p:cNvCxnSpPr>
            <a:stCxn id="38" idx="6"/>
            <a:endCxn id="23" idx="2"/>
          </p:cNvCxnSpPr>
          <p:nvPr/>
        </p:nvCxnSpPr>
        <p:spPr>
          <a:xfrm>
            <a:off x="6950640" y="4257092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Forme 32"/>
          <p:cNvCxnSpPr>
            <a:stCxn id="23" idx="0"/>
            <a:endCxn id="23" idx="6"/>
          </p:cNvCxnSpPr>
          <p:nvPr/>
        </p:nvCxnSpPr>
        <p:spPr>
          <a:xfrm rot="16200000" flipH="1">
            <a:off x="7994756" y="4005064"/>
            <a:ext cx="252028" cy="252028"/>
          </a:xfrm>
          <a:prstGeom prst="curvedConnector4">
            <a:avLst>
              <a:gd name="adj1" fmla="val -90704"/>
              <a:gd name="adj2" fmla="val 19070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8462808" y="357301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ym typeface="Symbol"/>
              </a:rPr>
              <a:t></a:t>
            </a:r>
            <a:endParaRPr lang="fr-FR" dirty="0"/>
          </a:p>
        </p:txBody>
      </p:sp>
      <p:sp>
        <p:nvSpPr>
          <p:cNvPr id="38" name="Ellipse 37"/>
          <p:cNvSpPr/>
          <p:nvPr/>
        </p:nvSpPr>
        <p:spPr>
          <a:xfrm>
            <a:off x="6446584" y="4005064"/>
            <a:ext cx="504056" cy="50405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cxnSp>
        <p:nvCxnSpPr>
          <p:cNvPr id="39" name="Connecteur droit avec flèche 38"/>
          <p:cNvCxnSpPr>
            <a:stCxn id="27" idx="5"/>
            <a:endCxn id="38" idx="2"/>
          </p:cNvCxnSpPr>
          <p:nvPr/>
        </p:nvCxnSpPr>
        <p:spPr>
          <a:xfrm>
            <a:off x="5843252" y="3977796"/>
            <a:ext cx="603332" cy="2792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5942528" y="407707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Equivalence en structure : </a:t>
            </a:r>
            <a:r>
              <a:rPr lang="fr-FR" dirty="0" err="1" smtClean="0"/>
              <a:t>bisimulation</a:t>
            </a:r>
            <a:r>
              <a:rPr lang="fr-FR" dirty="0" smtClean="0"/>
              <a:t> forte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/>
              <a:t>Première définition : Arbre(S)=Arbre(S’)</a:t>
            </a:r>
          </a:p>
          <a:p>
            <a:pPr lvl="1"/>
            <a:r>
              <a:rPr lang="fr-FR" dirty="0" smtClean="0"/>
              <a:t>Sans intérêt si les deux arbres sont infinis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Deuxième définition :</a:t>
            </a:r>
          </a:p>
          <a:p>
            <a:pPr lvl="1"/>
            <a:r>
              <a:rPr lang="fr-FR" dirty="0" err="1" smtClean="0"/>
              <a:t>Bisimulation</a:t>
            </a:r>
            <a:r>
              <a:rPr lang="fr-FR" dirty="0" smtClean="0"/>
              <a:t> forte :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peut mimer </a:t>
            </a:r>
            <a:r>
              <a:rPr lang="fr-FR" b="1" dirty="0" smtClean="0">
                <a:solidFill>
                  <a:srgbClr val="FF0000"/>
                </a:solidFill>
              </a:rPr>
              <a:t>S’</a:t>
            </a:r>
            <a:r>
              <a:rPr lang="fr-FR" dirty="0" smtClean="0"/>
              <a:t> et vice-versa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Une relation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𝓡</a:t>
            </a:r>
            <a:r>
              <a:rPr lang="fr-FR" dirty="0" smtClean="0"/>
              <a:t> entre les états de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S’ </a:t>
            </a:r>
            <a:r>
              <a:rPr lang="fr-FR" dirty="0" smtClean="0"/>
              <a:t>est dite une </a:t>
            </a:r>
            <a:r>
              <a:rPr lang="fr-FR" dirty="0" err="1" smtClean="0"/>
              <a:t>bisimulation</a:t>
            </a:r>
            <a:r>
              <a:rPr lang="fr-FR" dirty="0" smtClean="0"/>
              <a:t> </a:t>
            </a:r>
            <a:r>
              <a:rPr lang="fr-FR" dirty="0" err="1" smtClean="0"/>
              <a:t>ssi</a:t>
            </a:r>
            <a:r>
              <a:rPr lang="fr-FR" dirty="0" smtClean="0"/>
              <a:t> (s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𝓡 </a:t>
            </a:r>
            <a:r>
              <a:rPr lang="fr-FR" dirty="0" smtClean="0"/>
              <a:t>s’)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s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,a : (s,a,s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)R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s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’: (s’,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a,s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’)R’ </a:t>
            </a:r>
            <a:r>
              <a:rPr lang="fr-FR" dirty="0" smtClean="0">
                <a:sym typeface="Symbol"/>
              </a:rPr>
              <a:t>et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𝓡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’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  <a:sym typeface="Symbol"/>
              </a:rPr>
              <a:t>s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’,a : (s’,</a:t>
            </a:r>
            <a:r>
              <a:rPr lang="fr-FR" b="1" dirty="0" err="1" smtClean="0">
                <a:solidFill>
                  <a:srgbClr val="FF0000"/>
                </a:solidFill>
                <a:sym typeface="Symbol"/>
              </a:rPr>
              <a:t>a,s</a:t>
            </a:r>
            <a:r>
              <a:rPr lang="fr-FR" b="1" baseline="-25000" dirty="0" err="1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’)R’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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s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: (s,a,s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1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)R </a:t>
            </a:r>
            <a:r>
              <a:rPr lang="fr-FR" dirty="0" smtClean="0">
                <a:sym typeface="Symbol"/>
              </a:rPr>
              <a:t>et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𝓡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b="1" baseline="-25000" dirty="0" smtClean="0">
                <a:solidFill>
                  <a:srgbClr val="FF0000"/>
                </a:solidFill>
              </a:rPr>
              <a:t>1</a:t>
            </a:r>
            <a:r>
              <a:rPr lang="fr-FR" b="1" dirty="0" smtClean="0">
                <a:solidFill>
                  <a:srgbClr val="FF0000"/>
                </a:solidFill>
              </a:rPr>
              <a:t>’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S’</a:t>
            </a:r>
            <a:r>
              <a:rPr lang="fr-FR" dirty="0" smtClean="0"/>
              <a:t> sont </a:t>
            </a:r>
            <a:r>
              <a:rPr lang="fr-FR" dirty="0" err="1" smtClean="0"/>
              <a:t>bisimilaires</a:t>
            </a:r>
            <a:r>
              <a:rPr lang="fr-FR" dirty="0" smtClean="0"/>
              <a:t> si leurs états initiaux sont </a:t>
            </a:r>
            <a:r>
              <a:rPr lang="fr-FR" dirty="0" err="1" smtClean="0"/>
              <a:t>bisimilaires</a:t>
            </a:r>
            <a:endParaRPr lang="fr-FR" dirty="0" smtClean="0"/>
          </a:p>
          <a:p>
            <a:pPr lvl="2"/>
            <a:r>
              <a:rPr lang="fr-FR" dirty="0" smtClean="0"/>
              <a:t>On parle de simulation (notion moins forte) si l’une des implications est seulement vérifiée</a:t>
            </a:r>
          </a:p>
          <a:p>
            <a:endParaRPr lang="fr-FR" dirty="0" smtClean="0"/>
          </a:p>
          <a:p>
            <a:r>
              <a:rPr lang="fr-FR" dirty="0" smtClean="0"/>
              <a:t>Les deux STE précédents ne sont pas </a:t>
            </a:r>
            <a:r>
              <a:rPr lang="fr-FR" dirty="0" err="1" smtClean="0"/>
              <a:t>bisimilaires</a:t>
            </a:r>
            <a:endParaRPr lang="fr-FR" dirty="0" smtClean="0"/>
          </a:p>
          <a:p>
            <a:pPr lvl="1"/>
            <a:r>
              <a:rPr lang="fr-FR" dirty="0" smtClean="0"/>
              <a:t>Preuve : exercice de TD!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A noter que la preuve de </a:t>
            </a:r>
            <a:r>
              <a:rPr lang="fr-FR" dirty="0" err="1" smtClean="0"/>
              <a:t>bisimulation</a:t>
            </a:r>
            <a:r>
              <a:rPr lang="fr-FR" dirty="0" smtClean="0"/>
              <a:t> représente un traitement lourd en général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Relation entre les équivalences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D’une manière générale :</a:t>
            </a:r>
          </a:p>
          <a:p>
            <a:pPr lvl="1"/>
            <a:r>
              <a:rPr lang="fr-FR" dirty="0" err="1" smtClean="0"/>
              <a:t>Bisimulation</a:t>
            </a:r>
            <a:r>
              <a:rPr lang="fr-FR" dirty="0" smtClean="0"/>
              <a:t> forte </a:t>
            </a:r>
            <a:r>
              <a:rPr lang="fr-FR" dirty="0" smtClean="0">
                <a:sym typeface="Symbol"/>
              </a:rPr>
              <a:t></a:t>
            </a:r>
            <a:r>
              <a:rPr lang="fr-FR" dirty="0" smtClean="0">
                <a:sym typeface="Wingdings" pitchFamily="2" charset="2"/>
              </a:rPr>
              <a:t> équivalence en trace</a:t>
            </a:r>
          </a:p>
          <a:p>
            <a:endParaRPr lang="fr-FR" dirty="0" smtClean="0">
              <a:sym typeface="Wingdings" pitchFamily="2" charset="2"/>
            </a:endParaRPr>
          </a:p>
          <a:p>
            <a:r>
              <a:rPr lang="fr-FR" dirty="0" smtClean="0">
                <a:sym typeface="Wingdings" pitchFamily="2" charset="2"/>
              </a:rPr>
              <a:t>Cas de systèmes déterministes</a:t>
            </a:r>
          </a:p>
          <a:p>
            <a:pPr lvl="1"/>
            <a:r>
              <a:rPr lang="fr-FR" dirty="0" err="1" smtClean="0"/>
              <a:t>Bisimulation</a:t>
            </a:r>
            <a:r>
              <a:rPr lang="fr-FR" dirty="0" smtClean="0"/>
              <a:t> forte </a:t>
            </a:r>
            <a:r>
              <a:rPr lang="fr-FR" dirty="0" smtClean="0">
                <a:sym typeface="Symbol"/>
              </a:rPr>
              <a:t></a:t>
            </a:r>
            <a:r>
              <a:rPr lang="fr-FR" dirty="0" smtClean="0"/>
              <a:t> </a:t>
            </a:r>
            <a:r>
              <a:rPr lang="fr-FR" dirty="0" smtClean="0">
                <a:sym typeface="Wingdings" pitchFamily="2" charset="2"/>
              </a:rPr>
              <a:t>équivalence en trace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algèbres de processus</a:t>
            </a:r>
            <a:br>
              <a:rPr lang="fr-FR" dirty="0" smtClean="0"/>
            </a:br>
            <a:r>
              <a:rPr lang="fr-FR" dirty="0" smtClean="0"/>
              <a:t>CSP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Première version : un langage de programmation</a:t>
            </a:r>
            <a:endParaRPr lang="fr-FR" sz="280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414120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Proposé par </a:t>
            </a:r>
            <a:r>
              <a:rPr lang="fr-FR" dirty="0" err="1" smtClean="0"/>
              <a:t>Hoare</a:t>
            </a:r>
            <a:r>
              <a:rPr lang="fr-FR" dirty="0" smtClean="0"/>
              <a:t> en 1978</a:t>
            </a:r>
          </a:p>
          <a:p>
            <a:endParaRPr lang="fr-FR" dirty="0" smtClean="0"/>
          </a:p>
          <a:p>
            <a:r>
              <a:rPr lang="fr-FR" dirty="0" smtClean="0"/>
              <a:t>Offre des primitives de communication sous forme de canaux de</a:t>
            </a:r>
          </a:p>
          <a:p>
            <a:r>
              <a:rPr lang="fr-FR" dirty="0" smtClean="0"/>
              <a:t>communication</a:t>
            </a:r>
          </a:p>
          <a:p>
            <a:pPr lvl="1"/>
            <a:r>
              <a:rPr lang="fr-FR" dirty="0" smtClean="0"/>
              <a:t>Un canal de communication est lui même considéré comme un processus</a:t>
            </a:r>
          </a:p>
          <a:p>
            <a:endParaRPr lang="fr-FR" dirty="0" smtClean="0"/>
          </a:p>
          <a:p>
            <a:r>
              <a:rPr lang="fr-FR" dirty="0" smtClean="0"/>
              <a:t>Propose des actions sémantiques de synchronisation avec possibilité d’échange des valeurs</a:t>
            </a:r>
          </a:p>
          <a:p>
            <a:endParaRPr lang="fr-FR" dirty="0" smtClean="0"/>
          </a:p>
          <a:p>
            <a:r>
              <a:rPr lang="fr-FR" dirty="0" smtClean="0"/>
              <a:t>Sur un canal, un processus ne peut lire ou écrire si, de l’autre bout, il y a un processus qui effectue l’action inverse</a:t>
            </a:r>
            <a:endParaRPr lang="fr-FR" dirty="0"/>
          </a:p>
        </p:txBody>
      </p:sp>
      <p:sp>
        <p:nvSpPr>
          <p:cNvPr id="5" name="Cylindre 4"/>
          <p:cNvSpPr/>
          <p:nvPr/>
        </p:nvSpPr>
        <p:spPr>
          <a:xfrm rot="15876943">
            <a:off x="3810310" y="3993167"/>
            <a:ext cx="432048" cy="320273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2915816" y="5085184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canal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6156176" y="5229200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Processus qui écrit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179512" y="5661248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Processus qui lit</a:t>
            </a:r>
            <a:endParaRPr lang="fr-FR" dirty="0"/>
          </a:p>
        </p:txBody>
      </p:sp>
      <p:sp>
        <p:nvSpPr>
          <p:cNvPr id="9" name="Flèche droite 8"/>
          <p:cNvSpPr/>
          <p:nvPr/>
        </p:nvSpPr>
        <p:spPr>
          <a:xfrm rot="9960776">
            <a:off x="5676975" y="5278212"/>
            <a:ext cx="432048" cy="21602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droite 9"/>
          <p:cNvSpPr/>
          <p:nvPr/>
        </p:nvSpPr>
        <p:spPr>
          <a:xfrm rot="9960776">
            <a:off x="1999414" y="5710259"/>
            <a:ext cx="432048" cy="21602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Grammaire du langage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4572000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c::= skip | </a:t>
            </a:r>
            <a:r>
              <a:rPr lang="fr-FR" b="1" dirty="0" err="1" smtClean="0">
                <a:solidFill>
                  <a:srgbClr val="FF0000"/>
                </a:solidFill>
              </a:rPr>
              <a:t>abort</a:t>
            </a:r>
            <a:r>
              <a:rPr lang="fr-FR" b="1" dirty="0" smtClean="0">
                <a:solidFill>
                  <a:srgbClr val="FF0000"/>
                </a:solidFill>
              </a:rPr>
              <a:t> | X:=a | K?X | K!X | c0 ;c1 | [ </a:t>
            </a:r>
            <a:r>
              <a:rPr lang="fr-FR" b="1" dirty="0" err="1" smtClean="0">
                <a:solidFill>
                  <a:srgbClr val="FF0000"/>
                </a:solidFill>
              </a:rPr>
              <a:t>gc</a:t>
            </a:r>
            <a:r>
              <a:rPr lang="fr-FR" b="1" dirty="0" smtClean="0">
                <a:solidFill>
                  <a:srgbClr val="FF0000"/>
                </a:solidFill>
              </a:rPr>
              <a:t> ] | *[ </a:t>
            </a:r>
            <a:r>
              <a:rPr lang="fr-FR" b="1" dirty="0" err="1" smtClean="0">
                <a:solidFill>
                  <a:srgbClr val="FF0000"/>
                </a:solidFill>
              </a:rPr>
              <a:t>gc</a:t>
            </a:r>
            <a:r>
              <a:rPr lang="fr-FR" b="1" dirty="0" smtClean="0">
                <a:solidFill>
                  <a:srgbClr val="FF0000"/>
                </a:solidFill>
              </a:rPr>
              <a:t> ] | [ c0||c1 ] | </a:t>
            </a:r>
            <a:r>
              <a:rPr lang="fr-FR" b="1" dirty="0" err="1" smtClean="0">
                <a:solidFill>
                  <a:srgbClr val="FF0000"/>
                </a:solidFill>
              </a:rPr>
              <a:t>c\K</a:t>
            </a:r>
            <a:endParaRPr lang="fr-FR" b="1" dirty="0" smtClean="0">
              <a:solidFill>
                <a:srgbClr val="FF0000"/>
              </a:solidFill>
            </a:endParaRPr>
          </a:p>
          <a:p>
            <a:endParaRPr lang="fr-FR" dirty="0" smtClean="0"/>
          </a:p>
          <a:p>
            <a:r>
              <a:rPr lang="fr-FR" dirty="0" smtClean="0"/>
              <a:t>Explications (K est un canal)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K?X</a:t>
            </a:r>
            <a:r>
              <a:rPr lang="fr-FR" dirty="0" smtClean="0"/>
              <a:t> : attend de lire une valeur du canal </a:t>
            </a:r>
            <a:r>
              <a:rPr lang="fr-FR" b="1" dirty="0" smtClean="0">
                <a:solidFill>
                  <a:srgbClr val="FF0000"/>
                </a:solidFill>
              </a:rPr>
              <a:t>K</a:t>
            </a:r>
            <a:r>
              <a:rPr lang="fr-FR" dirty="0" smtClean="0"/>
              <a:t>, le résultat est mis dans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K!X</a:t>
            </a:r>
            <a:r>
              <a:rPr lang="fr-FR" dirty="0" smtClean="0"/>
              <a:t> : l’expression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écrite dans le canal </a:t>
            </a:r>
            <a:r>
              <a:rPr lang="fr-FR" b="1" dirty="0" smtClean="0">
                <a:solidFill>
                  <a:srgbClr val="FF0000"/>
                </a:solidFill>
              </a:rPr>
              <a:t>K</a:t>
            </a:r>
          </a:p>
          <a:p>
            <a:pPr lvl="2"/>
            <a:r>
              <a:rPr lang="fr-FR" dirty="0" smtClean="0"/>
              <a:t>Il faut que les deux processus en L/E se nomment mutuellement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Une commande gardée est de la </a:t>
            </a:r>
            <a:r>
              <a:rPr lang="fr-FR" b="1" dirty="0" smtClean="0">
                <a:solidFill>
                  <a:srgbClr val="FF0000"/>
                </a:solidFill>
              </a:rPr>
              <a:t>forme [ B1-&gt;C1 [] B2-&gt;C2 [] ...BN-&gt;CN ]</a:t>
            </a:r>
          </a:p>
          <a:p>
            <a:pPr lvl="2"/>
            <a:r>
              <a:rPr lang="fr-FR" dirty="0" smtClean="0"/>
              <a:t>On évalue chacune des conditions </a:t>
            </a:r>
            <a:r>
              <a:rPr lang="fr-FR" b="1" dirty="0" smtClean="0">
                <a:solidFill>
                  <a:srgbClr val="FF0000"/>
                </a:solidFill>
              </a:rPr>
              <a:t>Bi</a:t>
            </a:r>
            <a:r>
              <a:rPr lang="fr-FR" dirty="0" smtClean="0"/>
              <a:t> (que l’on appelle gardes)</a:t>
            </a:r>
          </a:p>
          <a:p>
            <a:pPr lvl="2"/>
            <a:r>
              <a:rPr lang="fr-FR" dirty="0" smtClean="0"/>
              <a:t>S’il existe une seule garde vraie Bi, on exécute </a:t>
            </a:r>
            <a:r>
              <a:rPr lang="fr-FR" b="1" dirty="0" smtClean="0">
                <a:solidFill>
                  <a:srgbClr val="FF0000"/>
                </a:solidFill>
              </a:rPr>
              <a:t>Ci</a:t>
            </a:r>
          </a:p>
          <a:p>
            <a:pPr lvl="2"/>
            <a:r>
              <a:rPr lang="fr-FR" dirty="0" smtClean="0"/>
              <a:t>S’il y en a plusieurs, le choix de la commande à exécuter est non déterministe</a:t>
            </a:r>
          </a:p>
          <a:p>
            <a:pPr lvl="2"/>
            <a:r>
              <a:rPr lang="fr-FR" dirty="0" smtClean="0"/>
              <a:t>Si aucune garde n’est correcte, l’instruction complète est équivalente à </a:t>
            </a:r>
            <a:r>
              <a:rPr lang="fr-FR" dirty="0" err="1" smtClean="0"/>
              <a:t>abort</a:t>
            </a:r>
            <a:r>
              <a:rPr lang="fr-FR" dirty="0" smtClean="0"/>
              <a:t> (blocage pour toujours)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Grammaire du langage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Suite…</a:t>
            </a:r>
          </a:p>
          <a:p>
            <a:pPr lvl="1"/>
            <a:r>
              <a:rPr lang="fr-FR" dirty="0" smtClean="0"/>
              <a:t>Commande gardée avec étoile :</a:t>
            </a:r>
          </a:p>
          <a:p>
            <a:pPr lvl="2"/>
            <a:r>
              <a:rPr lang="fr-FR" dirty="0" smtClean="0"/>
              <a:t>A priori, même principe que la version sans étoile</a:t>
            </a:r>
          </a:p>
          <a:p>
            <a:pPr lvl="2"/>
            <a:r>
              <a:rPr lang="fr-FR" dirty="0" smtClean="0"/>
              <a:t>Différence, on boucle sur la commande jusqu’à ce qu’il n’y ait plus de gardes vraies</a:t>
            </a:r>
          </a:p>
          <a:p>
            <a:pPr lvl="2"/>
            <a:r>
              <a:rPr lang="fr-FR" dirty="0" smtClean="0"/>
              <a:t>si aucune garde n’est vraie, la commande est équivalente à skip</a:t>
            </a:r>
          </a:p>
          <a:p>
            <a:endParaRPr lang="fr-FR" dirty="0" smtClean="0"/>
          </a:p>
          <a:p>
            <a:r>
              <a:rPr lang="fr-FR" b="1" dirty="0" smtClean="0">
                <a:solidFill>
                  <a:srgbClr val="FF0000"/>
                </a:solidFill>
              </a:rPr>
              <a:t>c0||c1 </a:t>
            </a:r>
            <a:r>
              <a:rPr lang="fr-FR" dirty="0" smtClean="0"/>
              <a:t>: exécuter les commandes </a:t>
            </a:r>
            <a:r>
              <a:rPr lang="fr-FR" b="1" dirty="0" smtClean="0">
                <a:solidFill>
                  <a:srgbClr val="FF0000"/>
                </a:solidFill>
              </a:rPr>
              <a:t>c0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c1</a:t>
            </a:r>
            <a:r>
              <a:rPr lang="fr-FR" dirty="0" smtClean="0"/>
              <a:t> en parallèle</a:t>
            </a:r>
          </a:p>
          <a:p>
            <a:pPr lvl="1"/>
            <a:r>
              <a:rPr lang="fr-FR" dirty="0" smtClean="0"/>
              <a:t>La commande se termine lorsque toutes les commandes parallèles internes se terminent</a:t>
            </a:r>
          </a:p>
          <a:p>
            <a:endParaRPr lang="fr-FR" dirty="0" smtClean="0"/>
          </a:p>
          <a:p>
            <a:r>
              <a:rPr lang="fr-FR" b="1" dirty="0" err="1" smtClean="0">
                <a:solidFill>
                  <a:srgbClr val="FF0000"/>
                </a:solidFill>
              </a:rPr>
              <a:t>c\K</a:t>
            </a:r>
            <a:r>
              <a:rPr lang="fr-FR" dirty="0" smtClean="0"/>
              <a:t> : cacher le canal </a:t>
            </a:r>
            <a:r>
              <a:rPr lang="fr-FR" b="1" dirty="0" smtClean="0">
                <a:solidFill>
                  <a:srgbClr val="FF0000"/>
                </a:solidFill>
              </a:rPr>
              <a:t>K</a:t>
            </a:r>
            <a:r>
              <a:rPr lang="fr-FR" dirty="0" smtClean="0"/>
              <a:t> dans la commande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</a:p>
          <a:p>
            <a:pPr lvl="1"/>
            <a:r>
              <a:rPr lang="fr-FR" dirty="0" smtClean="0"/>
              <a:t>Le canal est seulement visible et utilisable à l’intérieur de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Rechercher une valeur n dans un tableau tab (la conjonction est notée par  ’;’ ) :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i:=0;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*[</a:t>
            </a:r>
          </a:p>
          <a:p>
            <a:pPr lvl="2">
              <a:buNone/>
            </a:pPr>
            <a:r>
              <a:rPr lang="fr-FR" dirty="0" smtClean="0">
                <a:solidFill>
                  <a:srgbClr val="FF0000"/>
                </a:solidFill>
              </a:rPr>
              <a:t>i&lt;</a:t>
            </a:r>
            <a:r>
              <a:rPr lang="fr-FR" dirty="0" err="1" smtClean="0">
                <a:solidFill>
                  <a:srgbClr val="FF0000"/>
                </a:solidFill>
              </a:rPr>
              <a:t>size;tab</a:t>
            </a:r>
            <a:r>
              <a:rPr lang="fr-FR" dirty="0" smtClean="0">
                <a:solidFill>
                  <a:srgbClr val="FF0000"/>
                </a:solidFill>
              </a:rPr>
              <a:t>[i]&lt;&gt;n -&gt; i:=i+1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]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Les gardes sont enrichies par des commandes d’entrée/sortie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b → c </a:t>
            </a:r>
            <a:r>
              <a:rPr lang="fr-FR" dirty="0" smtClean="0"/>
              <a:t>lorsque b est correct, on exécute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b;K?X</a:t>
            </a:r>
            <a:r>
              <a:rPr lang="fr-FR" b="1" dirty="0" smtClean="0">
                <a:solidFill>
                  <a:srgbClr val="FF0000"/>
                </a:solidFill>
              </a:rPr>
              <a:t> → c </a:t>
            </a:r>
            <a:r>
              <a:rPr lang="fr-FR" dirty="0" smtClean="0"/>
              <a:t>lorsque b est correct et que le processus est prêt à lire du canal K, il affecte la variable X et exécuté c</a:t>
            </a:r>
          </a:p>
          <a:p>
            <a:endParaRPr lang="fr-FR" dirty="0" smtClean="0"/>
          </a:p>
          <a:p>
            <a:pPr lvl="1"/>
            <a:r>
              <a:rPr lang="fr-FR" dirty="0" smtClean="0"/>
              <a:t>Un processus qui imprime sur un écran ce qu’il lit depuis un le clavier :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*[</a:t>
            </a:r>
          </a:p>
          <a:p>
            <a:pPr lvl="2">
              <a:buNone/>
            </a:pPr>
            <a:r>
              <a:rPr lang="fr-FR" dirty="0" err="1" smtClean="0">
                <a:solidFill>
                  <a:srgbClr val="FF0000"/>
                </a:solidFill>
              </a:rPr>
              <a:t>clavier?c</a:t>
            </a:r>
            <a:r>
              <a:rPr lang="fr-FR" dirty="0" smtClean="0">
                <a:solidFill>
                  <a:srgbClr val="FF0000"/>
                </a:solidFill>
              </a:rPr>
              <a:t> -&gt; </a:t>
            </a:r>
            <a:r>
              <a:rPr lang="fr-FR" dirty="0" err="1" smtClean="0">
                <a:solidFill>
                  <a:srgbClr val="FF0000"/>
                </a:solidFill>
              </a:rPr>
              <a:t>écran!c</a:t>
            </a:r>
            <a:endParaRPr lang="fr-FR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]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/>
              <a:t>Problème des producteurs/consommateurs</a:t>
            </a:r>
          </a:p>
          <a:p>
            <a:endParaRPr lang="fr-FR" dirty="0" smtClean="0"/>
          </a:p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PRODUCTEUR ==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nb : </a:t>
            </a:r>
            <a:r>
              <a:rPr lang="fr-FR" dirty="0" err="1" smtClean="0">
                <a:solidFill>
                  <a:srgbClr val="FF0000"/>
                </a:solidFill>
              </a:rPr>
              <a:t>integer</a:t>
            </a:r>
            <a:r>
              <a:rPr lang="fr-FR" dirty="0" smtClean="0">
                <a:solidFill>
                  <a:srgbClr val="FF0000"/>
                </a:solidFill>
              </a:rPr>
              <a:t> := 0;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*[</a:t>
            </a:r>
          </a:p>
          <a:p>
            <a:pPr lvl="2">
              <a:buNone/>
            </a:pPr>
            <a:r>
              <a:rPr lang="fr-FR" dirty="0" smtClean="0">
                <a:solidFill>
                  <a:srgbClr val="FF0000"/>
                </a:solidFill>
              </a:rPr>
              <a:t>nb &lt; 100 -&gt; </a:t>
            </a:r>
            <a:r>
              <a:rPr lang="fr-FR" dirty="0" err="1" smtClean="0">
                <a:solidFill>
                  <a:srgbClr val="FF0000"/>
                </a:solidFill>
              </a:rPr>
              <a:t>delegueur!nb</a:t>
            </a:r>
            <a:r>
              <a:rPr lang="fr-FR" dirty="0" smtClean="0">
                <a:solidFill>
                  <a:srgbClr val="FF0000"/>
                </a:solidFill>
              </a:rPr>
              <a:t>; nb := nb + 1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]</a:t>
            </a:r>
          </a:p>
          <a:p>
            <a:pPr>
              <a:buNone/>
            </a:pPr>
            <a:endParaRPr lang="fr-FR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DELEGUEUR ==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nb : </a:t>
            </a:r>
            <a:r>
              <a:rPr lang="fr-FR" dirty="0" err="1" smtClean="0">
                <a:solidFill>
                  <a:srgbClr val="FF0000"/>
                </a:solidFill>
              </a:rPr>
              <a:t>integer</a:t>
            </a:r>
            <a:r>
              <a:rPr lang="fr-FR" dirty="0" smtClean="0">
                <a:solidFill>
                  <a:srgbClr val="FF0000"/>
                </a:solidFill>
              </a:rPr>
              <a:t>;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*[</a:t>
            </a:r>
          </a:p>
          <a:p>
            <a:pPr lvl="2">
              <a:buNone/>
            </a:pPr>
            <a:r>
              <a:rPr lang="fr-FR" dirty="0" err="1" smtClean="0">
                <a:solidFill>
                  <a:srgbClr val="FF0000"/>
                </a:solidFill>
              </a:rPr>
              <a:t>true</a:t>
            </a:r>
            <a:r>
              <a:rPr lang="fr-FR" dirty="0" smtClean="0">
                <a:solidFill>
                  <a:srgbClr val="FF0000"/>
                </a:solidFill>
              </a:rPr>
              <a:t> -&gt;</a:t>
            </a:r>
          </a:p>
          <a:p>
            <a:pPr lvl="3">
              <a:buNone/>
            </a:pPr>
            <a:r>
              <a:rPr lang="fr-FR" dirty="0" err="1" smtClean="0">
                <a:solidFill>
                  <a:srgbClr val="FF0000"/>
                </a:solidFill>
              </a:rPr>
              <a:t>producteur?nb</a:t>
            </a:r>
            <a:r>
              <a:rPr lang="fr-FR" dirty="0" smtClean="0">
                <a:solidFill>
                  <a:srgbClr val="FF0000"/>
                </a:solidFill>
              </a:rPr>
              <a:t>;</a:t>
            </a:r>
          </a:p>
          <a:p>
            <a:pPr lvl="3">
              <a:buNone/>
            </a:pPr>
            <a:r>
              <a:rPr lang="fr-FR" dirty="0" smtClean="0">
                <a:solidFill>
                  <a:srgbClr val="FF0000"/>
                </a:solidFill>
              </a:rPr>
              <a:t>[</a:t>
            </a:r>
          </a:p>
          <a:p>
            <a:pPr lvl="4">
              <a:buNone/>
            </a:pPr>
            <a:r>
              <a:rPr lang="fr-FR" dirty="0" smtClean="0">
                <a:solidFill>
                  <a:srgbClr val="FF0000"/>
                </a:solidFill>
              </a:rPr>
              <a:t>consommateur[1]!nb -&gt; skip</a:t>
            </a:r>
          </a:p>
          <a:p>
            <a:pPr lvl="4">
              <a:buNone/>
            </a:pPr>
            <a:r>
              <a:rPr lang="fr-FR" dirty="0" smtClean="0">
                <a:solidFill>
                  <a:srgbClr val="FF0000"/>
                </a:solidFill>
              </a:rPr>
              <a:t>[]</a:t>
            </a:r>
          </a:p>
          <a:p>
            <a:pPr lvl="4">
              <a:buNone/>
            </a:pPr>
            <a:r>
              <a:rPr lang="fr-FR" dirty="0" smtClean="0">
                <a:solidFill>
                  <a:srgbClr val="FF0000"/>
                </a:solidFill>
              </a:rPr>
              <a:t>consommateur[2]!nb -&gt; skip</a:t>
            </a:r>
          </a:p>
          <a:p>
            <a:pPr lvl="3">
              <a:buNone/>
            </a:pPr>
            <a:r>
              <a:rPr lang="fr-FR" dirty="0" smtClean="0">
                <a:solidFill>
                  <a:srgbClr val="FF0000"/>
                </a:solidFill>
              </a:rPr>
              <a:t>]</a:t>
            </a:r>
          </a:p>
          <a:p>
            <a:pPr lvl="1">
              <a:buNone/>
            </a:pPr>
            <a:r>
              <a:rPr lang="fr-FR" dirty="0" smtClean="0">
                <a:solidFill>
                  <a:srgbClr val="FF0000"/>
                </a:solidFill>
              </a:rPr>
              <a:t>]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Suite...</a:t>
            </a:r>
          </a:p>
          <a:p>
            <a:endParaRPr lang="fr-FR" dirty="0" smtClean="0"/>
          </a:p>
          <a:p>
            <a:r>
              <a:rPr lang="fr-FR" dirty="0" smtClean="0">
                <a:solidFill>
                  <a:srgbClr val="FF0000"/>
                </a:solidFill>
              </a:rPr>
              <a:t>CONSOMMATEUR ==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nb : </a:t>
            </a:r>
            <a:r>
              <a:rPr lang="fr-FR" dirty="0" err="1" smtClean="0">
                <a:solidFill>
                  <a:srgbClr val="FF0000"/>
                </a:solidFill>
              </a:rPr>
              <a:t>integer</a:t>
            </a:r>
            <a:r>
              <a:rPr lang="fr-FR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*[</a:t>
            </a:r>
          </a:p>
          <a:p>
            <a:pPr lvl="2"/>
            <a:r>
              <a:rPr lang="fr-FR" dirty="0" err="1" smtClean="0">
                <a:solidFill>
                  <a:srgbClr val="FF0000"/>
                </a:solidFill>
              </a:rPr>
              <a:t>true</a:t>
            </a:r>
            <a:r>
              <a:rPr lang="fr-FR" dirty="0" smtClean="0">
                <a:solidFill>
                  <a:srgbClr val="FF0000"/>
                </a:solidFill>
              </a:rPr>
              <a:t> -&gt; </a:t>
            </a:r>
            <a:r>
              <a:rPr lang="fr-FR" dirty="0" err="1" smtClean="0">
                <a:solidFill>
                  <a:srgbClr val="FF0000"/>
                </a:solidFill>
              </a:rPr>
              <a:t>delegueur?nb</a:t>
            </a:r>
            <a:r>
              <a:rPr lang="fr-FR" dirty="0" smtClean="0">
                <a:solidFill>
                  <a:srgbClr val="FF0000"/>
                </a:solidFill>
              </a:rPr>
              <a:t>; </a:t>
            </a:r>
            <a:r>
              <a:rPr lang="fr-FR" dirty="0" err="1" smtClean="0">
                <a:solidFill>
                  <a:srgbClr val="FF0000"/>
                </a:solidFill>
              </a:rPr>
              <a:t>print</a:t>
            </a:r>
            <a:r>
              <a:rPr lang="fr-FR" dirty="0" smtClean="0">
                <a:solidFill>
                  <a:srgbClr val="FF0000"/>
                </a:solidFill>
              </a:rPr>
              <a:t> (nb)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]</a:t>
            </a:r>
          </a:p>
          <a:p>
            <a:endParaRPr lang="fr-FR" dirty="0" smtClean="0">
              <a:solidFill>
                <a:srgbClr val="FF0000"/>
              </a:solidFill>
            </a:endParaRPr>
          </a:p>
          <a:p>
            <a:r>
              <a:rPr lang="fr-FR" dirty="0" smtClean="0">
                <a:solidFill>
                  <a:srgbClr val="FF0000"/>
                </a:solidFill>
              </a:rPr>
              <a:t>MAIN ==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[</a:t>
            </a:r>
          </a:p>
          <a:p>
            <a:pPr lvl="2"/>
            <a:r>
              <a:rPr lang="fr-FR" dirty="0" smtClean="0">
                <a:solidFill>
                  <a:srgbClr val="FF0000"/>
                </a:solidFill>
              </a:rPr>
              <a:t>producteur :: PRODUCTEUR</a:t>
            </a:r>
          </a:p>
          <a:p>
            <a:pPr lvl="2"/>
            <a:r>
              <a:rPr lang="fr-FR" dirty="0" smtClean="0">
                <a:solidFill>
                  <a:srgbClr val="FF0000"/>
                </a:solidFill>
              </a:rPr>
              <a:t>||</a:t>
            </a:r>
          </a:p>
          <a:p>
            <a:pPr lvl="2"/>
            <a:r>
              <a:rPr lang="fr-FR" dirty="0" smtClean="0">
                <a:solidFill>
                  <a:srgbClr val="FF0000"/>
                </a:solidFill>
              </a:rPr>
              <a:t>consommateur[i:1..2] :: CONSOMMATEUR</a:t>
            </a:r>
          </a:p>
          <a:p>
            <a:pPr lvl="2"/>
            <a:r>
              <a:rPr lang="fr-FR" dirty="0" smtClean="0">
                <a:solidFill>
                  <a:srgbClr val="FF0000"/>
                </a:solidFill>
              </a:rPr>
              <a:t>||</a:t>
            </a:r>
          </a:p>
          <a:p>
            <a:pPr lvl="2"/>
            <a:r>
              <a:rPr lang="fr-FR" dirty="0" err="1" smtClean="0">
                <a:solidFill>
                  <a:srgbClr val="FF0000"/>
                </a:solidFill>
              </a:rPr>
              <a:t>delegueur</a:t>
            </a:r>
            <a:r>
              <a:rPr lang="fr-FR" dirty="0" smtClean="0">
                <a:solidFill>
                  <a:srgbClr val="FF0000"/>
                </a:solidFill>
              </a:rPr>
              <a:t> :: DELEGUEUR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]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Quelque chose de classique </a:t>
            </a:r>
            <a:r>
              <a:rPr lang="fr-FR" sz="2800" dirty="0" smtClean="0"/>
              <a:t>(P() et V() sont dits des signaux):</a:t>
            </a:r>
          </a:p>
          <a:p>
            <a:pPr lvl="1">
              <a:buNone/>
            </a:pPr>
            <a:r>
              <a:rPr lang="fr-FR" sz="2300" dirty="0" smtClean="0">
                <a:solidFill>
                  <a:srgbClr val="FF0000"/>
                </a:solidFill>
              </a:rPr>
              <a:t>*[</a:t>
            </a:r>
          </a:p>
          <a:p>
            <a:pPr lvl="2">
              <a:buNone/>
            </a:pPr>
            <a:r>
              <a:rPr lang="fr-FR" sz="2100" dirty="0" smtClean="0">
                <a:solidFill>
                  <a:srgbClr val="FF0000"/>
                </a:solidFill>
              </a:rPr>
              <a:t>X?V() -&gt; val:=val+1</a:t>
            </a:r>
          </a:p>
          <a:p>
            <a:pPr lvl="2">
              <a:buNone/>
            </a:pPr>
            <a:r>
              <a:rPr lang="fr-FR" sz="2100" dirty="0" smtClean="0">
                <a:solidFill>
                  <a:srgbClr val="FF0000"/>
                </a:solidFill>
              </a:rPr>
              <a:t>[]</a:t>
            </a:r>
          </a:p>
          <a:p>
            <a:pPr lvl="2">
              <a:buNone/>
            </a:pPr>
            <a:r>
              <a:rPr lang="fr-FR" sz="2100" dirty="0" smtClean="0">
                <a:solidFill>
                  <a:srgbClr val="FF0000"/>
                </a:solidFill>
              </a:rPr>
              <a:t>val&gt;0; Y?P() -&gt; val:=val-1</a:t>
            </a:r>
          </a:p>
          <a:p>
            <a:pPr lvl="1">
              <a:buNone/>
            </a:pPr>
            <a:r>
              <a:rPr lang="fr-FR" sz="2300" dirty="0" smtClean="0">
                <a:solidFill>
                  <a:srgbClr val="FF0000"/>
                </a:solidFill>
              </a:rPr>
              <a:t>]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CSP en tant qu’algèbre de processus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638256"/>
          </a:xfrm>
        </p:spPr>
        <p:txBody>
          <a:bodyPr>
            <a:normAutofit fontScale="70000" lnSpcReduction="20000"/>
          </a:bodyPr>
          <a:lstStyle/>
          <a:p>
            <a:r>
              <a:rPr lang="fr-FR" dirty="0" smtClean="0"/>
              <a:t>CSP a évolué</a:t>
            </a:r>
          </a:p>
          <a:p>
            <a:pPr lvl="1"/>
            <a:r>
              <a:rPr lang="fr-FR" dirty="0" smtClean="0"/>
              <a:t>Il est devenu un langage de spécification pour des systèmes concurrents</a:t>
            </a:r>
          </a:p>
          <a:p>
            <a:pPr lvl="1"/>
            <a:r>
              <a:rPr lang="fr-FR" dirty="0" smtClean="0"/>
              <a:t>Permet de faire une vérification formelle</a:t>
            </a:r>
          </a:p>
          <a:p>
            <a:endParaRPr lang="fr-FR" dirty="0" smtClean="0"/>
          </a:p>
          <a:p>
            <a:r>
              <a:rPr lang="fr-FR" dirty="0" smtClean="0"/>
              <a:t>Deux notions clés :</a:t>
            </a:r>
          </a:p>
          <a:p>
            <a:pPr lvl="1"/>
            <a:r>
              <a:rPr lang="fr-FR" dirty="0" smtClean="0"/>
              <a:t>Processus</a:t>
            </a:r>
          </a:p>
          <a:p>
            <a:pPr lvl="1"/>
            <a:r>
              <a:rPr lang="fr-FR" dirty="0" smtClean="0"/>
              <a:t>Évènements : à interpréter comme des actions pouvant être réalisées par le processus ou son environnement (on dit qu’un processus est engagé dans un  évènement s’il est en train d’exécuter l’action liée à l’évènement)</a:t>
            </a:r>
          </a:p>
          <a:p>
            <a:endParaRPr lang="fr-FR" dirty="0" smtClean="0"/>
          </a:p>
          <a:p>
            <a:r>
              <a:rPr lang="fr-FR" dirty="0" smtClean="0"/>
              <a:t>En CSP</a:t>
            </a:r>
          </a:p>
          <a:p>
            <a:pPr lvl="1"/>
            <a:r>
              <a:rPr lang="fr-FR" dirty="0" smtClean="0"/>
              <a:t>On définit des processus</a:t>
            </a:r>
          </a:p>
          <a:p>
            <a:pPr lvl="1"/>
            <a:r>
              <a:rPr lang="fr-FR" dirty="0" smtClean="0"/>
              <a:t>On décrit l’évolution de processus vers d’autres en fonction des évènements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CSP n’est la seule algèbre de processus existante :</a:t>
            </a:r>
          </a:p>
          <a:p>
            <a:pPr lvl="1"/>
            <a:r>
              <a:rPr lang="fr-FR" dirty="0" smtClean="0"/>
              <a:t>CCS : la première historiquement</a:t>
            </a:r>
          </a:p>
          <a:p>
            <a:pPr lvl="1"/>
            <a:r>
              <a:rPr lang="fr-FR" dirty="0" smtClean="0"/>
              <a:t>Lotos : évolution de CCS et de CSP</a:t>
            </a:r>
          </a:p>
          <a:p>
            <a:pPr lvl="1"/>
            <a:r>
              <a:rPr lang="fr-FR" dirty="0" smtClean="0"/>
              <a:t>Etc.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Notions fondamentales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Pour définir un processus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dirty="0" smtClean="0"/>
              <a:t>On définit d’abord son alphabet : l’ensemble des évènements pris en charge</a:t>
            </a:r>
          </a:p>
          <a:p>
            <a:pPr lvl="1"/>
            <a:r>
              <a:rPr lang="fr-FR" dirty="0" smtClean="0"/>
              <a:t>On note par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l’alphabet de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dirty="0" smtClean="0"/>
              <a:t>Exemple : pour un distributeur de barres de chocolat (VMS) :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VMS = {coin, choc}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Pour un alphabet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, on définit :</a:t>
            </a:r>
          </a:p>
          <a:p>
            <a:pPr lvl="1"/>
            <a:r>
              <a:rPr lang="fr-FR" dirty="0" smtClean="0"/>
              <a:t>Le processus </a:t>
            </a:r>
            <a:r>
              <a:rPr lang="fr-FR" b="1" dirty="0" smtClean="0">
                <a:solidFill>
                  <a:srgbClr val="FF0000"/>
                </a:solidFill>
              </a:rPr>
              <a:t>STOP</a:t>
            </a:r>
            <a:r>
              <a:rPr lang="fr-FR" b="1" baseline="-25000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qui boucle pour toujours sans rien faire</a:t>
            </a:r>
          </a:p>
          <a:p>
            <a:pPr lvl="2"/>
            <a:r>
              <a:rPr lang="fr-FR" dirty="0" smtClean="0"/>
              <a:t>On peut également considérer qu’un processus est équivalent à STOP si son alphabet est vide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Le processus </a:t>
            </a:r>
            <a:r>
              <a:rPr lang="fr-FR" b="1" dirty="0" smtClean="0">
                <a:solidFill>
                  <a:srgbClr val="FF0000"/>
                </a:solidFill>
              </a:rPr>
              <a:t>RUN</a:t>
            </a:r>
            <a:r>
              <a:rPr lang="fr-FR" b="1" baseline="-25000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qui s’engage, à tout temps, dans n’importe quel évènement de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Commandes gardées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On note par </a:t>
            </a:r>
            <a:r>
              <a:rPr lang="fr-FR" b="1" dirty="0" smtClean="0">
                <a:solidFill>
                  <a:srgbClr val="FF0000"/>
                </a:solidFill>
              </a:rPr>
              <a:t>a → P </a:t>
            </a:r>
            <a:r>
              <a:rPr lang="fr-FR" dirty="0" smtClean="0"/>
              <a:t>un processus qui s’engage dans l’évènement a puis se comporte comme le processus P</a:t>
            </a:r>
          </a:p>
          <a:p>
            <a:pPr lvl="1"/>
            <a:r>
              <a:rPr lang="fr-FR" dirty="0" smtClean="0"/>
              <a:t>Exemple : </a:t>
            </a:r>
            <a:r>
              <a:rPr lang="fr-FR" b="1" dirty="0" smtClean="0">
                <a:solidFill>
                  <a:srgbClr val="FF0000"/>
                </a:solidFill>
              </a:rPr>
              <a:t>(coin → (choc → STOP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V</a:t>
            </a:r>
            <a:r>
              <a:rPr lang="fr-FR" b="1" baseline="-25000" dirty="0" smtClean="0">
                <a:solidFill>
                  <a:srgbClr val="FF0000"/>
                </a:solidFill>
              </a:rPr>
              <a:t>MS</a:t>
            </a:r>
            <a:r>
              <a:rPr lang="fr-FR" b="1" dirty="0" smtClean="0">
                <a:solidFill>
                  <a:srgbClr val="FF0000"/>
                </a:solidFill>
              </a:rPr>
              <a:t>))</a:t>
            </a:r>
          </a:p>
          <a:p>
            <a:endParaRPr lang="fr-FR" dirty="0" smtClean="0"/>
          </a:p>
          <a:p>
            <a:r>
              <a:rPr lang="fr-FR" dirty="0" smtClean="0"/>
              <a:t>La commande </a:t>
            </a:r>
            <a:r>
              <a:rPr lang="fr-FR" b="1" dirty="0" smtClean="0">
                <a:solidFill>
                  <a:srgbClr val="FF0000"/>
                </a:solidFill>
              </a:rPr>
              <a:t>a → P </a:t>
            </a:r>
            <a:r>
              <a:rPr lang="fr-FR" dirty="0" smtClean="0"/>
              <a:t>est dite gardée</a:t>
            </a:r>
          </a:p>
          <a:p>
            <a:endParaRPr lang="fr-FR" dirty="0" smtClean="0"/>
          </a:p>
          <a:p>
            <a:r>
              <a:rPr lang="fr-FR" dirty="0" smtClean="0"/>
              <a:t>Qu’en est-il d’un processus qui fait le même traitement pour toujours ?</a:t>
            </a:r>
          </a:p>
          <a:p>
            <a:pPr lvl="1"/>
            <a:r>
              <a:rPr lang="fr-FR" dirty="0" smtClean="0"/>
              <a:t>Exemple : un processus </a:t>
            </a:r>
            <a:r>
              <a:rPr lang="fr-FR" b="1" dirty="0" smtClean="0">
                <a:solidFill>
                  <a:srgbClr val="FF0000"/>
                </a:solidFill>
              </a:rPr>
              <a:t>CLOCK</a:t>
            </a:r>
            <a:r>
              <a:rPr lang="fr-FR" dirty="0" smtClean="0"/>
              <a:t> s’engage dans l’évènement </a:t>
            </a:r>
            <a:r>
              <a:rPr lang="fr-FR" b="1" dirty="0" err="1" smtClean="0">
                <a:solidFill>
                  <a:srgbClr val="FF0000"/>
                </a:solidFill>
              </a:rPr>
              <a:t>tick</a:t>
            </a:r>
            <a:r>
              <a:rPr lang="fr-FR" dirty="0" smtClean="0"/>
              <a:t> puis se comporte de nouveau comme </a:t>
            </a:r>
            <a:r>
              <a:rPr lang="fr-FR" b="1" dirty="0" smtClean="0">
                <a:solidFill>
                  <a:srgbClr val="FF0000"/>
                </a:solidFill>
              </a:rPr>
              <a:t>CLOCK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CLOCK = </a:t>
            </a:r>
            <a:r>
              <a:rPr lang="fr-FR" b="1" dirty="0" err="1" smtClean="0">
                <a:solidFill>
                  <a:srgbClr val="FF0000"/>
                </a:solidFill>
              </a:rPr>
              <a:t>tick</a:t>
            </a:r>
            <a:r>
              <a:rPr lang="fr-FR" b="1" dirty="0" smtClean="0">
                <a:solidFill>
                  <a:srgbClr val="FF0000"/>
                </a:solidFill>
              </a:rPr>
              <a:t> → CLOCK </a:t>
            </a:r>
            <a:r>
              <a:rPr lang="fr-FR" dirty="0" smtClean="0"/>
              <a:t>: définition récursive</a:t>
            </a:r>
          </a:p>
          <a:p>
            <a:pPr lvl="2"/>
            <a:r>
              <a:rPr lang="en-US" b="1" dirty="0" smtClean="0">
                <a:solidFill>
                  <a:srgbClr val="FF0000"/>
                </a:solidFill>
              </a:rPr>
              <a:t>CLOCK = (tick → (tick → (tick → ....CLOCK)))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Récursion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f(P) = </a:t>
            </a:r>
            <a:r>
              <a:rPr lang="fr-FR" b="1" dirty="0" err="1" smtClean="0">
                <a:solidFill>
                  <a:srgbClr val="FF0000"/>
                </a:solidFill>
              </a:rPr>
              <a:t>tick</a:t>
            </a:r>
            <a:r>
              <a:rPr lang="fr-FR" b="1" dirty="0" smtClean="0">
                <a:solidFill>
                  <a:srgbClr val="FF0000"/>
                </a:solidFill>
              </a:rPr>
              <a:t> → P </a:t>
            </a:r>
            <a:r>
              <a:rPr lang="fr-FR" dirty="0" smtClean="0"/>
              <a:t>alors </a:t>
            </a:r>
            <a:r>
              <a:rPr lang="fr-FR" b="1" dirty="0" smtClean="0">
                <a:solidFill>
                  <a:srgbClr val="FF0000"/>
                </a:solidFill>
              </a:rPr>
              <a:t>CLOCK</a:t>
            </a:r>
            <a:r>
              <a:rPr lang="fr-FR" dirty="0" smtClean="0"/>
              <a:t> est un point fixe de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</a:p>
          <a:p>
            <a:pPr lvl="1"/>
            <a:r>
              <a:rPr lang="fr-FR" dirty="0" smtClean="0"/>
              <a:t>Une autre notation souvent utilisée (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est un alphabet)</a:t>
            </a:r>
          </a:p>
          <a:p>
            <a:pPr lvl="2"/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fr-FR" b="1" dirty="0" smtClean="0">
                <a:solidFill>
                  <a:srgbClr val="FF0000"/>
                </a:solidFill>
              </a:rPr>
              <a:t>X : A • f(X)</a:t>
            </a:r>
          </a:p>
          <a:p>
            <a:pPr lvl="1"/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CLOCK = 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fr-FR" b="1" dirty="0" smtClean="0">
                <a:solidFill>
                  <a:srgbClr val="FF0000"/>
                </a:solidFill>
              </a:rPr>
              <a:t>X : {</a:t>
            </a:r>
            <a:r>
              <a:rPr lang="fr-FR" b="1" dirty="0" err="1" smtClean="0">
                <a:solidFill>
                  <a:srgbClr val="FF0000"/>
                </a:solidFill>
              </a:rPr>
              <a:t>tick</a:t>
            </a:r>
            <a:r>
              <a:rPr lang="fr-FR" b="1" dirty="0" smtClean="0">
                <a:solidFill>
                  <a:srgbClr val="FF0000"/>
                </a:solidFill>
              </a:rPr>
              <a:t>} • (</a:t>
            </a:r>
            <a:r>
              <a:rPr lang="fr-FR" b="1" dirty="0" err="1" smtClean="0">
                <a:solidFill>
                  <a:srgbClr val="FF0000"/>
                </a:solidFill>
              </a:rPr>
              <a:t>tick</a:t>
            </a:r>
            <a:r>
              <a:rPr lang="fr-FR" b="1" dirty="0" smtClean="0">
                <a:solidFill>
                  <a:srgbClr val="FF0000"/>
                </a:solidFill>
              </a:rPr>
              <a:t> → X)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VMS = 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fr-FR" b="1" dirty="0" smtClean="0">
                <a:solidFill>
                  <a:srgbClr val="FF0000"/>
                </a:solidFill>
              </a:rPr>
              <a:t>X : {coin, choc} • (coin → (choc → X))</a:t>
            </a:r>
          </a:p>
          <a:p>
            <a:endParaRPr lang="fr-FR" dirty="0" smtClean="0"/>
          </a:p>
          <a:p>
            <a:r>
              <a:rPr lang="fr-FR" dirty="0" smtClean="0"/>
              <a:t>Définition par menus :</a:t>
            </a:r>
          </a:p>
          <a:p>
            <a:pPr lvl="1"/>
            <a:r>
              <a:rPr lang="fr-FR" dirty="0" smtClean="0"/>
              <a:t>La forme : </a:t>
            </a:r>
            <a:r>
              <a:rPr lang="fr-FR" b="1" dirty="0" smtClean="0">
                <a:solidFill>
                  <a:srgbClr val="FF0000"/>
                </a:solidFill>
              </a:rPr>
              <a:t>x : B → P(x)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B</a:t>
            </a:r>
            <a:r>
              <a:rPr lang="fr-FR" dirty="0" smtClean="0"/>
              <a:t> un alphabet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:</a:t>
            </a:r>
            <a:r>
              <a:rPr lang="fr-FR" dirty="0" err="1" smtClean="0"/>
              <a:t>Evènement→Processus</a:t>
            </a:r>
            <a:r>
              <a:rPr lang="fr-FR" dirty="0" smtClean="0"/>
              <a:t> (une fonction)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Cas particulier </a:t>
            </a:r>
            <a:r>
              <a:rPr lang="fr-FR" b="1" dirty="0" smtClean="0">
                <a:solidFill>
                  <a:srgbClr val="FF0000"/>
                </a:solidFill>
              </a:rPr>
              <a:t>(x : {} → P(x)) ≡ STOP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Choix déterministe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Soient P et Q deux processus tels que </a:t>
            </a:r>
            <a:r>
              <a:rPr lang="fr-FR" b="1" dirty="0" smtClean="0">
                <a:solidFill>
                  <a:srgbClr val="FF0000"/>
                </a:solidFill>
              </a:rPr>
              <a:t>{a, b} ∈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(P)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=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Q (a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fr-FR" b="1" dirty="0" smtClean="0">
                <a:solidFill>
                  <a:srgbClr val="FF0000"/>
                </a:solidFill>
              </a:rPr>
              <a:t>b)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(a → </a:t>
            </a:r>
            <a:r>
              <a:rPr lang="fr-FR" b="1" dirty="0" err="1" smtClean="0">
                <a:solidFill>
                  <a:srgbClr val="FF0000"/>
                </a:solidFill>
              </a:rPr>
              <a:t>P|b</a:t>
            </a:r>
            <a:r>
              <a:rPr lang="fr-FR" b="1" dirty="0" smtClean="0">
                <a:solidFill>
                  <a:srgbClr val="FF0000"/>
                </a:solidFill>
              </a:rPr>
              <a:t> → Q) </a:t>
            </a:r>
            <a:r>
              <a:rPr lang="fr-FR" dirty="0" smtClean="0"/>
              <a:t>est le processus qui se comporte comme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se produit d’abord ou comme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b</a:t>
            </a:r>
            <a:r>
              <a:rPr lang="fr-FR" dirty="0" smtClean="0"/>
              <a:t> se produit d’abord</a:t>
            </a:r>
          </a:p>
          <a:p>
            <a:pPr lvl="1"/>
            <a:r>
              <a:rPr lang="fr-FR" dirty="0" smtClean="0"/>
              <a:t>Il faut que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  </a:t>
            </a:r>
            <a:r>
              <a:rPr lang="fr-FR" b="1" dirty="0" smtClean="0">
                <a:solidFill>
                  <a:srgbClr val="FF0000"/>
                </a:solidFill>
              </a:rPr>
              <a:t>b</a:t>
            </a:r>
          </a:p>
          <a:p>
            <a:pPr lvl="2"/>
            <a:r>
              <a:rPr lang="fr-FR" dirty="0" smtClean="0"/>
              <a:t>Qu’arrive-t-il lorsque </a:t>
            </a:r>
            <a:r>
              <a:rPr lang="fr-FR" b="1" dirty="0" smtClean="0">
                <a:solidFill>
                  <a:srgbClr val="FF0000"/>
                </a:solidFill>
              </a:rPr>
              <a:t>a = b </a:t>
            </a:r>
            <a:r>
              <a:rPr lang="fr-FR" dirty="0" smtClean="0"/>
              <a:t>?</a:t>
            </a:r>
          </a:p>
          <a:p>
            <a:endParaRPr lang="fr-FR" dirty="0" smtClean="0"/>
          </a:p>
          <a:p>
            <a:r>
              <a:rPr lang="fr-FR" dirty="0" smtClean="0"/>
              <a:t>Un distributeur qui peut servir un chocolat ou un caramel :</a:t>
            </a:r>
          </a:p>
          <a:p>
            <a:pPr lvl="1"/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fr-FR" b="1" dirty="0" smtClean="0">
                <a:solidFill>
                  <a:srgbClr val="FF0000"/>
                </a:solidFill>
              </a:rPr>
              <a:t>X • coin → (choc → X|caramel → X)</a:t>
            </a:r>
          </a:p>
          <a:p>
            <a:endParaRPr lang="fr-FR" dirty="0" smtClean="0"/>
          </a:p>
          <a:p>
            <a:r>
              <a:rPr lang="fr-FR" dirty="0" smtClean="0"/>
              <a:t>Une machine qui fait confiance à ses clients :</a:t>
            </a:r>
          </a:p>
          <a:p>
            <a:pPr lvl="1"/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fr-FR" b="1" dirty="0" smtClean="0">
                <a:solidFill>
                  <a:srgbClr val="FF0000"/>
                </a:solidFill>
              </a:rPr>
              <a:t>X • (coin → choc → X|choc → coin → X)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Choix déterministe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Écriture avec les menus : </a:t>
            </a:r>
            <a:r>
              <a:rPr lang="fr-FR" b="1" dirty="0" smtClean="0">
                <a:solidFill>
                  <a:srgbClr val="FF0000"/>
                </a:solidFill>
              </a:rPr>
              <a:t>(a → </a:t>
            </a:r>
            <a:r>
              <a:rPr lang="fr-FR" b="1" dirty="0" err="1" smtClean="0">
                <a:solidFill>
                  <a:srgbClr val="FF0000"/>
                </a:solidFill>
              </a:rPr>
              <a:t>P|b</a:t>
            </a:r>
            <a:r>
              <a:rPr lang="fr-FR" b="1" dirty="0" smtClean="0">
                <a:solidFill>
                  <a:srgbClr val="FF0000"/>
                </a:solidFill>
              </a:rPr>
              <a:t> → Q)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x : {a, b} → R(x)</a:t>
            </a:r>
          </a:p>
          <a:p>
            <a:pPr lvl="1"/>
            <a:r>
              <a:rPr lang="pt-BR" dirty="0" smtClean="0"/>
              <a:t>Tel que </a:t>
            </a:r>
            <a:r>
              <a:rPr lang="pt-BR" b="1" dirty="0" smtClean="0">
                <a:solidFill>
                  <a:srgbClr val="FF0000"/>
                </a:solidFill>
              </a:rPr>
              <a:t>R(a) = P </a:t>
            </a:r>
            <a:r>
              <a:rPr lang="pt-BR" dirty="0" smtClean="0"/>
              <a:t>et </a:t>
            </a:r>
            <a:r>
              <a:rPr lang="pt-BR" b="1" dirty="0" smtClean="0">
                <a:solidFill>
                  <a:srgbClr val="FF0000"/>
                </a:solidFill>
              </a:rPr>
              <a:t>R(b) = Q</a:t>
            </a:r>
          </a:p>
          <a:p>
            <a:endParaRPr lang="fr-FR" dirty="0" smtClean="0"/>
          </a:p>
          <a:p>
            <a:r>
              <a:rPr lang="fr-FR" dirty="0" smtClean="0"/>
              <a:t>Définition mutuelle croisée :</a:t>
            </a:r>
          </a:p>
          <a:p>
            <a:pPr lvl="1"/>
            <a:r>
              <a:rPr lang="fr-FR" dirty="0" smtClean="0"/>
              <a:t>Une machine peut servir un jus d’orange (</a:t>
            </a:r>
            <a:r>
              <a:rPr lang="fr-FR" b="1" dirty="0" smtClean="0">
                <a:solidFill>
                  <a:srgbClr val="FF0000"/>
                </a:solidFill>
              </a:rPr>
              <a:t>orange</a:t>
            </a:r>
            <a:r>
              <a:rPr lang="fr-FR" dirty="0" smtClean="0"/>
              <a:t>) ou un jus de citron (</a:t>
            </a:r>
            <a:r>
              <a:rPr lang="fr-FR" b="1" dirty="0" err="1" smtClean="0">
                <a:solidFill>
                  <a:srgbClr val="FF0000"/>
                </a:solidFill>
              </a:rPr>
              <a:t>lemon</a:t>
            </a:r>
            <a:r>
              <a:rPr lang="fr-FR" dirty="0" smtClean="0"/>
              <a:t>) selon qu’elle reçoit l’ordre </a:t>
            </a:r>
            <a:r>
              <a:rPr lang="fr-FR" b="1" dirty="0" err="1" smtClean="0">
                <a:solidFill>
                  <a:srgbClr val="FF0000"/>
                </a:solidFill>
              </a:rPr>
              <a:t>setOrange</a:t>
            </a:r>
            <a:r>
              <a:rPr lang="fr-FR" dirty="0" smtClean="0"/>
              <a:t> ou </a:t>
            </a:r>
            <a:r>
              <a:rPr lang="fr-FR" b="1" dirty="0" err="1" smtClean="0">
                <a:solidFill>
                  <a:srgbClr val="FF0000"/>
                </a:solidFill>
              </a:rPr>
              <a:t>setLemon</a:t>
            </a:r>
            <a:endParaRPr lang="fr-FR" b="1" dirty="0" smtClean="0">
              <a:solidFill>
                <a:srgbClr val="FF0000"/>
              </a:solidFill>
            </a:endParaRP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On définit trois processus : </a:t>
            </a:r>
            <a:r>
              <a:rPr lang="fr-FR" b="1" dirty="0" smtClean="0">
                <a:solidFill>
                  <a:srgbClr val="FF0000"/>
                </a:solidFill>
              </a:rPr>
              <a:t>D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O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L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D = (setOrange → O | setLemon → L)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O = (orange → D | setOrange → O | setLemon → L)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L = (</a:t>
            </a:r>
            <a:r>
              <a:rPr lang="fr-FR" b="1" dirty="0" err="1" smtClean="0">
                <a:solidFill>
                  <a:srgbClr val="FF0000"/>
                </a:solidFill>
              </a:rPr>
              <a:t>lemon</a:t>
            </a:r>
            <a:r>
              <a:rPr lang="fr-FR" b="1" dirty="0" smtClean="0">
                <a:solidFill>
                  <a:srgbClr val="FF0000"/>
                </a:solidFill>
              </a:rPr>
              <a:t> → D | </a:t>
            </a:r>
            <a:r>
              <a:rPr lang="fr-FR" b="1" dirty="0" err="1" smtClean="0">
                <a:solidFill>
                  <a:srgbClr val="FF0000"/>
                </a:solidFill>
              </a:rPr>
              <a:t>setOrange</a:t>
            </a:r>
            <a:r>
              <a:rPr lang="fr-FR" b="1" dirty="0" smtClean="0">
                <a:solidFill>
                  <a:srgbClr val="FF0000"/>
                </a:solidFill>
              </a:rPr>
              <a:t> → O | </a:t>
            </a:r>
            <a:r>
              <a:rPr lang="fr-FR" b="1" dirty="0" err="1" smtClean="0">
                <a:solidFill>
                  <a:srgbClr val="FF0000"/>
                </a:solidFill>
              </a:rPr>
              <a:t>setLemon</a:t>
            </a:r>
            <a:r>
              <a:rPr lang="fr-FR" b="1" dirty="0" smtClean="0">
                <a:solidFill>
                  <a:srgbClr val="FF0000"/>
                </a:solidFill>
              </a:rPr>
              <a:t> → L)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Représentation graphique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Représentation graphique :</a:t>
            </a:r>
          </a:p>
          <a:p>
            <a:pPr lvl="1"/>
            <a:r>
              <a:rPr lang="fr-FR" dirty="0" smtClean="0"/>
              <a:t>On peut représenter les processus CSP par un graphe à états dont les arcs sont décorés par des évènements et dont les nœuds  sont des processus</a:t>
            </a:r>
          </a:p>
          <a:p>
            <a:pPr lvl="1"/>
            <a:r>
              <a:rPr lang="fr-FR" dirty="0" smtClean="0"/>
              <a:t>Le processus STOP est représenté par un nœud à partir duquel aucune transition ne sort</a:t>
            </a:r>
          </a:p>
          <a:p>
            <a:pPr lvl="1"/>
            <a:r>
              <a:rPr lang="fr-FR" dirty="0" smtClean="0"/>
              <a:t>Exemple : coin → (choc → STOP) est décrit par :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Pour une définition récursive on obtient un cycle : </a:t>
            </a:r>
          </a:p>
          <a:p>
            <a:pPr lvl="1"/>
            <a:r>
              <a:rPr lang="fr-FR" dirty="0" err="1" smtClean="0"/>
              <a:t>μX</a:t>
            </a:r>
            <a:r>
              <a:rPr lang="fr-FR" dirty="0" smtClean="0"/>
              <a:t> • coin → (choc → X)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l’absence de décoration d’un arc signifie que l’on passe directement à l’état en question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699792" y="3284984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3995936" y="3284984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5292080" y="3284984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avec flèche 8"/>
          <p:cNvCxnSpPr>
            <a:stCxn id="5" idx="6"/>
            <a:endCxn id="6" idx="2"/>
          </p:cNvCxnSpPr>
          <p:nvPr/>
        </p:nvCxnSpPr>
        <p:spPr>
          <a:xfrm>
            <a:off x="3059832" y="3465004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6" idx="6"/>
            <a:endCxn id="7" idx="2"/>
          </p:cNvCxnSpPr>
          <p:nvPr/>
        </p:nvCxnSpPr>
        <p:spPr>
          <a:xfrm>
            <a:off x="4355976" y="3465004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3275856" y="3140968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coin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4456976" y="3140968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choc</a:t>
            </a:r>
            <a:endParaRPr lang="fr-FR" dirty="0"/>
          </a:p>
        </p:txBody>
      </p:sp>
      <p:sp>
        <p:nvSpPr>
          <p:cNvPr id="15" name="Ellipse 14"/>
          <p:cNvSpPr/>
          <p:nvPr/>
        </p:nvSpPr>
        <p:spPr>
          <a:xfrm>
            <a:off x="2843808" y="4869160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/>
          <p:cNvSpPr/>
          <p:nvPr/>
        </p:nvSpPr>
        <p:spPr>
          <a:xfrm>
            <a:off x="4139952" y="4869160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/>
          <p:cNvSpPr/>
          <p:nvPr/>
        </p:nvSpPr>
        <p:spPr>
          <a:xfrm>
            <a:off x="5436096" y="4869160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/>
          <p:cNvCxnSpPr>
            <a:stCxn id="15" idx="6"/>
            <a:endCxn id="16" idx="2"/>
          </p:cNvCxnSpPr>
          <p:nvPr/>
        </p:nvCxnSpPr>
        <p:spPr>
          <a:xfrm>
            <a:off x="3203848" y="504918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16" idx="6"/>
            <a:endCxn id="17" idx="2"/>
          </p:cNvCxnSpPr>
          <p:nvPr/>
        </p:nvCxnSpPr>
        <p:spPr>
          <a:xfrm>
            <a:off x="4499992" y="5049180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/>
          <p:cNvSpPr txBox="1"/>
          <p:nvPr/>
        </p:nvSpPr>
        <p:spPr>
          <a:xfrm>
            <a:off x="3419872" y="4725144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coin</a:t>
            </a:r>
            <a:endParaRPr lang="fr-FR" dirty="0"/>
          </a:p>
        </p:txBody>
      </p:sp>
      <p:sp>
        <p:nvSpPr>
          <p:cNvPr id="21" name="ZoneTexte 20"/>
          <p:cNvSpPr txBox="1"/>
          <p:nvPr/>
        </p:nvSpPr>
        <p:spPr>
          <a:xfrm>
            <a:off x="4600992" y="4725144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choc</a:t>
            </a:r>
            <a:endParaRPr lang="fr-FR" dirty="0"/>
          </a:p>
        </p:txBody>
      </p:sp>
      <p:cxnSp>
        <p:nvCxnSpPr>
          <p:cNvPr id="23" name="Forme 22"/>
          <p:cNvCxnSpPr>
            <a:stCxn id="17" idx="5"/>
            <a:endCxn id="15" idx="4"/>
          </p:cNvCxnSpPr>
          <p:nvPr/>
        </p:nvCxnSpPr>
        <p:spPr>
          <a:xfrm rot="5400000">
            <a:off x="4357256" y="3843046"/>
            <a:ext cx="52727" cy="2719581"/>
          </a:xfrm>
          <a:prstGeom prst="curvedConnector3">
            <a:avLst>
              <a:gd name="adj1" fmla="val 53355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Représentation graphique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Le choix : deux ou plusieurs arcs qui sortent du même états</a:t>
            </a:r>
          </a:p>
          <a:p>
            <a:pPr lvl="1"/>
            <a:r>
              <a:rPr lang="fr-FR" dirty="0" smtClean="0"/>
              <a:t>Les arcs doivent être décorés et avoir des décorations différentes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Inconvénients :</a:t>
            </a:r>
          </a:p>
          <a:p>
            <a:pPr lvl="1"/>
            <a:r>
              <a:rPr lang="fr-FR" dirty="0" smtClean="0"/>
              <a:t>Difficile lorsque le nombre d’états est important ou infini</a:t>
            </a:r>
          </a:p>
          <a:p>
            <a:pPr lvl="1"/>
            <a:r>
              <a:rPr lang="fr-FR" dirty="0" smtClean="0"/>
              <a:t>Plusieurs diagrammes peuvent représenter le même processus (on ne peut pas établir l’équivalence de deux processus en se basant sur leurs diagrammes)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2699792" y="2852936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3995936" y="2852936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5292080" y="2852936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/>
          <p:cNvCxnSpPr>
            <a:stCxn id="5" idx="6"/>
            <a:endCxn id="6" idx="2"/>
          </p:cNvCxnSpPr>
          <p:nvPr/>
        </p:nvCxnSpPr>
        <p:spPr>
          <a:xfrm>
            <a:off x="3059832" y="3032956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>
            <a:stCxn id="6" idx="6"/>
            <a:endCxn id="7" idx="2"/>
          </p:cNvCxnSpPr>
          <p:nvPr/>
        </p:nvCxnSpPr>
        <p:spPr>
          <a:xfrm>
            <a:off x="4355976" y="3032956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3275856" y="2708920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coin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4456976" y="2708920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choc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5292080" y="3429000"/>
            <a:ext cx="360040" cy="360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4211960" y="3212976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caramel</a:t>
            </a:r>
            <a:endParaRPr lang="fr-FR" dirty="0"/>
          </a:p>
        </p:txBody>
      </p:sp>
      <p:cxnSp>
        <p:nvCxnSpPr>
          <p:cNvPr id="14" name="Connecteur droit avec flèche 13"/>
          <p:cNvCxnSpPr>
            <a:stCxn id="6" idx="6"/>
            <a:endCxn id="12" idx="2"/>
          </p:cNvCxnSpPr>
          <p:nvPr/>
        </p:nvCxnSpPr>
        <p:spPr>
          <a:xfrm>
            <a:off x="4355976" y="3032956"/>
            <a:ext cx="936104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en arc 17"/>
          <p:cNvCxnSpPr>
            <a:stCxn id="7" idx="0"/>
            <a:endCxn id="5" idx="0"/>
          </p:cNvCxnSpPr>
          <p:nvPr/>
        </p:nvCxnSpPr>
        <p:spPr>
          <a:xfrm rot="16200000" flipV="1">
            <a:off x="4175956" y="1556792"/>
            <a:ext cx="12700" cy="2592288"/>
          </a:xfrm>
          <a:prstGeom prst="curved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en arc 19"/>
          <p:cNvCxnSpPr>
            <a:stCxn id="12" idx="4"/>
            <a:endCxn id="5" idx="4"/>
          </p:cNvCxnSpPr>
          <p:nvPr/>
        </p:nvCxnSpPr>
        <p:spPr>
          <a:xfrm rot="5400000" flipH="1">
            <a:off x="3887924" y="2204864"/>
            <a:ext cx="576064" cy="2592288"/>
          </a:xfrm>
          <a:prstGeom prst="curvedConnector3">
            <a:avLst>
              <a:gd name="adj1" fmla="val -3968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Certaines propriétés pratiques pour la vérification :</a:t>
            </a:r>
          </a:p>
          <a:p>
            <a:pPr lvl="1"/>
            <a:r>
              <a:rPr lang="fr-FR" dirty="0" smtClean="0"/>
              <a:t>Commutativité : </a:t>
            </a:r>
            <a:r>
              <a:rPr lang="fr-FR" b="1" dirty="0" smtClean="0">
                <a:solidFill>
                  <a:srgbClr val="FF0000"/>
                </a:solidFill>
              </a:rPr>
              <a:t>(a → </a:t>
            </a:r>
            <a:r>
              <a:rPr lang="fr-FR" b="1" dirty="0" err="1" smtClean="0">
                <a:solidFill>
                  <a:srgbClr val="FF0000"/>
                </a:solidFill>
              </a:rPr>
              <a:t>P|b</a:t>
            </a:r>
            <a:r>
              <a:rPr lang="fr-FR" b="1" dirty="0" smtClean="0">
                <a:solidFill>
                  <a:srgbClr val="FF0000"/>
                </a:solidFill>
              </a:rPr>
              <a:t> → Q) = (b → </a:t>
            </a:r>
            <a:r>
              <a:rPr lang="fr-FR" b="1" dirty="0" err="1" smtClean="0">
                <a:solidFill>
                  <a:srgbClr val="FF0000"/>
                </a:solidFill>
              </a:rPr>
              <a:t>Q|a</a:t>
            </a:r>
            <a:r>
              <a:rPr lang="fr-FR" b="1" dirty="0" smtClean="0">
                <a:solidFill>
                  <a:srgbClr val="FF0000"/>
                </a:solidFill>
              </a:rPr>
              <a:t> → P)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a → P </a:t>
            </a:r>
            <a:r>
              <a:rPr lang="en-US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en-US" b="1" dirty="0" smtClean="0">
                <a:solidFill>
                  <a:srgbClr val="FF0000"/>
                </a:solidFill>
              </a:rPr>
              <a:t> STOP</a:t>
            </a:r>
          </a:p>
          <a:p>
            <a:pPr lvl="1"/>
            <a:r>
              <a:rPr lang="es-ES" b="1" dirty="0" smtClean="0">
                <a:solidFill>
                  <a:srgbClr val="FF0000"/>
                </a:solidFill>
              </a:rPr>
              <a:t>(x : A → P(x)) = (y : B → Q(y)) </a:t>
            </a:r>
            <a:r>
              <a:rPr lang="es-ES" dirty="0" err="1" smtClean="0"/>
              <a:t>ssi</a:t>
            </a:r>
            <a:r>
              <a:rPr lang="es-ES" dirty="0" smtClean="0"/>
              <a:t> </a:t>
            </a:r>
            <a:r>
              <a:rPr lang="es-ES" b="1" dirty="0" smtClean="0">
                <a:solidFill>
                  <a:srgbClr val="FF0000"/>
                </a:solidFill>
              </a:rPr>
              <a:t>A = B ∧ ∀x ∈ A : P(x) = Q(x)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Interaction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Correspond à la participation simultanée de deux processus au moins (ayant le même alphabet)</a:t>
            </a:r>
          </a:p>
          <a:p>
            <a:pPr lvl="1"/>
            <a:r>
              <a:rPr lang="fr-FR" dirty="0" smtClean="0"/>
              <a:t>Exemple : une machine qui sert une barre de chocolat lorsque le client la demande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deux processus, on note par </a:t>
            </a:r>
            <a:r>
              <a:rPr lang="fr-FR" b="1" dirty="0" smtClean="0">
                <a:solidFill>
                  <a:srgbClr val="FF0000"/>
                </a:solidFill>
              </a:rPr>
              <a:t>P||Q </a:t>
            </a:r>
            <a:r>
              <a:rPr lang="fr-FR" dirty="0" smtClean="0"/>
              <a:t>le processus résultant de leur interaction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Exemple :</a:t>
            </a:r>
          </a:p>
          <a:p>
            <a:pPr lvl="2"/>
            <a:r>
              <a:rPr lang="fr-FR" dirty="0" smtClean="0"/>
              <a:t>Un client gourmand essaie de consommer un caramel ou un chocolat sans payer, s’il doit le faire, il prend juste un chocolat :</a:t>
            </a:r>
          </a:p>
          <a:p>
            <a:pPr lvl="3"/>
            <a:r>
              <a:rPr lang="fr-FR" b="1" dirty="0" smtClean="0">
                <a:solidFill>
                  <a:srgbClr val="FF0000"/>
                </a:solidFill>
              </a:rPr>
              <a:t>GRC = (caramel → GRC|choc → GRC|coin → choc → GRC)</a:t>
            </a:r>
          </a:p>
          <a:p>
            <a:pPr lvl="2"/>
            <a:endParaRPr lang="fr-FR" dirty="0" smtClean="0"/>
          </a:p>
          <a:p>
            <a:pPr lvl="2"/>
            <a:r>
              <a:rPr lang="fr-FR" dirty="0" smtClean="0"/>
              <a:t>Une machine rationnelle délivre un produit lorsque le client paye</a:t>
            </a:r>
          </a:p>
          <a:p>
            <a:pPr lvl="3"/>
            <a:r>
              <a:rPr lang="fr-FR" b="1" dirty="0" smtClean="0">
                <a:solidFill>
                  <a:srgbClr val="FF0000"/>
                </a:solidFill>
              </a:rPr>
              <a:t>VMCT = coin → (choc → VMCT|caramel → VMCT)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 de l’interaction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L’interaction produit le processus :</a:t>
            </a:r>
          </a:p>
          <a:p>
            <a:pPr lvl="1"/>
            <a:r>
              <a:rPr lang="fr-FR" dirty="0" smtClean="0"/>
              <a:t>GRC||VMCT = </a:t>
            </a:r>
            <a:r>
              <a:rPr lang="el-GR" dirty="0" smtClean="0"/>
              <a:t>μ</a:t>
            </a:r>
            <a:r>
              <a:rPr lang="fr-FR" dirty="0" smtClean="0"/>
              <a:t>X • coin → (choc → X)</a:t>
            </a:r>
          </a:p>
          <a:p>
            <a:pPr lvl="1"/>
            <a:r>
              <a:rPr lang="fr-FR" dirty="0" smtClean="0"/>
              <a:t>L’interaction peut mener à un </a:t>
            </a:r>
            <a:r>
              <a:rPr lang="fr-FR" dirty="0" err="1" smtClean="0"/>
              <a:t>interblocage</a:t>
            </a:r>
            <a:r>
              <a:rPr lang="fr-FR" dirty="0" smtClean="0"/>
              <a:t> si le client ne veut pas payer !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Les propriétés de l’interaction :</a:t>
            </a:r>
          </a:p>
          <a:p>
            <a:pPr lvl="1"/>
            <a:r>
              <a:rPr lang="fr-FR" dirty="0" smtClean="0"/>
              <a:t>Commutativité : </a:t>
            </a:r>
            <a:r>
              <a:rPr lang="fr-FR" b="1" dirty="0" smtClean="0">
                <a:solidFill>
                  <a:srgbClr val="FF0000"/>
                </a:solidFill>
              </a:rPr>
              <a:t>P||Q = Q||P</a:t>
            </a:r>
          </a:p>
          <a:p>
            <a:pPr lvl="1"/>
            <a:r>
              <a:rPr lang="fr-FR" dirty="0" smtClean="0"/>
              <a:t>Associativité : </a:t>
            </a:r>
            <a:r>
              <a:rPr lang="fr-FR" b="1" dirty="0" smtClean="0">
                <a:solidFill>
                  <a:srgbClr val="FF0000"/>
                </a:solidFill>
              </a:rPr>
              <a:t>P||(Q||R) = (P||Q)||R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P||STOP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baseline="-25000" dirty="0" smtClean="0">
                <a:solidFill>
                  <a:srgbClr val="FF0000"/>
                </a:solidFill>
              </a:rPr>
              <a:t>P</a:t>
            </a:r>
            <a:r>
              <a:rPr lang="fr-FR" b="1" dirty="0" smtClean="0">
                <a:solidFill>
                  <a:srgbClr val="FF0000"/>
                </a:solidFill>
              </a:rPr>
              <a:t> = STOP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baseline="-25000" dirty="0" smtClean="0">
                <a:solidFill>
                  <a:srgbClr val="FF0000"/>
                </a:solidFill>
              </a:rPr>
              <a:t>P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endParaRPr lang="fr-FR" b="1" baseline="-25000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P||RUN</a:t>
            </a:r>
            <a:r>
              <a:rPr lang="fr-FR" b="1" baseline="-25000" dirty="0" smtClean="0">
                <a:solidFill>
                  <a:srgbClr val="FF0000"/>
                </a:solidFill>
                <a:sym typeface="Symbol"/>
              </a:rPr>
              <a:t> </a:t>
            </a:r>
            <a:r>
              <a:rPr lang="fr-FR" b="1" baseline="-25000" dirty="0" smtClean="0">
                <a:solidFill>
                  <a:srgbClr val="FF0000"/>
                </a:solidFill>
              </a:rPr>
              <a:t>P</a:t>
            </a:r>
            <a:r>
              <a:rPr lang="fr-FR" b="1" dirty="0" smtClean="0">
                <a:solidFill>
                  <a:srgbClr val="FF0000"/>
                </a:solidFill>
              </a:rPr>
              <a:t> = 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(c → P)||(c → Q) = c → (P||Q)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(c → P)||(d → Q) = STOP si c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fr-FR" b="1" dirty="0" smtClean="0">
                <a:solidFill>
                  <a:srgbClr val="FF0000"/>
                </a:solidFill>
              </a:rPr>
              <a:t> d</a:t>
            </a:r>
          </a:p>
          <a:p>
            <a:pPr lvl="1"/>
            <a:r>
              <a:rPr lang="fr-FR" dirty="0" smtClean="0"/>
              <a:t>Généralisation : </a:t>
            </a:r>
            <a:r>
              <a:rPr lang="fr-FR" b="1" dirty="0" smtClean="0">
                <a:solidFill>
                  <a:srgbClr val="FF0000"/>
                </a:solidFill>
              </a:rPr>
              <a:t>(x : A → P(x))||(y : B − Q(y)) = (z : A ∩ B → (P(z)||Q(z)))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 d’interaction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P = (a → b → </a:t>
            </a:r>
            <a:r>
              <a:rPr lang="fr-FR" b="1" dirty="0" err="1" smtClean="0">
                <a:solidFill>
                  <a:srgbClr val="FF0000"/>
                </a:solidFill>
              </a:rPr>
              <a:t>P|b</a:t>
            </a:r>
            <a:r>
              <a:rPr lang="fr-FR" b="1" dirty="0" smtClean="0">
                <a:solidFill>
                  <a:srgbClr val="FF0000"/>
                </a:solidFill>
              </a:rPr>
              <a:t> → P)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Q = (a → (b → Q|c → Q))</a:t>
            </a:r>
          </a:p>
          <a:p>
            <a:r>
              <a:rPr lang="fr-FR" dirty="0" smtClean="0"/>
              <a:t>Calcul de l’interaction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P||Q 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= a → ((b → P)||(b → </a:t>
            </a:r>
            <a:r>
              <a:rPr lang="fr-FR" b="1" dirty="0" err="1" smtClean="0">
                <a:solidFill>
                  <a:srgbClr val="FF0000"/>
                </a:solidFill>
              </a:rPr>
              <a:t>Q|c</a:t>
            </a:r>
            <a:r>
              <a:rPr lang="fr-FR" b="1" dirty="0" smtClean="0">
                <a:solidFill>
                  <a:srgbClr val="FF0000"/>
                </a:solidFill>
              </a:rPr>
              <a:t> → Q))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= a → (b → (P||Q))</a:t>
            </a:r>
          </a:p>
          <a:p>
            <a:pPr lvl="2"/>
            <a:r>
              <a:rPr lang="el-GR" b="1" dirty="0" smtClean="0">
                <a:solidFill>
                  <a:srgbClr val="FF0000"/>
                </a:solidFill>
              </a:rPr>
              <a:t>= μ</a:t>
            </a:r>
            <a:r>
              <a:rPr lang="fr-FR" b="1" dirty="0" smtClean="0">
                <a:solidFill>
                  <a:srgbClr val="FF0000"/>
                </a:solidFill>
              </a:rPr>
              <a:t>X • (a → b → X)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concurrence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/>
              <a:t>C’est interaction entre des processus n’ayant pas le même alphabet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deux processus</a:t>
            </a:r>
          </a:p>
          <a:p>
            <a:pPr lvl="1"/>
            <a:r>
              <a:rPr lang="fr-FR" dirty="0" smtClean="0"/>
              <a:t>Condition :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∩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Q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fr-FR" b="1" dirty="0" smtClean="0">
                <a:solidFill>
                  <a:srgbClr val="FF0000"/>
                </a:solidFill>
              </a:rPr>
              <a:t> ∅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ne s’engagent jamais dans des évènements de</a:t>
            </a:r>
            <a:r>
              <a:rPr lang="fr-FR" dirty="0" smtClean="0">
                <a:sym typeface="Symbol"/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Q −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</a:t>
            </a:r>
            <a:r>
              <a:rPr lang="fr-FR" dirty="0" smtClean="0"/>
              <a:t>(et vice-versa)</a:t>
            </a:r>
          </a:p>
          <a:p>
            <a:pPr lvl="1"/>
            <a:r>
              <a:rPr lang="fr-FR" dirty="0" smtClean="0"/>
              <a:t>Nouvelles propriétés (</a:t>
            </a:r>
            <a:r>
              <a:rPr lang="fr-FR" dirty="0" smtClean="0">
                <a:solidFill>
                  <a:srgbClr val="FF0000"/>
                </a:solidFill>
              </a:rPr>
              <a:t>a ∈ </a:t>
            </a:r>
            <a:r>
              <a:rPr lang="fr-FR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dirty="0" smtClean="0">
                <a:solidFill>
                  <a:srgbClr val="FF0000"/>
                </a:solidFill>
              </a:rPr>
              <a:t>P − </a:t>
            </a:r>
            <a:r>
              <a:rPr lang="fr-FR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dirty="0" smtClean="0">
                <a:solidFill>
                  <a:srgbClr val="FF0000"/>
                </a:solidFill>
              </a:rPr>
              <a:t>Q, b ∈ </a:t>
            </a:r>
            <a:r>
              <a:rPr lang="fr-FR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dirty="0" smtClean="0">
                <a:solidFill>
                  <a:srgbClr val="FF0000"/>
                </a:solidFill>
              </a:rPr>
              <a:t>Q − </a:t>
            </a:r>
            <a:r>
              <a:rPr lang="fr-FR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{c, d} ⊆ (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∩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Q)</a:t>
            </a:r>
            <a:r>
              <a:rPr lang="fr-FR" dirty="0" smtClean="0"/>
              <a:t>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(c → P)||(d → Q) = STOP si c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fr-FR" b="1" dirty="0" smtClean="0">
                <a:solidFill>
                  <a:srgbClr val="FF0000"/>
                </a:solidFill>
              </a:rPr>
              <a:t> d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(a → P)||(c → Q) = (a → (P||c → Q)) ;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(c → P)||(b → Q) = b → ((c → P)||Q) ;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(a → P)||(b → Q) = (a → (P||(b → Q))|b → ((a → P)||Q))</a:t>
            </a:r>
          </a:p>
          <a:p>
            <a:endParaRPr lang="fr-FR" dirty="0" smtClean="0"/>
          </a:p>
          <a:p>
            <a:r>
              <a:rPr lang="fr-FR" dirty="0" smtClean="0"/>
              <a:t>Voir le livre de </a:t>
            </a:r>
            <a:r>
              <a:rPr lang="fr-FR" dirty="0" err="1" smtClean="0"/>
              <a:t>Hoare</a:t>
            </a:r>
            <a:r>
              <a:rPr lang="fr-FR" dirty="0" smtClean="0"/>
              <a:t> sur le CSP pour un exemple de modélisation du dîner des philosophes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Choix non déterministe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Principe</a:t>
            </a:r>
          </a:p>
          <a:p>
            <a:pPr lvl="1"/>
            <a:r>
              <a:rPr lang="fr-FR" dirty="0" smtClean="0"/>
              <a:t>Choix, interaction et concurrence : comportement des processus contrôlé par l’environnement</a:t>
            </a:r>
          </a:p>
          <a:p>
            <a:pPr lvl="1"/>
            <a:r>
              <a:rPr lang="fr-FR" dirty="0" smtClean="0"/>
              <a:t>Parfois, le choix peut être interne (l’environnement n’a aucun contrôle sur la suite des processus). En particulier, s’il y a plusieurs choix possibles, il est incapable d’en choisir un</a:t>
            </a:r>
            <a:r>
              <a:rPr lang="fr-FR" dirty="0" smtClean="0">
                <a:sym typeface="Wingdings" pitchFamily="2" charset="2"/>
              </a:rPr>
              <a:t> </a:t>
            </a:r>
            <a:r>
              <a:rPr lang="fr-FR" dirty="0" smtClean="0"/>
              <a:t>Non déterminisme</a:t>
            </a:r>
          </a:p>
          <a:p>
            <a:endParaRPr lang="fr-FR" dirty="0" smtClean="0"/>
          </a:p>
          <a:p>
            <a:r>
              <a:rPr lang="fr-FR" dirty="0" smtClean="0"/>
              <a:t>Le non déterminisme résulte d’un haut niveau d’abstraction (on dit pas comment faire le choix)</a:t>
            </a:r>
          </a:p>
          <a:p>
            <a:pPr lvl="1"/>
            <a:r>
              <a:rPr lang="fr-FR" dirty="0" smtClean="0"/>
              <a:t>A l’implémentation, on peut choisir une réalisation en fonction de critères comme les performances</a:t>
            </a:r>
          </a:p>
          <a:p>
            <a:pPr lvl="1"/>
            <a:r>
              <a:rPr lang="fr-FR" dirty="0" smtClean="0"/>
              <a:t>le niveau abstrait doit rester indépendant de la réalisation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Choix non déterministe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/>
              <a:t>Notation : </a:t>
            </a:r>
            <a:r>
              <a:rPr lang="fr-FR" b="1" dirty="0" smtClean="0">
                <a:solidFill>
                  <a:srgbClr val="FF0000"/>
                </a:solidFill>
              </a:rPr>
              <a:t>P ⊓ Q</a:t>
            </a:r>
            <a:r>
              <a:rPr lang="fr-FR" dirty="0" smtClean="0"/>
              <a:t> → un processus qui peut se comporter comme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ou comme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mais le choix est non déterministe</a:t>
            </a:r>
          </a:p>
          <a:p>
            <a:endParaRPr lang="fr-FR" dirty="0" smtClean="0"/>
          </a:p>
          <a:p>
            <a:r>
              <a:rPr lang="fr-FR" dirty="0" smtClean="0"/>
              <a:t>Remarque : à l’implémentation, on tranchera en faveur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ou de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mais pas les deux à la fois (inefficacité)</a:t>
            </a:r>
          </a:p>
          <a:p>
            <a:endParaRPr lang="fr-FR" dirty="0" smtClean="0"/>
          </a:p>
          <a:p>
            <a:r>
              <a:rPr lang="fr-FR" dirty="0" smtClean="0"/>
              <a:t>Les propriétés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 ⊓ P = P </a:t>
            </a:r>
            <a:r>
              <a:rPr lang="fr-FR" dirty="0" smtClean="0"/>
              <a:t>(idempotence)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⊓</a:t>
            </a:r>
            <a:r>
              <a:rPr lang="fr-FR" dirty="0" smtClean="0"/>
              <a:t> est commutatif et associatif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x → (P ⊓ Q) = (x → P) ⊓ (x → Q) ;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P||(Q ⊓ R) = (P||Q) ⊓ (P||R) ;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(P ⊓ Q)||R = (P||R) ⊓ (Q ⊓ R)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(x : B → (P(x) ⊓ Q(x))) = (x : B → P(x)) ⊓ (x : B → Q(x))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Choix généralisé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Principe :</a:t>
            </a:r>
          </a:p>
          <a:p>
            <a:pPr lvl="1"/>
            <a:r>
              <a:rPr lang="fr-FR" dirty="0" smtClean="0"/>
              <a:t>L’opérateur du choix non déterministe peut ne pas être intéressant car il exclue toute intervention de l’environnement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Solution : laisser une marge de manœuvre à l’environnement en lui permettant de choisir en fonction d’un évènement, comment ?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D’abord, une nouvelle notation : </a:t>
            </a:r>
            <a:r>
              <a:rPr lang="fr-FR" b="1" dirty="0" smtClean="0">
                <a:solidFill>
                  <a:srgbClr val="FF0000"/>
                </a:solidFill>
              </a:rPr>
              <a:t>(a → P)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b="1" dirty="0" smtClean="0">
                <a:solidFill>
                  <a:srgbClr val="FF0000"/>
                </a:solidFill>
              </a:rPr>
              <a:t>(b → Q) </a:t>
            </a:r>
            <a:r>
              <a:rPr lang="fr-FR" dirty="0" smtClean="0"/>
              <a:t>qui indique un processus qui :</a:t>
            </a:r>
          </a:p>
          <a:p>
            <a:pPr lvl="2"/>
            <a:r>
              <a:rPr lang="fr-FR" dirty="0" smtClean="0"/>
              <a:t>Se comporte comme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se produit d’abord</a:t>
            </a:r>
          </a:p>
          <a:p>
            <a:pPr lvl="2"/>
            <a:r>
              <a:rPr lang="fr-FR" dirty="0" smtClean="0"/>
              <a:t>Se comporte comme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b</a:t>
            </a:r>
            <a:r>
              <a:rPr lang="fr-FR" dirty="0" smtClean="0"/>
              <a:t> se produit d’abord</a:t>
            </a:r>
          </a:p>
          <a:p>
            <a:pPr lvl="2"/>
            <a:r>
              <a:rPr lang="fr-FR" dirty="0" smtClean="0"/>
              <a:t>Non déterminé si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se produit en même temps que </a:t>
            </a:r>
            <a:r>
              <a:rPr lang="fr-FR" b="1" dirty="0" smtClean="0">
                <a:solidFill>
                  <a:srgbClr val="FF0000"/>
                </a:solidFill>
              </a:rPr>
              <a:t>b</a:t>
            </a:r>
          </a:p>
          <a:p>
            <a:pPr lvl="2"/>
            <a:r>
              <a:rPr lang="fr-FR" dirty="0" smtClean="0"/>
              <a:t>Le choix doit éviter un blocage autant que possible</a:t>
            </a:r>
          </a:p>
          <a:p>
            <a:pPr lvl="1"/>
            <a:endParaRPr lang="es-ES" dirty="0" smtClean="0"/>
          </a:p>
          <a:p>
            <a:pPr lvl="1"/>
            <a:r>
              <a:rPr lang="es-ES" dirty="0" err="1" smtClean="0"/>
              <a:t>On</a:t>
            </a:r>
            <a:r>
              <a:rPr lang="es-ES" dirty="0" smtClean="0"/>
              <a:t> a : </a:t>
            </a:r>
            <a:r>
              <a:rPr lang="es-ES" b="1" dirty="0" smtClean="0">
                <a:solidFill>
                  <a:srgbClr val="FF0000"/>
                </a:solidFill>
              </a:rPr>
              <a:t>(a → P)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es-ES" b="1" dirty="0" smtClean="0">
                <a:solidFill>
                  <a:srgbClr val="FF0000"/>
                </a:solidFill>
              </a:rPr>
              <a:t>(b → Q) = (a → </a:t>
            </a:r>
            <a:r>
              <a:rPr lang="es-ES" b="1" dirty="0" err="1" smtClean="0">
                <a:solidFill>
                  <a:srgbClr val="FF0000"/>
                </a:solidFill>
              </a:rPr>
              <a:t>P|b</a:t>
            </a:r>
            <a:r>
              <a:rPr lang="es-ES" b="1" dirty="0" smtClean="0">
                <a:solidFill>
                  <a:srgbClr val="FF0000"/>
                </a:solidFill>
              </a:rPr>
              <a:t> → Q) </a:t>
            </a:r>
            <a:r>
              <a:rPr lang="es-ES" dirty="0" smtClean="0"/>
              <a:t>si </a:t>
            </a:r>
            <a:r>
              <a:rPr lang="es-ES" b="1" dirty="0" smtClean="0">
                <a:solidFill>
                  <a:srgbClr val="FF0000"/>
                </a:solidFill>
              </a:rPr>
              <a:t>a </a:t>
            </a:r>
            <a:r>
              <a:rPr lang="es-ES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es-ES" b="1" dirty="0" smtClean="0">
                <a:solidFill>
                  <a:srgbClr val="FF0000"/>
                </a:solidFill>
              </a:rPr>
              <a:t> b</a:t>
            </a:r>
          </a:p>
          <a:p>
            <a:pPr lvl="1"/>
            <a:endParaRPr lang="es-ES" dirty="0" smtClean="0"/>
          </a:p>
          <a:p>
            <a:pPr lvl="1"/>
            <a:r>
              <a:rPr lang="fr-FR" dirty="0" smtClean="0"/>
              <a:t>On a : </a:t>
            </a:r>
            <a:r>
              <a:rPr lang="fr-FR" b="1" dirty="0" smtClean="0">
                <a:solidFill>
                  <a:srgbClr val="FF0000"/>
                </a:solidFill>
              </a:rPr>
              <a:t>(a → P)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b="1" dirty="0" smtClean="0">
                <a:solidFill>
                  <a:srgbClr val="FF0000"/>
                </a:solidFill>
              </a:rPr>
              <a:t>(a → Q) = a → (P ⊓ Q)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 choix généralisé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Les propriétés de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dirty="0" smtClean="0"/>
              <a:t>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dirty="0" smtClean="0"/>
              <a:t> est idempotent, commutatif et associatif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b="1" dirty="0" smtClean="0">
                <a:solidFill>
                  <a:srgbClr val="FF0000"/>
                </a:solidFill>
              </a:rPr>
              <a:t>STOP = P </a:t>
            </a:r>
            <a:r>
              <a:rPr lang="fr-FR" dirty="0" smtClean="0"/>
              <a:t>(qu’en est il de </a:t>
            </a:r>
            <a:r>
              <a:rPr lang="fr-FR" b="1" dirty="0" smtClean="0">
                <a:solidFill>
                  <a:srgbClr val="FF0000"/>
                </a:solidFill>
              </a:rPr>
              <a:t>P ⊓ STOP </a:t>
            </a:r>
            <a:r>
              <a:rPr lang="fr-FR" dirty="0" smtClean="0"/>
              <a:t>?)</a:t>
            </a:r>
          </a:p>
          <a:p>
            <a:pPr lvl="1"/>
            <a:r>
              <a:rPr lang="es-ES" b="1" dirty="0" smtClean="0">
                <a:solidFill>
                  <a:srgbClr val="FF0000"/>
                </a:solidFill>
              </a:rPr>
              <a:t>(x : A → P(x))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</a:t>
            </a:r>
            <a:r>
              <a:rPr lang="es-ES" b="1" dirty="0" smtClean="0">
                <a:solidFill>
                  <a:srgbClr val="FF0000"/>
                </a:solidFill>
              </a:rPr>
              <a:t>(y : B → Q(y))=</a:t>
            </a:r>
          </a:p>
          <a:p>
            <a:pPr lvl="1">
              <a:buNone/>
            </a:pPr>
            <a:r>
              <a:rPr lang="fr-FR" b="1" dirty="0" smtClean="0">
                <a:solidFill>
                  <a:srgbClr val="FF0000"/>
                </a:solidFill>
              </a:rPr>
              <a:t>	</a:t>
            </a:r>
            <a:r>
              <a:rPr lang="pl-PL" b="1" dirty="0" smtClean="0">
                <a:solidFill>
                  <a:srgbClr val="FF0000"/>
                </a:solidFill>
              </a:rPr>
              <a:t>(z ∈ (A ∪ B) : si(z ∈ (A − B), P(z), si(z ∈ (B − A),Q(z), P(z) ⊓ Q(z)))) 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</a:t>
            </a:r>
            <a:r>
              <a:rPr lang="pt-BR" b="1" dirty="0" smtClean="0">
                <a:solidFill>
                  <a:srgbClr val="FF0000"/>
                </a:solidFill>
              </a:rPr>
              <a:t>(Q ⊓ R) = 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pt-BR" b="1" dirty="0" smtClean="0">
                <a:solidFill>
                  <a:srgbClr val="FF0000"/>
                </a:solidFill>
              </a:rPr>
              <a:t>Q) ⊓ 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pt-BR" b="1" dirty="0" smtClean="0">
                <a:solidFill>
                  <a:srgbClr val="FF0000"/>
                </a:solidFill>
              </a:rPr>
              <a:t>R)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 ⊓ (Q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R) = (P ⊓ Q)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</a:t>
            </a:r>
            <a:r>
              <a:rPr lang="fr-FR" b="1" dirty="0" smtClean="0">
                <a:solidFill>
                  <a:srgbClr val="FF0000"/>
                </a:solidFill>
              </a:rPr>
              <a:t>(P ⊓ R)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Différence entre </a:t>
            </a:r>
            <a:r>
              <a:rPr lang="fr-FR" b="1" dirty="0" smtClean="0">
                <a:solidFill>
                  <a:srgbClr val="FF0000"/>
                </a:solidFill>
              </a:rPr>
              <a:t>⊓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On ne peut pas différencier </a:t>
            </a:r>
            <a:r>
              <a:rPr lang="fr-FR" b="1" dirty="0" smtClean="0">
                <a:solidFill>
                  <a:srgbClr val="FF0000"/>
                </a:solidFill>
              </a:rPr>
              <a:t>⊓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dirty="0" smtClean="0"/>
              <a:t> au niveau des traces d’exécution</a:t>
            </a:r>
          </a:p>
          <a:p>
            <a:endParaRPr lang="fr-FR" dirty="0" smtClean="0"/>
          </a:p>
          <a:p>
            <a:r>
              <a:rPr lang="fr-FR" dirty="0" smtClean="0"/>
              <a:t>On peut le faire seulement dans le cas d’un environnement où la première action mène à un </a:t>
            </a:r>
            <a:r>
              <a:rPr lang="fr-FR" dirty="0" err="1" smtClean="0"/>
              <a:t>interblocage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 = (x → P)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Q = (y → Q) (x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</a:t>
            </a:r>
            <a:r>
              <a:rPr lang="fr-FR" b="1" dirty="0" smtClean="0">
                <a:solidFill>
                  <a:srgbClr val="FF0000"/>
                </a:solidFill>
              </a:rPr>
              <a:t> y)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Q)||P = P </a:t>
            </a:r>
            <a:r>
              <a:rPr lang="fr-FR" dirty="0" smtClean="0"/>
              <a:t>(ne peut jamais se bloquer)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(P ⊓ Q)||P = P ⊓ STOP </a:t>
            </a:r>
            <a:r>
              <a:rPr lang="fr-FR" dirty="0" smtClean="0"/>
              <a:t>(peut se bloquer)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L’opérateur </a:t>
            </a:r>
            <a:r>
              <a:rPr lang="fr-FR" i="1" dirty="0" err="1" smtClean="0"/>
              <a:t>hidding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54280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Cacher des évènements :</a:t>
            </a:r>
          </a:p>
          <a:p>
            <a:pPr lvl="1"/>
            <a:r>
              <a:rPr lang="fr-FR" dirty="0" smtClean="0"/>
              <a:t>Pour noter que certains évènements C soient internes à un processus P (non contrôlables ni vus par l’environnement), on utilise P\C (cacher les évènements C)</a:t>
            </a:r>
          </a:p>
          <a:p>
            <a:pPr lvl="1"/>
            <a:r>
              <a:rPr lang="fr-FR" dirty="0" smtClean="0">
                <a:sym typeface="Symbol"/>
              </a:rPr>
              <a:t></a:t>
            </a:r>
            <a:r>
              <a:rPr lang="fr-FR" dirty="0" smtClean="0"/>
              <a:t>(P\C) = </a:t>
            </a:r>
            <a:r>
              <a:rPr lang="fr-FR" dirty="0" smtClean="0">
                <a:sym typeface="Symbol"/>
              </a:rPr>
              <a:t></a:t>
            </a:r>
            <a:r>
              <a:rPr lang="fr-FR" dirty="0" smtClean="0"/>
              <a:t>P − C</a:t>
            </a:r>
          </a:p>
          <a:p>
            <a:endParaRPr lang="fr-FR" dirty="0" smtClean="0"/>
          </a:p>
          <a:p>
            <a:pPr lvl="1"/>
            <a:r>
              <a:rPr lang="fr-FR" dirty="0" smtClean="0"/>
              <a:t>Les propriétés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P\{} = P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P\B)\C = P\(B ∪ C)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(P ⊓ Q)\C = (P\C) ⊓ (Q\C)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(x → P)\C = x → (P\C) </a:t>
            </a:r>
            <a:r>
              <a:rPr lang="pt-BR" dirty="0" smtClean="0"/>
              <a:t>si </a:t>
            </a:r>
            <a:r>
              <a:rPr lang="pt-BR" b="1" dirty="0" smtClean="0">
                <a:solidFill>
                  <a:srgbClr val="FF0000"/>
                </a:solidFill>
              </a:rPr>
              <a:t>x </a:t>
            </a:r>
            <a:r>
              <a:rPr lang="pt-BR" b="1" dirty="0" smtClean="0">
                <a:solidFill>
                  <a:srgbClr val="FF0000"/>
                </a:solidFill>
                <a:sym typeface="Symbol"/>
              </a:rPr>
              <a:t></a:t>
            </a:r>
            <a:r>
              <a:rPr lang="pt-BR" b="1" dirty="0" smtClean="0">
                <a:solidFill>
                  <a:srgbClr val="FF0000"/>
                </a:solidFill>
              </a:rPr>
              <a:t> C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(x → P)\C = (P\C)</a:t>
            </a:r>
            <a:r>
              <a:rPr lang="pt-BR" dirty="0" smtClean="0"/>
              <a:t> si </a:t>
            </a:r>
            <a:r>
              <a:rPr lang="pt-BR" b="1" dirty="0" smtClean="0">
                <a:solidFill>
                  <a:srgbClr val="FF0000"/>
                </a:solidFill>
              </a:rPr>
              <a:t>x ∈ C</a:t>
            </a:r>
          </a:p>
          <a:p>
            <a:endParaRPr lang="fr-FR" dirty="0" smtClean="0"/>
          </a:p>
          <a:p>
            <a:r>
              <a:rPr lang="fr-FR" dirty="0" err="1" smtClean="0"/>
              <a:t>Livelock</a:t>
            </a:r>
            <a:r>
              <a:rPr lang="fr-FR" dirty="0" smtClean="0"/>
              <a:t> : un processus toujours occupé par ses évènements internes</a:t>
            </a:r>
          </a:p>
          <a:p>
            <a:pPr lvl="1"/>
            <a:r>
              <a:rPr lang="fr-FR" dirty="0" smtClean="0"/>
              <a:t>Exemple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P=a</a:t>
            </a:r>
            <a:r>
              <a:rPr lang="pt-BR" b="1" dirty="0" smtClean="0">
                <a:solidFill>
                  <a:srgbClr val="FF0000"/>
                </a:solidFill>
              </a:rPr>
              <a:t> →P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P\{a}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Graphiquement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Représentation graphique</a:t>
            </a:r>
          </a:p>
          <a:p>
            <a:pPr lvl="1"/>
            <a:r>
              <a:rPr lang="fr-FR" dirty="0" smtClean="0"/>
              <a:t>Non déterminisme P ⊓ Q :</a:t>
            </a:r>
          </a:p>
          <a:p>
            <a:pPr lvl="1"/>
            <a:endParaRPr lang="fr-FR" dirty="0" smtClean="0"/>
          </a:p>
          <a:p>
            <a:pPr lvl="1"/>
            <a:endParaRPr lang="fr-FR" dirty="0" smtClean="0"/>
          </a:p>
          <a:p>
            <a:pPr lvl="1"/>
            <a:endParaRPr lang="fr-FR" dirty="0" smtClean="0"/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Cache … :</a:t>
            </a:r>
            <a:endParaRPr lang="fr-FR" dirty="0"/>
          </a:p>
        </p:txBody>
      </p:sp>
      <p:sp>
        <p:nvSpPr>
          <p:cNvPr id="5" name="Ellipse 4"/>
          <p:cNvSpPr/>
          <p:nvPr/>
        </p:nvSpPr>
        <p:spPr>
          <a:xfrm>
            <a:off x="4499992" y="2492896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5148064" y="3068960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Q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3923928" y="3068960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</a:t>
            </a:r>
            <a:endParaRPr lang="fr-FR" dirty="0"/>
          </a:p>
        </p:txBody>
      </p:sp>
      <p:cxnSp>
        <p:nvCxnSpPr>
          <p:cNvPr id="9" name="Connecteur droit avec flèche 8"/>
          <p:cNvCxnSpPr>
            <a:stCxn id="5" idx="4"/>
            <a:endCxn id="7" idx="7"/>
          </p:cNvCxnSpPr>
          <p:nvPr/>
        </p:nvCxnSpPr>
        <p:spPr>
          <a:xfrm flipH="1">
            <a:off x="4292704" y="2924944"/>
            <a:ext cx="423312" cy="207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endCxn id="6" idx="1"/>
          </p:cNvCxnSpPr>
          <p:nvPr/>
        </p:nvCxnSpPr>
        <p:spPr>
          <a:xfrm>
            <a:off x="4716016" y="2924944"/>
            <a:ext cx="495320" cy="207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e 11"/>
          <p:cNvSpPr/>
          <p:nvPr/>
        </p:nvSpPr>
        <p:spPr>
          <a:xfrm>
            <a:off x="2483768" y="4797152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3131840" y="5373216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Q</a:t>
            </a:r>
            <a:endParaRPr lang="fr-FR" dirty="0"/>
          </a:p>
        </p:txBody>
      </p:sp>
      <p:sp>
        <p:nvSpPr>
          <p:cNvPr id="14" name="Ellipse 13"/>
          <p:cNvSpPr/>
          <p:nvPr/>
        </p:nvSpPr>
        <p:spPr>
          <a:xfrm>
            <a:off x="1907704" y="5373216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</a:t>
            </a:r>
            <a:endParaRPr lang="fr-FR" dirty="0"/>
          </a:p>
        </p:txBody>
      </p:sp>
      <p:cxnSp>
        <p:nvCxnSpPr>
          <p:cNvPr id="15" name="Connecteur droit avec flèche 14"/>
          <p:cNvCxnSpPr>
            <a:stCxn id="12" idx="4"/>
            <a:endCxn id="14" idx="7"/>
          </p:cNvCxnSpPr>
          <p:nvPr/>
        </p:nvCxnSpPr>
        <p:spPr>
          <a:xfrm flipH="1">
            <a:off x="2276480" y="5229200"/>
            <a:ext cx="423312" cy="207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endCxn id="13" idx="1"/>
          </p:cNvCxnSpPr>
          <p:nvPr/>
        </p:nvCxnSpPr>
        <p:spPr>
          <a:xfrm>
            <a:off x="2699792" y="5229200"/>
            <a:ext cx="495320" cy="207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2123728" y="501317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3059832" y="4941168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d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4355976" y="5013176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\{</a:t>
            </a:r>
            <a:r>
              <a:rPr lang="fr-FR" dirty="0" err="1" smtClean="0"/>
              <a:t>c,d</a:t>
            </a:r>
            <a:r>
              <a:rPr lang="fr-FR" dirty="0" smtClean="0"/>
              <a:t>}</a:t>
            </a:r>
            <a:endParaRPr lang="fr-FR" dirty="0"/>
          </a:p>
        </p:txBody>
      </p:sp>
      <p:sp>
        <p:nvSpPr>
          <p:cNvPr id="25" name="Flèche droite 24"/>
          <p:cNvSpPr/>
          <p:nvPr/>
        </p:nvSpPr>
        <p:spPr>
          <a:xfrm>
            <a:off x="4355976" y="5445224"/>
            <a:ext cx="792088" cy="432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/>
          <p:cNvSpPr/>
          <p:nvPr/>
        </p:nvSpPr>
        <p:spPr>
          <a:xfrm>
            <a:off x="6876256" y="4869160"/>
            <a:ext cx="43204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…</a:t>
            </a:r>
            <a:endParaRPr lang="fr-FR" dirty="0"/>
          </a:p>
        </p:txBody>
      </p:sp>
      <p:sp>
        <p:nvSpPr>
          <p:cNvPr id="27" name="Ellipse 26"/>
          <p:cNvSpPr/>
          <p:nvPr/>
        </p:nvSpPr>
        <p:spPr>
          <a:xfrm>
            <a:off x="7524328" y="5445224"/>
            <a:ext cx="1224136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Q\{</a:t>
            </a:r>
            <a:r>
              <a:rPr lang="fr-FR" sz="1600" dirty="0" err="1" smtClean="0"/>
              <a:t>c,d</a:t>
            </a:r>
            <a:r>
              <a:rPr lang="fr-FR" sz="1600" dirty="0" smtClean="0"/>
              <a:t>}</a:t>
            </a:r>
            <a:endParaRPr lang="fr-FR" sz="1600" dirty="0"/>
          </a:p>
        </p:txBody>
      </p:sp>
      <p:sp>
        <p:nvSpPr>
          <p:cNvPr id="28" name="Ellipse 27"/>
          <p:cNvSpPr/>
          <p:nvPr/>
        </p:nvSpPr>
        <p:spPr>
          <a:xfrm>
            <a:off x="5652120" y="5445224"/>
            <a:ext cx="1152128" cy="4320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P\{</a:t>
            </a:r>
            <a:r>
              <a:rPr lang="fr-FR" sz="1600" dirty="0" err="1" smtClean="0"/>
              <a:t>c,d</a:t>
            </a:r>
            <a:r>
              <a:rPr lang="fr-FR" sz="1600" dirty="0" smtClean="0"/>
              <a:t>}</a:t>
            </a:r>
            <a:endParaRPr lang="fr-FR" sz="1600" dirty="0"/>
          </a:p>
        </p:txBody>
      </p:sp>
      <p:cxnSp>
        <p:nvCxnSpPr>
          <p:cNvPr id="29" name="Connecteur droit avec flèche 28"/>
          <p:cNvCxnSpPr>
            <a:stCxn id="26" idx="4"/>
            <a:endCxn id="28" idx="7"/>
          </p:cNvCxnSpPr>
          <p:nvPr/>
        </p:nvCxnSpPr>
        <p:spPr>
          <a:xfrm flipH="1">
            <a:off x="6635523" y="5301208"/>
            <a:ext cx="456757" cy="207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>
            <a:endCxn id="27" idx="1"/>
          </p:cNvCxnSpPr>
          <p:nvPr/>
        </p:nvCxnSpPr>
        <p:spPr>
          <a:xfrm>
            <a:off x="7092280" y="5301208"/>
            <a:ext cx="611319" cy="207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Entrelacement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Principe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||</a:t>
            </a:r>
            <a:r>
              <a:rPr lang="fr-FR" dirty="0" smtClean="0"/>
              <a:t> sert à décrire deux processus qui interagissent via quelques évènements, le reste se produit dans n’importe quel ordre</a:t>
            </a:r>
          </a:p>
          <a:p>
            <a:pPr lvl="2"/>
            <a:r>
              <a:rPr lang="fr-FR" dirty="0" smtClean="0"/>
              <a:t>Processus à alphabet différents : entrelacement avec déterminisme</a:t>
            </a:r>
          </a:p>
          <a:p>
            <a:endParaRPr lang="fr-FR" dirty="0" smtClean="0"/>
          </a:p>
          <a:p>
            <a:r>
              <a:rPr lang="fr-FR" dirty="0" smtClean="0"/>
              <a:t>Entrelacement : plusieurs processus, définis sur le même alphabet, s’exécutant en parallèle sans aucune interaction ou synchronisation</a:t>
            </a:r>
          </a:p>
          <a:p>
            <a:pPr lvl="1"/>
            <a:r>
              <a:rPr lang="fr-FR" dirty="0" smtClean="0"/>
              <a:t>notation </a:t>
            </a:r>
            <a:r>
              <a:rPr lang="fr-FR" b="1" dirty="0" smtClean="0">
                <a:solidFill>
                  <a:srgbClr val="FF0000"/>
                </a:solidFill>
              </a:rPr>
              <a:t>P|||Q</a:t>
            </a:r>
          </a:p>
          <a:p>
            <a:pPr lvl="1"/>
            <a:r>
              <a:rPr lang="fr-FR" dirty="0" smtClean="0"/>
              <a:t>Chaque action de </a:t>
            </a:r>
            <a:r>
              <a:rPr lang="fr-FR" b="1" dirty="0" smtClean="0">
                <a:solidFill>
                  <a:srgbClr val="FF0000"/>
                </a:solidFill>
              </a:rPr>
              <a:t>P|||Q </a:t>
            </a:r>
            <a:r>
              <a:rPr lang="fr-FR" dirty="0" smtClean="0"/>
              <a:t>est soit une action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, soit une action de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</a:p>
          <a:p>
            <a:pPr lvl="1"/>
            <a:r>
              <a:rPr lang="fr-FR" dirty="0" smtClean="0"/>
              <a:t>Si les deux peuvent s’engager dans la même action, on ne peut pas déterminer le processus qui s’exécute</a:t>
            </a:r>
          </a:p>
          <a:p>
            <a:pPr lvl="1"/>
            <a:r>
              <a:rPr lang="fr-FR" dirty="0" smtClean="0"/>
              <a:t>Les actions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de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entrelacées dans le temps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Exemple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VMS = coin → choc → VMS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VMCRED = </a:t>
            </a:r>
            <a:r>
              <a:rPr lang="el-GR" b="1" dirty="0" smtClean="0">
                <a:solidFill>
                  <a:srgbClr val="FF0000"/>
                </a:solidFill>
              </a:rPr>
              <a:t>μ</a:t>
            </a:r>
            <a:r>
              <a:rPr lang="fr-FR" b="1" dirty="0" smtClean="0">
                <a:solidFill>
                  <a:srgbClr val="FF0000"/>
                </a:solidFill>
              </a:rPr>
              <a:t>X • (coin → choc → X|choc → coin → X)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VMS2 = coin → VMCRED</a:t>
            </a:r>
          </a:p>
          <a:p>
            <a:pPr lvl="1"/>
            <a:r>
              <a:rPr lang="fr-FR" dirty="0" smtClean="0"/>
              <a:t>on a : </a:t>
            </a:r>
            <a:r>
              <a:rPr lang="fr-FR" b="1" dirty="0" smtClean="0">
                <a:solidFill>
                  <a:srgbClr val="FF0000"/>
                </a:solidFill>
              </a:rPr>
              <a:t>VMS2 = VMS|||VMS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FF0000"/>
                </a:solidFill>
              </a:rPr>
              <a:t>P|||STOP = P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P|||RUN = RUN</a:t>
            </a:r>
          </a:p>
          <a:p>
            <a:r>
              <a:rPr lang="fr-FR" b="1" dirty="0" smtClean="0">
                <a:solidFill>
                  <a:srgbClr val="FF0000"/>
                </a:solidFill>
              </a:rPr>
              <a:t>(x → P)|||(y → Q) = 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(x → (P|||(y → Q))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y → ((x → P)|||Q))</a:t>
            </a:r>
          </a:p>
          <a:p>
            <a:r>
              <a:rPr lang="es-ES" b="1" dirty="0" smtClean="0">
                <a:solidFill>
                  <a:srgbClr val="FF0000"/>
                </a:solidFill>
              </a:rPr>
              <a:t>P = (x : A → P(x)) </a:t>
            </a:r>
            <a:r>
              <a:rPr lang="es-ES" dirty="0" smtClean="0"/>
              <a:t>et </a:t>
            </a:r>
            <a:r>
              <a:rPr lang="es-ES" b="1" dirty="0" smtClean="0">
                <a:solidFill>
                  <a:srgbClr val="FF0000"/>
                </a:solidFill>
              </a:rPr>
              <a:t>Q = (y : B → Q(y))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P|||Q = (x : A → (P(x)|||Q)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b="1" dirty="0" smtClean="0">
                <a:solidFill>
                  <a:srgbClr val="FF0000"/>
                </a:solidFill>
              </a:rPr>
              <a:t>y : B → (P|||Q(y)))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Communication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Echange de données :</a:t>
            </a:r>
          </a:p>
          <a:p>
            <a:endParaRPr lang="fr-FR" dirty="0" smtClean="0"/>
          </a:p>
          <a:p>
            <a:r>
              <a:rPr lang="fr-FR" dirty="0" smtClean="0"/>
              <a:t>Les entrées/sorties sont un cas particulier des évènements les E/S se font via des canaux</a:t>
            </a:r>
          </a:p>
          <a:p>
            <a:endParaRPr lang="fr-FR" dirty="0" smtClean="0"/>
          </a:p>
          <a:p>
            <a:r>
              <a:rPr lang="fr-FR" dirty="0" smtClean="0"/>
              <a:t>On utilisera la notation </a:t>
            </a:r>
            <a:r>
              <a:rPr lang="fr-FR" b="1" dirty="0" smtClean="0">
                <a:solidFill>
                  <a:srgbClr val="FF0000"/>
                </a:solidFill>
              </a:rPr>
              <a:t>c(v) </a:t>
            </a:r>
            <a:r>
              <a:rPr lang="fr-FR" dirty="0" smtClean="0"/>
              <a:t>tel que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c</a:t>
            </a:r>
            <a:r>
              <a:rPr lang="fr-FR" dirty="0" smtClean="0"/>
              <a:t> est un canal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v</a:t>
            </a:r>
            <a:r>
              <a:rPr lang="fr-FR" dirty="0" smtClean="0"/>
              <a:t> valeur d’un message passé via la canal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</a:p>
          <a:p>
            <a:pPr lvl="1"/>
            <a:r>
              <a:rPr lang="fr-FR" dirty="0" smtClean="0"/>
              <a:t>Type d’un message : toutes les valeurs possibles pouvant être transmis via le canal</a:t>
            </a:r>
          </a:p>
          <a:p>
            <a:endParaRPr lang="fr-FR" dirty="0" smtClean="0"/>
          </a:p>
          <a:p>
            <a:r>
              <a:rPr lang="fr-FR" dirty="0" smtClean="0"/>
              <a:t>Les E/S via les canaux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c!x</a:t>
            </a:r>
            <a:r>
              <a:rPr lang="fr-FR" dirty="0" smtClean="0"/>
              <a:t> : signifie que le processus écrit la valeur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dans le canal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c?x</a:t>
            </a:r>
            <a:r>
              <a:rPr lang="fr-FR" dirty="0" smtClean="0"/>
              <a:t> : signifie que le processus attend un message sur le canal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  <a:r>
              <a:rPr lang="fr-FR" dirty="0" smtClean="0"/>
              <a:t> lequel sera placé dans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Communication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c?x</a:t>
            </a:r>
            <a:r>
              <a:rPr lang="fr-FR" b="1" dirty="0" smtClean="0">
                <a:solidFill>
                  <a:srgbClr val="FF0000"/>
                </a:solidFill>
              </a:rPr>
              <a:t> : T → P(x)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 est un type</a:t>
            </a:r>
          </a:p>
          <a:p>
            <a:pPr lvl="1"/>
            <a:r>
              <a:rPr lang="fr-FR" dirty="0" smtClean="0"/>
              <a:t>un processus préparé à lire n’importe quel valeur de type </a:t>
            </a:r>
            <a:r>
              <a:rPr lang="fr-FR" b="1" dirty="0" smtClean="0">
                <a:solidFill>
                  <a:srgbClr val="FF0000"/>
                </a:solidFill>
              </a:rPr>
              <a:t>T</a:t>
            </a:r>
          </a:p>
          <a:p>
            <a:endParaRPr lang="fr-FR" dirty="0" smtClean="0"/>
          </a:p>
          <a:p>
            <a:r>
              <a:rPr lang="fr-FR" b="1" dirty="0" err="1" smtClean="0">
                <a:solidFill>
                  <a:srgbClr val="FF0000"/>
                </a:solidFill>
              </a:rPr>
              <a:t>c!v</a:t>
            </a:r>
            <a:r>
              <a:rPr lang="fr-FR" b="1" dirty="0" smtClean="0">
                <a:solidFill>
                  <a:srgbClr val="FF0000"/>
                </a:solidFill>
              </a:rPr>
              <a:t> → P</a:t>
            </a:r>
          </a:p>
          <a:p>
            <a:pPr lvl="1"/>
            <a:r>
              <a:rPr lang="fr-FR" dirty="0" smtClean="0"/>
              <a:t>Le processus écrit v sur c puis se comportera comme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dirty="0" smtClean="0"/>
              <a:t>autre notation : </a:t>
            </a:r>
            <a:r>
              <a:rPr lang="fr-FR" b="1" dirty="0" err="1" smtClean="0">
                <a:solidFill>
                  <a:srgbClr val="FF0000"/>
                </a:solidFill>
              </a:rPr>
              <a:t>c.v</a:t>
            </a:r>
            <a:r>
              <a:rPr lang="fr-FR" b="1" dirty="0" smtClean="0">
                <a:solidFill>
                  <a:srgbClr val="FF0000"/>
                </a:solidFill>
              </a:rPr>
              <a:t> → P</a:t>
            </a:r>
          </a:p>
          <a:p>
            <a:endParaRPr lang="fr-FR" dirty="0" smtClean="0"/>
          </a:p>
          <a:p>
            <a:r>
              <a:rPr lang="fr-FR" dirty="0" smtClean="0"/>
              <a:t>Exemples :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COPY BIT = </a:t>
            </a:r>
            <a:r>
              <a:rPr lang="en-US" b="1" dirty="0" err="1" smtClean="0">
                <a:solidFill>
                  <a:srgbClr val="FF0000"/>
                </a:solidFill>
              </a:rPr>
              <a:t>in?x</a:t>
            </a:r>
            <a:r>
              <a:rPr lang="en-US" b="1" dirty="0" smtClean="0">
                <a:solidFill>
                  <a:srgbClr val="FF0000"/>
                </a:solidFill>
              </a:rPr>
              <a:t> : {0, 1} → </a:t>
            </a:r>
            <a:r>
              <a:rPr lang="en-US" b="1" dirty="0" err="1" smtClean="0">
                <a:solidFill>
                  <a:srgbClr val="FF0000"/>
                </a:solidFill>
              </a:rPr>
              <a:t>out!x</a:t>
            </a:r>
            <a:r>
              <a:rPr lang="en-US" b="1" dirty="0" smtClean="0">
                <a:solidFill>
                  <a:srgbClr val="FF0000"/>
                </a:solidFill>
              </a:rPr>
              <a:t> → COPY BIT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COPY = </a:t>
            </a:r>
            <a:r>
              <a:rPr lang="en-US" b="1" dirty="0" err="1" smtClean="0">
                <a:solidFill>
                  <a:srgbClr val="FF0000"/>
                </a:solidFill>
              </a:rPr>
              <a:t>in?x</a:t>
            </a:r>
            <a:r>
              <a:rPr lang="en-US" b="1" dirty="0" smtClean="0">
                <a:solidFill>
                  <a:srgbClr val="FF0000"/>
                </a:solidFill>
              </a:rPr>
              <a:t> : N → </a:t>
            </a:r>
            <a:r>
              <a:rPr lang="en-US" b="1" dirty="0" err="1" smtClean="0">
                <a:solidFill>
                  <a:srgbClr val="FF0000"/>
                </a:solidFill>
              </a:rPr>
              <a:t>out!x</a:t>
            </a:r>
            <a:r>
              <a:rPr lang="en-US" b="1" dirty="0" smtClean="0">
                <a:solidFill>
                  <a:srgbClr val="FF0000"/>
                </a:solidFill>
              </a:rPr>
              <a:t> → COPY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SQUARE = </a:t>
            </a:r>
            <a:r>
              <a:rPr lang="fr-FR" b="1" dirty="0" err="1" smtClean="0">
                <a:solidFill>
                  <a:srgbClr val="FF0000"/>
                </a:solidFill>
              </a:rPr>
              <a:t>in?x</a:t>
            </a:r>
            <a:r>
              <a:rPr lang="fr-FR" b="1" dirty="0" smtClean="0">
                <a:solidFill>
                  <a:srgbClr val="FF0000"/>
                </a:solidFill>
              </a:rPr>
              <a:t> : Z → </a:t>
            </a:r>
            <a:r>
              <a:rPr lang="fr-FR" b="1" dirty="0" err="1" smtClean="0">
                <a:solidFill>
                  <a:srgbClr val="FF0000"/>
                </a:solidFill>
              </a:rPr>
              <a:t>out!x</a:t>
            </a:r>
            <a:r>
              <a:rPr lang="fr-FR" b="1" dirty="0" smtClean="0">
                <a:solidFill>
                  <a:srgbClr val="FF0000"/>
                </a:solidFill>
              </a:rPr>
              <a:t> ∗ x → SQUARE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Important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FF0000"/>
                </a:solidFill>
              </a:rPr>
              <a:t>c?x</a:t>
            </a:r>
            <a:r>
              <a:rPr lang="fr-FR" b="1" dirty="0" smtClean="0">
                <a:solidFill>
                  <a:srgbClr val="FF0000"/>
                </a:solidFill>
              </a:rPr>
              <a:t> →P || </a:t>
            </a:r>
            <a:r>
              <a:rPr lang="fr-FR" b="1" dirty="0" err="1" smtClean="0">
                <a:solidFill>
                  <a:srgbClr val="FF0000"/>
                </a:solidFill>
              </a:rPr>
              <a:t>c!x</a:t>
            </a:r>
            <a:r>
              <a:rPr lang="fr-FR" b="1" dirty="0" smtClean="0">
                <a:solidFill>
                  <a:srgbClr val="FF0000"/>
                </a:solidFill>
              </a:rPr>
              <a:t> → Q = </a:t>
            </a:r>
            <a:r>
              <a:rPr lang="fr-FR" b="1" dirty="0" err="1" smtClean="0">
                <a:solidFill>
                  <a:srgbClr val="FF0000"/>
                </a:solidFill>
              </a:rPr>
              <a:t>c.x</a:t>
            </a:r>
            <a:r>
              <a:rPr lang="fr-FR" b="1" dirty="0" smtClean="0">
                <a:solidFill>
                  <a:srgbClr val="FF0000"/>
                </a:solidFill>
              </a:rPr>
              <a:t> →(P||Q)</a:t>
            </a:r>
          </a:p>
          <a:p>
            <a:pPr lvl="1"/>
            <a:r>
              <a:rPr lang="fr-FR" dirty="0" err="1" smtClean="0"/>
              <a:t>c.x</a:t>
            </a:r>
            <a:r>
              <a:rPr lang="fr-FR" dirty="0" smtClean="0"/>
              <a:t> signifie que les deux processus se sont synchronisés sur l’action de L/E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Attention : chacun des deux processus peuvent interagir avec un autre processus</a:t>
            </a:r>
          </a:p>
          <a:p>
            <a:pPr lvl="2"/>
            <a:r>
              <a:rPr lang="fr-FR" dirty="0" smtClean="0"/>
              <a:t>La L/E n’est obligatoire ici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On peut empêcher les autres processus d’utiliser le canal c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c?x</a:t>
            </a:r>
            <a:r>
              <a:rPr lang="fr-FR" b="1" dirty="0" smtClean="0">
                <a:solidFill>
                  <a:srgbClr val="FF0000"/>
                </a:solidFill>
              </a:rPr>
              <a:t> →P || </a:t>
            </a:r>
            <a:r>
              <a:rPr lang="fr-FR" b="1" dirty="0" err="1" smtClean="0">
                <a:solidFill>
                  <a:srgbClr val="FF0000"/>
                </a:solidFill>
              </a:rPr>
              <a:t>c!x</a:t>
            </a:r>
            <a:r>
              <a:rPr lang="fr-FR" b="1" dirty="0" smtClean="0">
                <a:solidFill>
                  <a:srgbClr val="FF0000"/>
                </a:solidFill>
              </a:rPr>
              <a:t> → Q) \{c}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opérationnelle de CSP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117976"/>
          </a:xfrm>
        </p:spPr>
        <p:txBody>
          <a:bodyPr>
            <a:normAutofit/>
          </a:bodyPr>
          <a:lstStyle/>
          <a:p>
            <a:r>
              <a:rPr lang="fr-FR" sz="1800" dirty="0" smtClean="0"/>
              <a:t>On note par </a:t>
            </a:r>
            <a:r>
              <a:rPr lang="fr-FR" sz="1800" b="1" dirty="0" err="1" smtClean="0">
                <a:solidFill>
                  <a:srgbClr val="FF0000"/>
                </a:solidFill>
              </a:rPr>
              <a:t>P→</a:t>
            </a:r>
            <a:r>
              <a:rPr lang="fr-FR" sz="1800" b="1" baseline="30000" dirty="0" err="1" smtClean="0">
                <a:solidFill>
                  <a:srgbClr val="FF0000"/>
                </a:solidFill>
              </a:rPr>
              <a:t>a</a:t>
            </a:r>
            <a:r>
              <a:rPr lang="fr-FR" sz="1800" b="1" dirty="0" smtClean="0">
                <a:solidFill>
                  <a:srgbClr val="FF0000"/>
                </a:solidFill>
              </a:rPr>
              <a:t> Q </a:t>
            </a:r>
            <a:r>
              <a:rPr lang="fr-FR" sz="1800" dirty="0" smtClean="0"/>
              <a:t>la construction </a:t>
            </a:r>
            <a:r>
              <a:rPr lang="fr-FR" sz="1800" b="1" dirty="0" smtClean="0">
                <a:solidFill>
                  <a:srgbClr val="FF0000"/>
                </a:solidFill>
              </a:rPr>
              <a:t>P = a → Q</a:t>
            </a:r>
          </a:p>
          <a:p>
            <a:r>
              <a:rPr lang="fr-FR" sz="1800" b="1" dirty="0" smtClean="0">
                <a:solidFill>
                  <a:srgbClr val="FF0000"/>
                </a:solidFill>
              </a:rPr>
              <a:t>P</a:t>
            </a:r>
            <a:r>
              <a:rPr lang="fr-FR" sz="1800" dirty="0" smtClean="0"/>
              <a:t> est d’alphabet </a:t>
            </a:r>
            <a:r>
              <a:rPr lang="fr-FR" sz="1800" b="1" dirty="0" smtClean="0">
                <a:solidFill>
                  <a:srgbClr val="FF0000"/>
                </a:solidFill>
              </a:rPr>
              <a:t>A</a:t>
            </a:r>
            <a:r>
              <a:rPr lang="fr-FR" sz="1800" dirty="0" smtClean="0"/>
              <a:t> et </a:t>
            </a:r>
            <a:r>
              <a:rPr lang="fr-FR" sz="1800" b="1" dirty="0" smtClean="0">
                <a:solidFill>
                  <a:srgbClr val="FF0000"/>
                </a:solidFill>
              </a:rPr>
              <a:t>Q</a:t>
            </a:r>
            <a:r>
              <a:rPr lang="fr-FR" sz="1800" dirty="0" smtClean="0"/>
              <a:t> est d’alphabet </a:t>
            </a:r>
            <a:r>
              <a:rPr lang="fr-FR" sz="1800" b="1" dirty="0" smtClean="0">
                <a:solidFill>
                  <a:srgbClr val="FF0000"/>
                </a:solidFill>
              </a:rPr>
              <a:t>B</a:t>
            </a:r>
          </a:p>
          <a:p>
            <a:pPr lvl="1"/>
            <a:r>
              <a:rPr lang="fr-FR" sz="1600" b="1" dirty="0" smtClean="0">
                <a:solidFill>
                  <a:srgbClr val="FF0000"/>
                </a:solidFill>
              </a:rPr>
              <a:t>⊢ (a → P) →</a:t>
            </a:r>
            <a:r>
              <a:rPr lang="fr-FR" sz="1600" b="1" baseline="30000" dirty="0" smtClean="0">
                <a:solidFill>
                  <a:srgbClr val="FF0000"/>
                </a:solidFill>
              </a:rPr>
              <a:t>a</a:t>
            </a:r>
            <a:r>
              <a:rPr lang="fr-FR" sz="1600" b="1" dirty="0" smtClean="0">
                <a:solidFill>
                  <a:srgbClr val="FF0000"/>
                </a:solidFill>
              </a:rPr>
              <a:t> P</a:t>
            </a:r>
          </a:p>
          <a:p>
            <a:pPr lvl="1"/>
            <a:r>
              <a:rPr lang="fr-FR" sz="1600" b="1" dirty="0" smtClean="0">
                <a:solidFill>
                  <a:srgbClr val="FF0000"/>
                </a:solidFill>
              </a:rPr>
              <a:t>⊢ (a → </a:t>
            </a:r>
            <a:r>
              <a:rPr lang="fr-FR" sz="1600" b="1" dirty="0" err="1" smtClean="0">
                <a:solidFill>
                  <a:srgbClr val="FF0000"/>
                </a:solidFill>
              </a:rPr>
              <a:t>P|b</a:t>
            </a:r>
            <a:r>
              <a:rPr lang="fr-FR" sz="1600" b="1" dirty="0" smtClean="0">
                <a:solidFill>
                  <a:srgbClr val="FF0000"/>
                </a:solidFill>
              </a:rPr>
              <a:t> → Q) →</a:t>
            </a:r>
            <a:r>
              <a:rPr lang="fr-FR" sz="1600" b="1" baseline="30000" dirty="0" smtClean="0">
                <a:solidFill>
                  <a:srgbClr val="FF0000"/>
                </a:solidFill>
              </a:rPr>
              <a:t>a</a:t>
            </a:r>
            <a:r>
              <a:rPr lang="fr-FR" sz="1600" b="1" dirty="0" smtClean="0">
                <a:solidFill>
                  <a:srgbClr val="FF0000"/>
                </a:solidFill>
              </a:rPr>
              <a:t> P</a:t>
            </a:r>
          </a:p>
          <a:p>
            <a:pPr lvl="1"/>
            <a:r>
              <a:rPr lang="fr-FR" sz="1600" b="1" dirty="0" smtClean="0">
                <a:solidFill>
                  <a:srgbClr val="FF0000"/>
                </a:solidFill>
              </a:rPr>
              <a:t>⊢ (a → </a:t>
            </a:r>
            <a:r>
              <a:rPr lang="fr-FR" sz="1600" b="1" dirty="0" err="1" smtClean="0">
                <a:solidFill>
                  <a:srgbClr val="FF0000"/>
                </a:solidFill>
              </a:rPr>
              <a:t>P|b</a:t>
            </a:r>
            <a:r>
              <a:rPr lang="fr-FR" sz="1600" b="1" dirty="0" smtClean="0">
                <a:solidFill>
                  <a:srgbClr val="FF0000"/>
                </a:solidFill>
              </a:rPr>
              <a:t> → Q) →</a:t>
            </a:r>
            <a:r>
              <a:rPr lang="fr-FR" sz="1600" b="1" baseline="30000" dirty="0" smtClean="0">
                <a:solidFill>
                  <a:srgbClr val="FF0000"/>
                </a:solidFill>
              </a:rPr>
              <a:t>b</a:t>
            </a:r>
            <a:r>
              <a:rPr lang="fr-FR" sz="1600" b="1" dirty="0" smtClean="0">
                <a:solidFill>
                  <a:srgbClr val="FF0000"/>
                </a:solidFill>
              </a:rPr>
              <a:t> Q</a:t>
            </a:r>
          </a:p>
          <a:p>
            <a:pPr lvl="1"/>
            <a:r>
              <a:rPr lang="fr-FR" sz="1600" b="1" dirty="0" smtClean="0">
                <a:solidFill>
                  <a:srgbClr val="FF0000"/>
                </a:solidFill>
              </a:rPr>
              <a:t>⊢ (x : A → P(x)) →</a:t>
            </a:r>
            <a:r>
              <a:rPr lang="fr-FR" sz="1600" b="1" baseline="30000" dirty="0" smtClean="0">
                <a:solidFill>
                  <a:srgbClr val="FF0000"/>
                </a:solidFill>
              </a:rPr>
              <a:t>a</a:t>
            </a:r>
            <a:r>
              <a:rPr lang="fr-FR" sz="1600" b="1" dirty="0" smtClean="0">
                <a:solidFill>
                  <a:srgbClr val="FF0000"/>
                </a:solidFill>
              </a:rPr>
              <a:t> P(a) [a ∈ A]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4716016" y="2204864"/>
          <a:ext cx="4320480" cy="354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/>
                <a:gridCol w="216024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b="1" dirty="0" err="1" smtClean="0">
                          <a:solidFill>
                            <a:srgbClr val="FF0000"/>
                          </a:solidFill>
                        </a:rPr>
                        <a:t>P→</a:t>
                      </a:r>
                      <a:r>
                        <a:rPr lang="fr-FR" sz="1600" b="1" baseline="30000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[P = N] (</a:t>
                      </a:r>
                      <a:r>
                        <a:rPr lang="fr-FR" sz="1600" b="1" dirty="0" err="1" smtClean="0">
                          <a:solidFill>
                            <a:srgbClr val="FF0000"/>
                          </a:solidFill>
                        </a:rPr>
                        <a:t>renommage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N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sz="16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600" b="1" smtClean="0">
                          <a:solidFill>
                            <a:srgbClr val="FF0000"/>
                          </a:solidFill>
                        </a:rPr>
                        <a:t>P′</a:t>
                      </a:r>
                      <a:endParaRPr lang="fr-FR" sz="16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r>
                        <a:rPr lang="fr-FR" sz="1600" b="1" smtClean="0">
                          <a:solidFill>
                            <a:srgbClr val="FF0000"/>
                          </a:solidFill>
                        </a:rPr>
                        <a:t>[a ∈ A − B]</a:t>
                      </a:r>
                      <a:endParaRPr lang="fr-FR" sz="16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P||Q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P′||Q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[a ∈ B − A]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P||Q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P||Q′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P′       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[a ∈ A ∩ B]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P||Q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P′||Q′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 sz="1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Sémantique opérationnelle de CSP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683568" y="1628800"/>
          <a:ext cx="1656184" cy="4464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b="1" dirty="0" err="1" smtClean="0">
                          <a:solidFill>
                            <a:srgbClr val="FF0000"/>
                          </a:solidFill>
                        </a:rPr>
                        <a:t>P→</a:t>
                      </a:r>
                      <a:r>
                        <a:rPr lang="fr-FR" sz="1600" b="1" baseline="30000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□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b="1" dirty="0" err="1" smtClean="0">
                          <a:solidFill>
                            <a:srgbClr val="FF0000"/>
                          </a:solidFill>
                        </a:rPr>
                        <a:t>Q→</a:t>
                      </a:r>
                      <a:r>
                        <a:rPr lang="fr-FR" sz="1600" b="1" baseline="30000" dirty="0" err="1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□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</a:rPr>
                        <a:t>a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Q’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  <a:sym typeface="Symbol"/>
                        </a:rPr>
                        <a:t>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□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  <a:sym typeface="Symbol"/>
                        </a:rPr>
                        <a:t>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P’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 □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8032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  <a:sym typeface="Symbol"/>
                        </a:rPr>
                        <a:t>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Q′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65264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□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 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  <a:sym typeface="Symbol"/>
                        </a:rPr>
                        <a:t>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 P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  <a:latin typeface="Latin Modern Math"/>
                          <a:ea typeface="Latin Modern Math"/>
                        </a:rPr>
                        <a:t>□</a:t>
                      </a:r>
                      <a:r>
                        <a:rPr lang="fr-FR" sz="1600" b="1" dirty="0" smtClean="0">
                          <a:solidFill>
                            <a:srgbClr val="FF0000"/>
                          </a:solidFill>
                        </a:rPr>
                        <a:t>Q′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95600">
                <a:tc>
                  <a:txBody>
                    <a:bodyPr/>
                    <a:lstStyle/>
                    <a:p>
                      <a:r>
                        <a:rPr kumimoji="0" lang="fr-FR" sz="16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⊢ P ⊓ Q→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  <a:sym typeface="Symbol"/>
                        </a:rPr>
                        <a:t> </a:t>
                      </a:r>
                      <a:r>
                        <a:rPr kumimoji="0" lang="fr-FR" sz="16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lang="fr-FR" sz="16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6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⊢ P ⊓ Q→</a:t>
                      </a:r>
                      <a:r>
                        <a:rPr lang="fr-FR" sz="1600" b="1" baseline="30000" dirty="0" smtClean="0">
                          <a:solidFill>
                            <a:srgbClr val="FF0000"/>
                          </a:solidFill>
                          <a:sym typeface="Symbol"/>
                        </a:rPr>
                        <a:t> </a:t>
                      </a:r>
                      <a:r>
                        <a:rPr kumimoji="0" lang="fr-FR" sz="16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  <a:sym typeface="Symbol"/>
                        </a:rPr>
                        <a:t>Q</a:t>
                      </a:r>
                      <a:endParaRPr lang="fr-FR" sz="16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Les traces :</a:t>
            </a:r>
          </a:p>
          <a:p>
            <a:pPr lvl="1"/>
            <a:r>
              <a:rPr lang="fr-FR" dirty="0" smtClean="0"/>
              <a:t>La trace d’un processus est une séquence finie d’évènements représentant le comportement du processus jusqu’à un certain moment</a:t>
            </a:r>
          </a:p>
          <a:p>
            <a:pPr lvl="1"/>
            <a:r>
              <a:rPr lang="fr-FR" dirty="0" smtClean="0"/>
              <a:t>Exemple : </a:t>
            </a:r>
            <a:r>
              <a:rPr lang="fr-FR" b="1" dirty="0" smtClean="0">
                <a:solidFill>
                  <a:srgbClr val="FF0000"/>
                </a:solidFill>
              </a:rPr>
              <a:t>&lt;coin, choc, coin&gt; </a:t>
            </a:r>
            <a:r>
              <a:rPr lang="fr-FR" dirty="0" smtClean="0"/>
              <a:t>représente une trace possible du processus </a:t>
            </a:r>
            <a:r>
              <a:rPr lang="fr-FR" b="1" dirty="0" smtClean="0">
                <a:solidFill>
                  <a:srgbClr val="FF0000"/>
                </a:solidFill>
              </a:rPr>
              <a:t>VMS = coin → choc → VMS</a:t>
            </a:r>
          </a:p>
          <a:p>
            <a:endParaRPr lang="fr-FR" dirty="0" smtClean="0"/>
          </a:p>
          <a:p>
            <a:pPr lvl="1"/>
            <a:r>
              <a:rPr lang="fr-FR" dirty="0" smtClean="0"/>
              <a:t>On définit, en particulier, la trace </a:t>
            </a:r>
            <a:r>
              <a:rPr lang="fr-FR" b="1" dirty="0" smtClean="0">
                <a:solidFill>
                  <a:srgbClr val="FF0000"/>
                </a:solidFill>
              </a:rPr>
              <a:t>&lt;&gt;</a:t>
            </a:r>
            <a:r>
              <a:rPr lang="fr-FR" dirty="0" smtClean="0"/>
              <a:t> appelée trace vide</a:t>
            </a:r>
          </a:p>
          <a:p>
            <a:pPr lvl="1"/>
            <a:r>
              <a:rPr lang="fr-FR" dirty="0" smtClean="0"/>
              <a:t>Les processus peuvent avoir plusieurs traces possibles</a:t>
            </a:r>
          </a:p>
          <a:p>
            <a:pPr lvl="2"/>
            <a:r>
              <a:rPr lang="fr-FR" dirty="0" smtClean="0"/>
              <a:t>Le processus </a:t>
            </a:r>
            <a:r>
              <a:rPr lang="fr-FR" b="1" dirty="0" smtClean="0">
                <a:solidFill>
                  <a:srgbClr val="FF0000"/>
                </a:solidFill>
              </a:rPr>
              <a:t>STOP</a:t>
            </a:r>
            <a:r>
              <a:rPr lang="fr-FR" dirty="0" smtClean="0"/>
              <a:t> a une seule trace : </a:t>
            </a:r>
            <a:r>
              <a:rPr lang="fr-FR" b="1" dirty="0" smtClean="0">
                <a:solidFill>
                  <a:srgbClr val="FF0000"/>
                </a:solidFill>
              </a:rPr>
              <a:t>&lt;&gt;</a:t>
            </a:r>
          </a:p>
          <a:p>
            <a:pPr lvl="1"/>
            <a:endParaRPr lang="fr-FR" dirty="0" smtClean="0"/>
          </a:p>
          <a:p>
            <a:r>
              <a:rPr lang="fr-FR" sz="2800" dirty="0" smtClean="0"/>
              <a:t>Les traces de </a:t>
            </a:r>
            <a:r>
              <a:rPr lang="fr-FR" sz="2800" b="1" dirty="0" smtClean="0">
                <a:solidFill>
                  <a:srgbClr val="FF0000"/>
                </a:solidFill>
              </a:rPr>
              <a:t>CLOCK</a:t>
            </a:r>
          </a:p>
          <a:p>
            <a:pPr lvl="1"/>
            <a:r>
              <a:rPr lang="fr-FR" sz="2300" b="1" dirty="0" smtClean="0">
                <a:solidFill>
                  <a:srgbClr val="FF0000"/>
                </a:solidFill>
              </a:rPr>
              <a:t>&lt;&gt; , &lt;</a:t>
            </a:r>
            <a:r>
              <a:rPr lang="fr-FR" sz="2300" b="1" dirty="0" err="1" smtClean="0">
                <a:solidFill>
                  <a:srgbClr val="FF0000"/>
                </a:solidFill>
              </a:rPr>
              <a:t>tick</a:t>
            </a:r>
            <a:r>
              <a:rPr lang="fr-FR" sz="2300" b="1" dirty="0" smtClean="0">
                <a:solidFill>
                  <a:srgbClr val="FF0000"/>
                </a:solidFill>
              </a:rPr>
              <a:t>&gt; , &lt;</a:t>
            </a:r>
            <a:r>
              <a:rPr lang="fr-FR" sz="2300" b="1" dirty="0" err="1" smtClean="0">
                <a:solidFill>
                  <a:srgbClr val="FF0000"/>
                </a:solidFill>
              </a:rPr>
              <a:t>tick</a:t>
            </a:r>
            <a:r>
              <a:rPr lang="fr-FR" sz="2300" b="1" dirty="0" smtClean="0">
                <a:solidFill>
                  <a:srgbClr val="FF0000"/>
                </a:solidFill>
              </a:rPr>
              <a:t>, </a:t>
            </a:r>
            <a:r>
              <a:rPr lang="fr-FR" sz="2300" b="1" dirty="0" err="1" smtClean="0">
                <a:solidFill>
                  <a:srgbClr val="FF0000"/>
                </a:solidFill>
              </a:rPr>
              <a:t>tick</a:t>
            </a:r>
            <a:r>
              <a:rPr lang="fr-FR" sz="2300" b="1" dirty="0" smtClean="0">
                <a:solidFill>
                  <a:srgbClr val="FF0000"/>
                </a:solidFill>
              </a:rPr>
              <a:t>&gt; , &lt;</a:t>
            </a:r>
            <a:r>
              <a:rPr lang="fr-FR" sz="2300" b="1" dirty="0" err="1" smtClean="0">
                <a:solidFill>
                  <a:srgbClr val="FF0000"/>
                </a:solidFill>
              </a:rPr>
              <a:t>tick</a:t>
            </a:r>
            <a:r>
              <a:rPr lang="fr-FR" sz="2300" b="1" dirty="0" smtClean="0">
                <a:solidFill>
                  <a:srgbClr val="FF0000"/>
                </a:solidFill>
              </a:rPr>
              <a:t>, </a:t>
            </a:r>
            <a:r>
              <a:rPr lang="fr-FR" sz="2300" b="1" dirty="0" err="1" smtClean="0">
                <a:solidFill>
                  <a:srgbClr val="FF0000"/>
                </a:solidFill>
              </a:rPr>
              <a:t>tick</a:t>
            </a:r>
            <a:r>
              <a:rPr lang="fr-FR" sz="2300" b="1" dirty="0" smtClean="0">
                <a:solidFill>
                  <a:srgbClr val="FF0000"/>
                </a:solidFill>
              </a:rPr>
              <a:t>, </a:t>
            </a:r>
            <a:r>
              <a:rPr lang="fr-FR" sz="2300" b="1" dirty="0" err="1" smtClean="0">
                <a:solidFill>
                  <a:srgbClr val="FF0000"/>
                </a:solidFill>
              </a:rPr>
              <a:t>tick</a:t>
            </a:r>
            <a:r>
              <a:rPr lang="fr-FR" sz="2300" b="1" dirty="0" smtClean="0">
                <a:solidFill>
                  <a:srgbClr val="FF0000"/>
                </a:solidFill>
              </a:rPr>
              <a:t>&gt; </a:t>
            </a:r>
            <a:r>
              <a:rPr lang="fr-FR" sz="2300" dirty="0" smtClean="0"/>
              <a:t>, ...</a:t>
            </a:r>
          </a:p>
          <a:p>
            <a:endParaRPr lang="fr-FR" sz="2800" dirty="0" smtClean="0"/>
          </a:p>
          <a:p>
            <a:r>
              <a:rPr lang="fr-FR" sz="2800" dirty="0" smtClean="0"/>
              <a:t>Un processus </a:t>
            </a:r>
            <a:r>
              <a:rPr lang="fr-FR" sz="2800" b="1" dirty="0" smtClean="0">
                <a:solidFill>
                  <a:srgbClr val="FF0000"/>
                </a:solidFill>
              </a:rPr>
              <a:t>P</a:t>
            </a:r>
            <a:r>
              <a:rPr lang="fr-FR" sz="2800" dirty="0" smtClean="0"/>
              <a:t> est caractérisé par l’ensemble de ses traces que l’on note </a:t>
            </a:r>
            <a:r>
              <a:rPr lang="fr-FR" sz="2800" b="1" dirty="0" smtClean="0">
                <a:solidFill>
                  <a:srgbClr val="FF0000"/>
                </a:solidFill>
              </a:rPr>
              <a:t>traces(P)</a:t>
            </a:r>
          </a:p>
          <a:p>
            <a:pPr lvl="1"/>
            <a:r>
              <a:rPr lang="fr-FR" sz="2300" b="1" dirty="0" smtClean="0">
                <a:solidFill>
                  <a:srgbClr val="FF0000"/>
                </a:solidFill>
              </a:rPr>
              <a:t>traces(STOP) = {&lt;&gt;}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Opérations sur les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Opérations sur les traces</a:t>
            </a:r>
          </a:p>
          <a:p>
            <a:pPr lvl="1"/>
            <a:r>
              <a:rPr lang="fr-FR" dirty="0" smtClean="0"/>
              <a:t>Concaténation : tr0^tr1(coller la trace </a:t>
            </a:r>
            <a:r>
              <a:rPr lang="fr-FR" b="1" dirty="0" smtClean="0">
                <a:solidFill>
                  <a:srgbClr val="FF0000"/>
                </a:solidFill>
              </a:rPr>
              <a:t>tr1</a:t>
            </a:r>
            <a:r>
              <a:rPr lang="fr-FR" dirty="0" smtClean="0"/>
              <a:t> à la fin de la trace </a:t>
            </a:r>
            <a:r>
              <a:rPr lang="fr-FR" b="1" dirty="0" smtClean="0">
                <a:solidFill>
                  <a:srgbClr val="FF0000"/>
                </a:solidFill>
              </a:rPr>
              <a:t>tr0</a:t>
            </a:r>
            <a:r>
              <a:rPr lang="fr-FR" dirty="0" smtClean="0"/>
              <a:t>)</a:t>
            </a:r>
          </a:p>
          <a:p>
            <a:pPr lvl="1"/>
            <a:r>
              <a:rPr lang="fr-FR" dirty="0" smtClean="0"/>
              <a:t>Opération associative, élément neutre &lt;&gt;</a:t>
            </a:r>
          </a:p>
          <a:p>
            <a:endParaRPr lang="pt-BR" dirty="0" smtClean="0"/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tr0^tr1 = tr0^tr2 ⇒ tr1 = tr2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tr1^tr0 = tr2^tr0 ⇒ tr1 = tr2</a:t>
            </a:r>
          </a:p>
          <a:p>
            <a:endParaRPr lang="fr-FR" dirty="0" smtClean="0"/>
          </a:p>
          <a:p>
            <a:r>
              <a:rPr lang="fr-FR" dirty="0" smtClean="0"/>
              <a:t>Restrictions :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tr|A</a:t>
            </a:r>
            <a:r>
              <a:rPr lang="fr-FR" dirty="0" smtClean="0"/>
              <a:t> : tous les éléments de tr appartenant à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tr|∅ = &lt;&gt;</a:t>
            </a:r>
          </a:p>
          <a:p>
            <a:pPr lvl="1"/>
            <a:r>
              <a:rPr lang="pt-BR" b="1" dirty="0" smtClean="0">
                <a:solidFill>
                  <a:srgbClr val="FF0000"/>
                </a:solidFill>
              </a:rPr>
              <a:t>(tr|A)|B = tr|(A ∩ B)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Opérations sur les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Tête et queue d’une trace tr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dirty="0" smtClean="0"/>
              <a:t> : note le premier élément de </a:t>
            </a:r>
            <a:r>
              <a:rPr lang="fr-FR" b="1" dirty="0" smtClean="0">
                <a:solidFill>
                  <a:srgbClr val="FF0000"/>
                </a:solidFill>
              </a:rPr>
              <a:t>tr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tr′</a:t>
            </a:r>
            <a:r>
              <a:rPr lang="fr-FR" dirty="0" smtClean="0"/>
              <a:t>: note ce qui reste de la trace après avoir enlevé le premier élément</a:t>
            </a:r>
          </a:p>
          <a:p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 = &lt;tr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&gt;^tr′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(&lt;x&gt;^tr)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 = x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(&lt;x&gt;^tr)′ = tr</a:t>
            </a:r>
          </a:p>
          <a:p>
            <a:endParaRPr lang="fr-FR" dirty="0" smtClean="0"/>
          </a:p>
          <a:p>
            <a:r>
              <a:rPr lang="fr-FR" dirty="0" smtClean="0"/>
              <a:t>L’étoile: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b="1" baseline="30000" dirty="0" smtClean="0">
                <a:solidFill>
                  <a:srgbClr val="FF0000"/>
                </a:solidFill>
              </a:rPr>
              <a:t>∗</a:t>
            </a:r>
            <a:r>
              <a:rPr lang="fr-FR" dirty="0" smtClean="0"/>
              <a:t> : l’ensemble de toutes les traces que l’on peut construire à partir de A (y compris la trace </a:t>
            </a:r>
            <a:r>
              <a:rPr lang="fr-FR" b="1" dirty="0" smtClean="0">
                <a:solidFill>
                  <a:srgbClr val="FF0000"/>
                </a:solidFill>
              </a:rPr>
              <a:t>&lt;&gt;)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Opérations sur les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Ordre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tr0</a:t>
            </a:r>
            <a:r>
              <a:rPr lang="fr-FR" dirty="0" smtClean="0"/>
              <a:t> est préfixe de </a:t>
            </a:r>
            <a:r>
              <a:rPr lang="fr-FR" b="1" dirty="0" smtClean="0">
                <a:solidFill>
                  <a:srgbClr val="FF0000"/>
                </a:solidFill>
              </a:rPr>
              <a:t>tr1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∃tr2 </a:t>
            </a:r>
            <a:r>
              <a:rPr lang="fr-FR" dirty="0" smtClean="0"/>
              <a:t>tel que </a:t>
            </a:r>
            <a:r>
              <a:rPr lang="fr-FR" b="1" dirty="0" smtClean="0">
                <a:solidFill>
                  <a:srgbClr val="FF0000"/>
                </a:solidFill>
              </a:rPr>
              <a:t>tr1 = tr0^tr2</a:t>
            </a:r>
          </a:p>
          <a:p>
            <a:pPr lvl="1"/>
            <a:r>
              <a:rPr lang="fr-FR" dirty="0" smtClean="0"/>
              <a:t>on dit que </a:t>
            </a:r>
            <a:r>
              <a:rPr lang="fr-FR" b="1" dirty="0" smtClean="0">
                <a:solidFill>
                  <a:srgbClr val="FF0000"/>
                </a:solidFill>
              </a:rPr>
              <a:t>tr0 ≤ tr1</a:t>
            </a:r>
          </a:p>
          <a:p>
            <a:pPr lvl="1"/>
            <a:r>
              <a:rPr lang="it-IT" dirty="0" smtClean="0"/>
              <a:t>exemple : </a:t>
            </a:r>
            <a:r>
              <a:rPr lang="it-IT" b="1" dirty="0" smtClean="0">
                <a:solidFill>
                  <a:srgbClr val="FF0000"/>
                </a:solidFill>
              </a:rPr>
              <a:t>&lt;a, b, c&gt; ≤ &lt;a, b, c, d&gt;</a:t>
            </a:r>
          </a:p>
          <a:p>
            <a:endParaRPr lang="fr-FR" dirty="0" smtClean="0"/>
          </a:p>
          <a:p>
            <a:r>
              <a:rPr lang="fr-FR" dirty="0" smtClean="0"/>
              <a:t>Longueur d’une trace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#tr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#&lt;&gt; = 0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L’opération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Définition des traces en fonction des constructions du langage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traces(STOP) = {&lt;&gt;}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traces(a → P) = {&lt;&gt;} ∪ {&lt;a&gt;^</a:t>
            </a:r>
            <a:r>
              <a:rPr lang="fr-FR" b="1" dirty="0" err="1" smtClean="0">
                <a:solidFill>
                  <a:srgbClr val="FF0000"/>
                </a:solidFill>
              </a:rPr>
              <a:t>tr|tr</a:t>
            </a:r>
            <a:r>
              <a:rPr lang="fr-FR" b="1" dirty="0" smtClean="0">
                <a:solidFill>
                  <a:srgbClr val="FF0000"/>
                </a:solidFill>
              </a:rPr>
              <a:t> ∈ traces(P)}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traces(a → </a:t>
            </a:r>
            <a:r>
              <a:rPr lang="fr-FR" b="1" dirty="0" err="1" smtClean="0">
                <a:solidFill>
                  <a:srgbClr val="FF0000"/>
                </a:solidFill>
              </a:rPr>
              <a:t>P|b</a:t>
            </a:r>
            <a:r>
              <a:rPr lang="fr-FR" b="1" dirty="0" smtClean="0">
                <a:solidFill>
                  <a:srgbClr val="FF0000"/>
                </a:solidFill>
              </a:rPr>
              <a:t> → Q) = {&lt;&gt;} ∪ {&lt;a&gt;^</a:t>
            </a:r>
            <a:r>
              <a:rPr lang="fr-FR" b="1" dirty="0" err="1" smtClean="0">
                <a:solidFill>
                  <a:srgbClr val="FF0000"/>
                </a:solidFill>
              </a:rPr>
              <a:t>tr|tr</a:t>
            </a:r>
            <a:r>
              <a:rPr lang="fr-FR" b="1" dirty="0" smtClean="0">
                <a:solidFill>
                  <a:srgbClr val="FF0000"/>
                </a:solidFill>
              </a:rPr>
              <a:t> ∈ traces(P)} ∪ {&lt;b&gt;^</a:t>
            </a:r>
            <a:r>
              <a:rPr lang="fr-FR" b="1" dirty="0" err="1" smtClean="0">
                <a:solidFill>
                  <a:srgbClr val="FF0000"/>
                </a:solidFill>
              </a:rPr>
              <a:t>tr|tr</a:t>
            </a:r>
            <a:r>
              <a:rPr lang="fr-FR" b="1" dirty="0" smtClean="0">
                <a:solidFill>
                  <a:srgbClr val="FF0000"/>
                </a:solidFill>
              </a:rPr>
              <a:t> ∈ traces(Q)}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traces(a : X → P(x)) = {&lt;&gt;} ∪ {&lt;a&gt;^</a:t>
            </a:r>
            <a:r>
              <a:rPr lang="fr-FR" b="1" dirty="0" err="1" smtClean="0">
                <a:solidFill>
                  <a:srgbClr val="FF0000"/>
                </a:solidFill>
              </a:rPr>
              <a:t>tr|a</a:t>
            </a:r>
            <a:r>
              <a:rPr lang="fr-FR" b="1" dirty="0" smtClean="0">
                <a:solidFill>
                  <a:srgbClr val="FF0000"/>
                </a:solidFill>
              </a:rPr>
              <a:t> ∈ A ∧ tr ∈ traces(P(a))}</a:t>
            </a:r>
          </a:p>
          <a:p>
            <a:endParaRPr lang="fr-FR" dirty="0" smtClean="0"/>
          </a:p>
          <a:p>
            <a:r>
              <a:rPr lang="fr-FR" dirty="0" smtClean="0"/>
              <a:t>Propriétés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&lt;&gt; ∈ traces(P) </a:t>
            </a:r>
            <a:r>
              <a:rPr lang="fr-FR" dirty="0" smtClean="0"/>
              <a:t>pour tout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tr0^tr1 ∈ traces(P) ⇒ tr0 ∈ traces(P)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traces(P) ⊆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b="1" baseline="30000" dirty="0" smtClean="0">
                <a:solidFill>
                  <a:srgbClr val="FF0000"/>
                </a:solidFill>
              </a:rPr>
              <a:t>∗</a:t>
            </a:r>
            <a:endParaRPr lang="fr-FR" b="1" baseline="30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Cas des définitions récursives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736" cy="4782272"/>
          </a:xfrm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Définition récursive :</a:t>
            </a:r>
          </a:p>
          <a:p>
            <a:pPr lvl="1"/>
            <a:r>
              <a:rPr lang="fr-FR" dirty="0" smtClean="0"/>
              <a:t>Exemple : </a:t>
            </a:r>
            <a:r>
              <a:rPr lang="fr-FR" b="1" dirty="0" smtClean="0">
                <a:solidFill>
                  <a:srgbClr val="FF0000"/>
                </a:solidFill>
              </a:rPr>
              <a:t>X = a → b → X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traces(X) = {&lt;&gt;} ∪ {&lt;a&gt;} ∪ {&lt;a, b&gt;}^traces(X)</a:t>
            </a:r>
          </a:p>
          <a:p>
            <a:pPr lvl="1"/>
            <a:r>
              <a:rPr lang="fr-FR" dirty="0" smtClean="0"/>
              <a:t>En mettant </a:t>
            </a:r>
            <a:r>
              <a:rPr lang="fr-FR" b="1" dirty="0" smtClean="0">
                <a:solidFill>
                  <a:srgbClr val="FF0000"/>
                </a:solidFill>
              </a:rPr>
              <a:t>Y=traces(X) : Y = {&lt;&gt;} ∪ {&lt;a&gt;} ∪ {&lt;a, b&gt;}^Y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Y = F(Y )</a:t>
            </a:r>
          </a:p>
          <a:p>
            <a:endParaRPr lang="fr-FR" dirty="0" smtClean="0"/>
          </a:p>
          <a:p>
            <a:r>
              <a:rPr lang="fr-FR" dirty="0" smtClean="0"/>
              <a:t>Soit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Y</a:t>
            </a:r>
            <a:r>
              <a:rPr lang="fr-FR" dirty="0" smtClean="0"/>
              <a:t> deux ensembles de traces sur l’ensemble d’évènements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</a:p>
          <a:p>
            <a:pPr lvl="1"/>
            <a:r>
              <a:rPr lang="fr-FR" dirty="0" smtClean="0"/>
              <a:t>L’ensemble sur lequel on travaille est l’ensemble des parties de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b="1" baseline="30000" dirty="0" smtClean="0">
                <a:solidFill>
                  <a:srgbClr val="FF0000"/>
                </a:solidFill>
              </a:rPr>
              <a:t>*</a:t>
            </a:r>
          </a:p>
          <a:p>
            <a:pPr lvl="1"/>
            <a:r>
              <a:rPr lang="fr-FR" dirty="0" smtClean="0"/>
              <a:t>On définira une relation ≤ comme suit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X ≤ Y </a:t>
            </a:r>
            <a:r>
              <a:rPr lang="fr-FR" dirty="0" err="1" smtClean="0"/>
              <a:t>ssi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∀s ∈ X, ∃t ∈ Y : s ≤ t </a:t>
            </a:r>
            <a:r>
              <a:rPr lang="fr-FR" dirty="0" smtClean="0"/>
              <a:t>(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est un préfixe de </a:t>
            </a:r>
            <a:r>
              <a:rPr lang="fr-FR" b="1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≤</a:t>
            </a:r>
            <a:r>
              <a:rPr lang="fr-FR" dirty="0" smtClean="0"/>
              <a:t> ordre partiel complet</a:t>
            </a:r>
          </a:p>
          <a:p>
            <a:pPr lvl="2"/>
            <a:r>
              <a:rPr lang="fr-FR" dirty="0" smtClean="0"/>
              <a:t>Élément minimal : </a:t>
            </a:r>
            <a:r>
              <a:rPr lang="fr-FR" b="1" dirty="0" smtClean="0">
                <a:solidFill>
                  <a:srgbClr val="FF0000"/>
                </a:solidFill>
              </a:rPr>
              <a:t>{&lt;&gt;}</a:t>
            </a:r>
          </a:p>
          <a:p>
            <a:pPr lvl="2"/>
            <a:endParaRPr lang="fr-FR" dirty="0" smtClean="0"/>
          </a:p>
          <a:p>
            <a:r>
              <a:rPr lang="fr-FR" dirty="0" smtClean="0"/>
              <a:t>La fonction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  <a:r>
              <a:rPr lang="fr-FR" dirty="0" smtClean="0"/>
              <a:t> : continue et monotone sur l’ensemble des parties de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b="1" baseline="30000" dirty="0" smtClean="0">
                <a:solidFill>
                  <a:srgbClr val="FF0000"/>
                </a:solidFill>
              </a:rPr>
              <a:t>∗</a:t>
            </a:r>
          </a:p>
          <a:p>
            <a:pPr lvl="1"/>
            <a:r>
              <a:rPr lang="fr-FR" dirty="0" smtClean="0"/>
              <a:t>Démonstration...exercice !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Cas des définitions récursives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Application du théorème du point fixe</a:t>
            </a:r>
          </a:p>
          <a:p>
            <a:pPr lvl="1"/>
            <a:r>
              <a:rPr lang="fr-FR" dirty="0" smtClean="0"/>
              <a:t>Recherche du plus petit point fixe de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</a:p>
          <a:p>
            <a:pPr lvl="1"/>
            <a:r>
              <a:rPr lang="fr-FR" dirty="0" smtClean="0"/>
              <a:t>Méthode : </a:t>
            </a:r>
            <a:r>
              <a:rPr lang="fr-FR" b="1" dirty="0" smtClean="0">
                <a:solidFill>
                  <a:srgbClr val="FF0000"/>
                </a:solidFill>
              </a:rPr>
              <a:t>F</a:t>
            </a:r>
            <a:r>
              <a:rPr lang="fr-FR" b="1" baseline="-25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 = traces(STOP) = {&lt;&gt;}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F</a:t>
            </a:r>
            <a:r>
              <a:rPr lang="fr-FR" b="1" baseline="-25000" dirty="0" smtClean="0">
                <a:solidFill>
                  <a:srgbClr val="FF0000"/>
                </a:solidFill>
              </a:rPr>
              <a:t>i+1</a:t>
            </a:r>
            <a:r>
              <a:rPr lang="fr-FR" b="1" dirty="0" smtClean="0">
                <a:solidFill>
                  <a:srgbClr val="FF0000"/>
                </a:solidFill>
              </a:rPr>
              <a:t> = {&lt;&gt;} ∪ {&lt;a&gt;} ∪ {&lt;a, b&gt;}^F</a:t>
            </a:r>
            <a:r>
              <a:rPr lang="fr-FR" b="1" baseline="-25000" dirty="0" smtClean="0">
                <a:solidFill>
                  <a:srgbClr val="FF0000"/>
                </a:solidFill>
              </a:rPr>
              <a:t>i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Y = </a:t>
            </a:r>
            <a:r>
              <a:rPr lang="fr-FR" sz="4000" b="1" dirty="0" smtClean="0">
                <a:solidFill>
                  <a:srgbClr val="FF0000"/>
                </a:solidFill>
              </a:rPr>
              <a:t>U</a:t>
            </a:r>
            <a:r>
              <a:rPr lang="fr-FR" b="1" dirty="0" smtClean="0">
                <a:solidFill>
                  <a:srgbClr val="FF0000"/>
                </a:solidFill>
              </a:rPr>
              <a:t>∞ F</a:t>
            </a:r>
            <a:r>
              <a:rPr lang="fr-FR" b="1" baseline="-25000" dirty="0" smtClean="0">
                <a:solidFill>
                  <a:srgbClr val="FF0000"/>
                </a:solidFill>
              </a:rPr>
              <a:t>i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dirty="0" smtClean="0"/>
              <a:t>est la trace de ce processus</a:t>
            </a:r>
          </a:p>
          <a:p>
            <a:pPr lvl="1"/>
            <a:r>
              <a:rPr lang="fr-FR" dirty="0" smtClean="0"/>
              <a:t>Par abus de langage, on écrira </a:t>
            </a:r>
            <a:r>
              <a:rPr lang="fr-FR" b="1" dirty="0" smtClean="0">
                <a:solidFill>
                  <a:srgbClr val="FF0000"/>
                </a:solidFill>
              </a:rPr>
              <a:t>{&lt;a, b&gt;}</a:t>
            </a:r>
            <a:r>
              <a:rPr lang="fr-FR" b="1" baseline="30000" dirty="0" smtClean="0">
                <a:solidFill>
                  <a:srgbClr val="FF0000"/>
                </a:solidFill>
              </a:rPr>
              <a:t>∗</a:t>
            </a:r>
            <a:r>
              <a:rPr lang="fr-FR" b="1" dirty="0" smtClean="0">
                <a:solidFill>
                  <a:srgbClr val="FF0000"/>
                </a:solidFill>
              </a:rPr>
              <a:t> ∪ {&lt;a, b&gt;}</a:t>
            </a:r>
            <a:r>
              <a:rPr lang="fr-FR" b="1" baseline="30000" dirty="0" smtClean="0">
                <a:solidFill>
                  <a:srgbClr val="FF0000"/>
                </a:solidFill>
              </a:rPr>
              <a:t>∗</a:t>
            </a:r>
            <a:r>
              <a:rPr lang="fr-FR" b="1" dirty="0" smtClean="0">
                <a:solidFill>
                  <a:srgbClr val="FF0000"/>
                </a:solidFill>
              </a:rPr>
              <a:t>^ &lt;a&gt;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 de traces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Traces pour l’interaction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= A</a:t>
            </a:r>
            <a:r>
              <a:rPr lang="fr-FR" b="1" dirty="0" smtClean="0"/>
              <a:t>,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Q = B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traces(P||Q) = {</a:t>
            </a:r>
            <a:r>
              <a:rPr lang="fr-FR" b="1" dirty="0" err="1" smtClean="0">
                <a:solidFill>
                  <a:srgbClr val="FF0000"/>
                </a:solidFill>
              </a:rPr>
              <a:t>tr|tr</a:t>
            </a:r>
            <a:r>
              <a:rPr lang="fr-FR" b="1" dirty="0" smtClean="0">
                <a:solidFill>
                  <a:srgbClr val="FF0000"/>
                </a:solidFill>
              </a:rPr>
              <a:t> ∈ (A + B)∗ ∧ </a:t>
            </a:r>
            <a:r>
              <a:rPr lang="fr-FR" b="1" dirty="0" err="1" smtClean="0">
                <a:solidFill>
                  <a:srgbClr val="FF0000"/>
                </a:solidFill>
              </a:rPr>
              <a:t>tr|A</a:t>
            </a:r>
            <a:r>
              <a:rPr lang="fr-FR" b="1" dirty="0" smtClean="0">
                <a:solidFill>
                  <a:srgbClr val="FF0000"/>
                </a:solidFill>
              </a:rPr>
              <a:t> ∈ traces(P) </a:t>
            </a:r>
            <a:r>
              <a:rPr lang="fr-FR" dirty="0" smtClean="0"/>
              <a:t>et </a:t>
            </a:r>
            <a:r>
              <a:rPr lang="fr-FR" b="1" dirty="0" err="1" smtClean="0">
                <a:solidFill>
                  <a:srgbClr val="FF0000"/>
                </a:solidFill>
              </a:rPr>
              <a:t>tr|B</a:t>
            </a:r>
            <a:r>
              <a:rPr lang="fr-FR" b="1" dirty="0" smtClean="0">
                <a:solidFill>
                  <a:srgbClr val="FF0000"/>
                </a:solidFill>
              </a:rPr>
              <a:t> ∈ traces(Q)}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P =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Q </a:t>
            </a:r>
            <a:r>
              <a:rPr lang="fr-FR" dirty="0" smtClean="0"/>
              <a:t>alors </a:t>
            </a:r>
            <a:r>
              <a:rPr lang="fr-FR" b="1" dirty="0" smtClean="0">
                <a:solidFill>
                  <a:srgbClr val="FF0000"/>
                </a:solidFill>
              </a:rPr>
              <a:t>traces(P||Q) = traces(P) ∩ traces(Q)</a:t>
            </a:r>
          </a:p>
          <a:p>
            <a:endParaRPr lang="fr-FR" dirty="0" smtClean="0"/>
          </a:p>
          <a:p>
            <a:r>
              <a:rPr lang="fr-FR" dirty="0" smtClean="0"/>
              <a:t>Trace pour le non déterminisme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r>
              <a:rPr lang="fr-FR" b="1" dirty="0" smtClean="0">
                <a:solidFill>
                  <a:srgbClr val="FF0000"/>
                </a:solidFill>
              </a:rPr>
              <a:t>Q) = traces(P) ∪ traces(Q)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 ⊓ Q) = traces(P) ∪ traces(Q) (un problème, non?)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traces(P|||Q) = {s|∃t ∈ traces(P), ∃u ∈ traces(Q) : s = entrelacement (t, u)}...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L’opération </a:t>
            </a:r>
            <a:r>
              <a:rPr lang="fr-FR" i="1" dirty="0" err="1" smtClean="0"/>
              <a:t>after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C’est généralisation des gardes</a:t>
            </a:r>
          </a:p>
          <a:p>
            <a:pPr lvl="1"/>
            <a:r>
              <a:rPr lang="fr-FR" dirty="0" smtClean="0"/>
              <a:t>Notation </a:t>
            </a:r>
            <a:r>
              <a:rPr lang="fr-FR" b="1" dirty="0" smtClean="0">
                <a:solidFill>
                  <a:srgbClr val="FF0000"/>
                </a:solidFill>
              </a:rPr>
              <a:t>P/s</a:t>
            </a:r>
            <a:r>
              <a:rPr lang="fr-FR" dirty="0" smtClean="0"/>
              <a:t> :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un processus, </a:t>
            </a:r>
            <a:r>
              <a:rPr lang="fr-FR" b="1" dirty="0" smtClean="0">
                <a:solidFill>
                  <a:srgbClr val="FF0000"/>
                </a:solidFill>
              </a:rPr>
              <a:t>s ∈ traces(P)</a:t>
            </a:r>
            <a:endParaRPr lang="fr-FR" dirty="0" smtClean="0"/>
          </a:p>
          <a:p>
            <a:pPr lvl="1"/>
            <a:r>
              <a:rPr lang="fr-FR" dirty="0" smtClean="0"/>
              <a:t>C’est le processus qui se comporte comme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à partir de l’instant où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a émis la trace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smtClean="0"/>
              <a:t>Propriétés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P/ &lt;&gt; = P</a:t>
            </a:r>
          </a:p>
          <a:p>
            <a:pPr lvl="1"/>
            <a:r>
              <a:rPr lang="pl-PL" b="1" dirty="0" smtClean="0">
                <a:solidFill>
                  <a:srgbClr val="FF0000"/>
                </a:solidFill>
              </a:rPr>
              <a:t>(P/s)/t = P/(s</a:t>
            </a:r>
            <a:r>
              <a:rPr lang="fr-FR" b="1" dirty="0" smtClean="0">
                <a:solidFill>
                  <a:srgbClr val="FF0000"/>
                </a:solidFill>
              </a:rPr>
              <a:t>^</a:t>
            </a:r>
            <a:r>
              <a:rPr lang="pl-PL" b="1" dirty="0" smtClean="0">
                <a:solidFill>
                  <a:srgbClr val="FF0000"/>
                </a:solidFill>
              </a:rPr>
              <a:t>t)</a:t>
            </a:r>
          </a:p>
          <a:p>
            <a:pPr lvl="1"/>
            <a:r>
              <a:rPr lang="pl-PL" b="1" dirty="0" smtClean="0">
                <a:solidFill>
                  <a:srgbClr val="FF0000"/>
                </a:solidFill>
              </a:rPr>
              <a:t>(c → P)/ </a:t>
            </a:r>
            <a:r>
              <a:rPr lang="fr-FR" b="1" dirty="0" smtClean="0">
                <a:solidFill>
                  <a:srgbClr val="FF0000"/>
                </a:solidFill>
              </a:rPr>
              <a:t>&lt;</a:t>
            </a:r>
            <a:r>
              <a:rPr lang="pl-PL" b="1" dirty="0" smtClean="0">
                <a:solidFill>
                  <a:srgbClr val="FF0000"/>
                </a:solidFill>
              </a:rPr>
              <a:t>c</a:t>
            </a:r>
            <a:r>
              <a:rPr lang="fr-FR" b="1" dirty="0" smtClean="0">
                <a:solidFill>
                  <a:srgbClr val="FF0000"/>
                </a:solidFill>
              </a:rPr>
              <a:t>&gt;</a:t>
            </a:r>
            <a:r>
              <a:rPr lang="pl-PL" b="1" dirty="0" smtClean="0">
                <a:solidFill>
                  <a:srgbClr val="FF0000"/>
                </a:solidFill>
              </a:rPr>
              <a:t> = 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traces(P/s) = {</a:t>
            </a:r>
            <a:r>
              <a:rPr lang="fr-FR" b="1" dirty="0" err="1" smtClean="0">
                <a:solidFill>
                  <a:srgbClr val="FF0000"/>
                </a:solidFill>
              </a:rPr>
              <a:t>t|s^t</a:t>
            </a:r>
            <a:r>
              <a:rPr lang="fr-FR" b="1" dirty="0" smtClean="0">
                <a:solidFill>
                  <a:srgbClr val="FF0000"/>
                </a:solidFill>
              </a:rPr>
              <a:t> ∈ traces(P)}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Equivalence et raffinement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Quand est-ce qu’on dit que deux processus sont équivalents ?</a:t>
            </a:r>
          </a:p>
          <a:p>
            <a:endParaRPr lang="fr-FR" dirty="0" smtClean="0"/>
          </a:p>
          <a:p>
            <a:r>
              <a:rPr lang="fr-FR" dirty="0" smtClean="0"/>
              <a:t>Équivalence de traces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équivalents en traces si </a:t>
            </a:r>
            <a:r>
              <a:rPr lang="fr-FR" b="1" dirty="0" smtClean="0">
                <a:solidFill>
                  <a:srgbClr val="FF0000"/>
                </a:solidFill>
              </a:rPr>
              <a:t>traces(P) = traces(Q)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ont le même comportement observable</a:t>
            </a:r>
          </a:p>
          <a:p>
            <a:pPr lvl="1"/>
            <a:r>
              <a:rPr lang="fr-FR" dirty="0" smtClean="0"/>
              <a:t>On note cela par : </a:t>
            </a:r>
            <a:r>
              <a:rPr lang="fr-FR" b="1" dirty="0" smtClean="0">
                <a:solidFill>
                  <a:srgbClr val="FF0000"/>
                </a:solidFill>
              </a:rPr>
              <a:t>P =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b="1" dirty="0" smtClean="0">
                <a:solidFill>
                  <a:srgbClr val="FF0000"/>
                </a:solidFill>
              </a:rPr>
              <a:t> Q</a:t>
            </a:r>
          </a:p>
          <a:p>
            <a:endParaRPr lang="fr-FR" dirty="0" smtClean="0"/>
          </a:p>
          <a:p>
            <a:r>
              <a:rPr lang="fr-FR" dirty="0" smtClean="0"/>
              <a:t>Raffinement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raffiné par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traces(Q) ⊆ traces(P)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reprend quelques comportements observables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dirty="0" smtClean="0"/>
              <a:t>On note cela par : </a:t>
            </a:r>
            <a:r>
              <a:rPr lang="fr-FR" b="1" dirty="0" smtClean="0">
                <a:solidFill>
                  <a:srgbClr val="FF0000"/>
                </a:solidFill>
              </a:rPr>
              <a:t>P ⊆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b="1" dirty="0" smtClean="0">
                <a:solidFill>
                  <a:srgbClr val="FF0000"/>
                </a:solidFill>
              </a:rPr>
              <a:t> Q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de raffinement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Exemple 1 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LR = left → right → LR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en-US" b="1" dirty="0" smtClean="0">
                <a:solidFill>
                  <a:srgbClr val="FF0000"/>
                </a:solidFill>
              </a:rPr>
              <a:t>right → left → LR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UD = top → down → UD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SPEC = LR||UD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SPEC ⊆</a:t>
            </a:r>
            <a:r>
              <a:rPr lang="en-US" b="1" baseline="-25000" dirty="0" smtClean="0">
                <a:solidFill>
                  <a:srgbClr val="FF0000"/>
                </a:solidFill>
              </a:rPr>
              <a:t>T</a:t>
            </a:r>
            <a:r>
              <a:rPr lang="en-US" b="1" dirty="0" smtClean="0">
                <a:solidFill>
                  <a:srgbClr val="FF0000"/>
                </a:solidFill>
              </a:rPr>
              <a:t> left → up → STOP </a:t>
            </a:r>
            <a:r>
              <a:rPr lang="en-US" b="1" dirty="0" err="1" smtClean="0">
                <a:solidFill>
                  <a:srgbClr val="FF0000"/>
                </a:solidFill>
              </a:rPr>
              <a:t>ou</a:t>
            </a:r>
            <a:r>
              <a:rPr lang="en-US" b="1" dirty="0" smtClean="0">
                <a:solidFill>
                  <a:srgbClr val="FF0000"/>
                </a:solidFill>
              </a:rPr>
              <a:t> SPEC ⊆</a:t>
            </a:r>
            <a:r>
              <a:rPr lang="en-US" b="1" baseline="-25000" dirty="0" smtClean="0">
                <a:solidFill>
                  <a:srgbClr val="FF0000"/>
                </a:solidFill>
              </a:rPr>
              <a:t>T</a:t>
            </a:r>
            <a:r>
              <a:rPr lang="en-US" b="1" dirty="0" smtClean="0">
                <a:solidFill>
                  <a:srgbClr val="FF0000"/>
                </a:solidFill>
              </a:rPr>
              <a:t> STOP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SPEC</a:t>
            </a:r>
            <a:r>
              <a:rPr lang="fr-FR" dirty="0" smtClean="0"/>
              <a:t> : les mouvements possibles d’un mobile</a:t>
            </a:r>
          </a:p>
          <a:p>
            <a:endParaRPr lang="fr-FR" dirty="0" smtClean="0"/>
          </a:p>
          <a:p>
            <a:r>
              <a:rPr lang="fr-FR" dirty="0" smtClean="0"/>
              <a:t>On spécifie que rien de mauvais ne peut arriver mais on n’assure pas que quelque chose de bien se produira (sûreté)</a:t>
            </a: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2627784" y="1988840"/>
          <a:ext cx="309634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/>
                <a:gridCol w="1152128"/>
                <a:gridCol w="93610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fr-FR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fr-FR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fr-FR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rgbClr val="002060"/>
                          </a:solidFill>
                        </a:rPr>
                        <a:t>M</a:t>
                      </a:r>
                      <a:endParaRPr lang="fr-FR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fr-FR" b="1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de raffinement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 smtClean="0"/>
              <a:t>Exemple 2 : modélisation d’un passage à niveau :</a:t>
            </a:r>
          </a:p>
          <a:p>
            <a:pPr lvl="1"/>
            <a:r>
              <a:rPr lang="fr-FR" dirty="0" smtClean="0"/>
              <a:t>Voitures, trains, barrière</a:t>
            </a:r>
          </a:p>
          <a:p>
            <a:pPr lvl="1"/>
            <a:r>
              <a:rPr lang="fr-FR" dirty="0" smtClean="0"/>
              <a:t>Processus voiture : </a:t>
            </a:r>
            <a:r>
              <a:rPr lang="fr-FR" b="1" dirty="0" smtClean="0">
                <a:solidFill>
                  <a:srgbClr val="FF0000"/>
                </a:solidFill>
              </a:rPr>
              <a:t>CARS = </a:t>
            </a:r>
            <a:r>
              <a:rPr lang="fr-FR" b="1" dirty="0" err="1" smtClean="0">
                <a:solidFill>
                  <a:srgbClr val="FF0000"/>
                </a:solidFill>
              </a:rPr>
              <a:t>car.approach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car.enter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car.leave</a:t>
            </a:r>
            <a:r>
              <a:rPr lang="fr-FR" b="1" dirty="0" smtClean="0">
                <a:solidFill>
                  <a:srgbClr val="FF0000"/>
                </a:solidFill>
              </a:rPr>
              <a:t> → CARS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Processus train : </a:t>
            </a:r>
            <a:r>
              <a:rPr lang="fr-FR" b="1" dirty="0" smtClean="0">
                <a:solidFill>
                  <a:srgbClr val="FF0000"/>
                </a:solidFill>
              </a:rPr>
              <a:t>TRAIN = </a:t>
            </a:r>
            <a:r>
              <a:rPr lang="fr-FR" b="1" dirty="0" err="1" smtClean="0">
                <a:solidFill>
                  <a:srgbClr val="FF0000"/>
                </a:solidFill>
              </a:rPr>
              <a:t>train.approach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train.enter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train.leave</a:t>
            </a:r>
            <a:r>
              <a:rPr lang="fr-FR" b="1" dirty="0" smtClean="0">
                <a:solidFill>
                  <a:srgbClr val="FF0000"/>
                </a:solidFill>
              </a:rPr>
              <a:t> → TRAIN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Processus croisement voiture et train : 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CR = </a:t>
            </a:r>
            <a:r>
              <a:rPr lang="fr-FR" b="1" dirty="0" err="1" smtClean="0">
                <a:solidFill>
                  <a:srgbClr val="FF0000"/>
                </a:solidFill>
              </a:rPr>
              <a:t>car.approach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car.enter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C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err="1" smtClean="0">
                <a:solidFill>
                  <a:srgbClr val="FF0000"/>
                </a:solidFill>
              </a:rPr>
              <a:t>train.approach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train.enter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T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C = </a:t>
            </a:r>
            <a:r>
              <a:rPr lang="fr-FR" b="1" dirty="0" err="1" smtClean="0">
                <a:solidFill>
                  <a:srgbClr val="FF0000"/>
                </a:solidFill>
              </a:rPr>
              <a:t>car.leave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CR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err="1" smtClean="0">
                <a:solidFill>
                  <a:srgbClr val="FF0000"/>
                </a:solidFill>
              </a:rPr>
              <a:t>train.approach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err="1" smtClean="0">
                <a:solidFill>
                  <a:srgbClr val="FF0000"/>
                </a:solidFill>
              </a:rPr>
              <a:t>train.enter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CT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T = </a:t>
            </a:r>
            <a:r>
              <a:rPr lang="fr-FR" b="1" dirty="0" err="1" smtClean="0">
                <a:solidFill>
                  <a:srgbClr val="FF0000"/>
                </a:solidFill>
              </a:rPr>
              <a:t>train.leave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CR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err="1" smtClean="0">
                <a:solidFill>
                  <a:srgbClr val="FF0000"/>
                </a:solidFill>
              </a:rPr>
              <a:t>car.approach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err="1" smtClean="0">
                <a:solidFill>
                  <a:srgbClr val="FF0000"/>
                </a:solidFill>
              </a:rPr>
              <a:t>car.enter</a:t>
            </a:r>
            <a:r>
              <a:rPr lang="fr-FR" b="1" dirty="0" smtClean="0">
                <a:solidFill>
                  <a:srgbClr val="FF0000"/>
                </a:solidFill>
              </a:rPr>
              <a:t> </a:t>
            </a:r>
            <a:r>
              <a:rPr lang="fr-FR" b="1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fr-FR" b="1" dirty="0" smtClean="0">
                <a:solidFill>
                  <a:srgbClr val="FF0000"/>
                </a:solidFill>
              </a:rPr>
              <a:t> CT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CT = crash → STOP</a:t>
            </a:r>
          </a:p>
          <a:p>
            <a:pPr lvl="1"/>
            <a:endParaRPr lang="fr-FR" dirty="0" smtClean="0"/>
          </a:p>
          <a:p>
            <a:pPr lvl="1"/>
            <a:r>
              <a:rPr lang="fr-FR" dirty="0" smtClean="0"/>
              <a:t>Processus barrière : </a:t>
            </a:r>
            <a:r>
              <a:rPr lang="fr-FR" b="1" dirty="0" smtClean="0">
                <a:solidFill>
                  <a:srgbClr val="FF0000"/>
                </a:solidFill>
              </a:rPr>
              <a:t>GATE = </a:t>
            </a:r>
            <a:r>
              <a:rPr lang="fr-FR" b="1" dirty="0" err="1" smtClean="0">
                <a:solidFill>
                  <a:srgbClr val="FF0000"/>
                </a:solidFill>
              </a:rPr>
              <a:t>gate.lower</a:t>
            </a:r>
            <a:r>
              <a:rPr lang="fr-FR" b="1" dirty="0" smtClean="0">
                <a:solidFill>
                  <a:srgbClr val="FF0000"/>
                </a:solidFill>
              </a:rPr>
              <a:t> → </a:t>
            </a:r>
            <a:r>
              <a:rPr lang="fr-FR" b="1" dirty="0" err="1" smtClean="0">
                <a:solidFill>
                  <a:srgbClr val="FF0000"/>
                </a:solidFill>
              </a:rPr>
              <a:t>gate.raise</a:t>
            </a:r>
            <a:r>
              <a:rPr lang="fr-FR" b="1" dirty="0" smtClean="0">
                <a:solidFill>
                  <a:srgbClr val="FF0000"/>
                </a:solidFill>
              </a:rPr>
              <a:t> → GATE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err="1" smtClean="0">
                <a:solidFill>
                  <a:srgbClr val="FF0000"/>
                </a:solidFill>
              </a:rPr>
              <a:t>car.enter</a:t>
            </a:r>
            <a:r>
              <a:rPr lang="fr-FR" b="1" dirty="0" smtClean="0">
                <a:solidFill>
                  <a:srgbClr val="FF0000"/>
                </a:solidFill>
              </a:rPr>
              <a:t> → GATE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de raffinement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SY STEM = (((CR||GATE)||CARS)||TRAINS)</a:t>
            </a:r>
          </a:p>
          <a:p>
            <a:endParaRPr lang="fr-FR" dirty="0" smtClean="0"/>
          </a:p>
          <a:p>
            <a:r>
              <a:rPr lang="fr-FR" dirty="0" smtClean="0"/>
              <a:t>On a besoin d’une spécification qui accepte n’importe quelle trace ne comportant pas crash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SPEC =</a:t>
            </a:r>
          </a:p>
          <a:p>
            <a:pPr lvl="2"/>
            <a:r>
              <a:rPr lang="en-US" b="1" dirty="0" err="1" smtClean="0">
                <a:solidFill>
                  <a:srgbClr val="FF0000"/>
                </a:solidFill>
              </a:rPr>
              <a:t>train?x</a:t>
            </a:r>
            <a:r>
              <a:rPr lang="en-US" b="1" dirty="0" smtClean="0">
                <a:solidFill>
                  <a:srgbClr val="FF0000"/>
                </a:solidFill>
              </a:rPr>
              <a:t> : approach, enter, leave → SPEC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endParaRPr lang="en-US" b="1" dirty="0" smtClean="0">
              <a:solidFill>
                <a:srgbClr val="FF0000"/>
              </a:solidFill>
            </a:endParaRPr>
          </a:p>
          <a:p>
            <a:pPr lvl="2"/>
            <a:r>
              <a:rPr lang="en-US" b="1" dirty="0" err="1" smtClean="0">
                <a:solidFill>
                  <a:srgbClr val="FF0000"/>
                </a:solidFill>
              </a:rPr>
              <a:t>car?x</a:t>
            </a:r>
            <a:r>
              <a:rPr lang="en-US" b="1" dirty="0" smtClean="0">
                <a:solidFill>
                  <a:srgbClr val="FF0000"/>
                </a:solidFill>
              </a:rPr>
              <a:t> : approach, enter, leave → SPEC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□</a:t>
            </a:r>
            <a:endParaRPr lang="en-US" b="1" dirty="0" smtClean="0">
              <a:solidFill>
                <a:srgbClr val="FF0000"/>
              </a:solidFill>
            </a:endParaRPr>
          </a:p>
          <a:p>
            <a:pPr lvl="2"/>
            <a:r>
              <a:rPr lang="fr-FR" b="1" dirty="0" err="1" smtClean="0">
                <a:solidFill>
                  <a:srgbClr val="FF0000"/>
                </a:solidFill>
              </a:rPr>
              <a:t>gate?x</a:t>
            </a:r>
            <a:r>
              <a:rPr lang="fr-FR" b="1" dirty="0" smtClean="0">
                <a:solidFill>
                  <a:srgbClr val="FF0000"/>
                </a:solidFill>
              </a:rPr>
              <a:t> : </a:t>
            </a:r>
            <a:r>
              <a:rPr lang="fr-FR" b="1" dirty="0" err="1" smtClean="0">
                <a:solidFill>
                  <a:srgbClr val="FF0000"/>
                </a:solidFill>
              </a:rPr>
              <a:t>raise</a:t>
            </a:r>
            <a:r>
              <a:rPr lang="fr-FR" b="1" dirty="0" smtClean="0">
                <a:solidFill>
                  <a:srgbClr val="FF0000"/>
                </a:solidFill>
              </a:rPr>
              <a:t>, </a:t>
            </a:r>
            <a:r>
              <a:rPr lang="fr-FR" b="1" dirty="0" err="1" smtClean="0">
                <a:solidFill>
                  <a:srgbClr val="FF0000"/>
                </a:solidFill>
              </a:rPr>
              <a:t>lower</a:t>
            </a:r>
            <a:r>
              <a:rPr lang="fr-FR" b="1" dirty="0" smtClean="0">
                <a:solidFill>
                  <a:srgbClr val="FF0000"/>
                </a:solidFill>
              </a:rPr>
              <a:t> → SPEC</a:t>
            </a:r>
          </a:p>
          <a:p>
            <a:endParaRPr lang="fr-FR" dirty="0" smtClean="0"/>
          </a:p>
          <a:p>
            <a:r>
              <a:rPr lang="fr-FR" dirty="0" smtClean="0"/>
              <a:t>On doit s’assurer que </a:t>
            </a:r>
            <a:r>
              <a:rPr lang="fr-FR" b="1" dirty="0" smtClean="0">
                <a:solidFill>
                  <a:srgbClr val="FF0000"/>
                </a:solidFill>
              </a:rPr>
              <a:t>SPEC ⊆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b="1" dirty="0" smtClean="0">
                <a:solidFill>
                  <a:srgbClr val="FF0000"/>
                </a:solidFill>
              </a:rPr>
              <a:t> SY STEM </a:t>
            </a:r>
            <a:r>
              <a:rPr lang="fr-FR" dirty="0" smtClean="0"/>
              <a:t>pour s’assurer que notre raffinement évite les accidents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Notion de refus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L’équivalence ou le raffinement à base de traces n’est pas suffisante pour le cas du non déterminisme</a:t>
            </a:r>
          </a:p>
          <a:p>
            <a:pPr lvl="1"/>
            <a:r>
              <a:rPr lang="fr-FR" dirty="0" smtClean="0"/>
              <a:t>Preuve : </a:t>
            </a:r>
            <a:r>
              <a:rPr lang="fr-FR" b="1" dirty="0" smtClean="0">
                <a:solidFill>
                  <a:srgbClr val="FF0000"/>
                </a:solidFill>
              </a:rPr>
              <a:t>traces(P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Q) = traces(P ⊓ Q) = traces(P) ∪ traces(Q)</a:t>
            </a:r>
          </a:p>
          <a:p>
            <a:pPr lvl="1"/>
            <a:r>
              <a:rPr lang="fr-FR" dirty="0" smtClean="0"/>
              <a:t>Pourtant, lorsque </a:t>
            </a:r>
            <a:r>
              <a:rPr lang="fr-FR" b="1" dirty="0" smtClean="0">
                <a:solidFill>
                  <a:srgbClr val="FF0000"/>
                </a:solidFill>
              </a:rPr>
              <a:t>P = x → P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Q = y → Q </a:t>
            </a:r>
            <a:r>
              <a:rPr lang="fr-FR" dirty="0" smtClean="0"/>
              <a:t>:</a:t>
            </a:r>
          </a:p>
          <a:p>
            <a:pPr lvl="2"/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Q)||P = P </a:t>
            </a:r>
            <a:r>
              <a:rPr lang="fr-FR" dirty="0" smtClean="0"/>
              <a:t>(ne peut jamais se bloquer)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(P ⊓ Q)||P = P ⊓ STOP </a:t>
            </a:r>
            <a:r>
              <a:rPr lang="fr-FR" dirty="0" smtClean="0"/>
              <a:t>(peut se bloquer)</a:t>
            </a:r>
          </a:p>
          <a:p>
            <a:pPr lvl="1"/>
            <a:r>
              <a:rPr lang="fr-FR" dirty="0" smtClean="0">
                <a:sym typeface="Wingdings" pitchFamily="2" charset="2"/>
              </a:rPr>
              <a:t> </a:t>
            </a:r>
            <a:r>
              <a:rPr lang="fr-FR" dirty="0" smtClean="0"/>
              <a:t>on peut donc différencier ces deux processus en cherchant un environnement qui permet à l’un d’eux de se bloquer !</a:t>
            </a:r>
          </a:p>
          <a:p>
            <a:endParaRPr lang="fr-FR" dirty="0" smtClean="0"/>
          </a:p>
          <a:p>
            <a:r>
              <a:rPr lang="fr-FR" dirty="0" smtClean="0"/>
              <a:t>Soit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un processus dans un environnement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(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est défini sur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 P</a:t>
            </a:r>
            <a:r>
              <a:rPr lang="fr-FR" dirty="0" smtClean="0"/>
              <a:t>) et soit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l’alphabet initial de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P||Q </a:t>
            </a:r>
            <a:r>
              <a:rPr lang="fr-FR" dirty="0" smtClean="0"/>
              <a:t>peut se bloquer à la première étape alors on dit que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un </a:t>
            </a:r>
            <a:r>
              <a:rPr lang="fr-FR" i="1" u="sng" dirty="0" smtClean="0"/>
              <a:t>refus</a:t>
            </a:r>
            <a:r>
              <a:rPr lang="fr-FR" dirty="0" smtClean="0"/>
              <a:t>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(la synchronisation se fait seulement sur l’alphabet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)</a:t>
            </a:r>
          </a:p>
          <a:p>
            <a:pPr lvl="1"/>
            <a:r>
              <a:rPr lang="fr-FR" dirty="0" smtClean="0"/>
              <a:t>On va s’intéresser à tous les refus d’un processus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de refus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Exemples</a:t>
            </a:r>
          </a:p>
          <a:p>
            <a:pPr lvl="1"/>
            <a:r>
              <a:rPr lang="fr-FR" dirty="0" smtClean="0"/>
              <a:t>L’ensemble vide est un refus à tous les processus :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</a:t>
            </a:r>
            <a:r>
              <a:rPr lang="fr-FR" b="1" dirty="0" smtClean="0">
                <a:solidFill>
                  <a:srgbClr val="FF0000"/>
                </a:solidFill>
              </a:rPr>
              <a:t>STOP = {}, P||STOP = STOP</a:t>
            </a:r>
          </a:p>
          <a:p>
            <a:pPr lvl="1"/>
            <a:r>
              <a:rPr lang="fr-FR" dirty="0" smtClean="0"/>
              <a:t>N’importe quel ensemble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un refus à </a:t>
            </a:r>
            <a:r>
              <a:rPr lang="fr-FR" b="1" dirty="0" smtClean="0">
                <a:solidFill>
                  <a:srgbClr val="FF0000"/>
                </a:solidFill>
              </a:rPr>
              <a:t>STOP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a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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alors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un refus de </a:t>
            </a:r>
            <a:r>
              <a:rPr lang="fr-FR" b="1" dirty="0" smtClean="0">
                <a:solidFill>
                  <a:srgbClr val="FF0000"/>
                </a:solidFill>
              </a:rPr>
              <a:t>a → P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 = {a, b, c} </a:t>
            </a:r>
            <a:r>
              <a:rPr lang="fr-FR" dirty="0" smtClean="0"/>
              <a:t>alors les refus de </a:t>
            </a:r>
            <a:r>
              <a:rPr lang="fr-FR" b="1" dirty="0" smtClean="0">
                <a:solidFill>
                  <a:srgbClr val="FF0000"/>
                </a:solidFill>
              </a:rPr>
              <a:t>a → P </a:t>
            </a:r>
            <a:r>
              <a:rPr lang="fr-FR" dirty="0" smtClean="0"/>
              <a:t>sont </a:t>
            </a:r>
            <a:r>
              <a:rPr lang="fr-FR" b="1" dirty="0" smtClean="0">
                <a:solidFill>
                  <a:srgbClr val="FF0000"/>
                </a:solidFill>
              </a:rPr>
              <a:t>∅</a:t>
            </a:r>
            <a:r>
              <a:rPr lang="fr-FR" dirty="0" smtClean="0"/>
              <a:t>, </a:t>
            </a:r>
            <a:r>
              <a:rPr lang="fr-FR" b="1" dirty="0" smtClean="0">
                <a:solidFill>
                  <a:srgbClr val="FF0000"/>
                </a:solidFill>
              </a:rPr>
              <a:t>{b}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{c} </a:t>
            </a:r>
            <a:r>
              <a:rPr lang="fr-FR" dirty="0" smtClean="0"/>
              <a:t>et </a:t>
            </a:r>
            <a:r>
              <a:rPr lang="fr-FR" b="1" dirty="0" smtClean="0">
                <a:solidFill>
                  <a:srgbClr val="FF0000"/>
                </a:solidFill>
              </a:rPr>
              <a:t>{b, c}</a:t>
            </a:r>
          </a:p>
          <a:p>
            <a:pPr lvl="2"/>
            <a:r>
              <a:rPr lang="fr-FR" dirty="0" smtClean="0"/>
              <a:t>Les processus </a:t>
            </a:r>
            <a:r>
              <a:rPr lang="fr-FR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:</a:t>
            </a:r>
          </a:p>
          <a:p>
            <a:pPr lvl="3"/>
            <a:r>
              <a:rPr lang="fr-FR" b="1" dirty="0" smtClean="0">
                <a:solidFill>
                  <a:srgbClr val="FF0000"/>
                </a:solidFill>
              </a:rPr>
              <a:t>STOP</a:t>
            </a:r>
          </a:p>
          <a:p>
            <a:pPr lvl="3"/>
            <a:r>
              <a:rPr lang="fr-FR" b="1" dirty="0" smtClean="0">
                <a:solidFill>
                  <a:srgbClr val="FF0000"/>
                </a:solidFill>
              </a:rPr>
              <a:t>b → STOP</a:t>
            </a:r>
          </a:p>
          <a:p>
            <a:pPr lvl="3"/>
            <a:r>
              <a:rPr lang="fr-FR" b="1" dirty="0" smtClean="0">
                <a:solidFill>
                  <a:srgbClr val="FF0000"/>
                </a:solidFill>
              </a:rPr>
              <a:t>c → a → STOP</a:t>
            </a:r>
          </a:p>
          <a:p>
            <a:pPr lvl="3"/>
            <a:r>
              <a:rPr lang="en-US" b="1" dirty="0" smtClean="0">
                <a:solidFill>
                  <a:srgbClr val="FF0000"/>
                </a:solidFill>
              </a:rPr>
              <a:t>(b → STOP)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</a:t>
            </a:r>
            <a:r>
              <a:rPr lang="en-US" b="1" dirty="0" smtClean="0">
                <a:solidFill>
                  <a:srgbClr val="FF0000"/>
                </a:solidFill>
              </a:rPr>
              <a:t>(c → c → STOP)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L’opération </a:t>
            </a:r>
            <a:r>
              <a:rPr lang="fr-FR" i="1" dirty="0" err="1" smtClean="0"/>
              <a:t>refusals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(P) </a:t>
            </a:r>
            <a:r>
              <a:rPr lang="fr-FR" dirty="0" smtClean="0"/>
              <a:t>est l’ensemble de tous les refus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r>
              <a:rPr lang="fr-FR" dirty="0" smtClean="0"/>
              <a:t>Propriétés :</a:t>
            </a:r>
          </a:p>
          <a:p>
            <a:pPr lvl="1"/>
            <a:r>
              <a:rPr lang="fr-FR" dirty="0" smtClean="0"/>
              <a:t>un processus est déterministe si (tous les ensembles d’évènements auxquels il ne peut pas s’engager)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X ∈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(P)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</a:t>
            </a:r>
            <a:r>
              <a:rPr lang="fr-FR" b="1" dirty="0" smtClean="0">
                <a:solidFill>
                  <a:srgbClr val="FF0000"/>
                </a:solidFill>
              </a:rPr>
              <a:t> X ∩ P</a:t>
            </a:r>
            <a:r>
              <a:rPr lang="fr-FR" b="1" baseline="30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 = {}</a:t>
            </a:r>
          </a:p>
          <a:p>
            <a:pPr lvl="2"/>
            <a:r>
              <a:rPr lang="fr-FR" dirty="0" smtClean="0"/>
              <a:t>tel que :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b="1" baseline="30000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FF0000"/>
                </a:solidFill>
              </a:rPr>
              <a:t> = {x| &lt;x&gt; ∈ traces(P)}</a:t>
            </a:r>
          </a:p>
          <a:p>
            <a:endParaRPr lang="fr-FR" dirty="0" smtClean="0"/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(a → P) = {X|X ⊆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 </a:t>
            </a:r>
            <a:r>
              <a:rPr lang="fr-FR" b="1" dirty="0" smtClean="0">
                <a:solidFill>
                  <a:srgbClr val="FF0000"/>
                </a:solidFill>
              </a:rPr>
              <a:t>P − {a}}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(x : A → P(x)) = {X|X ⊆ P − A}</a:t>
            </a:r>
          </a:p>
          <a:p>
            <a:pPr lvl="1"/>
            <a:endParaRPr lang="fr-FR" b="1" dirty="0" smtClean="0">
              <a:solidFill>
                <a:srgbClr val="FF0000"/>
              </a:solidFill>
            </a:endParaRP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 ⊓ Q) =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(P) ∪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(Q)</a:t>
            </a:r>
          </a:p>
          <a:p>
            <a:pPr lvl="2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refuse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alors </a:t>
            </a:r>
            <a:r>
              <a:rPr lang="fr-FR" b="1" dirty="0" smtClean="0">
                <a:solidFill>
                  <a:srgbClr val="FF0000"/>
                </a:solidFill>
              </a:rPr>
              <a:t>P ⊓ Q </a:t>
            </a:r>
            <a:r>
              <a:rPr lang="fr-FR" dirty="0" smtClean="0"/>
              <a:t>refuse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sélectionné</a:t>
            </a:r>
          </a:p>
          <a:p>
            <a:pPr lvl="2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refuse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alors </a:t>
            </a:r>
            <a:r>
              <a:rPr lang="fr-FR" b="1" dirty="0" smtClean="0">
                <a:solidFill>
                  <a:srgbClr val="FF0000"/>
                </a:solidFill>
              </a:rPr>
              <a:t>P ⊓ Q </a:t>
            </a:r>
            <a:r>
              <a:rPr lang="fr-FR" dirty="0" smtClean="0"/>
              <a:t>refuse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si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est sélectionné</a:t>
            </a:r>
          </a:p>
          <a:p>
            <a:pPr lvl="1"/>
            <a:endParaRPr lang="fr-FR" dirty="0" smtClean="0"/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Q) =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(P) ∩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(Q)</a:t>
            </a:r>
          </a:p>
          <a:p>
            <a:pPr lvl="2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refusent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alors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le refuse également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L’opération </a:t>
            </a:r>
            <a:r>
              <a:rPr lang="fr-FR" i="1" dirty="0" err="1" smtClean="0"/>
              <a:t>refusals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Suite...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(P||Q) = {X ∪ Y |X ∈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(P) ∧ Y ∈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(Q)}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(P|||Q) =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Q)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P|||Q</a:t>
            </a:r>
            <a:r>
              <a:rPr lang="fr-FR" dirty="0" smtClean="0"/>
              <a:t> peut s’engager dans n’importe première action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ou de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</a:p>
          <a:p>
            <a:endParaRPr lang="fr-FR" dirty="0" smtClean="0"/>
          </a:p>
          <a:p>
            <a:r>
              <a:rPr lang="fr-FR" dirty="0" smtClean="0"/>
              <a:t>A présent, nous avons une meilleure définition de l’équivalence des processus…</a:t>
            </a:r>
          </a:p>
          <a:p>
            <a:pPr lvl="1"/>
            <a:r>
              <a:rPr lang="fr-FR" dirty="0" smtClean="0"/>
              <a:t>équivalence de traces + refus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L’opérateur </a:t>
            </a:r>
            <a:r>
              <a:rPr lang="fr-FR" i="1" dirty="0" err="1" smtClean="0"/>
              <a:t>failures</a:t>
            </a:r>
            <a:endParaRPr lang="fr-FR" i="1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smtClean="0"/>
              <a:t>Encore une fois, cela ne fonctionne pas comme prévu !</a:t>
            </a:r>
          </a:p>
          <a:p>
            <a:pPr lvl="1"/>
            <a:r>
              <a:rPr lang="en-US" dirty="0" err="1" smtClean="0"/>
              <a:t>Exemple</a:t>
            </a:r>
            <a:r>
              <a:rPr lang="en-US" dirty="0" smtClean="0"/>
              <a:t> : </a:t>
            </a:r>
            <a:r>
              <a:rPr lang="en-US" b="1" dirty="0" smtClean="0">
                <a:solidFill>
                  <a:srgbClr val="FF0000"/>
                </a:solidFill>
              </a:rPr>
              <a:t>a → ((b → STOP)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</a:t>
            </a:r>
            <a:r>
              <a:rPr lang="en-US" b="1" dirty="0" smtClean="0">
                <a:solidFill>
                  <a:srgbClr val="FF0000"/>
                </a:solidFill>
              </a:rPr>
              <a:t>(c → STOP)) </a:t>
            </a:r>
            <a:r>
              <a:rPr lang="en-US" dirty="0" smtClean="0"/>
              <a:t>et </a:t>
            </a:r>
            <a:r>
              <a:rPr lang="en-US" b="1" dirty="0" smtClean="0">
                <a:solidFill>
                  <a:srgbClr val="FF0000"/>
                </a:solidFill>
              </a:rPr>
              <a:t>a → ((b → STOP) ⊓ (c → STOP))</a:t>
            </a:r>
          </a:p>
          <a:p>
            <a:pPr lvl="1"/>
            <a:r>
              <a:rPr lang="fr-FR" dirty="0" smtClean="0"/>
              <a:t>Les refus détectent des différences en considérant juste la première étape !</a:t>
            </a:r>
          </a:p>
          <a:p>
            <a:pPr lvl="1"/>
            <a:r>
              <a:rPr lang="fr-FR" dirty="0" smtClean="0"/>
              <a:t>Solution : on définit une nouvelle notion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 </a:t>
            </a:r>
            <a:r>
              <a:rPr lang="fr-FR" dirty="0" smtClean="0"/>
              <a:t>comme :</a:t>
            </a:r>
          </a:p>
          <a:p>
            <a:pPr lvl="2"/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 = {(</a:t>
            </a:r>
            <a:r>
              <a:rPr lang="fr-FR" b="1" dirty="0" err="1" smtClean="0">
                <a:solidFill>
                  <a:srgbClr val="FF0000"/>
                </a:solidFill>
              </a:rPr>
              <a:t>tr,X</a:t>
            </a:r>
            <a:r>
              <a:rPr lang="fr-FR" b="1" dirty="0" smtClean="0">
                <a:solidFill>
                  <a:srgbClr val="FF0000"/>
                </a:solidFill>
              </a:rPr>
              <a:t>)|tr ∈ traces(P) ∧ X ∈ </a:t>
            </a:r>
            <a:r>
              <a:rPr lang="fr-FR" b="1" dirty="0" err="1" smtClean="0">
                <a:solidFill>
                  <a:srgbClr val="FF0000"/>
                </a:solidFill>
              </a:rPr>
              <a:t>refusals</a:t>
            </a:r>
            <a:r>
              <a:rPr lang="fr-FR" b="1" dirty="0" smtClean="0">
                <a:solidFill>
                  <a:srgbClr val="FF0000"/>
                </a:solidFill>
              </a:rPr>
              <a:t>(P/tr)}</a:t>
            </a:r>
          </a:p>
          <a:p>
            <a:pPr lvl="2"/>
            <a:r>
              <a:rPr lang="fr-FR" dirty="0" smtClean="0"/>
              <a:t>tel que </a:t>
            </a:r>
            <a:r>
              <a:rPr lang="fr-FR" b="1" dirty="0" smtClean="0">
                <a:solidFill>
                  <a:srgbClr val="FF0000"/>
                </a:solidFill>
              </a:rPr>
              <a:t>P/tr</a:t>
            </a:r>
            <a:r>
              <a:rPr lang="fr-FR" dirty="0" smtClean="0"/>
              <a:t> est le comportement que présente le processus après avoir émis la trace </a:t>
            </a:r>
            <a:r>
              <a:rPr lang="fr-FR" b="1" dirty="0" smtClean="0">
                <a:solidFill>
                  <a:srgbClr val="FF0000"/>
                </a:solidFill>
              </a:rPr>
              <a:t>tr</a:t>
            </a:r>
          </a:p>
          <a:p>
            <a:endParaRPr lang="fr-FR" dirty="0" smtClean="0"/>
          </a:p>
          <a:p>
            <a:r>
              <a:rPr lang="fr-FR" dirty="0" smtClean="0"/>
              <a:t>on définit alors une nouvelle équivalence </a:t>
            </a:r>
            <a:r>
              <a:rPr lang="fr-FR" b="1" dirty="0" smtClean="0">
                <a:solidFill>
                  <a:srgbClr val="FF0000"/>
                </a:solidFill>
              </a:rPr>
              <a:t>=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dirty="0" smtClean="0"/>
              <a:t>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P =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b="1" dirty="0" smtClean="0">
                <a:solidFill>
                  <a:srgbClr val="FF0000"/>
                </a:solidFill>
              </a:rPr>
              <a:t> Q </a:t>
            </a:r>
            <a:r>
              <a:rPr lang="fr-FR" dirty="0" err="1" smtClean="0"/>
              <a:t>ssi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traces(P) = traces(Q) </a:t>
            </a:r>
            <a:r>
              <a:rPr lang="fr-FR" dirty="0" smtClean="0"/>
              <a:t>et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 =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(Q)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(</a:t>
            </a:r>
            <a:r>
              <a:rPr lang="fr-FR" b="1" dirty="0" err="1" smtClean="0">
                <a:solidFill>
                  <a:srgbClr val="FF0000"/>
                </a:solidFill>
              </a:rPr>
              <a:t>s,X</a:t>
            </a:r>
            <a:r>
              <a:rPr lang="fr-FR" b="1" dirty="0" smtClean="0">
                <a:solidFill>
                  <a:srgbClr val="FF0000"/>
                </a:solidFill>
              </a:rPr>
              <a:t>) ∈ </a:t>
            </a:r>
            <a:r>
              <a:rPr lang="fr-FR" b="1" dirty="0" err="1" smtClean="0">
                <a:solidFill>
                  <a:srgbClr val="FF0000"/>
                </a:solidFill>
              </a:rPr>
              <a:t>failure</a:t>
            </a:r>
            <a:r>
              <a:rPr lang="fr-FR" b="1" dirty="0" smtClean="0">
                <a:solidFill>
                  <a:srgbClr val="FF0000"/>
                </a:solidFill>
              </a:rPr>
              <a:t>(P) </a:t>
            </a:r>
            <a:r>
              <a:rPr lang="fr-FR" dirty="0" smtClean="0"/>
              <a:t>signifie que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s’engage dans la suite d’évènements 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 puis refuse de s’engager dans n’importe quel évènement de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L’opérateur </a:t>
            </a:r>
            <a:r>
              <a:rPr lang="fr-FR" dirty="0" err="1" smtClean="0"/>
              <a:t>failures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82272"/>
          </a:xfrm>
        </p:spPr>
        <p:txBody>
          <a:bodyPr>
            <a:normAutofit fontScale="70000" lnSpcReduction="20000"/>
          </a:bodyPr>
          <a:lstStyle/>
          <a:p>
            <a:r>
              <a:rPr lang="fr-FR" dirty="0" smtClean="0"/>
              <a:t>Exemple :</a:t>
            </a:r>
          </a:p>
          <a:p>
            <a:pPr lvl="1"/>
            <a:r>
              <a:rPr lang="en-US" dirty="0" smtClean="0"/>
              <a:t>P = a → b → STOP, </a:t>
            </a:r>
            <a:r>
              <a:rPr lang="en-US" dirty="0" smtClean="0">
                <a:sym typeface="Symbol"/>
              </a:rPr>
              <a:t></a:t>
            </a:r>
            <a:r>
              <a:rPr lang="en-US" dirty="0" smtClean="0"/>
              <a:t>P = {a, b}</a:t>
            </a:r>
          </a:p>
          <a:p>
            <a:pPr lvl="1"/>
            <a:r>
              <a:rPr lang="fr-FR" dirty="0" err="1" smtClean="0"/>
              <a:t>failures</a:t>
            </a:r>
            <a:r>
              <a:rPr lang="fr-FR" dirty="0" smtClean="0"/>
              <a:t>(P) = {(&lt;&gt; , ∅), (&lt;&gt; , {b}), (&lt;a&gt;, ∅), (&lt;a&gt;, {a}), (&lt;a, b&gt; , ∅), </a:t>
            </a:r>
            <a:r>
              <a:rPr lang="it-IT" dirty="0" smtClean="0"/>
              <a:t>(&lt;a, b&gt; , {a}), (&lt;a, b&gt; , {b}), (&lt;a, b&gt; , {a, b})}</a:t>
            </a:r>
          </a:p>
          <a:p>
            <a:endParaRPr lang="fr-FR" dirty="0" smtClean="0"/>
          </a:p>
          <a:p>
            <a:r>
              <a:rPr lang="fr-FR" dirty="0" smtClean="0"/>
              <a:t>On peut récupérer la trace à partir de </a:t>
            </a:r>
            <a:r>
              <a:rPr lang="fr-FR" dirty="0" err="1" smtClean="0"/>
              <a:t>failures</a:t>
            </a:r>
            <a:r>
              <a:rPr lang="fr-FR" dirty="0" smtClean="0"/>
              <a:t>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traces(P) = {tr|(tr, ∅) ∈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(P)}</a:t>
            </a:r>
          </a:p>
          <a:p>
            <a:pPr lvl="1"/>
            <a:r>
              <a:rPr lang="fr-FR" dirty="0" smtClean="0"/>
              <a:t>donc, on a juste besoin de </a:t>
            </a:r>
            <a:r>
              <a:rPr lang="fr-FR" dirty="0" err="1" smtClean="0"/>
              <a:t>failures</a:t>
            </a:r>
            <a:r>
              <a:rPr lang="fr-FR" dirty="0" smtClean="0"/>
              <a:t> pour établir l’équivalence des processus</a:t>
            </a:r>
          </a:p>
          <a:p>
            <a:endParaRPr lang="fr-FR" dirty="0" smtClean="0"/>
          </a:p>
          <a:p>
            <a:r>
              <a:rPr lang="fr-FR" dirty="0" smtClean="0"/>
              <a:t>Mieux encore, pour deux processus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on a :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 =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(Q) ⇒ traces(P) = traces(Q)</a:t>
            </a:r>
          </a:p>
          <a:p>
            <a:pPr lvl="1"/>
            <a:r>
              <a:rPr lang="fr-FR" dirty="0" smtClean="0"/>
              <a:t>mais si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sont déterministes, on a :</a:t>
            </a:r>
          </a:p>
          <a:p>
            <a:pPr lvl="2"/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 =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(Q) </a:t>
            </a:r>
            <a:r>
              <a:rPr lang="fr-FR" b="1" dirty="0" smtClean="0">
                <a:solidFill>
                  <a:srgbClr val="FF0000"/>
                </a:solidFill>
                <a:sym typeface="Symbol"/>
              </a:rPr>
              <a:t></a:t>
            </a:r>
            <a:r>
              <a:rPr lang="fr-FR" b="1" dirty="0" smtClean="0">
                <a:solidFill>
                  <a:srgbClr val="FF0000"/>
                </a:solidFill>
              </a:rPr>
              <a:t> traces(P) = traces(Q)</a:t>
            </a:r>
          </a:p>
          <a:p>
            <a:endParaRPr lang="fr-FR" sz="2800" dirty="0" smtClean="0"/>
          </a:p>
          <a:p>
            <a:r>
              <a:rPr lang="fr-FR" sz="2800" dirty="0" smtClean="0"/>
              <a:t>Pour établir l’équivalence de processus dont la définition contient juste STOP, |, || et des définitions récursives, la comparaison en traces est suffisante</a:t>
            </a:r>
            <a:endParaRPr lang="fr-FR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Raffinement par échec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Par analogie, on définit le raffinement par échec comme suit : </a:t>
            </a:r>
            <a:r>
              <a:rPr lang="fr-FR" b="1" dirty="0" smtClean="0">
                <a:solidFill>
                  <a:srgbClr val="FF0000"/>
                </a:solidFill>
              </a:rPr>
              <a:t>Q</a:t>
            </a:r>
            <a:r>
              <a:rPr lang="fr-FR" dirty="0" smtClean="0"/>
              <a:t> raffine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par échec </a:t>
            </a:r>
            <a:r>
              <a:rPr lang="fr-FR" dirty="0" err="1" smtClean="0"/>
              <a:t>ssi</a:t>
            </a:r>
            <a:r>
              <a:rPr lang="fr-FR" dirty="0" smtClean="0"/>
              <a:t> :</a:t>
            </a:r>
          </a:p>
          <a:p>
            <a:pPr lvl="1"/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(Q) ⊆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</a:t>
            </a:r>
          </a:p>
          <a:p>
            <a:pPr lvl="1"/>
            <a:r>
              <a:rPr lang="fr-FR" dirty="0" smtClean="0"/>
              <a:t>on note alors </a:t>
            </a:r>
            <a:r>
              <a:rPr lang="fr-FR" b="1" dirty="0" smtClean="0">
                <a:solidFill>
                  <a:srgbClr val="FF0000"/>
                </a:solidFill>
              </a:rPr>
              <a:t>P ⊆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b="1" dirty="0" smtClean="0">
                <a:solidFill>
                  <a:srgbClr val="FF0000"/>
                </a:solidFill>
              </a:rPr>
              <a:t> Q</a:t>
            </a:r>
          </a:p>
          <a:p>
            <a:endParaRPr lang="fr-FR" dirty="0" smtClean="0"/>
          </a:p>
          <a:p>
            <a:r>
              <a:rPr lang="fr-FR" dirty="0" smtClean="0"/>
              <a:t>Exemple :</a:t>
            </a:r>
          </a:p>
          <a:p>
            <a:pPr lvl="1"/>
            <a:r>
              <a:rPr lang="pl-PL" b="1" dirty="0" smtClean="0">
                <a:solidFill>
                  <a:srgbClr val="FF0000"/>
                </a:solidFill>
              </a:rPr>
              <a:t>SPEC = a → b → SPEC</a:t>
            </a:r>
          </a:p>
          <a:p>
            <a:pPr lvl="1"/>
            <a:r>
              <a:rPr lang="fr-FR" dirty="0" smtClean="0"/>
              <a:t>Des processus raffinant SPEC par traces (</a:t>
            </a:r>
            <a:r>
              <a:rPr lang="fr-FR" b="1" dirty="0" smtClean="0">
                <a:solidFill>
                  <a:srgbClr val="FF0000"/>
                </a:solidFill>
              </a:rPr>
              <a:t>SPEC ⊆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b="1" dirty="0" smtClean="0">
                <a:solidFill>
                  <a:srgbClr val="FF0000"/>
                </a:solidFill>
              </a:rPr>
              <a:t> P</a:t>
            </a:r>
            <a:r>
              <a:rPr lang="fr-FR" dirty="0" smtClean="0"/>
              <a:t>)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 = STOP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 = a → STOP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 = a → (b → P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 □ </a:t>
            </a:r>
            <a:r>
              <a:rPr lang="fr-FR" b="1" dirty="0" smtClean="0">
                <a:solidFill>
                  <a:srgbClr val="FF0000"/>
                </a:solidFill>
              </a:rPr>
              <a:t>b → STOP)</a:t>
            </a:r>
          </a:p>
          <a:p>
            <a:pPr lvl="2"/>
            <a:r>
              <a:rPr lang="pt-BR" b="1" dirty="0" smtClean="0">
                <a:solidFill>
                  <a:srgbClr val="FF0000"/>
                </a:solidFill>
              </a:rPr>
              <a:t>P = a → b → P</a:t>
            </a:r>
          </a:p>
          <a:p>
            <a:pPr lvl="1"/>
            <a:r>
              <a:rPr lang="fr-FR" dirty="0" smtClean="0"/>
              <a:t>Qu’en est-il du raffinement par échec ?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Raffinement par échec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err="1" smtClean="0"/>
              <a:t>Pn</a:t>
            </a:r>
            <a:r>
              <a:rPr lang="fr-FR" dirty="0" smtClean="0"/>
              <a:t> peut vérifier que :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SPEC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⊈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b="1" dirty="0" smtClean="0">
                <a:solidFill>
                  <a:srgbClr val="FF0000"/>
                </a:solidFill>
              </a:rPr>
              <a:t> STOP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SPEC </a:t>
            </a:r>
            <a:r>
              <a:rPr lang="fr-FR" b="1" dirty="0" smtClean="0">
                <a:solidFill>
                  <a:srgbClr val="FF0000"/>
                </a:solidFill>
                <a:latin typeface="Latin Modern Math"/>
                <a:ea typeface="Latin Modern Math"/>
              </a:rPr>
              <a:t>⊈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b="1" dirty="0" smtClean="0">
                <a:solidFill>
                  <a:srgbClr val="FF0000"/>
                </a:solidFill>
              </a:rPr>
              <a:t> a → STOP</a:t>
            </a:r>
          </a:p>
          <a:p>
            <a:endParaRPr lang="fr-FR" dirty="0" smtClean="0"/>
          </a:p>
          <a:p>
            <a:r>
              <a:rPr lang="fr-FR" b="1" dirty="0" smtClean="0">
                <a:solidFill>
                  <a:srgbClr val="FF0000"/>
                </a:solidFill>
              </a:rPr>
              <a:t>⊆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dirty="0" smtClean="0"/>
              <a:t> vérifie la vivacité : le fait qu’une bonne chose se produise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 des raffinements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SPEC ⊆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b="1" dirty="0" smtClean="0">
                <a:solidFill>
                  <a:srgbClr val="FF0000"/>
                </a:solidFill>
              </a:rPr>
              <a:t> P </a:t>
            </a:r>
            <a:r>
              <a:rPr lang="fr-FR" dirty="0" smtClean="0"/>
              <a:t>signifie que </a:t>
            </a:r>
            <a:r>
              <a:rPr lang="fr-FR" b="1" dirty="0" smtClean="0">
                <a:solidFill>
                  <a:srgbClr val="FF0000"/>
                </a:solidFill>
              </a:rPr>
              <a:t>traces(P) ⊆ traces(SPEC)</a:t>
            </a:r>
          </a:p>
          <a:p>
            <a:pPr lvl="1"/>
            <a:r>
              <a:rPr lang="fr-FR" dirty="0" smtClean="0"/>
              <a:t>Toute exécution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est une exécution de </a:t>
            </a:r>
            <a:r>
              <a:rPr lang="fr-FR" b="1" dirty="0" smtClean="0">
                <a:solidFill>
                  <a:srgbClr val="FF0000"/>
                </a:solidFill>
              </a:rPr>
              <a:t>SPEC</a:t>
            </a:r>
          </a:p>
          <a:p>
            <a:pPr lvl="1"/>
            <a:r>
              <a:rPr lang="fr-FR" dirty="0" smtClean="0"/>
              <a:t>En d’autres termes, si </a:t>
            </a:r>
            <a:r>
              <a:rPr lang="fr-FR" b="1" dirty="0" smtClean="0">
                <a:solidFill>
                  <a:srgbClr val="FF0000"/>
                </a:solidFill>
              </a:rPr>
              <a:t>SPEC </a:t>
            </a:r>
            <a:r>
              <a:rPr lang="fr-FR" dirty="0" smtClean="0"/>
              <a:t>ne peut pas avoir une exécution </a:t>
            </a:r>
            <a:r>
              <a:rPr lang="fr-FR" b="1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 alors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ne peut pas l’avoir</a:t>
            </a:r>
          </a:p>
          <a:p>
            <a:pPr lvl="1"/>
            <a:r>
              <a:rPr lang="fr-FR" dirty="0" smtClean="0"/>
              <a:t>Conséquence : si </a:t>
            </a:r>
            <a:r>
              <a:rPr lang="fr-FR" b="1" dirty="0" smtClean="0">
                <a:solidFill>
                  <a:srgbClr val="FF0000"/>
                </a:solidFill>
              </a:rPr>
              <a:t>SPEC</a:t>
            </a:r>
            <a:r>
              <a:rPr lang="fr-FR" dirty="0" smtClean="0"/>
              <a:t> évite un comportement nuisible, alors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l’évite forcément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⊆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 limite ce que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peut faire (une sorte de borne supérieure)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⊆</a:t>
            </a:r>
            <a:r>
              <a:rPr lang="fr-FR" b="1" baseline="-25000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 est un raffinement assurant la sûreté</a:t>
            </a:r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STOP</a:t>
            </a:r>
            <a:r>
              <a:rPr lang="fr-FR" dirty="0" smtClean="0"/>
              <a:t> est un raffinement par trace de tous les processus !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 des raffinements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SPEC ⊆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b="1" dirty="0" smtClean="0">
                <a:solidFill>
                  <a:srgbClr val="FF0000"/>
                </a:solidFill>
              </a:rPr>
              <a:t> P </a:t>
            </a:r>
            <a:r>
              <a:rPr lang="fr-FR" dirty="0" smtClean="0"/>
              <a:t>signifie que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(P) ⊆ </a:t>
            </a:r>
            <a:r>
              <a:rPr lang="fr-FR" b="1" dirty="0" err="1" smtClean="0">
                <a:solidFill>
                  <a:srgbClr val="FF0000"/>
                </a:solidFill>
              </a:rPr>
              <a:t>failures</a:t>
            </a:r>
            <a:r>
              <a:rPr lang="fr-FR" b="1" dirty="0" smtClean="0">
                <a:solidFill>
                  <a:srgbClr val="FF0000"/>
                </a:solidFill>
              </a:rPr>
              <a:t>(SPEC) </a:t>
            </a:r>
            <a:r>
              <a:rPr lang="fr-FR" dirty="0" smtClean="0"/>
              <a:t>:</a:t>
            </a:r>
          </a:p>
          <a:p>
            <a:pPr lvl="1"/>
            <a:r>
              <a:rPr lang="fr-FR" dirty="0" smtClean="0"/>
              <a:t>si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un refus de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alors </a:t>
            </a:r>
            <a:r>
              <a:rPr lang="fr-FR" b="1" dirty="0" smtClean="0">
                <a:solidFill>
                  <a:srgbClr val="FF0000"/>
                </a:solidFill>
              </a:rPr>
              <a:t>X</a:t>
            </a:r>
            <a:r>
              <a:rPr lang="fr-FR" dirty="0" smtClean="0"/>
              <a:t> est un refus de </a:t>
            </a:r>
            <a:r>
              <a:rPr lang="fr-FR" b="1" dirty="0" smtClean="0">
                <a:solidFill>
                  <a:srgbClr val="FF0000"/>
                </a:solidFill>
              </a:rPr>
              <a:t>SPEC</a:t>
            </a:r>
          </a:p>
          <a:p>
            <a:pPr lvl="1"/>
            <a:r>
              <a:rPr lang="fr-FR" dirty="0" smtClean="0"/>
              <a:t>de même, si </a:t>
            </a:r>
            <a:r>
              <a:rPr lang="fr-FR" b="1" dirty="0" smtClean="0">
                <a:solidFill>
                  <a:srgbClr val="FF0000"/>
                </a:solidFill>
              </a:rPr>
              <a:t>Y</a:t>
            </a:r>
            <a:r>
              <a:rPr lang="fr-FR" dirty="0" smtClean="0"/>
              <a:t> n’est pas un refus de </a:t>
            </a:r>
            <a:r>
              <a:rPr lang="fr-FR" b="1" dirty="0" smtClean="0">
                <a:solidFill>
                  <a:srgbClr val="FF0000"/>
                </a:solidFill>
              </a:rPr>
              <a:t>SPEC </a:t>
            </a:r>
            <a:r>
              <a:rPr lang="fr-FR" dirty="0" smtClean="0"/>
              <a:t>alors ce n’est pas un refus à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</a:p>
          <a:p>
            <a:pPr lvl="1"/>
            <a:r>
              <a:rPr lang="fr-FR" dirty="0" smtClean="0"/>
              <a:t>Rappel : un refus est un ensemble des évènements causant le blocage ou « ce que le processus ne peut pas faire »</a:t>
            </a:r>
          </a:p>
          <a:p>
            <a:pPr lvl="1"/>
            <a:r>
              <a:rPr lang="fr-FR" dirty="0" smtClean="0"/>
              <a:t>On peut formaliser ceci par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refuse de faire </a:t>
            </a:r>
            <a:r>
              <a:rPr lang="fr-FR" b="1" dirty="0" err="1" smtClean="0">
                <a:solidFill>
                  <a:srgbClr val="FF0000"/>
                </a:solidFill>
              </a:rPr>
              <a:t>Prop</a:t>
            </a:r>
            <a:r>
              <a:rPr lang="fr-FR" b="1" dirty="0" smtClean="0">
                <a:solidFill>
                  <a:srgbClr val="FF0000"/>
                </a:solidFill>
              </a:rPr>
              <a:t> ⇒ SPEC</a:t>
            </a:r>
            <a:r>
              <a:rPr lang="fr-FR" dirty="0" smtClean="0"/>
              <a:t> refuse de faire </a:t>
            </a:r>
            <a:r>
              <a:rPr lang="fr-FR" b="1" dirty="0" err="1" smtClean="0">
                <a:solidFill>
                  <a:srgbClr val="FF0000"/>
                </a:solidFill>
              </a:rPr>
              <a:t>Prop</a:t>
            </a:r>
            <a:endParaRPr lang="fr-FR" b="1" dirty="0" smtClean="0">
              <a:solidFill>
                <a:srgbClr val="FF0000"/>
              </a:solidFill>
            </a:endParaRPr>
          </a:p>
          <a:p>
            <a:pPr lvl="2"/>
            <a:r>
              <a:rPr lang="fr-FR" dirty="0" smtClean="0"/>
              <a:t>la forme duale :</a:t>
            </a:r>
          </a:p>
          <a:p>
            <a:pPr lvl="3"/>
            <a:r>
              <a:rPr lang="fr-FR" b="1" dirty="0" smtClean="0">
                <a:solidFill>
                  <a:srgbClr val="FF0000"/>
                </a:solidFill>
              </a:rPr>
              <a:t>SPEC</a:t>
            </a:r>
            <a:r>
              <a:rPr lang="fr-FR" dirty="0" smtClean="0"/>
              <a:t> permet de réaliser </a:t>
            </a:r>
            <a:r>
              <a:rPr lang="fr-FR" b="1" dirty="0" err="1" smtClean="0">
                <a:solidFill>
                  <a:srgbClr val="FF0000"/>
                </a:solidFill>
              </a:rPr>
              <a:t>Prop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⇒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permet de réaliser </a:t>
            </a:r>
            <a:r>
              <a:rPr lang="fr-FR" b="1" dirty="0" err="1" smtClean="0">
                <a:solidFill>
                  <a:srgbClr val="FF0000"/>
                </a:solidFill>
              </a:rPr>
              <a:t>Prop</a:t>
            </a:r>
            <a:endParaRPr lang="fr-FR" b="1" dirty="0" smtClean="0">
              <a:solidFill>
                <a:srgbClr val="FF0000"/>
              </a:solidFill>
            </a:endParaRPr>
          </a:p>
          <a:p>
            <a:pPr lvl="2"/>
            <a:r>
              <a:rPr lang="fr-FR" dirty="0" smtClean="0"/>
              <a:t>Conséquence : si </a:t>
            </a:r>
            <a:r>
              <a:rPr lang="fr-FR" b="1" dirty="0" smtClean="0">
                <a:solidFill>
                  <a:srgbClr val="FF0000"/>
                </a:solidFill>
              </a:rPr>
              <a:t>SPEC</a:t>
            </a:r>
            <a:r>
              <a:rPr lang="fr-FR" dirty="0" smtClean="0"/>
              <a:t> peut avoir un bon comportement, alors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pourra l’avoir également</a:t>
            </a:r>
          </a:p>
          <a:p>
            <a:pPr lvl="2"/>
            <a:endParaRPr lang="fr-FR" dirty="0" smtClean="0"/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⊆F</a:t>
            </a:r>
            <a:r>
              <a:rPr lang="fr-FR" dirty="0" smtClean="0"/>
              <a:t> fixe une borne inférieure de ce que </a:t>
            </a:r>
            <a:r>
              <a:rPr lang="fr-FR" b="1" dirty="0" smtClean="0">
                <a:solidFill>
                  <a:srgbClr val="FF0000"/>
                </a:solidFill>
              </a:rPr>
              <a:t>P</a:t>
            </a:r>
            <a:r>
              <a:rPr lang="fr-FR" dirty="0" smtClean="0"/>
              <a:t> doit faire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⊆F</a:t>
            </a:r>
            <a:r>
              <a:rPr lang="fr-FR" dirty="0" smtClean="0"/>
              <a:t> est un raffinement assurant la vivacité</a:t>
            </a:r>
          </a:p>
          <a:p>
            <a:pPr lvl="1"/>
            <a:endParaRPr lang="fr-FR" dirty="0" smtClean="0"/>
          </a:p>
          <a:p>
            <a:pPr lvl="1"/>
            <a:r>
              <a:rPr lang="fr-FR" b="1" dirty="0" smtClean="0">
                <a:solidFill>
                  <a:srgbClr val="FF0000"/>
                </a:solidFill>
              </a:rPr>
              <a:t>STOP</a:t>
            </a:r>
            <a:r>
              <a:rPr lang="fr-FR" dirty="0" smtClean="0"/>
              <a:t> ne peut raffiner par échec que lui même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Spécification et Modélisation Formelles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Un processus est défini sur l’alphabet </a:t>
            </a:r>
            <a:r>
              <a:rPr lang="fr-FR" b="1" dirty="0" smtClean="0">
                <a:solidFill>
                  <a:srgbClr val="FF0000"/>
                </a:solidFill>
              </a:rPr>
              <a:t>{a, b, c}</a:t>
            </a:r>
            <a:r>
              <a:rPr lang="fr-FR" dirty="0" smtClean="0"/>
              <a:t>, on requiert que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 et </a:t>
            </a:r>
            <a:r>
              <a:rPr lang="fr-FR" b="1" dirty="0" smtClean="0">
                <a:solidFill>
                  <a:srgbClr val="FF0000"/>
                </a:solidFill>
              </a:rPr>
              <a:t>b</a:t>
            </a:r>
            <a:r>
              <a:rPr lang="fr-FR" dirty="0" smtClean="0"/>
              <a:t> se répètent alternativement à l’infini (en commençant à partir de </a:t>
            </a:r>
            <a:r>
              <a:rPr lang="fr-FR" b="1" dirty="0" smtClean="0">
                <a:solidFill>
                  <a:srgbClr val="FF0000"/>
                </a:solidFill>
              </a:rPr>
              <a:t>a</a:t>
            </a:r>
            <a:r>
              <a:rPr lang="fr-FR" dirty="0" smtClean="0"/>
              <a:t>), on doit toutefois permettre n’importe quelle séquence de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</a:p>
          <a:p>
            <a:endParaRPr lang="fr-FR" dirty="0" smtClean="0"/>
          </a:p>
          <a:p>
            <a:r>
              <a:rPr lang="fr-FR" dirty="0" smtClean="0"/>
              <a:t>On peut utiliser le processus </a:t>
            </a:r>
            <a:r>
              <a:rPr lang="fr-FR" b="1" dirty="0" smtClean="0">
                <a:solidFill>
                  <a:srgbClr val="FF0000"/>
                </a:solidFill>
              </a:rPr>
              <a:t>ALT = a → b → ALT</a:t>
            </a:r>
          </a:p>
          <a:p>
            <a:pPr lvl="1"/>
            <a:r>
              <a:rPr lang="fr-FR" dirty="0" smtClean="0"/>
              <a:t>Pour permettre à c se figurer librement dans la trace, on cache </a:t>
            </a:r>
            <a:r>
              <a:rPr lang="fr-FR" b="1" dirty="0" smtClean="0">
                <a:solidFill>
                  <a:srgbClr val="FF0000"/>
                </a:solidFill>
              </a:rPr>
              <a:t>c</a:t>
            </a:r>
            <a:r>
              <a:rPr lang="fr-FR" dirty="0" smtClean="0"/>
              <a:t> et on écrit :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ALT ⊆</a:t>
            </a:r>
            <a:r>
              <a:rPr lang="fr-FR" b="1" baseline="-25000" dirty="0" smtClean="0">
                <a:solidFill>
                  <a:srgbClr val="FF0000"/>
                </a:solidFill>
              </a:rPr>
              <a:t>F</a:t>
            </a:r>
            <a:r>
              <a:rPr lang="fr-FR" b="1" dirty="0" smtClean="0">
                <a:solidFill>
                  <a:srgbClr val="FF0000"/>
                </a:solidFill>
              </a:rPr>
              <a:t> P\{c}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Personnalisé 1">
      <a:majorFont>
        <a:latin typeface="Ubuntu"/>
        <a:ea typeface=""/>
        <a:cs typeface=""/>
      </a:majorFont>
      <a:minorFont>
        <a:latin typeface="Ubuntu"/>
        <a:ea typeface=""/>
        <a:cs typeface="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82993</TotalTime>
  <Words>7454</Words>
  <Application>Microsoft Office PowerPoint</Application>
  <PresentationFormat>Affichage à l'écran (4:3)</PresentationFormat>
  <Paragraphs>1054</Paragraphs>
  <Slides>83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83</vt:i4>
      </vt:variant>
    </vt:vector>
  </HeadingPairs>
  <TitlesOfParts>
    <vt:vector size="85" baseType="lpstr">
      <vt:lpstr>Civil</vt:lpstr>
      <vt:lpstr>Picture</vt:lpstr>
      <vt:lpstr>Chapitre 3 : les formalismes sémantiques de spécification</vt:lpstr>
      <vt:lpstr>Plan du chapitre</vt:lpstr>
      <vt:lpstr>Principe de raisonnement temporel sur les systèmes</vt:lpstr>
      <vt:lpstr>Systèmes de transition étiquetés</vt:lpstr>
      <vt:lpstr>Définitions</vt:lpstr>
      <vt:lpstr>Définitions</vt:lpstr>
      <vt:lpstr>Système de transition et structure de Kripke</vt:lpstr>
      <vt:lpstr>Exemple</vt:lpstr>
      <vt:lpstr>Déterminisme</vt:lpstr>
      <vt:lpstr>Produits de STE</vt:lpstr>
      <vt:lpstr>Produit synchronisé</vt:lpstr>
      <vt:lpstr>Exemple</vt:lpstr>
      <vt:lpstr>Exemple du produit synchronisé</vt:lpstr>
      <vt:lpstr>Propriétés des STE</vt:lpstr>
      <vt:lpstr>Les traces</vt:lpstr>
      <vt:lpstr>Exemple</vt:lpstr>
      <vt:lpstr>L’arbre d’exécution</vt:lpstr>
      <vt:lpstr>Exemple</vt:lpstr>
      <vt:lpstr>Relations entre processus</vt:lpstr>
      <vt:lpstr>Equivalence des processus</vt:lpstr>
      <vt:lpstr>Equivalence en trace</vt:lpstr>
      <vt:lpstr>Equivalence en structure : bisimulation forte</vt:lpstr>
      <vt:lpstr>Relation entre les équivalences</vt:lpstr>
      <vt:lpstr>Les algèbres de processus CSP</vt:lpstr>
      <vt:lpstr>Première version : un langage de programmation</vt:lpstr>
      <vt:lpstr>Grammaire du langage</vt:lpstr>
      <vt:lpstr>Grammaire du langage</vt:lpstr>
      <vt:lpstr>Exemples</vt:lpstr>
      <vt:lpstr>Exemples</vt:lpstr>
      <vt:lpstr>Exemples</vt:lpstr>
      <vt:lpstr>Exemples</vt:lpstr>
      <vt:lpstr>CSP en tant qu’algèbre de processus</vt:lpstr>
      <vt:lpstr>Notions fondamentales</vt:lpstr>
      <vt:lpstr>Commandes gardées</vt:lpstr>
      <vt:lpstr>Récursion</vt:lpstr>
      <vt:lpstr>Choix déterministe</vt:lpstr>
      <vt:lpstr>Choix déterministe</vt:lpstr>
      <vt:lpstr>Représentation graphique</vt:lpstr>
      <vt:lpstr>Représentation graphique</vt:lpstr>
      <vt:lpstr>Propriétés</vt:lpstr>
      <vt:lpstr>Interaction</vt:lpstr>
      <vt:lpstr>Propriétés de l’interaction</vt:lpstr>
      <vt:lpstr>Exemple d’interaction</vt:lpstr>
      <vt:lpstr>La concurrence</vt:lpstr>
      <vt:lpstr>Choix non déterministe</vt:lpstr>
      <vt:lpstr>Choix non déterministe</vt:lpstr>
      <vt:lpstr>Choix généralisé</vt:lpstr>
      <vt:lpstr>Le choix généralisé</vt:lpstr>
      <vt:lpstr>Différence entre ⊓ et □</vt:lpstr>
      <vt:lpstr>L’opérateur hidding</vt:lpstr>
      <vt:lpstr>Graphiquement</vt:lpstr>
      <vt:lpstr>Entrelacement</vt:lpstr>
      <vt:lpstr>Exemple</vt:lpstr>
      <vt:lpstr>Propriétés</vt:lpstr>
      <vt:lpstr>Communication</vt:lpstr>
      <vt:lpstr>Communication</vt:lpstr>
      <vt:lpstr>Important</vt:lpstr>
      <vt:lpstr>Sémantique opérationnelle de CSP</vt:lpstr>
      <vt:lpstr>Sémantique opérationnelle de CSP</vt:lpstr>
      <vt:lpstr>Les traces</vt:lpstr>
      <vt:lpstr>Opérations sur les traces</vt:lpstr>
      <vt:lpstr>Opérations sur les traces</vt:lpstr>
      <vt:lpstr>Opérations sur les traces</vt:lpstr>
      <vt:lpstr>L’opération traces</vt:lpstr>
      <vt:lpstr>Cas des définitions récursives</vt:lpstr>
      <vt:lpstr>Cas des définitions récursives</vt:lpstr>
      <vt:lpstr>Propriétés de traces</vt:lpstr>
      <vt:lpstr>L’opération after</vt:lpstr>
      <vt:lpstr>Equivalence et raffinement</vt:lpstr>
      <vt:lpstr>Exemples de raffinement</vt:lpstr>
      <vt:lpstr>Exemples de raffinement</vt:lpstr>
      <vt:lpstr>Exemples de raffinement</vt:lpstr>
      <vt:lpstr>Notion de refus</vt:lpstr>
      <vt:lpstr>Exemples de refus</vt:lpstr>
      <vt:lpstr>L’opération refusals</vt:lpstr>
      <vt:lpstr>L’opération refusals</vt:lpstr>
      <vt:lpstr>L’opérateur failures</vt:lpstr>
      <vt:lpstr>L’opérateur failures</vt:lpstr>
      <vt:lpstr>Raffinement par échec</vt:lpstr>
      <vt:lpstr>Raffinement par échec</vt:lpstr>
      <vt:lpstr>Propriétés des raffinements</vt:lpstr>
      <vt:lpstr>Propriété des raffinements</vt:lpstr>
      <vt:lpstr>Exemple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2 : spécification formelle des propriétés </dc:title>
  <dc:creator>DELL</dc:creator>
  <cp:lastModifiedBy>DELL</cp:lastModifiedBy>
  <cp:revision>1219</cp:revision>
  <dcterms:created xsi:type="dcterms:W3CDTF">2014-03-13T01:59:59Z</dcterms:created>
  <dcterms:modified xsi:type="dcterms:W3CDTF">2017-04-15T11:21:29Z</dcterms:modified>
</cp:coreProperties>
</file>