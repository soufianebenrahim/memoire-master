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03E8E-7016-45F7-9CBE-3DCBD891D562}" type="datetimeFigureOut">
              <a:rPr lang="fr-FR" smtClean="0"/>
              <a:pPr/>
              <a:t>17/02/2015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CDE45-2653-4513-9C09-FD776B5B163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3516-0CDA-4B70-94A8-25EB7D16490E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272AC-E867-4124-9EC0-007EACDC7FCF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F78F-519F-43AA-8D54-888B6E8580F0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23E64B7-CBF6-4EC5-948E-252FD513DCDB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555A-1277-4232-9CC0-22F89B2C0DAF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0856-6EB9-490E-B8E1-BE293AC786DF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113F7-033B-41CA-8400-4327E89797F0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014C-5ED1-4E88-A896-7EAAE9F4C06B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91E309D-9871-43A1-8A31-733BB9C2FCE1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E5A8-8C5D-4676-9370-5B8776347A1E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CFB1-90D3-48EE-87D2-09E99F59F972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67BD775-F832-4BC6-8FF4-AEA6F41D4A39}" type="datetime1">
              <a:rPr lang="fr-FR" smtClean="0"/>
              <a:pPr/>
              <a:t>17/02/2015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084F245-EEB3-46D4-A4E4-C3235CB3A5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537592"/>
          </a:xfrm>
        </p:spPr>
        <p:txBody>
          <a:bodyPr>
            <a:normAutofit/>
          </a:bodyPr>
          <a:lstStyle/>
          <a:p>
            <a:r>
              <a:rPr lang="fr-FR" dirty="0" smtClean="0"/>
              <a:t>Présenté par : DR. T. BENOUHIBA</a:t>
            </a:r>
          </a:p>
          <a:p>
            <a:endParaRPr lang="fr-FR" dirty="0" smtClean="0"/>
          </a:p>
        </p:txBody>
      </p:sp>
      <p:sp>
        <p:nvSpPr>
          <p:cNvPr id="37" name="Espace réservé du pied de page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Spécification et Modélisation Formelles</a:t>
            </a:r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524272"/>
            <a:ext cx="8062664" cy="1752600"/>
          </a:xfrm>
        </p:spPr>
        <p:txBody>
          <a:bodyPr>
            <a:normAutofit/>
          </a:bodyPr>
          <a:lstStyle/>
          <a:p>
            <a:r>
              <a:rPr lang="fr-FR" sz="3600" dirty="0" smtClean="0"/>
              <a:t>Cours : spécification formelle des systèmes</a:t>
            </a:r>
            <a:endParaRPr lang="fr-FR" sz="3600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79512" y="116632"/>
          <a:ext cx="87849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3"/>
                <a:gridCol w="2288391"/>
                <a:gridCol w="2680162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Master ILC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Département d’informatique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Université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Badji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Mokhtar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Annaba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ماستر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هندسة البرامج المعقدة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قسم الإعلام الآلي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جامعة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باجي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مختار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عنابة</a:t>
                      </a:r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4427984" y="188640"/>
          <a:ext cx="1057275" cy="790575"/>
        </p:xfrm>
        <a:graphic>
          <a:graphicData uri="http://schemas.openxmlformats.org/presentationml/2006/ole">
            <p:oleObj spid="_x0000_s1026" name="Picture" r:id="rId3" imgW="1051741" imgH="785820" progId="Word.Picture.8">
              <p:embed/>
            </p:oleObj>
          </a:graphicData>
        </a:graphic>
      </p:graphicFrame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823045" y="3501008"/>
            <a:ext cx="5629275" cy="2408237"/>
            <a:chOff x="1538" y="1936"/>
            <a:chExt cx="8864" cy="3791"/>
          </a:xfrm>
        </p:grpSpPr>
        <p:sp>
          <p:nvSpPr>
            <p:cNvPr id="16389" name="AutoShape 5"/>
            <p:cNvSpPr>
              <a:spLocks noChangeArrowheads="1"/>
            </p:cNvSpPr>
            <p:nvPr/>
          </p:nvSpPr>
          <p:spPr bwMode="auto">
            <a:xfrm rot="10800000">
              <a:off x="6839" y="2391"/>
              <a:ext cx="3387" cy="953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5348" y="2467"/>
              <a:ext cx="4953" cy="1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مــخبر هــندسـة</a:t>
              </a:r>
              <a:endParaRPr kumimoji="0" lang="fr-FR" sz="2800" b="0" i="0" u="none" strike="noStrike" cap="none" normalizeH="0" baseline="0" smtClean="0">
                <a:ln>
                  <a:noFill/>
                </a:ln>
                <a:solidFill>
                  <a:srgbClr val="00359E"/>
                </a:solidFill>
                <a:effectLst/>
                <a:latin typeface="Arial" pitchFamily="34" charset="0"/>
                <a:ea typeface="Arial" pitchFamily="34" charset="0"/>
                <a:cs typeface="Simplified Arabic" pitchFamily="18" charset="-78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الأنـظمـة الـمعقـدة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91" name="AutoShape 7"/>
            <p:cNvSpPr>
              <a:spLocks noChangeArrowheads="1"/>
            </p:cNvSpPr>
            <p:nvPr/>
          </p:nvSpPr>
          <p:spPr bwMode="auto">
            <a:xfrm>
              <a:off x="5449" y="4407"/>
              <a:ext cx="3388" cy="954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898" y="3806"/>
              <a:ext cx="8403" cy="1276"/>
              <a:chOff x="3449" y="2209"/>
              <a:chExt cx="3691" cy="582"/>
            </a:xfrm>
          </p:grpSpPr>
          <p:sp>
            <p:nvSpPr>
              <p:cNvPr id="16393" name="Freeform 9"/>
              <p:cNvSpPr>
                <a:spLocks/>
              </p:cNvSpPr>
              <p:nvPr/>
            </p:nvSpPr>
            <p:spPr bwMode="auto">
              <a:xfrm>
                <a:off x="3449" y="2209"/>
                <a:ext cx="3688" cy="465"/>
              </a:xfrm>
              <a:custGeom>
                <a:avLst/>
                <a:gdLst/>
                <a:ahLst/>
                <a:cxnLst>
                  <a:cxn ang="0">
                    <a:pos x="0" y="465"/>
                  </a:cxn>
                  <a:cxn ang="0">
                    <a:pos x="1201" y="6"/>
                  </a:cxn>
                  <a:cxn ang="0">
                    <a:pos x="3688" y="6"/>
                  </a:cxn>
                </a:cxnLst>
                <a:rect l="0" t="0" r="r" b="b"/>
                <a:pathLst>
                  <a:path w="3688" h="465">
                    <a:moveTo>
                      <a:pt x="0" y="465"/>
                    </a:moveTo>
                    <a:cubicBezTo>
                      <a:pt x="308" y="254"/>
                      <a:pt x="531" y="0"/>
                      <a:pt x="1201" y="6"/>
                    </a:cubicBezTo>
                    <a:lnTo>
                      <a:pt x="3688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4" name="Freeform 10"/>
              <p:cNvSpPr>
                <a:spLocks/>
              </p:cNvSpPr>
              <p:nvPr/>
            </p:nvSpPr>
            <p:spPr bwMode="auto">
              <a:xfrm>
                <a:off x="3449" y="2248"/>
                <a:ext cx="3686" cy="474"/>
              </a:xfrm>
              <a:custGeom>
                <a:avLst/>
                <a:gdLst/>
                <a:ahLst/>
                <a:cxnLst>
                  <a:cxn ang="0">
                    <a:pos x="0" y="474"/>
                  </a:cxn>
                  <a:cxn ang="0">
                    <a:pos x="1199" y="6"/>
                  </a:cxn>
                  <a:cxn ang="0">
                    <a:pos x="3686" y="6"/>
                  </a:cxn>
                </a:cxnLst>
                <a:rect l="0" t="0" r="r" b="b"/>
                <a:pathLst>
                  <a:path w="3686" h="474">
                    <a:moveTo>
                      <a:pt x="0" y="474"/>
                    </a:moveTo>
                    <a:cubicBezTo>
                      <a:pt x="308" y="263"/>
                      <a:pt x="529" y="0"/>
                      <a:pt x="1199" y="6"/>
                    </a:cubicBezTo>
                    <a:lnTo>
                      <a:pt x="3686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5" name="Freeform 11"/>
              <p:cNvSpPr>
                <a:spLocks/>
              </p:cNvSpPr>
              <p:nvPr/>
            </p:nvSpPr>
            <p:spPr bwMode="auto">
              <a:xfrm>
                <a:off x="3500" y="2290"/>
                <a:ext cx="3637" cy="441"/>
              </a:xfrm>
              <a:custGeom>
                <a:avLst/>
                <a:gdLst/>
                <a:ahLst/>
                <a:cxnLst>
                  <a:cxn ang="0">
                    <a:pos x="0" y="441"/>
                  </a:cxn>
                  <a:cxn ang="0">
                    <a:pos x="1150" y="6"/>
                  </a:cxn>
                  <a:cxn ang="0">
                    <a:pos x="3637" y="6"/>
                  </a:cxn>
                </a:cxnLst>
                <a:rect l="0" t="0" r="r" b="b"/>
                <a:pathLst>
                  <a:path w="3637" h="441">
                    <a:moveTo>
                      <a:pt x="0" y="441"/>
                    </a:moveTo>
                    <a:cubicBezTo>
                      <a:pt x="308" y="230"/>
                      <a:pt x="480" y="0"/>
                      <a:pt x="1150" y="6"/>
                    </a:cubicBezTo>
                    <a:lnTo>
                      <a:pt x="3637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6" name="Freeform 12"/>
              <p:cNvSpPr>
                <a:spLocks/>
              </p:cNvSpPr>
              <p:nvPr/>
            </p:nvSpPr>
            <p:spPr bwMode="auto">
              <a:xfrm>
                <a:off x="3482" y="2329"/>
                <a:ext cx="3658" cy="462"/>
              </a:xfrm>
              <a:custGeom>
                <a:avLst/>
                <a:gdLst/>
                <a:ahLst/>
                <a:cxnLst>
                  <a:cxn ang="0">
                    <a:pos x="0" y="462"/>
                  </a:cxn>
                  <a:cxn ang="0">
                    <a:pos x="1166" y="6"/>
                  </a:cxn>
                  <a:cxn ang="0">
                    <a:pos x="3658" y="4"/>
                  </a:cxn>
                </a:cxnLst>
                <a:rect l="0" t="0" r="r" b="b"/>
                <a:pathLst>
                  <a:path w="3658" h="462">
                    <a:moveTo>
                      <a:pt x="0" y="462"/>
                    </a:moveTo>
                    <a:cubicBezTo>
                      <a:pt x="308" y="251"/>
                      <a:pt x="496" y="0"/>
                      <a:pt x="1166" y="6"/>
                    </a:cubicBezTo>
                    <a:lnTo>
                      <a:pt x="3658" y="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0246" y="3734"/>
              <a:ext cx="156" cy="3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8" name="Text Box 14"/>
            <p:cNvSpPr txBox="1">
              <a:spLocks noChangeArrowheads="1"/>
            </p:cNvSpPr>
            <p:nvPr/>
          </p:nvSpPr>
          <p:spPr bwMode="auto">
            <a:xfrm>
              <a:off x="5413" y="4225"/>
              <a:ext cx="4794" cy="1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Laboratoire  d’Ingénierie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des  Systèmes  Complexes</a:t>
              </a:r>
              <a:endPara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1538" y="1936"/>
              <a:ext cx="3784" cy="3791"/>
              <a:chOff x="3301" y="1332"/>
              <a:chExt cx="1726" cy="1729"/>
            </a:xfrm>
          </p:grpSpPr>
          <p:sp>
            <p:nvSpPr>
              <p:cNvPr id="16400" name="Freeform 16"/>
              <p:cNvSpPr>
                <a:spLocks/>
              </p:cNvSpPr>
              <p:nvPr/>
            </p:nvSpPr>
            <p:spPr bwMode="auto">
              <a:xfrm>
                <a:off x="4131" y="1776"/>
                <a:ext cx="244" cy="295"/>
              </a:xfrm>
              <a:custGeom>
                <a:avLst/>
                <a:gdLst/>
                <a:ahLst/>
                <a:cxnLst>
                  <a:cxn ang="0">
                    <a:pos x="120" y="238"/>
                  </a:cxn>
                  <a:cxn ang="0">
                    <a:pos x="190" y="55"/>
                  </a:cxn>
                  <a:cxn ang="0">
                    <a:pos x="47" y="118"/>
                  </a:cxn>
                  <a:cxn ang="0">
                    <a:pos x="82" y="295"/>
                  </a:cxn>
                  <a:cxn ang="0">
                    <a:pos x="58" y="149"/>
                  </a:cxn>
                  <a:cxn ang="0">
                    <a:pos x="152" y="100"/>
                  </a:cxn>
                  <a:cxn ang="0">
                    <a:pos x="120" y="238"/>
                  </a:cxn>
                </a:cxnLst>
                <a:rect l="0" t="0" r="r" b="b"/>
                <a:pathLst>
                  <a:path w="244" h="295">
                    <a:moveTo>
                      <a:pt x="120" y="238"/>
                    </a:moveTo>
                    <a:cubicBezTo>
                      <a:pt x="184" y="192"/>
                      <a:pt x="244" y="110"/>
                      <a:pt x="190" y="55"/>
                    </a:cubicBezTo>
                    <a:cubicBezTo>
                      <a:pt x="136" y="0"/>
                      <a:pt x="64" y="81"/>
                      <a:pt x="47" y="118"/>
                    </a:cubicBezTo>
                    <a:cubicBezTo>
                      <a:pt x="29" y="156"/>
                      <a:pt x="0" y="220"/>
                      <a:pt x="82" y="295"/>
                    </a:cubicBezTo>
                    <a:cubicBezTo>
                      <a:pt x="35" y="244"/>
                      <a:pt x="36" y="183"/>
                      <a:pt x="58" y="149"/>
                    </a:cubicBezTo>
                    <a:cubicBezTo>
                      <a:pt x="81" y="115"/>
                      <a:pt x="115" y="70"/>
                      <a:pt x="152" y="100"/>
                    </a:cubicBezTo>
                    <a:cubicBezTo>
                      <a:pt x="188" y="129"/>
                      <a:pt x="159" y="194"/>
                      <a:pt x="120" y="238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1" name="Freeform 17"/>
              <p:cNvSpPr>
                <a:spLocks/>
              </p:cNvSpPr>
              <p:nvPr/>
            </p:nvSpPr>
            <p:spPr bwMode="auto">
              <a:xfrm>
                <a:off x="4246" y="1937"/>
                <a:ext cx="226" cy="190"/>
              </a:xfrm>
              <a:custGeom>
                <a:avLst/>
                <a:gdLst/>
                <a:ahLst/>
                <a:cxnLst>
                  <a:cxn ang="0">
                    <a:pos x="151" y="0"/>
                  </a:cxn>
                  <a:cxn ang="0">
                    <a:pos x="0" y="152"/>
                  </a:cxn>
                  <a:cxn ang="0">
                    <a:pos x="202" y="107"/>
                  </a:cxn>
                  <a:cxn ang="0">
                    <a:pos x="151" y="0"/>
                  </a:cxn>
                </a:cxnLst>
                <a:rect l="0" t="0" r="r" b="b"/>
                <a:pathLst>
                  <a:path w="226" h="190">
                    <a:moveTo>
                      <a:pt x="151" y="0"/>
                    </a:moveTo>
                    <a:cubicBezTo>
                      <a:pt x="121" y="55"/>
                      <a:pt x="83" y="151"/>
                      <a:pt x="0" y="152"/>
                    </a:cubicBezTo>
                    <a:cubicBezTo>
                      <a:pt x="69" y="190"/>
                      <a:pt x="178" y="151"/>
                      <a:pt x="202" y="107"/>
                    </a:cubicBezTo>
                    <a:cubicBezTo>
                      <a:pt x="226" y="64"/>
                      <a:pt x="196" y="12"/>
                      <a:pt x="151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2" name="Freeform 18"/>
              <p:cNvSpPr>
                <a:spLocks noChangeAspect="1"/>
              </p:cNvSpPr>
              <p:nvPr/>
            </p:nvSpPr>
            <p:spPr bwMode="auto">
              <a:xfrm rot="-451034">
                <a:off x="4367" y="1996"/>
                <a:ext cx="57" cy="48"/>
              </a:xfrm>
              <a:custGeom>
                <a:avLst/>
                <a:gdLst/>
                <a:ahLst/>
                <a:cxnLst>
                  <a:cxn ang="0">
                    <a:pos x="111" y="0"/>
                  </a:cxn>
                  <a:cxn ang="0">
                    <a:pos x="0" y="182"/>
                  </a:cxn>
                  <a:cxn ang="0">
                    <a:pos x="133" y="86"/>
                  </a:cxn>
                  <a:cxn ang="0">
                    <a:pos x="111" y="0"/>
                  </a:cxn>
                </a:cxnLst>
                <a:rect l="0" t="0" r="r" b="b"/>
                <a:pathLst>
                  <a:path w="146" h="182">
                    <a:moveTo>
                      <a:pt x="111" y="0"/>
                    </a:moveTo>
                    <a:cubicBezTo>
                      <a:pt x="90" y="56"/>
                      <a:pt x="60" y="128"/>
                      <a:pt x="0" y="182"/>
                    </a:cubicBezTo>
                    <a:cubicBezTo>
                      <a:pt x="107" y="129"/>
                      <a:pt x="121" y="112"/>
                      <a:pt x="133" y="86"/>
                    </a:cubicBezTo>
                    <a:cubicBezTo>
                      <a:pt x="146" y="60"/>
                      <a:pt x="123" y="9"/>
                      <a:pt x="1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3" name="Freeform 19"/>
              <p:cNvSpPr>
                <a:spLocks/>
              </p:cNvSpPr>
              <p:nvPr/>
            </p:nvSpPr>
            <p:spPr bwMode="auto">
              <a:xfrm>
                <a:off x="3921" y="1687"/>
                <a:ext cx="390" cy="562"/>
              </a:xfrm>
              <a:custGeom>
                <a:avLst/>
                <a:gdLst/>
                <a:ahLst/>
                <a:cxnLst>
                  <a:cxn ang="0">
                    <a:pos x="224" y="0"/>
                  </a:cxn>
                  <a:cxn ang="0">
                    <a:pos x="114" y="529"/>
                  </a:cxn>
                  <a:cxn ang="0">
                    <a:pos x="324" y="286"/>
                  </a:cxn>
                  <a:cxn ang="0">
                    <a:pos x="210" y="307"/>
                  </a:cxn>
                  <a:cxn ang="0">
                    <a:pos x="260" y="421"/>
                  </a:cxn>
                  <a:cxn ang="0">
                    <a:pos x="227" y="356"/>
                  </a:cxn>
                  <a:cxn ang="0">
                    <a:pos x="288" y="319"/>
                  </a:cxn>
                  <a:cxn ang="0">
                    <a:pos x="174" y="466"/>
                  </a:cxn>
                  <a:cxn ang="0">
                    <a:pos x="224" y="0"/>
                  </a:cxn>
                </a:cxnLst>
                <a:rect l="0" t="0" r="r" b="b"/>
                <a:pathLst>
                  <a:path w="390" h="562">
                    <a:moveTo>
                      <a:pt x="224" y="0"/>
                    </a:moveTo>
                    <a:cubicBezTo>
                      <a:pt x="183" y="287"/>
                      <a:pt x="0" y="496"/>
                      <a:pt x="114" y="529"/>
                    </a:cubicBezTo>
                    <a:cubicBezTo>
                      <a:pt x="228" y="562"/>
                      <a:pt x="390" y="373"/>
                      <a:pt x="324" y="286"/>
                    </a:cubicBezTo>
                    <a:cubicBezTo>
                      <a:pt x="290" y="239"/>
                      <a:pt x="225" y="265"/>
                      <a:pt x="210" y="307"/>
                    </a:cubicBezTo>
                    <a:cubicBezTo>
                      <a:pt x="195" y="349"/>
                      <a:pt x="200" y="394"/>
                      <a:pt x="260" y="421"/>
                    </a:cubicBezTo>
                    <a:cubicBezTo>
                      <a:pt x="228" y="408"/>
                      <a:pt x="223" y="380"/>
                      <a:pt x="227" y="356"/>
                    </a:cubicBezTo>
                    <a:cubicBezTo>
                      <a:pt x="231" y="332"/>
                      <a:pt x="252" y="280"/>
                      <a:pt x="288" y="319"/>
                    </a:cubicBezTo>
                    <a:cubicBezTo>
                      <a:pt x="324" y="358"/>
                      <a:pt x="264" y="474"/>
                      <a:pt x="174" y="466"/>
                    </a:cubicBezTo>
                    <a:cubicBezTo>
                      <a:pt x="84" y="458"/>
                      <a:pt x="183" y="281"/>
                      <a:pt x="224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4" name="Freeform 20"/>
              <p:cNvSpPr>
                <a:spLocks/>
              </p:cNvSpPr>
              <p:nvPr/>
            </p:nvSpPr>
            <p:spPr bwMode="auto">
              <a:xfrm rot="870589">
                <a:off x="3721" y="1921"/>
                <a:ext cx="273" cy="347"/>
              </a:xfrm>
              <a:custGeom>
                <a:avLst/>
                <a:gdLst/>
                <a:ahLst/>
                <a:cxnLst>
                  <a:cxn ang="0">
                    <a:pos x="980" y="0"/>
                  </a:cxn>
                  <a:cxn ang="0">
                    <a:pos x="0" y="1804"/>
                  </a:cxn>
                  <a:cxn ang="0">
                    <a:pos x="1355" y="597"/>
                  </a:cxn>
                  <a:cxn ang="0">
                    <a:pos x="980" y="0"/>
                  </a:cxn>
                </a:cxnLst>
                <a:rect l="0" t="0" r="r" b="b"/>
                <a:pathLst>
                  <a:path w="1424" h="1804">
                    <a:moveTo>
                      <a:pt x="980" y="0"/>
                    </a:moveTo>
                    <a:cubicBezTo>
                      <a:pt x="876" y="574"/>
                      <a:pt x="486" y="1238"/>
                      <a:pt x="0" y="1804"/>
                    </a:cubicBezTo>
                    <a:cubicBezTo>
                      <a:pt x="1057" y="699"/>
                      <a:pt x="1286" y="889"/>
                      <a:pt x="1355" y="597"/>
                    </a:cubicBezTo>
                    <a:cubicBezTo>
                      <a:pt x="1424" y="305"/>
                      <a:pt x="1136" y="42"/>
                      <a:pt x="980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5" name="Freeform 21"/>
              <p:cNvSpPr>
                <a:spLocks/>
              </p:cNvSpPr>
              <p:nvPr/>
            </p:nvSpPr>
            <p:spPr bwMode="auto">
              <a:xfrm rot="32812">
                <a:off x="3896" y="2009"/>
                <a:ext cx="71" cy="71"/>
              </a:xfrm>
              <a:custGeom>
                <a:avLst/>
                <a:gdLst/>
                <a:ahLst/>
                <a:cxnLst>
                  <a:cxn ang="0">
                    <a:pos x="1386" y="0"/>
                  </a:cxn>
                  <a:cxn ang="0">
                    <a:pos x="0" y="1515"/>
                  </a:cxn>
                  <a:cxn ang="0">
                    <a:pos x="1625" y="682"/>
                  </a:cxn>
                  <a:cxn ang="0">
                    <a:pos x="1386" y="0"/>
                  </a:cxn>
                </a:cxnLst>
                <a:rect l="0" t="0" r="r" b="b"/>
                <a:pathLst>
                  <a:path w="1768" h="1515">
                    <a:moveTo>
                      <a:pt x="1386" y="0"/>
                    </a:moveTo>
                    <a:cubicBezTo>
                      <a:pt x="1147" y="532"/>
                      <a:pt x="437" y="1255"/>
                      <a:pt x="0" y="1515"/>
                    </a:cubicBezTo>
                    <a:cubicBezTo>
                      <a:pt x="1004" y="941"/>
                      <a:pt x="1482" y="934"/>
                      <a:pt x="1625" y="682"/>
                    </a:cubicBezTo>
                    <a:cubicBezTo>
                      <a:pt x="1768" y="430"/>
                      <a:pt x="1527" y="79"/>
                      <a:pt x="1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6" name="Freeform 22"/>
              <p:cNvSpPr>
                <a:spLocks/>
              </p:cNvSpPr>
              <p:nvPr/>
            </p:nvSpPr>
            <p:spPr bwMode="auto">
              <a:xfrm>
                <a:off x="3917" y="2188"/>
                <a:ext cx="206" cy="369"/>
              </a:xfrm>
              <a:custGeom>
                <a:avLst/>
                <a:gdLst/>
                <a:ahLst/>
                <a:cxnLst>
                  <a:cxn ang="0">
                    <a:pos x="83" y="116"/>
                  </a:cxn>
                  <a:cxn ang="0">
                    <a:pos x="238" y="1923"/>
                  </a:cxn>
                  <a:cxn ang="0">
                    <a:pos x="960" y="1542"/>
                  </a:cxn>
                  <a:cxn ang="0">
                    <a:pos x="1075" y="1209"/>
                  </a:cxn>
                  <a:cxn ang="0">
                    <a:pos x="363" y="1682"/>
                  </a:cxn>
                  <a:cxn ang="0">
                    <a:pos x="455" y="450"/>
                  </a:cxn>
                  <a:cxn ang="0">
                    <a:pos x="83" y="116"/>
                  </a:cxn>
                </a:cxnLst>
                <a:rect l="0" t="0" r="r" b="b"/>
                <a:pathLst>
                  <a:path w="1075" h="1923">
                    <a:moveTo>
                      <a:pt x="83" y="116"/>
                    </a:moveTo>
                    <a:cubicBezTo>
                      <a:pt x="0" y="232"/>
                      <a:pt x="261" y="1218"/>
                      <a:pt x="238" y="1923"/>
                    </a:cubicBezTo>
                    <a:cubicBezTo>
                      <a:pt x="645" y="1654"/>
                      <a:pt x="784" y="1611"/>
                      <a:pt x="960" y="1542"/>
                    </a:cubicBezTo>
                    <a:lnTo>
                      <a:pt x="1075" y="1209"/>
                    </a:lnTo>
                    <a:cubicBezTo>
                      <a:pt x="812" y="1357"/>
                      <a:pt x="705" y="1598"/>
                      <a:pt x="363" y="1682"/>
                    </a:cubicBezTo>
                    <a:cubicBezTo>
                      <a:pt x="488" y="625"/>
                      <a:pt x="722" y="590"/>
                      <a:pt x="455" y="450"/>
                    </a:cubicBezTo>
                    <a:cubicBezTo>
                      <a:pt x="188" y="310"/>
                      <a:pt x="166" y="0"/>
                      <a:pt x="83" y="116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7" name="Freeform 23"/>
              <p:cNvSpPr>
                <a:spLocks/>
              </p:cNvSpPr>
              <p:nvPr/>
            </p:nvSpPr>
            <p:spPr bwMode="auto">
              <a:xfrm>
                <a:off x="4069" y="2279"/>
                <a:ext cx="64" cy="144"/>
              </a:xfrm>
              <a:custGeom>
                <a:avLst/>
                <a:gdLst/>
                <a:ahLst/>
                <a:cxnLst>
                  <a:cxn ang="0">
                    <a:pos x="64" y="101"/>
                  </a:cxn>
                  <a:cxn ang="0">
                    <a:pos x="0" y="751"/>
                  </a:cxn>
                  <a:cxn ang="0">
                    <a:pos x="259" y="559"/>
                  </a:cxn>
                  <a:cxn ang="0">
                    <a:pos x="331" y="0"/>
                  </a:cxn>
                  <a:cxn ang="0">
                    <a:pos x="64" y="101"/>
                  </a:cxn>
                </a:cxnLst>
                <a:rect l="0" t="0" r="r" b="b"/>
                <a:pathLst>
                  <a:path w="331" h="751">
                    <a:moveTo>
                      <a:pt x="64" y="101"/>
                    </a:moveTo>
                    <a:cubicBezTo>
                      <a:pt x="11" y="224"/>
                      <a:pt x="190" y="233"/>
                      <a:pt x="0" y="751"/>
                    </a:cubicBezTo>
                    <a:cubicBezTo>
                      <a:pt x="103" y="666"/>
                      <a:pt x="143" y="624"/>
                      <a:pt x="259" y="559"/>
                    </a:cubicBezTo>
                    <a:cubicBezTo>
                      <a:pt x="207" y="320"/>
                      <a:pt x="303" y="111"/>
                      <a:pt x="331" y="0"/>
                    </a:cubicBezTo>
                    <a:cubicBezTo>
                      <a:pt x="192" y="139"/>
                      <a:pt x="115" y="83"/>
                      <a:pt x="64" y="101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8" name="Freeform 24"/>
              <p:cNvSpPr>
                <a:spLocks/>
              </p:cNvSpPr>
              <p:nvPr/>
            </p:nvSpPr>
            <p:spPr bwMode="auto">
              <a:xfrm>
                <a:off x="4142" y="2176"/>
                <a:ext cx="170" cy="287"/>
              </a:xfrm>
              <a:custGeom>
                <a:avLst/>
                <a:gdLst/>
                <a:ahLst/>
                <a:cxnLst>
                  <a:cxn ang="0">
                    <a:pos x="515" y="55"/>
                  </a:cxn>
                  <a:cxn ang="0">
                    <a:pos x="885" y="0"/>
                  </a:cxn>
                  <a:cxn ang="0">
                    <a:pos x="784" y="166"/>
                  </a:cxn>
                  <a:cxn ang="0">
                    <a:pos x="321" y="447"/>
                  </a:cxn>
                  <a:cxn ang="0">
                    <a:pos x="719" y="962"/>
                  </a:cxn>
                  <a:cxn ang="0">
                    <a:pos x="0" y="1500"/>
                  </a:cxn>
                  <a:cxn ang="0">
                    <a:pos x="93" y="1218"/>
                  </a:cxn>
                  <a:cxn ang="0">
                    <a:pos x="557" y="957"/>
                  </a:cxn>
                  <a:cxn ang="0">
                    <a:pos x="137" y="503"/>
                  </a:cxn>
                  <a:cxn ang="0">
                    <a:pos x="515" y="55"/>
                  </a:cxn>
                </a:cxnLst>
                <a:rect l="0" t="0" r="r" b="b"/>
                <a:pathLst>
                  <a:path w="885" h="1500">
                    <a:moveTo>
                      <a:pt x="515" y="55"/>
                    </a:moveTo>
                    <a:cubicBezTo>
                      <a:pt x="674" y="21"/>
                      <a:pt x="691" y="21"/>
                      <a:pt x="885" y="0"/>
                    </a:cubicBezTo>
                    <a:cubicBezTo>
                      <a:pt x="885" y="0"/>
                      <a:pt x="835" y="88"/>
                      <a:pt x="784" y="166"/>
                    </a:cubicBezTo>
                    <a:cubicBezTo>
                      <a:pt x="566" y="210"/>
                      <a:pt x="393" y="183"/>
                      <a:pt x="321" y="447"/>
                    </a:cubicBezTo>
                    <a:cubicBezTo>
                      <a:pt x="249" y="711"/>
                      <a:pt x="770" y="592"/>
                      <a:pt x="719" y="962"/>
                    </a:cubicBezTo>
                    <a:cubicBezTo>
                      <a:pt x="668" y="1332"/>
                      <a:pt x="537" y="1198"/>
                      <a:pt x="0" y="1500"/>
                    </a:cubicBezTo>
                    <a:lnTo>
                      <a:pt x="93" y="1218"/>
                    </a:lnTo>
                    <a:cubicBezTo>
                      <a:pt x="353" y="1106"/>
                      <a:pt x="516" y="1200"/>
                      <a:pt x="557" y="957"/>
                    </a:cubicBezTo>
                    <a:cubicBezTo>
                      <a:pt x="598" y="714"/>
                      <a:pt x="100" y="835"/>
                      <a:pt x="137" y="503"/>
                    </a:cubicBezTo>
                    <a:cubicBezTo>
                      <a:pt x="174" y="170"/>
                      <a:pt x="356" y="89"/>
                      <a:pt x="515" y="55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9" name="Freeform 25"/>
              <p:cNvSpPr>
                <a:spLocks/>
              </p:cNvSpPr>
              <p:nvPr/>
            </p:nvSpPr>
            <p:spPr bwMode="auto">
              <a:xfrm rot="245917">
                <a:off x="4290" y="2157"/>
                <a:ext cx="187" cy="263"/>
              </a:xfrm>
              <a:custGeom>
                <a:avLst/>
                <a:gdLst/>
                <a:ahLst/>
                <a:cxnLst>
                  <a:cxn ang="0">
                    <a:pos x="956" y="22"/>
                  </a:cxn>
                  <a:cxn ang="0">
                    <a:pos x="327" y="219"/>
                  </a:cxn>
                  <a:cxn ang="0">
                    <a:pos x="275" y="1175"/>
                  </a:cxn>
                  <a:cxn ang="0">
                    <a:pos x="973" y="1031"/>
                  </a:cxn>
                  <a:cxn ang="0">
                    <a:pos x="891" y="883"/>
                  </a:cxn>
                  <a:cxn ang="0">
                    <a:pos x="372" y="1027"/>
                  </a:cxn>
                  <a:cxn ang="0">
                    <a:pos x="386" y="416"/>
                  </a:cxn>
                  <a:cxn ang="0">
                    <a:pos x="840" y="295"/>
                  </a:cxn>
                  <a:cxn ang="0">
                    <a:pos x="956" y="22"/>
                  </a:cxn>
                </a:cxnLst>
                <a:rect l="0" t="0" r="r" b="b"/>
                <a:pathLst>
                  <a:path w="973" h="1370">
                    <a:moveTo>
                      <a:pt x="956" y="22"/>
                    </a:moveTo>
                    <a:cubicBezTo>
                      <a:pt x="673" y="15"/>
                      <a:pt x="508" y="0"/>
                      <a:pt x="327" y="219"/>
                    </a:cubicBezTo>
                    <a:cubicBezTo>
                      <a:pt x="146" y="437"/>
                      <a:pt x="0" y="980"/>
                      <a:pt x="275" y="1175"/>
                    </a:cubicBezTo>
                    <a:cubicBezTo>
                      <a:pt x="551" y="1370"/>
                      <a:pt x="878" y="1101"/>
                      <a:pt x="973" y="1031"/>
                    </a:cubicBezTo>
                    <a:cubicBezTo>
                      <a:pt x="931" y="967"/>
                      <a:pt x="914" y="957"/>
                      <a:pt x="891" y="883"/>
                    </a:cubicBezTo>
                    <a:cubicBezTo>
                      <a:pt x="717" y="1109"/>
                      <a:pt x="497" y="1106"/>
                      <a:pt x="372" y="1027"/>
                    </a:cubicBezTo>
                    <a:cubicBezTo>
                      <a:pt x="247" y="948"/>
                      <a:pt x="256" y="681"/>
                      <a:pt x="386" y="416"/>
                    </a:cubicBezTo>
                    <a:cubicBezTo>
                      <a:pt x="517" y="150"/>
                      <a:pt x="731" y="218"/>
                      <a:pt x="840" y="295"/>
                    </a:cubicBezTo>
                    <a:cubicBezTo>
                      <a:pt x="872" y="198"/>
                      <a:pt x="877" y="129"/>
                      <a:pt x="956" y="22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0" name="AutoShape 26"/>
              <p:cNvSpPr>
                <a:spLocks noChangeArrowheads="1"/>
              </p:cNvSpPr>
              <p:nvPr/>
            </p:nvSpPr>
            <p:spPr bwMode="auto">
              <a:xfrm rot="386608">
                <a:off x="4485" y="2169"/>
                <a:ext cx="100" cy="188"/>
              </a:xfrm>
              <a:custGeom>
                <a:avLst/>
                <a:gdLst>
                  <a:gd name="G0" fmla="+- 4491 0 0"/>
                  <a:gd name="G1" fmla="+- 21600 0 4491"/>
                  <a:gd name="G2" fmla="+- 21600 0 449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491" y="10800"/>
                    </a:moveTo>
                    <a:cubicBezTo>
                      <a:pt x="4491" y="14284"/>
                      <a:pt x="7316" y="17109"/>
                      <a:pt x="10800" y="17109"/>
                    </a:cubicBezTo>
                    <a:cubicBezTo>
                      <a:pt x="14284" y="17109"/>
                      <a:pt x="17109" y="14284"/>
                      <a:pt x="17109" y="10800"/>
                    </a:cubicBezTo>
                    <a:cubicBezTo>
                      <a:pt x="17109" y="7316"/>
                      <a:pt x="14284" y="4491"/>
                      <a:pt x="10800" y="4491"/>
                    </a:cubicBezTo>
                    <a:cubicBezTo>
                      <a:pt x="7316" y="4491"/>
                      <a:pt x="4491" y="7316"/>
                      <a:pt x="4491" y="1080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1" name="Oval 27"/>
              <p:cNvSpPr>
                <a:spLocks noChangeArrowheads="1"/>
              </p:cNvSpPr>
              <p:nvPr/>
            </p:nvSpPr>
            <p:spPr bwMode="auto">
              <a:xfrm>
                <a:off x="4085" y="2239"/>
                <a:ext cx="32" cy="30"/>
              </a:xfrm>
              <a:prstGeom prst="ellipse">
                <a:avLst/>
              </a:pr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2" name="Freeform 28"/>
              <p:cNvSpPr>
                <a:spLocks/>
              </p:cNvSpPr>
              <p:nvPr/>
            </p:nvSpPr>
            <p:spPr bwMode="auto">
              <a:xfrm rot="10800000">
                <a:off x="4100" y="1524"/>
                <a:ext cx="927" cy="1510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3" name="Freeform 29"/>
              <p:cNvSpPr>
                <a:spLocks/>
              </p:cNvSpPr>
              <p:nvPr/>
            </p:nvSpPr>
            <p:spPr bwMode="auto">
              <a:xfrm>
                <a:off x="3301" y="1357"/>
                <a:ext cx="927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4" name="Freeform 30"/>
              <p:cNvSpPr>
                <a:spLocks/>
              </p:cNvSpPr>
              <p:nvPr/>
            </p:nvSpPr>
            <p:spPr bwMode="auto">
              <a:xfrm rot="5400000">
                <a:off x="3788" y="1039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5" name="Freeform 31"/>
              <p:cNvSpPr>
                <a:spLocks/>
              </p:cNvSpPr>
              <p:nvPr/>
            </p:nvSpPr>
            <p:spPr bwMode="auto">
              <a:xfrm rot="16200000">
                <a:off x="3616" y="1842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6" name="Rectangle 32"/>
              <p:cNvSpPr>
                <a:spLocks noChangeArrowheads="1"/>
              </p:cNvSpPr>
              <p:nvPr/>
            </p:nvSpPr>
            <p:spPr bwMode="auto">
              <a:xfrm rot="2724427">
                <a:off x="3355" y="2705"/>
                <a:ext cx="274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cxnSp>
        <p:nvCxnSpPr>
          <p:cNvPr id="40" name="Connecteur droit 39"/>
          <p:cNvCxnSpPr/>
          <p:nvPr/>
        </p:nvCxnSpPr>
        <p:spPr>
          <a:xfrm>
            <a:off x="323528" y="1052736"/>
            <a:ext cx="8424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du module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842248" cy="4572000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 Chapitre 1 : introduction</a:t>
            </a:r>
          </a:p>
          <a:p>
            <a:endParaRPr lang="fr-FR" dirty="0" smtClean="0"/>
          </a:p>
          <a:p>
            <a:r>
              <a:rPr lang="fr-FR" dirty="0" smtClean="0"/>
              <a:t>Chapitre 2 : spécifications formelles des propriétés</a:t>
            </a:r>
          </a:p>
          <a:p>
            <a:endParaRPr lang="fr-FR" dirty="0" smtClean="0"/>
          </a:p>
          <a:p>
            <a:r>
              <a:rPr lang="fr-FR" dirty="0" smtClean="0"/>
              <a:t>Chapitre 3 : les formalismes sémantiques de </a:t>
            </a:r>
            <a:r>
              <a:rPr lang="fr-FR" dirty="0" smtClean="0"/>
              <a:t>modélisation</a:t>
            </a:r>
            <a:endParaRPr lang="fr-FR" dirty="0" smtClean="0"/>
          </a:p>
          <a:p>
            <a:pPr lvl="1"/>
            <a:r>
              <a:rPr lang="fr-FR" dirty="0" smtClean="0"/>
              <a:t>Les systèmes de transition et structures de </a:t>
            </a:r>
            <a:r>
              <a:rPr lang="fr-FR" dirty="0" err="1" smtClean="0"/>
              <a:t>Kripke</a:t>
            </a:r>
            <a:endParaRPr lang="fr-FR" dirty="0" smtClean="0"/>
          </a:p>
          <a:p>
            <a:pPr lvl="1"/>
            <a:r>
              <a:rPr lang="fr-FR" dirty="0" smtClean="0"/>
              <a:t>Les </a:t>
            </a:r>
            <a:r>
              <a:rPr lang="fr-FR" dirty="0" err="1" smtClean="0"/>
              <a:t>RdP</a:t>
            </a:r>
            <a:endParaRPr lang="fr-FR" dirty="0" smtClean="0"/>
          </a:p>
          <a:p>
            <a:pPr lvl="1"/>
            <a:r>
              <a:rPr lang="fr-FR" dirty="0" smtClean="0"/>
              <a:t>Les algèbres de processus : CSP</a:t>
            </a:r>
          </a:p>
          <a:p>
            <a:pPr lvl="1"/>
            <a:r>
              <a:rPr lang="fr-FR" dirty="0" smtClean="0"/>
              <a:t>Les systèmes de réécriture</a:t>
            </a:r>
          </a:p>
          <a:p>
            <a:endParaRPr lang="fr-FR" dirty="0" smtClean="0"/>
          </a:p>
          <a:p>
            <a:r>
              <a:rPr lang="fr-FR" dirty="0" smtClean="0"/>
              <a:t>Chapitre 4 : développement par raffinement</a:t>
            </a:r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Chapitre 1 : introduction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du chapitre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Introduction générale</a:t>
            </a:r>
          </a:p>
          <a:p>
            <a:endParaRPr lang="fr-FR" dirty="0" smtClean="0"/>
          </a:p>
          <a:p>
            <a:r>
              <a:rPr lang="fr-FR" dirty="0" smtClean="0"/>
              <a:t>Place de la vérification et de la validation dans le cycle de développement des logiciels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générale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introductif :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10264"/>
          </a:xfrm>
        </p:spPr>
        <p:txBody>
          <a:bodyPr>
            <a:normAutofit fontScale="62500" lnSpcReduction="20000"/>
          </a:bodyPr>
          <a:lstStyle/>
          <a:p>
            <a:r>
              <a:rPr lang="fr-FR" dirty="0" smtClean="0"/>
              <a:t>On se propose d’écrire un programme JAVA permettant de multiplier deux nombres (codés sur un octet) passés depuis la ligne de commande puis affiche le résultat</a:t>
            </a:r>
          </a:p>
          <a:p>
            <a:endParaRPr lang="fr-FR" dirty="0" smtClean="0"/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public class </a:t>
            </a:r>
            <a:r>
              <a:rPr lang="fr-FR" dirty="0" err="1" smtClean="0">
                <a:solidFill>
                  <a:srgbClr val="FF0000"/>
                </a:solidFill>
              </a:rPr>
              <a:t>Mult</a:t>
            </a:r>
            <a:r>
              <a:rPr lang="fr-FR" dirty="0" smtClean="0">
                <a:solidFill>
                  <a:srgbClr val="FF0000"/>
                </a:solidFill>
              </a:rPr>
              <a:t>{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public static void main(String...</a:t>
            </a:r>
            <a:r>
              <a:rPr lang="en-US" dirty="0" err="1" smtClean="0">
                <a:solidFill>
                  <a:srgbClr val="FF0000"/>
                </a:solidFill>
              </a:rPr>
              <a:t>args</a:t>
            </a:r>
            <a:r>
              <a:rPr lang="en-US" dirty="0" smtClean="0">
                <a:solidFill>
                  <a:srgbClr val="FF0000"/>
                </a:solidFill>
              </a:rPr>
              <a:t>){</a:t>
            </a:r>
          </a:p>
          <a:p>
            <a:pPr lvl="2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byte</a:t>
            </a:r>
            <a:r>
              <a:rPr lang="fr-FR" dirty="0" smtClean="0">
                <a:solidFill>
                  <a:srgbClr val="FF0000"/>
                </a:solidFill>
              </a:rPr>
              <a:t> a=</a:t>
            </a:r>
            <a:r>
              <a:rPr lang="fr-FR" dirty="0" err="1" smtClean="0">
                <a:solidFill>
                  <a:srgbClr val="FF0000"/>
                </a:solidFill>
              </a:rPr>
              <a:t>Byte.parseByte</a:t>
            </a:r>
            <a:r>
              <a:rPr lang="fr-FR" dirty="0" smtClean="0">
                <a:solidFill>
                  <a:srgbClr val="FF0000"/>
                </a:solidFill>
              </a:rPr>
              <a:t>(</a:t>
            </a:r>
            <a:r>
              <a:rPr lang="fr-FR" dirty="0" err="1" smtClean="0">
                <a:solidFill>
                  <a:srgbClr val="FF0000"/>
                </a:solidFill>
              </a:rPr>
              <a:t>args</a:t>
            </a:r>
            <a:r>
              <a:rPr lang="fr-FR" dirty="0" smtClean="0">
                <a:solidFill>
                  <a:srgbClr val="FF0000"/>
                </a:solidFill>
              </a:rPr>
              <a:t>[0]);</a:t>
            </a:r>
          </a:p>
          <a:p>
            <a:pPr lvl="2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byte</a:t>
            </a:r>
            <a:r>
              <a:rPr lang="fr-FR" dirty="0" smtClean="0">
                <a:solidFill>
                  <a:srgbClr val="FF0000"/>
                </a:solidFill>
              </a:rPr>
              <a:t> b=</a:t>
            </a:r>
            <a:r>
              <a:rPr lang="fr-FR" dirty="0" err="1" smtClean="0">
                <a:solidFill>
                  <a:srgbClr val="FF0000"/>
                </a:solidFill>
              </a:rPr>
              <a:t>Byte.parseByte</a:t>
            </a:r>
            <a:r>
              <a:rPr lang="fr-FR" dirty="0" smtClean="0">
                <a:solidFill>
                  <a:srgbClr val="FF0000"/>
                </a:solidFill>
              </a:rPr>
              <a:t>(</a:t>
            </a:r>
            <a:r>
              <a:rPr lang="fr-FR" dirty="0" err="1" smtClean="0">
                <a:solidFill>
                  <a:srgbClr val="FF0000"/>
                </a:solidFill>
              </a:rPr>
              <a:t>args</a:t>
            </a:r>
            <a:r>
              <a:rPr lang="fr-FR" dirty="0" smtClean="0">
                <a:solidFill>
                  <a:srgbClr val="FF0000"/>
                </a:solidFill>
              </a:rPr>
              <a:t>[1]);</a:t>
            </a:r>
          </a:p>
          <a:p>
            <a:pPr lvl="2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byte</a:t>
            </a:r>
            <a:r>
              <a:rPr lang="fr-FR" dirty="0" smtClean="0">
                <a:solidFill>
                  <a:srgbClr val="FF0000"/>
                </a:solidFill>
              </a:rPr>
              <a:t> c=(</a:t>
            </a:r>
            <a:r>
              <a:rPr lang="fr-FR" dirty="0" err="1" smtClean="0">
                <a:solidFill>
                  <a:srgbClr val="FF0000"/>
                </a:solidFill>
              </a:rPr>
              <a:t>byte</a:t>
            </a:r>
            <a:r>
              <a:rPr lang="fr-FR" dirty="0" smtClean="0">
                <a:solidFill>
                  <a:srgbClr val="FF0000"/>
                </a:solidFill>
              </a:rPr>
              <a:t>)(a*b);</a:t>
            </a:r>
          </a:p>
          <a:p>
            <a:pPr lvl="2">
              <a:buNone/>
            </a:pPr>
            <a:r>
              <a:rPr lang="fr-FR" dirty="0" smtClean="0">
                <a:solidFill>
                  <a:srgbClr val="FF0000"/>
                </a:solidFill>
              </a:rPr>
              <a:t>System.out.println(a+" * "+b+" = "+c);</a:t>
            </a:r>
          </a:p>
          <a:p>
            <a:pPr lvl="2">
              <a:buNone/>
            </a:pPr>
            <a:r>
              <a:rPr lang="fr-FR" dirty="0" smtClean="0">
                <a:solidFill>
                  <a:srgbClr val="FF0000"/>
                </a:solidFill>
              </a:rPr>
              <a:t>}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}</a:t>
            </a:r>
          </a:p>
          <a:p>
            <a:endParaRPr lang="fr-FR" dirty="0" smtClean="0"/>
          </a:p>
          <a:p>
            <a:r>
              <a:rPr lang="fr-FR" dirty="0" smtClean="0"/>
              <a:t>Quelques exécutions :</a:t>
            </a:r>
          </a:p>
          <a:p>
            <a:pPr lvl="1"/>
            <a:r>
              <a:rPr lang="fr-FR" dirty="0" smtClean="0"/>
              <a:t>java </a:t>
            </a:r>
            <a:r>
              <a:rPr lang="fr-FR" dirty="0" err="1" smtClean="0"/>
              <a:t>Mult</a:t>
            </a:r>
            <a:r>
              <a:rPr lang="fr-FR" dirty="0" smtClean="0"/>
              <a:t> 12 5</a:t>
            </a:r>
          </a:p>
          <a:p>
            <a:pPr lvl="1"/>
            <a:r>
              <a:rPr lang="fr-FR" dirty="0" smtClean="0"/>
              <a:t>java </a:t>
            </a:r>
            <a:r>
              <a:rPr lang="fr-FR" dirty="0" err="1" smtClean="0"/>
              <a:t>Mult</a:t>
            </a:r>
            <a:r>
              <a:rPr lang="fr-FR" dirty="0" smtClean="0"/>
              <a:t> 13 6</a:t>
            </a:r>
          </a:p>
          <a:p>
            <a:pPr lvl="1"/>
            <a:r>
              <a:rPr lang="fr-FR" dirty="0" smtClean="0"/>
              <a:t>java </a:t>
            </a:r>
            <a:r>
              <a:rPr lang="fr-FR" dirty="0" err="1" smtClean="0"/>
              <a:t>Mult</a:t>
            </a:r>
            <a:r>
              <a:rPr lang="fr-FR" dirty="0" smtClean="0"/>
              <a:t> 14 16</a:t>
            </a:r>
          </a:p>
          <a:p>
            <a:pPr lvl="1"/>
            <a:r>
              <a:rPr lang="fr-FR" dirty="0" smtClean="0"/>
              <a:t>java </a:t>
            </a:r>
            <a:r>
              <a:rPr lang="fr-FR" dirty="0" err="1" smtClean="0"/>
              <a:t>Mult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Que se passe-t-il ?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Problème!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Le programme contient un bogue !</a:t>
            </a:r>
          </a:p>
          <a:p>
            <a:pPr lvl="1"/>
            <a:r>
              <a:rPr lang="fr-FR" dirty="0" smtClean="0"/>
              <a:t>Il peut tomber en panne</a:t>
            </a:r>
          </a:p>
          <a:p>
            <a:pPr lvl="1"/>
            <a:r>
              <a:rPr lang="fr-FR" dirty="0" smtClean="0"/>
              <a:t>Il ne répond pas à sa </a:t>
            </a:r>
            <a:r>
              <a:rPr lang="fr-FR" b="1" dirty="0" smtClean="0"/>
              <a:t>spécification</a:t>
            </a:r>
          </a:p>
          <a:p>
            <a:endParaRPr lang="fr-FR" dirty="0" smtClean="0"/>
          </a:p>
          <a:p>
            <a:r>
              <a:rPr lang="fr-FR" dirty="0" smtClean="0"/>
              <a:t>Que faut-il faire ?</a:t>
            </a:r>
          </a:p>
          <a:p>
            <a:pPr lvl="1"/>
            <a:r>
              <a:rPr lang="fr-FR" dirty="0" smtClean="0"/>
              <a:t>Réponse intuitive : s’assurer que le programme réponde à sa spécification avant de le livrer</a:t>
            </a:r>
          </a:p>
          <a:p>
            <a:pPr lvl="1"/>
            <a:r>
              <a:rPr lang="fr-FR" dirty="0" smtClean="0"/>
              <a:t>On parle de vérification du programme</a:t>
            </a:r>
          </a:p>
          <a:p>
            <a:pPr lvl="1"/>
            <a:r>
              <a:rPr lang="fr-FR" dirty="0" smtClean="0"/>
              <a:t>Comment le vérifier ?</a:t>
            </a:r>
          </a:p>
          <a:p>
            <a:pPr lvl="2"/>
            <a:r>
              <a:rPr lang="fr-FR" dirty="0" smtClean="0"/>
              <a:t>Réponse intuitive : exécuter le programme autant de fois que possible</a:t>
            </a:r>
          </a:p>
          <a:p>
            <a:pPr lvl="2"/>
            <a:r>
              <a:rPr lang="fr-FR" dirty="0" smtClean="0"/>
              <a:t>Problème : comment être sûr que l’on couvre tous les cas possibles ?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introductif :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On se propose de réaliser une simulation de deux robots qui évoluent dans un univers en 2D</a:t>
            </a:r>
          </a:p>
          <a:p>
            <a:pPr lvl="1"/>
            <a:r>
              <a:rPr lang="fr-FR" dirty="0" smtClean="0"/>
              <a:t>Chaque robot possède sa propre trajectoire rectiligne</a:t>
            </a:r>
          </a:p>
          <a:p>
            <a:pPr lvl="1"/>
            <a:r>
              <a:rPr lang="fr-FR" dirty="0" smtClean="0"/>
              <a:t>Les deux robots bougent à vitesse constante</a:t>
            </a:r>
          </a:p>
          <a:p>
            <a:pPr lvl="1"/>
            <a:r>
              <a:rPr lang="fr-FR" dirty="0" smtClean="0"/>
              <a:t>Il ne faut pas qu’il y ait collision !</a:t>
            </a:r>
          </a:p>
          <a:p>
            <a:endParaRPr lang="fr-FR" dirty="0" smtClean="0"/>
          </a:p>
          <a:p>
            <a:r>
              <a:rPr lang="fr-FR" dirty="0" smtClean="0"/>
              <a:t>Comment être sûr que la réalisation réponde aux spécifications ?</a:t>
            </a:r>
          </a:p>
          <a:p>
            <a:pPr lvl="1"/>
            <a:r>
              <a:rPr lang="fr-FR" dirty="0" smtClean="0"/>
              <a:t>Première possibilité : faire des tests...</a:t>
            </a:r>
          </a:p>
          <a:p>
            <a:pPr lvl="1"/>
            <a:r>
              <a:rPr lang="fr-FR" dirty="0" smtClean="0"/>
              <a:t>Deuxième possibilité : faire un peu de math...</a:t>
            </a:r>
          </a:p>
          <a:p>
            <a:pPr lvl="2"/>
            <a:r>
              <a:rPr lang="fr-FR" dirty="0" smtClean="0"/>
              <a:t>Construire un modèle du système</a:t>
            </a:r>
          </a:p>
          <a:p>
            <a:pPr lvl="2"/>
            <a:r>
              <a:rPr lang="fr-FR" dirty="0" smtClean="0"/>
              <a:t>On raisonne sur le système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introductif :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On se propose de réaliser un programme qui produit des sorties sous forme de coordonnées. Il faut que tous les points soient situés à l’intérieur d’un certain disque. Comment être sûr que le système réalisé réponde aux spécifications ?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Exécuter le programme plusieurs fois, puis vérifier que chaque point produit appartienne au disque</a:t>
            </a:r>
          </a:p>
          <a:p>
            <a:pPr lvl="2"/>
            <a:r>
              <a:rPr lang="fr-FR" dirty="0" smtClean="0"/>
              <a:t>Inconvénient : impossible de couvrir tous les cas (surtout si les points sont infinis)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Raisonner sur un modèle du système :</a:t>
            </a:r>
          </a:p>
          <a:p>
            <a:pPr lvl="2"/>
            <a:r>
              <a:rPr lang="fr-FR" dirty="0" smtClean="0"/>
              <a:t>Supposer que les points suivent un certain modèle (linéaire par exemple)</a:t>
            </a:r>
          </a:p>
          <a:p>
            <a:pPr lvl="2"/>
            <a:r>
              <a:rPr lang="fr-FR" dirty="0" smtClean="0"/>
              <a:t>Si le modèle permet de générer au moins un point qui n’appartient pas au disque, le système n’est pas le bon !</a:t>
            </a:r>
          </a:p>
          <a:p>
            <a:pPr lvl="2"/>
            <a:r>
              <a:rPr lang="fr-FR" dirty="0" smtClean="0"/>
              <a:t>Avantage et inconvénient ?</a:t>
            </a:r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6660232" y="5445224"/>
            <a:ext cx="936104" cy="93610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 flipV="1">
            <a:off x="6948264" y="5589240"/>
            <a:ext cx="792088" cy="4320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introductif : 3 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On peut établir une théorie du domaine</a:t>
            </a:r>
          </a:p>
          <a:p>
            <a:pPr lvl="1"/>
            <a:r>
              <a:rPr lang="fr-FR" dirty="0" smtClean="0"/>
              <a:t>Définir des axiomes pour le système</a:t>
            </a:r>
          </a:p>
          <a:p>
            <a:pPr lvl="2"/>
            <a:r>
              <a:rPr lang="fr-FR" dirty="0" smtClean="0"/>
              <a:t>pour tout point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d’un disque </a:t>
            </a:r>
            <a:r>
              <a:rPr lang="fr-FR" b="1" dirty="0" smtClean="0">
                <a:solidFill>
                  <a:srgbClr val="FF0000"/>
                </a:solidFill>
              </a:rPr>
              <a:t>D</a:t>
            </a:r>
            <a:r>
              <a:rPr lang="fr-FR" dirty="0" smtClean="0"/>
              <a:t> de centre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  <a:r>
              <a:rPr lang="fr-FR" dirty="0" smtClean="0"/>
              <a:t> rayon </a:t>
            </a:r>
            <a:r>
              <a:rPr lang="fr-FR" b="1" dirty="0" smtClean="0">
                <a:solidFill>
                  <a:srgbClr val="FF0000"/>
                </a:solidFill>
              </a:rPr>
              <a:t>r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||C − P|| ≤ r</a:t>
            </a:r>
          </a:p>
          <a:p>
            <a:pPr lvl="2"/>
            <a:r>
              <a:rPr lang="fr-FR" dirty="0" smtClean="0"/>
              <a:t>pour tous points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,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R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||P − Q|| + ||Q − R|| ≥ ||P − R||</a:t>
            </a:r>
          </a:p>
          <a:p>
            <a:pPr lvl="2"/>
            <a:r>
              <a:rPr lang="fr-FR" dirty="0" smtClean="0"/>
              <a:t>pour tous points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||P − Q|| = ||Q − P||</a:t>
            </a:r>
          </a:p>
          <a:p>
            <a:pPr lvl="2"/>
            <a:r>
              <a:rPr lang="fr-FR" dirty="0" smtClean="0"/>
              <a:t>pour tous points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||P − Q|| = 0 ⇒ P = Q</a:t>
            </a:r>
          </a:p>
          <a:p>
            <a:endParaRPr lang="fr-FR" dirty="0" smtClean="0"/>
          </a:p>
          <a:p>
            <a:r>
              <a:rPr lang="fr-FR" dirty="0" smtClean="0"/>
              <a:t>L’ensemble des points est inclus dans le disque si :</a:t>
            </a:r>
          </a:p>
          <a:p>
            <a:endParaRPr lang="fr-FR" dirty="0" smtClean="0"/>
          </a:p>
          <a:p>
            <a:r>
              <a:rPr lang="fr-FR" b="1" dirty="0" smtClean="0">
                <a:solidFill>
                  <a:srgbClr val="FF0000"/>
                </a:solidFill>
              </a:rPr>
              <a:t>||P</a:t>
            </a:r>
            <a:r>
              <a:rPr lang="fr-FR" b="1" baseline="30000" dirty="0" smtClean="0">
                <a:solidFill>
                  <a:srgbClr val="FF0000"/>
                </a:solidFill>
              </a:rPr>
              <a:t>E</a:t>
            </a:r>
            <a:r>
              <a:rPr lang="fr-FR" b="1" dirty="0" smtClean="0">
                <a:solidFill>
                  <a:srgbClr val="FF0000"/>
                </a:solidFill>
              </a:rPr>
              <a:t> −M||≤ r </a:t>
            </a:r>
            <a:r>
              <a:rPr lang="fr-FR" dirty="0" smtClean="0"/>
              <a:t>(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baseline="30000" dirty="0" smtClean="0">
                <a:solidFill>
                  <a:srgbClr val="FF0000"/>
                </a:solidFill>
              </a:rPr>
              <a:t>E</a:t>
            </a:r>
            <a:r>
              <a:rPr lang="fr-FR" dirty="0" smtClean="0"/>
              <a:t> est le point le plus éloigné de </a:t>
            </a:r>
            <a:r>
              <a:rPr lang="fr-FR" b="1" dirty="0" smtClean="0">
                <a:solidFill>
                  <a:srgbClr val="FF0000"/>
                </a:solidFill>
              </a:rPr>
              <a:t>M</a:t>
            </a:r>
            <a:r>
              <a:rPr lang="fr-FR" dirty="0" smtClean="0"/>
              <a:t>)</a:t>
            </a:r>
          </a:p>
          <a:p>
            <a:endParaRPr lang="fr-FR" dirty="0" smtClean="0"/>
          </a:p>
          <a:p>
            <a:r>
              <a:rPr lang="fr-FR" b="1" dirty="0" smtClean="0">
                <a:solidFill>
                  <a:srgbClr val="FF0000"/>
                </a:solidFill>
              </a:rPr>
              <a:t>||M − P</a:t>
            </a:r>
            <a:r>
              <a:rPr lang="fr-FR" b="1" baseline="30000" dirty="0" smtClean="0">
                <a:solidFill>
                  <a:srgbClr val="FF0000"/>
                </a:solidFill>
              </a:rPr>
              <a:t>E </a:t>
            </a:r>
            <a:r>
              <a:rPr lang="fr-FR" b="1" dirty="0" smtClean="0">
                <a:solidFill>
                  <a:srgbClr val="FF0000"/>
                </a:solidFill>
              </a:rPr>
              <a:t>||≤ ||M − P</a:t>
            </a:r>
            <a:r>
              <a:rPr lang="fr-FR" b="1" baseline="30000" dirty="0" smtClean="0">
                <a:solidFill>
                  <a:srgbClr val="FF0000"/>
                </a:solidFill>
              </a:rPr>
              <a:t>R</a:t>
            </a:r>
            <a:r>
              <a:rPr lang="fr-FR" b="1" dirty="0" smtClean="0">
                <a:solidFill>
                  <a:srgbClr val="FF0000"/>
                </a:solidFill>
              </a:rPr>
              <a:t>|| + ||P</a:t>
            </a:r>
            <a:r>
              <a:rPr lang="fr-FR" b="1" baseline="30000" dirty="0" smtClean="0">
                <a:solidFill>
                  <a:srgbClr val="FF0000"/>
                </a:solidFill>
              </a:rPr>
              <a:t>R</a:t>
            </a:r>
            <a:r>
              <a:rPr lang="fr-FR" b="1" dirty="0" smtClean="0">
                <a:solidFill>
                  <a:srgbClr val="FF0000"/>
                </a:solidFill>
              </a:rPr>
              <a:t> − P</a:t>
            </a:r>
            <a:r>
              <a:rPr lang="fr-FR" b="1" baseline="30000" dirty="0" smtClean="0">
                <a:solidFill>
                  <a:srgbClr val="FF0000"/>
                </a:solidFill>
              </a:rPr>
              <a:t>E </a:t>
            </a:r>
            <a:r>
              <a:rPr lang="fr-FR" b="1" dirty="0" smtClean="0">
                <a:solidFill>
                  <a:srgbClr val="FF0000"/>
                </a:solidFill>
              </a:rPr>
              <a:t>|| </a:t>
            </a:r>
            <a:r>
              <a:rPr lang="fr-FR" dirty="0" smtClean="0"/>
              <a:t>(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baseline="30000" dirty="0" smtClean="0">
                <a:solidFill>
                  <a:srgbClr val="FF0000"/>
                </a:solidFill>
              </a:rPr>
              <a:t>R</a:t>
            </a:r>
            <a:r>
              <a:rPr lang="fr-FR" dirty="0" smtClean="0"/>
              <a:t> est le point le plus proche de </a:t>
            </a:r>
            <a:r>
              <a:rPr lang="fr-FR" b="1" dirty="0" smtClean="0">
                <a:solidFill>
                  <a:srgbClr val="FF0000"/>
                </a:solidFill>
              </a:rPr>
              <a:t>M</a:t>
            </a:r>
            <a:r>
              <a:rPr lang="fr-FR" dirty="0" smtClean="0"/>
              <a:t>)</a:t>
            </a:r>
          </a:p>
          <a:p>
            <a:endParaRPr lang="fr-FR" dirty="0" smtClean="0"/>
          </a:p>
          <a:p>
            <a:r>
              <a:rPr lang="fr-FR" dirty="0" smtClean="0"/>
              <a:t>ainsi, si </a:t>
            </a:r>
            <a:r>
              <a:rPr lang="fr-FR" b="1" dirty="0" smtClean="0">
                <a:solidFill>
                  <a:srgbClr val="FF0000"/>
                </a:solidFill>
              </a:rPr>
              <a:t>||M − P</a:t>
            </a:r>
            <a:r>
              <a:rPr lang="fr-FR" b="1" baseline="30000" dirty="0" smtClean="0">
                <a:solidFill>
                  <a:srgbClr val="FF0000"/>
                </a:solidFill>
              </a:rPr>
              <a:t>R </a:t>
            </a:r>
            <a:r>
              <a:rPr lang="fr-FR" b="1" dirty="0" smtClean="0">
                <a:solidFill>
                  <a:srgbClr val="FF0000"/>
                </a:solidFill>
              </a:rPr>
              <a:t>|| ≤ r − || P</a:t>
            </a:r>
            <a:r>
              <a:rPr lang="fr-FR" b="1" baseline="30000" dirty="0" smtClean="0">
                <a:solidFill>
                  <a:srgbClr val="FF0000"/>
                </a:solidFill>
              </a:rPr>
              <a:t>E</a:t>
            </a:r>
            <a:r>
              <a:rPr lang="fr-FR" b="1" dirty="0" smtClean="0">
                <a:solidFill>
                  <a:srgbClr val="FF0000"/>
                </a:solidFill>
              </a:rPr>
              <a:t> − P</a:t>
            </a:r>
            <a:r>
              <a:rPr lang="fr-FR" b="1" baseline="30000" dirty="0" smtClean="0">
                <a:solidFill>
                  <a:srgbClr val="FF0000"/>
                </a:solidFill>
              </a:rPr>
              <a:t>R </a:t>
            </a:r>
            <a:r>
              <a:rPr lang="fr-FR" b="1" dirty="0" smtClean="0">
                <a:solidFill>
                  <a:srgbClr val="FF0000"/>
                </a:solidFill>
              </a:rPr>
              <a:t>|| </a:t>
            </a:r>
            <a:r>
              <a:rPr lang="fr-FR" dirty="0" smtClean="0"/>
              <a:t>alors le système répond à ses spécifications (condition nécessaire seulement!)</a:t>
            </a:r>
          </a:p>
          <a:p>
            <a:endParaRPr lang="fr-FR" dirty="0" smtClean="0"/>
          </a:p>
          <a:p>
            <a:r>
              <a:rPr lang="fr-FR" dirty="0" smtClean="0"/>
              <a:t>Avantage et inconvénient ?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Méthodes de vérification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Il existe alors trois principales méthodes de vérification :</a:t>
            </a:r>
          </a:p>
          <a:p>
            <a:pPr lvl="1"/>
            <a:r>
              <a:rPr lang="fr-FR" dirty="0" smtClean="0"/>
              <a:t>Tests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Vérification de modèles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Preuve de théorèmes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Problèmes liés aux bogues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Quand un programme est en panne ou s’il ne répond pas aux spécifications :</a:t>
            </a:r>
          </a:p>
          <a:p>
            <a:pPr lvl="1"/>
            <a:r>
              <a:rPr lang="fr-FR" dirty="0" smtClean="0"/>
              <a:t>On peut le réparer mais cela peut se révéler très coûteux :</a:t>
            </a:r>
          </a:p>
          <a:p>
            <a:pPr lvl="2"/>
            <a:r>
              <a:rPr lang="fr-FR" dirty="0" smtClean="0"/>
              <a:t>Au niveau de la maintenance (situer le problème, le corriger)</a:t>
            </a:r>
          </a:p>
          <a:p>
            <a:pPr lvl="2"/>
            <a:r>
              <a:rPr lang="fr-FR" dirty="0" smtClean="0"/>
              <a:t>Au niveau des dégâts causés par la panne</a:t>
            </a:r>
          </a:p>
          <a:p>
            <a:pPr lvl="2"/>
            <a:r>
              <a:rPr lang="fr-FR" dirty="0" smtClean="0"/>
              <a:t>Au niveau du temps pendant lequel le logiciel est hors-ligne</a:t>
            </a:r>
          </a:p>
          <a:p>
            <a:endParaRPr lang="fr-FR" dirty="0" smtClean="0"/>
          </a:p>
          <a:p>
            <a:r>
              <a:rPr lang="fr-FR" dirty="0" smtClean="0"/>
              <a:t>Le problème est accru lorsqu’il s’agit :</a:t>
            </a:r>
          </a:p>
          <a:p>
            <a:pPr lvl="1"/>
            <a:r>
              <a:rPr lang="fr-FR" dirty="0" smtClean="0"/>
              <a:t>D’applications critiques (sécurité, sûreté,...)</a:t>
            </a:r>
          </a:p>
          <a:p>
            <a:pPr lvl="1"/>
            <a:r>
              <a:rPr lang="fr-FR" dirty="0" smtClean="0"/>
              <a:t>Applications mobiles et embarquées, pourquoi ?</a:t>
            </a:r>
          </a:p>
          <a:p>
            <a:pPr lvl="1"/>
            <a:r>
              <a:rPr lang="fr-FR" dirty="0" smtClean="0"/>
              <a:t>Systèmes distribués, pourquoi ?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Incidents connus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Quelques incidents connus dus à l’absence de la vérification</a:t>
            </a:r>
          </a:p>
          <a:p>
            <a:pPr lvl="1"/>
            <a:r>
              <a:rPr lang="fr-FR" dirty="0" smtClean="0"/>
              <a:t>Le bogue de l’an 2000</a:t>
            </a:r>
          </a:p>
          <a:p>
            <a:pPr lvl="1"/>
            <a:r>
              <a:rPr lang="fr-FR" dirty="0" smtClean="0"/>
              <a:t>Le bogue du Pentium II</a:t>
            </a:r>
          </a:p>
          <a:p>
            <a:pPr lvl="1"/>
            <a:r>
              <a:rPr lang="fr-FR" dirty="0" smtClean="0"/>
              <a:t>La fusée Ariane V (1988) (explosion après 37 secondes du lancement)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Solution déjà vue!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sémantique des langages de programmation offre un moyen pour vérifier un programme, mais :</a:t>
            </a:r>
          </a:p>
          <a:p>
            <a:pPr lvl="1"/>
            <a:r>
              <a:rPr lang="fr-FR" dirty="0" smtClean="0"/>
              <a:t>On intervient au niveau code :</a:t>
            </a:r>
          </a:p>
          <a:p>
            <a:pPr lvl="2"/>
            <a:r>
              <a:rPr lang="fr-FR" dirty="0" smtClean="0"/>
              <a:t>Complexité de la tâche</a:t>
            </a:r>
          </a:p>
          <a:p>
            <a:pPr lvl="2"/>
            <a:r>
              <a:rPr lang="fr-FR" dirty="0" smtClean="0"/>
              <a:t>Intervention tardive dans le cycle de développement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Certaines propriétés sont trop complexes à définir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Elle reste un bon début néanmoins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 faire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Solution : intégrer la vérification et la validation au cycle du développement des logiciels</a:t>
            </a:r>
          </a:p>
          <a:p>
            <a:pPr lvl="1"/>
            <a:r>
              <a:rPr lang="fr-FR" dirty="0" smtClean="0"/>
              <a:t>Vérification : s’assurer que le système construit possède bien les caractéristiques spécifiées dans les besoins (être sûr que l’on résolve bien le problème)</a:t>
            </a:r>
          </a:p>
          <a:p>
            <a:pPr lvl="1"/>
            <a:r>
              <a:rPr lang="fr-FR" dirty="0" smtClean="0"/>
              <a:t>Validation : s’assurer que l’on fournisse le bon système et pas un autre (être sûr que l’on résolve le bon problème)</a:t>
            </a:r>
          </a:p>
          <a:p>
            <a:endParaRPr lang="fr-FR" dirty="0" smtClean="0"/>
          </a:p>
          <a:p>
            <a:r>
              <a:rPr lang="fr-FR" dirty="0" smtClean="0"/>
              <a:t>Il faut que l’activité de vérification et de validation soit exécutée tout au long du cycle de développement :</a:t>
            </a:r>
          </a:p>
          <a:p>
            <a:pPr lvl="1"/>
            <a:r>
              <a:rPr lang="fr-FR" dirty="0" smtClean="0"/>
              <a:t>Réduire la complexité de la tâche</a:t>
            </a:r>
          </a:p>
          <a:p>
            <a:pPr lvl="1"/>
            <a:r>
              <a:rPr lang="fr-FR" dirty="0" smtClean="0"/>
              <a:t>Avoir une meilleure vision et maîtrise du logiciel (surtout en cas d’évolution)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Place de la vérification et la validation dans le cycle de développement (IEEE)</a:t>
            </a:r>
            <a:endParaRPr lang="fr-FR" sz="320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de V&amp;V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Le processus de vérification et la validation des logiciels (V&amp;V) :</a:t>
            </a:r>
          </a:p>
          <a:p>
            <a:pPr lvl="1"/>
            <a:r>
              <a:rPr lang="fr-FR" dirty="0" smtClean="0"/>
              <a:t>Détermine si des produits de développement émanant d’une certaine activité sont conformes aux exigences de celle-ci</a:t>
            </a:r>
          </a:p>
          <a:p>
            <a:pPr lvl="1"/>
            <a:r>
              <a:rPr lang="fr-FR" dirty="0" smtClean="0"/>
              <a:t>Peut inclure l’analyse, l’évaluation, la révision, l’inspection, l’estimation, et le test de produits et de processus logiciels</a:t>
            </a:r>
          </a:p>
          <a:p>
            <a:pPr lvl="1"/>
            <a:r>
              <a:rPr lang="fr-FR" dirty="0" smtClean="0"/>
              <a:t>Prise en compte de : l’environnement opérationnel, le matériel, les logiciels d’interface, les utilisateurs...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faire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Les objectifs de la V&amp;V :</a:t>
            </a:r>
          </a:p>
          <a:p>
            <a:pPr lvl="1"/>
            <a:r>
              <a:rPr lang="fr-FR" dirty="0" smtClean="0"/>
              <a:t>Montrer que les exigences du logiciel sont correctes, complètes, précises, consistantes, testables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Faciliter la détection précoce et la correction des erreurs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Augmenter la perception du management au sein de la prise en charge du risque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Offrir un support à toutes les étapes du cycle de vie du logiciel afin d’assurer la conformité de celui-ci avec certains critères comme les limites du budget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faire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Objectifs de la vérification :</a:t>
            </a:r>
          </a:p>
          <a:p>
            <a:pPr lvl="1"/>
            <a:r>
              <a:rPr lang="fr-FR" dirty="0" smtClean="0"/>
              <a:t>Respecter les exigences (exactitude, complétude, consistance, précision) pour toutes les étapes du cycle de vie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Se conformer aux standards, les pratiques, et les conventions durant le cycle de vie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Etablir une base pour évaluer la complétude de chaque étape du cycle de vie (initiant ainsi la prochaine étape du cycle)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faire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Objectifs de la validation :</a:t>
            </a:r>
          </a:p>
          <a:p>
            <a:pPr lvl="1"/>
            <a:r>
              <a:rPr lang="fr-FR" dirty="0" smtClean="0"/>
              <a:t>Permet de vérifier si le logiciel satisfait les exigences système (respect des ressources système allouées)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Permet de vérifier si le logiciel résout vraiment le problème dressé et pas un autre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Niveau d’intégrité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La criticité :</a:t>
            </a:r>
          </a:p>
          <a:p>
            <a:pPr lvl="1"/>
            <a:r>
              <a:rPr lang="fr-FR" dirty="0" smtClean="0"/>
              <a:t>Une description subjective des utilisations et des applications d’un système</a:t>
            </a:r>
          </a:p>
          <a:p>
            <a:pPr lvl="1"/>
            <a:r>
              <a:rPr lang="fr-FR" dirty="0" smtClean="0"/>
              <a:t>Une description de l’utilisation projetée d’un système</a:t>
            </a:r>
          </a:p>
          <a:p>
            <a:pPr lvl="1"/>
            <a:r>
              <a:rPr lang="fr-FR" dirty="0" smtClean="0"/>
              <a:t>Peut inclure : la sûreté, la sécurité, la complexité, la fiabilité, les performances</a:t>
            </a:r>
          </a:p>
          <a:p>
            <a:r>
              <a:rPr lang="fr-FR" dirty="0" smtClean="0"/>
              <a:t> </a:t>
            </a:r>
          </a:p>
          <a:p>
            <a:r>
              <a:rPr lang="fr-FR" dirty="0" smtClean="0"/>
              <a:t>Différents niveaux d’intégrité logicielle selon la criticité :</a:t>
            </a:r>
          </a:p>
          <a:p>
            <a:pPr lvl="1"/>
            <a:r>
              <a:rPr lang="fr-FR" dirty="0" smtClean="0"/>
              <a:t>Une application de surveillance des malades est plus critique qu’un traitement de texte</a:t>
            </a:r>
          </a:p>
          <a:p>
            <a:pPr lvl="1"/>
            <a:r>
              <a:rPr lang="fr-FR" dirty="0" smtClean="0"/>
              <a:t>plus la criticité est importante, plus le processus de V&amp;V est lié au développement du logiciel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Quand le définir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Quand est-ce on définit le niveau d’intégrité du logiciel ?</a:t>
            </a:r>
          </a:p>
          <a:p>
            <a:pPr lvl="1"/>
            <a:r>
              <a:rPr lang="fr-FR" dirty="0" smtClean="0"/>
              <a:t>Tôt : dans les premiers cycles de développement </a:t>
            </a:r>
          </a:p>
          <a:p>
            <a:pPr lvl="2"/>
            <a:r>
              <a:rPr lang="fr-FR" dirty="0" smtClean="0"/>
              <a:t>Analyse des besoins</a:t>
            </a:r>
          </a:p>
          <a:p>
            <a:pPr lvl="2"/>
            <a:r>
              <a:rPr lang="fr-FR" dirty="0" smtClean="0"/>
              <a:t>Conception de l’architecture</a:t>
            </a:r>
          </a:p>
          <a:p>
            <a:endParaRPr lang="fr-FR" dirty="0" smtClean="0"/>
          </a:p>
          <a:p>
            <a:r>
              <a:rPr lang="fr-FR" dirty="0" smtClean="0"/>
              <a:t>On peut définir un niveau d’intégrité pour :</a:t>
            </a:r>
          </a:p>
          <a:p>
            <a:pPr lvl="1"/>
            <a:r>
              <a:rPr lang="fr-FR" dirty="0" smtClean="0"/>
              <a:t>des exigences logicielles</a:t>
            </a:r>
          </a:p>
          <a:p>
            <a:pPr lvl="1"/>
            <a:r>
              <a:rPr lang="fr-FR" dirty="0" smtClean="0"/>
              <a:t>une fonction ou une collection de fonctions</a:t>
            </a:r>
          </a:p>
          <a:p>
            <a:pPr lvl="1"/>
            <a:r>
              <a:rPr lang="fr-FR" dirty="0" smtClean="0"/>
              <a:t>un composant</a:t>
            </a:r>
          </a:p>
          <a:p>
            <a:pPr lvl="1"/>
            <a:r>
              <a:rPr lang="fr-FR" dirty="0" smtClean="0"/>
              <a:t>un sous-système</a:t>
            </a:r>
          </a:p>
          <a:p>
            <a:pPr lvl="1"/>
            <a:r>
              <a:rPr lang="fr-FR" dirty="0" err="1" smtClean="0"/>
              <a:t>etc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Quand le définir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niveau d’intégrité peut néanmoins varier lorsque le logiciel évolue (dans les phases avancées)</a:t>
            </a:r>
          </a:p>
          <a:p>
            <a:pPr lvl="1"/>
            <a:r>
              <a:rPr lang="fr-FR" dirty="0" smtClean="0"/>
              <a:t>en fonction de la conception</a:t>
            </a:r>
          </a:p>
          <a:p>
            <a:pPr lvl="1"/>
            <a:r>
              <a:rPr lang="fr-FR" dirty="0" smtClean="0"/>
              <a:t>en fonction des choix d’implémentation</a:t>
            </a:r>
          </a:p>
          <a:p>
            <a:pPr lvl="1"/>
            <a:r>
              <a:rPr lang="fr-FR" dirty="0" smtClean="0"/>
              <a:t>lorsqu’on utilise des approches de réduction de risque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niveaux de la norme IEEE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Le standard IEEE définit 4 niveaux d’intégrité. En fonction de chaque niveau, les fonctions visées varient :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Maximale (4) </a:t>
            </a:r>
            <a:r>
              <a:rPr lang="fr-FR" dirty="0" smtClean="0"/>
              <a:t>: affectent les performances critiques du système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>
                <a:solidFill>
                  <a:srgbClr val="FFC000"/>
                </a:solidFill>
              </a:rPr>
              <a:t>Majeure (3) </a:t>
            </a:r>
            <a:r>
              <a:rPr lang="fr-FR" dirty="0" smtClean="0"/>
              <a:t>: affectent les performances importantes du système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>
                <a:solidFill>
                  <a:srgbClr val="FFFF00"/>
                </a:solidFill>
              </a:rPr>
              <a:t>Modérée (2) </a:t>
            </a:r>
            <a:r>
              <a:rPr lang="fr-FR" dirty="0" smtClean="0"/>
              <a:t>: affectent les performances du système mais des stratégies travaillées peuvent être utilisées afin de compenser la perte de performances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>
                <a:solidFill>
                  <a:srgbClr val="00B050"/>
                </a:solidFill>
              </a:rPr>
              <a:t>Faible (1) </a:t>
            </a:r>
            <a:r>
              <a:rPr lang="fr-FR" dirty="0" smtClean="0"/>
              <a:t>: affectent les performances du système de manière perceptible mais peuvent seulement gêner l’utilisateur si le système ne fonctionne pas correctement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Intégration des activités V&amp;V (extrait)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65113" y="1722080"/>
          <a:ext cx="8871383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476"/>
                <a:gridCol w="303530"/>
                <a:gridCol w="260847"/>
                <a:gridCol w="224711"/>
                <a:gridCol w="224711"/>
                <a:gridCol w="256461"/>
                <a:gridCol w="256461"/>
                <a:gridCol w="256461"/>
                <a:gridCol w="256461"/>
                <a:gridCol w="280670"/>
                <a:gridCol w="280670"/>
                <a:gridCol w="280670"/>
                <a:gridCol w="280670"/>
                <a:gridCol w="287020"/>
                <a:gridCol w="287020"/>
                <a:gridCol w="287020"/>
                <a:gridCol w="287020"/>
                <a:gridCol w="324168"/>
                <a:gridCol w="324168"/>
                <a:gridCol w="324168"/>
                <a:gridCol w="324168"/>
                <a:gridCol w="294958"/>
                <a:gridCol w="294958"/>
                <a:gridCol w="294958"/>
                <a:gridCol w="294958"/>
              </a:tblGrid>
              <a:tr h="370840">
                <a:tc gridSpan="25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Développement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Activité V&amp;V</a:t>
                      </a:r>
                      <a:endParaRPr lang="fr-FR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smtClean="0"/>
                        <a:t>concept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smtClean="0"/>
                        <a:t>exigences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smtClean="0"/>
                        <a:t>conception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err="1" smtClean="0"/>
                        <a:t>implément</a:t>
                      </a:r>
                      <a:r>
                        <a:rPr lang="fr-FR" sz="1200" dirty="0" smtClean="0"/>
                        <a:t>.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smtClean="0"/>
                        <a:t>tests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 smtClean="0"/>
                        <a:t>Vérif.</a:t>
                      </a:r>
                    </a:p>
                    <a:p>
                      <a:r>
                        <a:rPr lang="fr-FR" sz="1200" dirty="0" err="1" smtClean="0"/>
                        <a:t>Déploiment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Niveaux</a:t>
                      </a:r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4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3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2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1</a:t>
                      </a:r>
                      <a:endParaRPr lang="fr-F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Acceptation de l’exécution des tests et vérification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230632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Acceptation</a:t>
                      </a:r>
                      <a:r>
                        <a:rPr lang="fr-FR" sz="1200" baseline="0" dirty="0" smtClean="0"/>
                        <a:t> des plans de génération de test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156464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Test et vérification des composants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Génération des plans de test pour les composants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Estimation de</a:t>
                      </a:r>
                      <a:r>
                        <a:rPr lang="fr-FR" sz="1200" baseline="0" dirty="0" smtClean="0"/>
                        <a:t> la config. de management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Analyse</a:t>
                      </a:r>
                      <a:r>
                        <a:rPr lang="fr-FR" sz="1200" baseline="0" dirty="0" smtClean="0"/>
                        <a:t> de criticité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  <a:tr h="230632"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Analyse de distribution Hard/Soft/utilisateur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L’automatisation est souhaitable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Les tâches V&amp;V sont complexes (trop de calcul)</a:t>
            </a:r>
          </a:p>
          <a:p>
            <a:pPr lvl="1"/>
            <a:r>
              <a:rPr lang="fr-FR" dirty="0" smtClean="0"/>
              <a:t>Solution : automatisation</a:t>
            </a:r>
          </a:p>
          <a:p>
            <a:pPr lvl="1"/>
            <a:r>
              <a:rPr lang="fr-FR" dirty="0" smtClean="0"/>
              <a:t>⇒formaliser les exigences et les besoins : la spécification</a:t>
            </a:r>
          </a:p>
          <a:p>
            <a:pPr lvl="1"/>
            <a:r>
              <a:rPr lang="fr-FR" dirty="0" smtClean="0"/>
              <a:t>⇒formaliser le fonctionnement des logiciels : la modélisation</a:t>
            </a:r>
          </a:p>
          <a:p>
            <a:endParaRPr lang="fr-FR" dirty="0" smtClean="0"/>
          </a:p>
          <a:p>
            <a:r>
              <a:rPr lang="fr-FR" b="1" dirty="0" smtClean="0"/>
              <a:t>Spécification</a:t>
            </a:r>
            <a:r>
              <a:rPr lang="fr-FR" dirty="0" smtClean="0"/>
              <a:t> : exprimer les exigences sous forme de propriétés</a:t>
            </a:r>
          </a:p>
          <a:p>
            <a:r>
              <a:rPr lang="fr-FR" dirty="0" smtClean="0"/>
              <a:t>mathématiques : exactitude, vivacité...</a:t>
            </a:r>
          </a:p>
          <a:p>
            <a:endParaRPr lang="fr-FR" dirty="0" smtClean="0"/>
          </a:p>
          <a:p>
            <a:r>
              <a:rPr lang="fr-FR" b="1" dirty="0" smtClean="0"/>
              <a:t>Modélisation</a:t>
            </a:r>
            <a:r>
              <a:rPr lang="fr-FR" dirty="0" smtClean="0"/>
              <a:t> : construire un objet mathématique ayant les mêmes caractéristiques que le composant (on parle en général d’abstraction)</a:t>
            </a:r>
          </a:p>
          <a:p>
            <a:endParaRPr lang="fr-FR" dirty="0" smtClean="0"/>
          </a:p>
          <a:p>
            <a:r>
              <a:rPr lang="fr-FR" dirty="0" smtClean="0"/>
              <a:t>Vérification : vérifier si l’objet mathématique possède les propriétés requises</a:t>
            </a:r>
          </a:p>
          <a:p>
            <a:endParaRPr lang="fr-FR" dirty="0" smtClean="0"/>
          </a:p>
          <a:p>
            <a:r>
              <a:rPr lang="fr-FR" dirty="0" smtClean="0"/>
              <a:t>La spécification et la modélisation doivent être formalisées pour que l’on puisse les automatiser (au </a:t>
            </a:r>
            <a:r>
              <a:rPr lang="fr-FR" smtClean="0"/>
              <a:t>moins partiellement)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Personnalisé 1">
      <a:majorFont>
        <a:latin typeface="Ubuntu"/>
        <a:ea typeface=""/>
        <a:cs typeface=""/>
      </a:majorFont>
      <a:minorFont>
        <a:latin typeface="Ubuntu"/>
        <a:ea typeface=""/>
        <a:cs typeface="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1399</TotalTime>
  <Words>1828</Words>
  <Application>Microsoft Office PowerPoint</Application>
  <PresentationFormat>Affichage à l'écran (4:3)</PresentationFormat>
  <Paragraphs>319</Paragraphs>
  <Slides>26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8" baseType="lpstr">
      <vt:lpstr>Civil</vt:lpstr>
      <vt:lpstr>Picture</vt:lpstr>
      <vt:lpstr>Cours : spécification formelle des systèmes</vt:lpstr>
      <vt:lpstr>Programme du module</vt:lpstr>
      <vt:lpstr>Chapitre 1 : introduction</vt:lpstr>
      <vt:lpstr>Plan du chapitre</vt:lpstr>
      <vt:lpstr>Introduction générale</vt:lpstr>
      <vt:lpstr>Exemple introductif : 1</vt:lpstr>
      <vt:lpstr>Problème!</vt:lpstr>
      <vt:lpstr>Exemple introductif : 2</vt:lpstr>
      <vt:lpstr>Exemple introductif : 3</vt:lpstr>
      <vt:lpstr>Exemple introductif : 3 (suite)</vt:lpstr>
      <vt:lpstr>Méthodes de vérification</vt:lpstr>
      <vt:lpstr>Problèmes liés aux bogues</vt:lpstr>
      <vt:lpstr>Incidents connus</vt:lpstr>
      <vt:lpstr>Solution déjà vue!</vt:lpstr>
      <vt:lpstr>Que faire ?</vt:lpstr>
      <vt:lpstr>Place de la vérification et la validation dans le cycle de développement (IEEE)</vt:lpstr>
      <vt:lpstr>Définition de V&amp;V</vt:lpstr>
      <vt:lpstr>Pourquoi faire ?</vt:lpstr>
      <vt:lpstr>Pourquoi faire ?</vt:lpstr>
      <vt:lpstr>Pourquoi faire ?</vt:lpstr>
      <vt:lpstr>Niveau d’intégrité</vt:lpstr>
      <vt:lpstr>Quand le définir ?</vt:lpstr>
      <vt:lpstr>Quand le définir ?</vt:lpstr>
      <vt:lpstr>Les niveaux de la norme IEEE</vt:lpstr>
      <vt:lpstr>Intégration des activités V&amp;V (extrait)</vt:lpstr>
      <vt:lpstr>L’automatisation est souhaitable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: spécification formelle des systèmes</dc:title>
  <dc:creator>DELL</dc:creator>
  <cp:lastModifiedBy>DELL</cp:lastModifiedBy>
  <cp:revision>41</cp:revision>
  <dcterms:created xsi:type="dcterms:W3CDTF">2014-03-12T22:00:58Z</dcterms:created>
  <dcterms:modified xsi:type="dcterms:W3CDTF">2015-02-18T17:19:28Z</dcterms:modified>
</cp:coreProperties>
</file>