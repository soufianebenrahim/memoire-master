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  <p:sldId id="281" r:id="rId26"/>
    <p:sldId id="282" r:id="rId27"/>
    <p:sldId id="277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115" autoAdjust="0"/>
  </p:normalViewPr>
  <p:slideViewPr>
    <p:cSldViewPr>
      <p:cViewPr varScale="1">
        <p:scale>
          <a:sx n="65" d="100"/>
          <a:sy n="65" d="100"/>
        </p:scale>
        <p:origin x="-62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87041-E065-43E7-80B3-78CEBD137838}" type="datetimeFigureOut">
              <a:rPr lang="fr-FR" smtClean="0"/>
              <a:pPr/>
              <a:t>24/02/2015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B903AF-83D2-4E34-A9F3-0D2B0D8945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B903AF-83D2-4E34-A9F3-0D2B0D894525}" type="slidenum">
              <a:rPr lang="fr-FR" smtClean="0"/>
              <a:pPr/>
              <a:t>2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38729-4FF0-4E22-B267-571BA06C0E45}" type="datetime1">
              <a:rPr lang="fr-FR" smtClean="0"/>
              <a:pPr/>
              <a:t>24/02/2015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E7315D6-C9F4-47EB-B13E-8BFE726CDFC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9F2D1-AB0F-4EA7-BC96-7DD256BD1164}" type="datetime1">
              <a:rPr lang="fr-FR" smtClean="0"/>
              <a:pPr/>
              <a:t>24/02/2015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5E7315D6-C9F4-47EB-B13E-8BFE726CDFC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0CF6B-966C-45F7-85AF-FEFBD8C5E02C}" type="datetime1">
              <a:rPr lang="fr-FR" smtClean="0"/>
              <a:pPr/>
              <a:t>24/02/2015</a:t>
            </a:fld>
            <a:endParaRPr lang="fr-FR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E7315D6-C9F4-47EB-B13E-8BFE726CDFC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C3D7B6E7-2A9C-4C2F-A246-217555B6AD62}" type="datetime1">
              <a:rPr lang="fr-FR" smtClean="0"/>
              <a:pPr/>
              <a:t>24/02/2015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15D6-C9F4-47EB-B13E-8BFE726CDFC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EA9D-EC49-43AA-A662-1B0B0B695801}" type="datetime1">
              <a:rPr lang="fr-FR" smtClean="0"/>
              <a:pPr/>
              <a:t>24/02/2015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5E7315D6-C9F4-47EB-B13E-8BFE726CDFC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B2EFA-5AF7-41D3-B350-8942D15601D7}" type="datetime1">
              <a:rPr lang="fr-FR" smtClean="0"/>
              <a:pPr/>
              <a:t>24/02/2015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5E7315D6-C9F4-47EB-B13E-8BFE726CDFC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0C02-E963-4DCA-AE96-420402AC18E5}" type="datetime1">
              <a:rPr lang="fr-FR" smtClean="0"/>
              <a:pPr/>
              <a:t>24/02/2015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E7315D6-C9F4-47EB-B13E-8BFE726CDFC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E7315D6-C9F4-47EB-B13E-8BFE726CDFC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35564-484D-4F7E-A774-F58EC07DCCE1}" type="datetime1">
              <a:rPr lang="fr-FR" smtClean="0"/>
              <a:pPr/>
              <a:t>24/02/2015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5E7315D6-C9F4-47EB-B13E-8BFE726CDFC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5F440E95-773E-400B-9891-C2500FE26908}" type="datetime1">
              <a:rPr lang="fr-FR" smtClean="0"/>
              <a:pPr/>
              <a:t>24/02/2015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890B5-ADBB-4BED-ABCA-9046CEFF1E14}" type="datetime1">
              <a:rPr lang="fr-FR" smtClean="0"/>
              <a:pPr/>
              <a:t>24/02/2015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15D6-C9F4-47EB-B13E-8BFE726CDFC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5E7315D6-C9F4-47EB-B13E-8BFE726CDFC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803A-68FE-4C3B-88EB-3C062B0382CC}" type="datetime1">
              <a:rPr lang="fr-FR" smtClean="0"/>
              <a:pPr/>
              <a:t>24/02/2015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7DA67433-7334-4432-85F8-0D521CB3D39B}" type="datetime1">
              <a:rPr lang="fr-FR" smtClean="0"/>
              <a:pPr/>
              <a:t>24/02/2015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E7315D6-C9F4-47EB-B13E-8BFE726CDFC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537592"/>
          </a:xfrm>
        </p:spPr>
        <p:txBody>
          <a:bodyPr>
            <a:normAutofit/>
          </a:bodyPr>
          <a:lstStyle/>
          <a:p>
            <a:r>
              <a:rPr lang="fr-FR" dirty="0" smtClean="0"/>
              <a:t>Présenté par : DR. T. BENOUHIBA</a:t>
            </a:r>
          </a:p>
          <a:p>
            <a:endParaRPr lang="fr-FR" dirty="0" smtClean="0"/>
          </a:p>
        </p:txBody>
      </p:sp>
      <p:sp>
        <p:nvSpPr>
          <p:cNvPr id="37" name="Espace réservé du pied de page 3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51520" y="381000"/>
            <a:ext cx="8496944" cy="1752600"/>
          </a:xfrm>
        </p:spPr>
        <p:txBody>
          <a:bodyPr>
            <a:normAutofit/>
          </a:bodyPr>
          <a:lstStyle/>
          <a:p>
            <a:r>
              <a:rPr lang="fr-FR" sz="3200" dirty="0" smtClean="0"/>
              <a:t>Chapitre 2 : spécification formelle des propriétés </a:t>
            </a:r>
            <a:endParaRPr lang="fr-FR" sz="3200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/>
        </p:nvGraphicFramePr>
        <p:xfrm>
          <a:off x="179512" y="116632"/>
          <a:ext cx="878497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423"/>
                <a:gridCol w="2288391"/>
                <a:gridCol w="2680162"/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solidFill>
                            <a:schemeClr val="tx2"/>
                          </a:solidFill>
                          <a:latin typeface="+mj-lt"/>
                        </a:rPr>
                        <a:t>Master ILC</a:t>
                      </a:r>
                    </a:p>
                    <a:p>
                      <a:r>
                        <a:rPr lang="fr-FR" sz="1600" dirty="0" smtClean="0">
                          <a:solidFill>
                            <a:schemeClr val="tx2"/>
                          </a:solidFill>
                          <a:latin typeface="+mj-lt"/>
                        </a:rPr>
                        <a:t>Département d’informatique</a:t>
                      </a:r>
                    </a:p>
                    <a:p>
                      <a:r>
                        <a:rPr lang="fr-FR" sz="1600" dirty="0" smtClean="0">
                          <a:solidFill>
                            <a:schemeClr val="tx2"/>
                          </a:solidFill>
                          <a:latin typeface="+mj-lt"/>
                        </a:rPr>
                        <a:t>Université </a:t>
                      </a:r>
                      <a:r>
                        <a:rPr lang="fr-FR" sz="1600" dirty="0" err="1" smtClean="0">
                          <a:solidFill>
                            <a:schemeClr val="tx2"/>
                          </a:solidFill>
                          <a:latin typeface="+mj-lt"/>
                        </a:rPr>
                        <a:t>Badji</a:t>
                      </a:r>
                      <a:r>
                        <a:rPr lang="fr-FR" sz="1600" dirty="0" smtClean="0">
                          <a:solidFill>
                            <a:schemeClr val="tx2"/>
                          </a:solidFill>
                          <a:latin typeface="+mj-lt"/>
                        </a:rPr>
                        <a:t> </a:t>
                      </a:r>
                      <a:r>
                        <a:rPr lang="fr-FR" sz="1600" dirty="0" err="1" smtClean="0">
                          <a:solidFill>
                            <a:schemeClr val="tx2"/>
                          </a:solidFill>
                          <a:latin typeface="+mj-lt"/>
                        </a:rPr>
                        <a:t>Mokhtar</a:t>
                      </a:r>
                      <a:r>
                        <a:rPr lang="fr-FR" sz="1600" dirty="0" smtClean="0">
                          <a:solidFill>
                            <a:schemeClr val="tx2"/>
                          </a:solidFill>
                          <a:latin typeface="+mj-lt"/>
                        </a:rPr>
                        <a:t> Annaba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600" dirty="0">
                        <a:solidFill>
                          <a:schemeClr val="tx2"/>
                        </a:solidFill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sz="1600" dirty="0" err="1" smtClean="0">
                          <a:solidFill>
                            <a:schemeClr val="tx2"/>
                          </a:solidFill>
                          <a:latin typeface="+mj-lt"/>
                        </a:rPr>
                        <a:t>ماستر</a:t>
                      </a:r>
                      <a:r>
                        <a:rPr lang="ar-DZ" sz="1600" baseline="0" dirty="0" smtClean="0">
                          <a:solidFill>
                            <a:schemeClr val="tx2"/>
                          </a:solidFill>
                          <a:latin typeface="+mj-lt"/>
                        </a:rPr>
                        <a:t> هندسة البرامج المعقدة</a:t>
                      </a:r>
                    </a:p>
                    <a:p>
                      <a:pPr algn="r"/>
                      <a:r>
                        <a:rPr lang="ar-DZ" sz="1600" baseline="0" dirty="0" smtClean="0">
                          <a:solidFill>
                            <a:schemeClr val="tx2"/>
                          </a:solidFill>
                          <a:latin typeface="+mj-lt"/>
                        </a:rPr>
                        <a:t>قسم الإعلام الآلي</a:t>
                      </a:r>
                    </a:p>
                    <a:p>
                      <a:pPr algn="r"/>
                      <a:r>
                        <a:rPr lang="ar-DZ" sz="1600" baseline="0" dirty="0" smtClean="0">
                          <a:solidFill>
                            <a:schemeClr val="tx2"/>
                          </a:solidFill>
                          <a:latin typeface="+mj-lt"/>
                        </a:rPr>
                        <a:t>جامعة </a:t>
                      </a:r>
                      <a:r>
                        <a:rPr lang="ar-DZ" sz="1600" baseline="0" dirty="0" err="1" smtClean="0">
                          <a:solidFill>
                            <a:schemeClr val="tx2"/>
                          </a:solidFill>
                          <a:latin typeface="+mj-lt"/>
                        </a:rPr>
                        <a:t>باجي</a:t>
                      </a:r>
                      <a:r>
                        <a:rPr lang="ar-DZ" sz="1600" baseline="0" dirty="0" smtClean="0">
                          <a:solidFill>
                            <a:schemeClr val="tx2"/>
                          </a:solidFill>
                          <a:latin typeface="+mj-lt"/>
                        </a:rPr>
                        <a:t> مختار </a:t>
                      </a:r>
                      <a:r>
                        <a:rPr lang="ar-DZ" sz="1600" baseline="0" dirty="0" err="1" smtClean="0">
                          <a:solidFill>
                            <a:schemeClr val="tx2"/>
                          </a:solidFill>
                          <a:latin typeface="+mj-lt"/>
                        </a:rPr>
                        <a:t>عنابة</a:t>
                      </a:r>
                      <a:endParaRPr lang="fr-FR" sz="1600" dirty="0">
                        <a:solidFill>
                          <a:schemeClr val="tx2"/>
                        </a:solidFill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4427984" y="188640"/>
          <a:ext cx="1057275" cy="790575"/>
        </p:xfrm>
        <a:graphic>
          <a:graphicData uri="http://schemas.openxmlformats.org/presentationml/2006/ole">
            <p:oleObj spid="_x0000_s1026" name="Picture" r:id="rId3" imgW="1051741" imgH="785820" progId="Word.Picture.8">
              <p:embed/>
            </p:oleObj>
          </a:graphicData>
        </a:graphic>
      </p:graphicFrame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1823045" y="3501008"/>
            <a:ext cx="5629275" cy="2408237"/>
            <a:chOff x="1538" y="1936"/>
            <a:chExt cx="8864" cy="3791"/>
          </a:xfrm>
        </p:grpSpPr>
        <p:sp>
          <p:nvSpPr>
            <p:cNvPr id="16389" name="AutoShape 5"/>
            <p:cNvSpPr>
              <a:spLocks noChangeArrowheads="1"/>
            </p:cNvSpPr>
            <p:nvPr/>
          </p:nvSpPr>
          <p:spPr bwMode="auto">
            <a:xfrm rot="10800000">
              <a:off x="6839" y="2391"/>
              <a:ext cx="3387" cy="953"/>
            </a:xfrm>
            <a:prstGeom prst="rtTriangle">
              <a:avLst/>
            </a:prstGeom>
            <a:solidFill>
              <a:srgbClr val="FABF8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390" name="Text Box 6"/>
            <p:cNvSpPr txBox="1">
              <a:spLocks noChangeArrowheads="1"/>
            </p:cNvSpPr>
            <p:nvPr/>
          </p:nvSpPr>
          <p:spPr bwMode="auto">
            <a:xfrm>
              <a:off x="5348" y="2467"/>
              <a:ext cx="4953" cy="1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ar-DZ" sz="2800" b="0" i="0" u="none" strike="noStrike" cap="none" normalizeH="0" baseline="0" smtClean="0">
                  <a:ln>
                    <a:noFill/>
                  </a:ln>
                  <a:solidFill>
                    <a:srgbClr val="00359E"/>
                  </a:solidFill>
                  <a:effectLst/>
                  <a:latin typeface="Simplified Arabic" pitchFamily="18" charset="-78"/>
                  <a:ea typeface="Arial" pitchFamily="34" charset="0"/>
                  <a:cs typeface="Simplified Arabic" pitchFamily="18" charset="-78"/>
                </a:rPr>
                <a:t>مــخبر هــندسـة</a:t>
              </a:r>
              <a:endParaRPr kumimoji="0" lang="fr-FR" sz="2800" b="0" i="0" u="none" strike="noStrike" cap="none" normalizeH="0" baseline="0" smtClean="0">
                <a:ln>
                  <a:noFill/>
                </a:ln>
                <a:solidFill>
                  <a:srgbClr val="00359E"/>
                </a:solidFill>
                <a:effectLst/>
                <a:latin typeface="Arial" pitchFamily="34" charset="0"/>
                <a:ea typeface="Arial" pitchFamily="34" charset="0"/>
                <a:cs typeface="Simplified Arabic" pitchFamily="18" charset="-78"/>
              </a:endParaRPr>
            </a:p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ar-DZ" sz="2800" b="0" i="0" u="none" strike="noStrike" cap="none" normalizeH="0" baseline="0" smtClean="0">
                  <a:ln>
                    <a:noFill/>
                  </a:ln>
                  <a:solidFill>
                    <a:srgbClr val="00359E"/>
                  </a:solidFill>
                  <a:effectLst/>
                  <a:latin typeface="Simplified Arabic" pitchFamily="18" charset="-78"/>
                  <a:ea typeface="Arial" pitchFamily="34" charset="0"/>
                  <a:cs typeface="Simplified Arabic" pitchFamily="18" charset="-78"/>
                </a:rPr>
                <a:t>الأنـظمـة الـمعقـدة</a:t>
              </a:r>
              <a:endParaRPr kumimoji="0" lang="fr-F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391" name="AutoShape 7"/>
            <p:cNvSpPr>
              <a:spLocks noChangeArrowheads="1"/>
            </p:cNvSpPr>
            <p:nvPr/>
          </p:nvSpPr>
          <p:spPr bwMode="auto">
            <a:xfrm>
              <a:off x="5449" y="4407"/>
              <a:ext cx="3388" cy="954"/>
            </a:xfrm>
            <a:prstGeom prst="rtTriangle">
              <a:avLst/>
            </a:prstGeom>
            <a:solidFill>
              <a:srgbClr val="FABF8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grpSp>
          <p:nvGrpSpPr>
            <p:cNvPr id="5" name="Group 8"/>
            <p:cNvGrpSpPr>
              <a:grpSpLocks/>
            </p:cNvGrpSpPr>
            <p:nvPr/>
          </p:nvGrpSpPr>
          <p:grpSpPr bwMode="auto">
            <a:xfrm>
              <a:off x="1898" y="3806"/>
              <a:ext cx="8403" cy="1276"/>
              <a:chOff x="3449" y="2209"/>
              <a:chExt cx="3691" cy="582"/>
            </a:xfrm>
          </p:grpSpPr>
          <p:sp>
            <p:nvSpPr>
              <p:cNvPr id="16393" name="Freeform 9"/>
              <p:cNvSpPr>
                <a:spLocks/>
              </p:cNvSpPr>
              <p:nvPr/>
            </p:nvSpPr>
            <p:spPr bwMode="auto">
              <a:xfrm>
                <a:off x="3449" y="2209"/>
                <a:ext cx="3688" cy="465"/>
              </a:xfrm>
              <a:custGeom>
                <a:avLst/>
                <a:gdLst/>
                <a:ahLst/>
                <a:cxnLst>
                  <a:cxn ang="0">
                    <a:pos x="0" y="465"/>
                  </a:cxn>
                  <a:cxn ang="0">
                    <a:pos x="1201" y="6"/>
                  </a:cxn>
                  <a:cxn ang="0">
                    <a:pos x="3688" y="6"/>
                  </a:cxn>
                </a:cxnLst>
                <a:rect l="0" t="0" r="r" b="b"/>
                <a:pathLst>
                  <a:path w="3688" h="465">
                    <a:moveTo>
                      <a:pt x="0" y="465"/>
                    </a:moveTo>
                    <a:cubicBezTo>
                      <a:pt x="308" y="254"/>
                      <a:pt x="531" y="0"/>
                      <a:pt x="1201" y="6"/>
                    </a:cubicBezTo>
                    <a:lnTo>
                      <a:pt x="3688" y="6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94" name="Freeform 10"/>
              <p:cNvSpPr>
                <a:spLocks/>
              </p:cNvSpPr>
              <p:nvPr/>
            </p:nvSpPr>
            <p:spPr bwMode="auto">
              <a:xfrm>
                <a:off x="3449" y="2248"/>
                <a:ext cx="3686" cy="474"/>
              </a:xfrm>
              <a:custGeom>
                <a:avLst/>
                <a:gdLst/>
                <a:ahLst/>
                <a:cxnLst>
                  <a:cxn ang="0">
                    <a:pos x="0" y="474"/>
                  </a:cxn>
                  <a:cxn ang="0">
                    <a:pos x="1199" y="6"/>
                  </a:cxn>
                  <a:cxn ang="0">
                    <a:pos x="3686" y="6"/>
                  </a:cxn>
                </a:cxnLst>
                <a:rect l="0" t="0" r="r" b="b"/>
                <a:pathLst>
                  <a:path w="3686" h="474">
                    <a:moveTo>
                      <a:pt x="0" y="474"/>
                    </a:moveTo>
                    <a:cubicBezTo>
                      <a:pt x="308" y="263"/>
                      <a:pt x="529" y="0"/>
                      <a:pt x="1199" y="6"/>
                    </a:cubicBezTo>
                    <a:lnTo>
                      <a:pt x="3686" y="6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95" name="Freeform 11"/>
              <p:cNvSpPr>
                <a:spLocks/>
              </p:cNvSpPr>
              <p:nvPr/>
            </p:nvSpPr>
            <p:spPr bwMode="auto">
              <a:xfrm>
                <a:off x="3500" y="2290"/>
                <a:ext cx="3637" cy="441"/>
              </a:xfrm>
              <a:custGeom>
                <a:avLst/>
                <a:gdLst/>
                <a:ahLst/>
                <a:cxnLst>
                  <a:cxn ang="0">
                    <a:pos x="0" y="441"/>
                  </a:cxn>
                  <a:cxn ang="0">
                    <a:pos x="1150" y="6"/>
                  </a:cxn>
                  <a:cxn ang="0">
                    <a:pos x="3637" y="6"/>
                  </a:cxn>
                </a:cxnLst>
                <a:rect l="0" t="0" r="r" b="b"/>
                <a:pathLst>
                  <a:path w="3637" h="441">
                    <a:moveTo>
                      <a:pt x="0" y="441"/>
                    </a:moveTo>
                    <a:cubicBezTo>
                      <a:pt x="308" y="230"/>
                      <a:pt x="480" y="0"/>
                      <a:pt x="1150" y="6"/>
                    </a:cubicBezTo>
                    <a:lnTo>
                      <a:pt x="3637" y="6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96" name="Freeform 12"/>
              <p:cNvSpPr>
                <a:spLocks/>
              </p:cNvSpPr>
              <p:nvPr/>
            </p:nvSpPr>
            <p:spPr bwMode="auto">
              <a:xfrm>
                <a:off x="3482" y="2329"/>
                <a:ext cx="3658" cy="462"/>
              </a:xfrm>
              <a:custGeom>
                <a:avLst/>
                <a:gdLst/>
                <a:ahLst/>
                <a:cxnLst>
                  <a:cxn ang="0">
                    <a:pos x="0" y="462"/>
                  </a:cxn>
                  <a:cxn ang="0">
                    <a:pos x="1166" y="6"/>
                  </a:cxn>
                  <a:cxn ang="0">
                    <a:pos x="3658" y="4"/>
                  </a:cxn>
                </a:cxnLst>
                <a:rect l="0" t="0" r="r" b="b"/>
                <a:pathLst>
                  <a:path w="3658" h="462">
                    <a:moveTo>
                      <a:pt x="0" y="462"/>
                    </a:moveTo>
                    <a:cubicBezTo>
                      <a:pt x="308" y="251"/>
                      <a:pt x="496" y="0"/>
                      <a:pt x="1166" y="6"/>
                    </a:cubicBezTo>
                    <a:lnTo>
                      <a:pt x="3658" y="4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sp>
          <p:nvSpPr>
            <p:cNvPr id="16397" name="Rectangle 13"/>
            <p:cNvSpPr>
              <a:spLocks noChangeArrowheads="1"/>
            </p:cNvSpPr>
            <p:nvPr/>
          </p:nvSpPr>
          <p:spPr bwMode="auto">
            <a:xfrm>
              <a:off x="10246" y="3734"/>
              <a:ext cx="156" cy="3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398" name="Text Box 14"/>
            <p:cNvSpPr txBox="1">
              <a:spLocks noChangeArrowheads="1"/>
            </p:cNvSpPr>
            <p:nvPr/>
          </p:nvSpPr>
          <p:spPr bwMode="auto">
            <a:xfrm>
              <a:off x="5413" y="4225"/>
              <a:ext cx="4794" cy="10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2200" b="1" i="0" u="none" strike="noStrike" cap="none" normalizeH="0" baseline="0" dirty="0" smtClean="0">
                  <a:ln>
                    <a:noFill/>
                  </a:ln>
                  <a:solidFill>
                    <a:srgbClr val="00359E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Laboratoire  d’Ingénierie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2200" b="1" i="0" u="none" strike="noStrike" cap="none" normalizeH="0" baseline="0" dirty="0" smtClean="0">
                  <a:ln>
                    <a:noFill/>
                  </a:ln>
                  <a:solidFill>
                    <a:srgbClr val="00359E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des  Systèmes  Complexes</a:t>
              </a:r>
              <a:endPara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6" name="Group 15"/>
            <p:cNvGrpSpPr>
              <a:grpSpLocks/>
            </p:cNvGrpSpPr>
            <p:nvPr/>
          </p:nvGrpSpPr>
          <p:grpSpPr bwMode="auto">
            <a:xfrm>
              <a:off x="1538" y="1936"/>
              <a:ext cx="3784" cy="3791"/>
              <a:chOff x="3301" y="1332"/>
              <a:chExt cx="1726" cy="1729"/>
            </a:xfrm>
          </p:grpSpPr>
          <p:sp>
            <p:nvSpPr>
              <p:cNvPr id="16400" name="Freeform 16"/>
              <p:cNvSpPr>
                <a:spLocks/>
              </p:cNvSpPr>
              <p:nvPr/>
            </p:nvSpPr>
            <p:spPr bwMode="auto">
              <a:xfrm>
                <a:off x="4131" y="1776"/>
                <a:ext cx="244" cy="295"/>
              </a:xfrm>
              <a:custGeom>
                <a:avLst/>
                <a:gdLst/>
                <a:ahLst/>
                <a:cxnLst>
                  <a:cxn ang="0">
                    <a:pos x="120" y="238"/>
                  </a:cxn>
                  <a:cxn ang="0">
                    <a:pos x="190" y="55"/>
                  </a:cxn>
                  <a:cxn ang="0">
                    <a:pos x="47" y="118"/>
                  </a:cxn>
                  <a:cxn ang="0">
                    <a:pos x="82" y="295"/>
                  </a:cxn>
                  <a:cxn ang="0">
                    <a:pos x="58" y="149"/>
                  </a:cxn>
                  <a:cxn ang="0">
                    <a:pos x="152" y="100"/>
                  </a:cxn>
                  <a:cxn ang="0">
                    <a:pos x="120" y="238"/>
                  </a:cxn>
                </a:cxnLst>
                <a:rect l="0" t="0" r="r" b="b"/>
                <a:pathLst>
                  <a:path w="244" h="295">
                    <a:moveTo>
                      <a:pt x="120" y="238"/>
                    </a:moveTo>
                    <a:cubicBezTo>
                      <a:pt x="184" y="192"/>
                      <a:pt x="244" y="110"/>
                      <a:pt x="190" y="55"/>
                    </a:cubicBezTo>
                    <a:cubicBezTo>
                      <a:pt x="136" y="0"/>
                      <a:pt x="64" y="81"/>
                      <a:pt x="47" y="118"/>
                    </a:cubicBezTo>
                    <a:cubicBezTo>
                      <a:pt x="29" y="156"/>
                      <a:pt x="0" y="220"/>
                      <a:pt x="82" y="295"/>
                    </a:cubicBezTo>
                    <a:cubicBezTo>
                      <a:pt x="35" y="244"/>
                      <a:pt x="36" y="183"/>
                      <a:pt x="58" y="149"/>
                    </a:cubicBezTo>
                    <a:cubicBezTo>
                      <a:pt x="81" y="115"/>
                      <a:pt x="115" y="70"/>
                      <a:pt x="152" y="100"/>
                    </a:cubicBezTo>
                    <a:cubicBezTo>
                      <a:pt x="188" y="129"/>
                      <a:pt x="159" y="194"/>
                      <a:pt x="120" y="238"/>
                    </a:cubicBezTo>
                    <a:close/>
                  </a:path>
                </a:pathLst>
              </a:cu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01" name="Freeform 17"/>
              <p:cNvSpPr>
                <a:spLocks/>
              </p:cNvSpPr>
              <p:nvPr/>
            </p:nvSpPr>
            <p:spPr bwMode="auto">
              <a:xfrm>
                <a:off x="4246" y="1937"/>
                <a:ext cx="226" cy="190"/>
              </a:xfrm>
              <a:custGeom>
                <a:avLst/>
                <a:gdLst/>
                <a:ahLst/>
                <a:cxnLst>
                  <a:cxn ang="0">
                    <a:pos x="151" y="0"/>
                  </a:cxn>
                  <a:cxn ang="0">
                    <a:pos x="0" y="152"/>
                  </a:cxn>
                  <a:cxn ang="0">
                    <a:pos x="202" y="107"/>
                  </a:cxn>
                  <a:cxn ang="0">
                    <a:pos x="151" y="0"/>
                  </a:cxn>
                </a:cxnLst>
                <a:rect l="0" t="0" r="r" b="b"/>
                <a:pathLst>
                  <a:path w="226" h="190">
                    <a:moveTo>
                      <a:pt x="151" y="0"/>
                    </a:moveTo>
                    <a:cubicBezTo>
                      <a:pt x="121" y="55"/>
                      <a:pt x="83" y="151"/>
                      <a:pt x="0" y="152"/>
                    </a:cubicBezTo>
                    <a:cubicBezTo>
                      <a:pt x="69" y="190"/>
                      <a:pt x="178" y="151"/>
                      <a:pt x="202" y="107"/>
                    </a:cubicBezTo>
                    <a:cubicBezTo>
                      <a:pt x="226" y="64"/>
                      <a:pt x="196" y="12"/>
                      <a:pt x="151" y="0"/>
                    </a:cubicBezTo>
                    <a:close/>
                  </a:path>
                </a:pathLst>
              </a:cu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02" name="Freeform 18"/>
              <p:cNvSpPr>
                <a:spLocks noChangeAspect="1"/>
              </p:cNvSpPr>
              <p:nvPr/>
            </p:nvSpPr>
            <p:spPr bwMode="auto">
              <a:xfrm rot="-451034">
                <a:off x="4367" y="1996"/>
                <a:ext cx="57" cy="48"/>
              </a:xfrm>
              <a:custGeom>
                <a:avLst/>
                <a:gdLst/>
                <a:ahLst/>
                <a:cxnLst>
                  <a:cxn ang="0">
                    <a:pos x="111" y="0"/>
                  </a:cxn>
                  <a:cxn ang="0">
                    <a:pos x="0" y="182"/>
                  </a:cxn>
                  <a:cxn ang="0">
                    <a:pos x="133" y="86"/>
                  </a:cxn>
                  <a:cxn ang="0">
                    <a:pos x="111" y="0"/>
                  </a:cxn>
                </a:cxnLst>
                <a:rect l="0" t="0" r="r" b="b"/>
                <a:pathLst>
                  <a:path w="146" h="182">
                    <a:moveTo>
                      <a:pt x="111" y="0"/>
                    </a:moveTo>
                    <a:cubicBezTo>
                      <a:pt x="90" y="56"/>
                      <a:pt x="60" y="128"/>
                      <a:pt x="0" y="182"/>
                    </a:cubicBezTo>
                    <a:cubicBezTo>
                      <a:pt x="107" y="129"/>
                      <a:pt x="121" y="112"/>
                      <a:pt x="133" y="86"/>
                    </a:cubicBezTo>
                    <a:cubicBezTo>
                      <a:pt x="146" y="60"/>
                      <a:pt x="123" y="9"/>
                      <a:pt x="1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03" name="Freeform 19"/>
              <p:cNvSpPr>
                <a:spLocks/>
              </p:cNvSpPr>
              <p:nvPr/>
            </p:nvSpPr>
            <p:spPr bwMode="auto">
              <a:xfrm>
                <a:off x="3921" y="1687"/>
                <a:ext cx="390" cy="562"/>
              </a:xfrm>
              <a:custGeom>
                <a:avLst/>
                <a:gdLst/>
                <a:ahLst/>
                <a:cxnLst>
                  <a:cxn ang="0">
                    <a:pos x="224" y="0"/>
                  </a:cxn>
                  <a:cxn ang="0">
                    <a:pos x="114" y="529"/>
                  </a:cxn>
                  <a:cxn ang="0">
                    <a:pos x="324" y="286"/>
                  </a:cxn>
                  <a:cxn ang="0">
                    <a:pos x="210" y="307"/>
                  </a:cxn>
                  <a:cxn ang="0">
                    <a:pos x="260" y="421"/>
                  </a:cxn>
                  <a:cxn ang="0">
                    <a:pos x="227" y="356"/>
                  </a:cxn>
                  <a:cxn ang="0">
                    <a:pos x="288" y="319"/>
                  </a:cxn>
                  <a:cxn ang="0">
                    <a:pos x="174" y="466"/>
                  </a:cxn>
                  <a:cxn ang="0">
                    <a:pos x="224" y="0"/>
                  </a:cxn>
                </a:cxnLst>
                <a:rect l="0" t="0" r="r" b="b"/>
                <a:pathLst>
                  <a:path w="390" h="562">
                    <a:moveTo>
                      <a:pt x="224" y="0"/>
                    </a:moveTo>
                    <a:cubicBezTo>
                      <a:pt x="183" y="287"/>
                      <a:pt x="0" y="496"/>
                      <a:pt x="114" y="529"/>
                    </a:cubicBezTo>
                    <a:cubicBezTo>
                      <a:pt x="228" y="562"/>
                      <a:pt x="390" y="373"/>
                      <a:pt x="324" y="286"/>
                    </a:cubicBezTo>
                    <a:cubicBezTo>
                      <a:pt x="290" y="239"/>
                      <a:pt x="225" y="265"/>
                      <a:pt x="210" y="307"/>
                    </a:cubicBezTo>
                    <a:cubicBezTo>
                      <a:pt x="195" y="349"/>
                      <a:pt x="200" y="394"/>
                      <a:pt x="260" y="421"/>
                    </a:cubicBezTo>
                    <a:cubicBezTo>
                      <a:pt x="228" y="408"/>
                      <a:pt x="223" y="380"/>
                      <a:pt x="227" y="356"/>
                    </a:cubicBezTo>
                    <a:cubicBezTo>
                      <a:pt x="231" y="332"/>
                      <a:pt x="252" y="280"/>
                      <a:pt x="288" y="319"/>
                    </a:cubicBezTo>
                    <a:cubicBezTo>
                      <a:pt x="324" y="358"/>
                      <a:pt x="264" y="474"/>
                      <a:pt x="174" y="466"/>
                    </a:cubicBezTo>
                    <a:cubicBezTo>
                      <a:pt x="84" y="458"/>
                      <a:pt x="183" y="281"/>
                      <a:pt x="224" y="0"/>
                    </a:cubicBezTo>
                    <a:close/>
                  </a:path>
                </a:pathLst>
              </a:cu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04" name="Freeform 20"/>
              <p:cNvSpPr>
                <a:spLocks/>
              </p:cNvSpPr>
              <p:nvPr/>
            </p:nvSpPr>
            <p:spPr bwMode="auto">
              <a:xfrm rot="870589">
                <a:off x="3721" y="1921"/>
                <a:ext cx="273" cy="347"/>
              </a:xfrm>
              <a:custGeom>
                <a:avLst/>
                <a:gdLst/>
                <a:ahLst/>
                <a:cxnLst>
                  <a:cxn ang="0">
                    <a:pos x="980" y="0"/>
                  </a:cxn>
                  <a:cxn ang="0">
                    <a:pos x="0" y="1804"/>
                  </a:cxn>
                  <a:cxn ang="0">
                    <a:pos x="1355" y="597"/>
                  </a:cxn>
                  <a:cxn ang="0">
                    <a:pos x="980" y="0"/>
                  </a:cxn>
                </a:cxnLst>
                <a:rect l="0" t="0" r="r" b="b"/>
                <a:pathLst>
                  <a:path w="1424" h="1804">
                    <a:moveTo>
                      <a:pt x="980" y="0"/>
                    </a:moveTo>
                    <a:cubicBezTo>
                      <a:pt x="876" y="574"/>
                      <a:pt x="486" y="1238"/>
                      <a:pt x="0" y="1804"/>
                    </a:cubicBezTo>
                    <a:cubicBezTo>
                      <a:pt x="1057" y="699"/>
                      <a:pt x="1286" y="889"/>
                      <a:pt x="1355" y="597"/>
                    </a:cubicBezTo>
                    <a:cubicBezTo>
                      <a:pt x="1424" y="305"/>
                      <a:pt x="1136" y="42"/>
                      <a:pt x="980" y="0"/>
                    </a:cubicBezTo>
                    <a:close/>
                  </a:path>
                </a:pathLst>
              </a:cu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05" name="Freeform 21"/>
              <p:cNvSpPr>
                <a:spLocks/>
              </p:cNvSpPr>
              <p:nvPr/>
            </p:nvSpPr>
            <p:spPr bwMode="auto">
              <a:xfrm rot="32812">
                <a:off x="3896" y="2009"/>
                <a:ext cx="71" cy="71"/>
              </a:xfrm>
              <a:custGeom>
                <a:avLst/>
                <a:gdLst/>
                <a:ahLst/>
                <a:cxnLst>
                  <a:cxn ang="0">
                    <a:pos x="1386" y="0"/>
                  </a:cxn>
                  <a:cxn ang="0">
                    <a:pos x="0" y="1515"/>
                  </a:cxn>
                  <a:cxn ang="0">
                    <a:pos x="1625" y="682"/>
                  </a:cxn>
                  <a:cxn ang="0">
                    <a:pos x="1386" y="0"/>
                  </a:cxn>
                </a:cxnLst>
                <a:rect l="0" t="0" r="r" b="b"/>
                <a:pathLst>
                  <a:path w="1768" h="1515">
                    <a:moveTo>
                      <a:pt x="1386" y="0"/>
                    </a:moveTo>
                    <a:cubicBezTo>
                      <a:pt x="1147" y="532"/>
                      <a:pt x="437" y="1255"/>
                      <a:pt x="0" y="1515"/>
                    </a:cubicBezTo>
                    <a:cubicBezTo>
                      <a:pt x="1004" y="941"/>
                      <a:pt x="1482" y="934"/>
                      <a:pt x="1625" y="682"/>
                    </a:cubicBezTo>
                    <a:cubicBezTo>
                      <a:pt x="1768" y="430"/>
                      <a:pt x="1527" y="79"/>
                      <a:pt x="138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06" name="Freeform 22"/>
              <p:cNvSpPr>
                <a:spLocks/>
              </p:cNvSpPr>
              <p:nvPr/>
            </p:nvSpPr>
            <p:spPr bwMode="auto">
              <a:xfrm>
                <a:off x="3917" y="2188"/>
                <a:ext cx="206" cy="369"/>
              </a:xfrm>
              <a:custGeom>
                <a:avLst/>
                <a:gdLst/>
                <a:ahLst/>
                <a:cxnLst>
                  <a:cxn ang="0">
                    <a:pos x="83" y="116"/>
                  </a:cxn>
                  <a:cxn ang="0">
                    <a:pos x="238" y="1923"/>
                  </a:cxn>
                  <a:cxn ang="0">
                    <a:pos x="960" y="1542"/>
                  </a:cxn>
                  <a:cxn ang="0">
                    <a:pos x="1075" y="1209"/>
                  </a:cxn>
                  <a:cxn ang="0">
                    <a:pos x="363" y="1682"/>
                  </a:cxn>
                  <a:cxn ang="0">
                    <a:pos x="455" y="450"/>
                  </a:cxn>
                  <a:cxn ang="0">
                    <a:pos x="83" y="116"/>
                  </a:cxn>
                </a:cxnLst>
                <a:rect l="0" t="0" r="r" b="b"/>
                <a:pathLst>
                  <a:path w="1075" h="1923">
                    <a:moveTo>
                      <a:pt x="83" y="116"/>
                    </a:moveTo>
                    <a:cubicBezTo>
                      <a:pt x="0" y="232"/>
                      <a:pt x="261" y="1218"/>
                      <a:pt x="238" y="1923"/>
                    </a:cubicBezTo>
                    <a:cubicBezTo>
                      <a:pt x="645" y="1654"/>
                      <a:pt x="784" y="1611"/>
                      <a:pt x="960" y="1542"/>
                    </a:cubicBezTo>
                    <a:lnTo>
                      <a:pt x="1075" y="1209"/>
                    </a:lnTo>
                    <a:cubicBezTo>
                      <a:pt x="812" y="1357"/>
                      <a:pt x="705" y="1598"/>
                      <a:pt x="363" y="1682"/>
                    </a:cubicBezTo>
                    <a:cubicBezTo>
                      <a:pt x="488" y="625"/>
                      <a:pt x="722" y="590"/>
                      <a:pt x="455" y="450"/>
                    </a:cubicBezTo>
                    <a:cubicBezTo>
                      <a:pt x="188" y="310"/>
                      <a:pt x="166" y="0"/>
                      <a:pt x="83" y="116"/>
                    </a:cubicBezTo>
                    <a:close/>
                  </a:path>
                </a:pathLst>
              </a:cu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07" name="Freeform 23"/>
              <p:cNvSpPr>
                <a:spLocks/>
              </p:cNvSpPr>
              <p:nvPr/>
            </p:nvSpPr>
            <p:spPr bwMode="auto">
              <a:xfrm>
                <a:off x="4069" y="2279"/>
                <a:ext cx="64" cy="144"/>
              </a:xfrm>
              <a:custGeom>
                <a:avLst/>
                <a:gdLst/>
                <a:ahLst/>
                <a:cxnLst>
                  <a:cxn ang="0">
                    <a:pos x="64" y="101"/>
                  </a:cxn>
                  <a:cxn ang="0">
                    <a:pos x="0" y="751"/>
                  </a:cxn>
                  <a:cxn ang="0">
                    <a:pos x="259" y="559"/>
                  </a:cxn>
                  <a:cxn ang="0">
                    <a:pos x="331" y="0"/>
                  </a:cxn>
                  <a:cxn ang="0">
                    <a:pos x="64" y="101"/>
                  </a:cxn>
                </a:cxnLst>
                <a:rect l="0" t="0" r="r" b="b"/>
                <a:pathLst>
                  <a:path w="331" h="751">
                    <a:moveTo>
                      <a:pt x="64" y="101"/>
                    </a:moveTo>
                    <a:cubicBezTo>
                      <a:pt x="11" y="224"/>
                      <a:pt x="190" y="233"/>
                      <a:pt x="0" y="751"/>
                    </a:cubicBezTo>
                    <a:cubicBezTo>
                      <a:pt x="103" y="666"/>
                      <a:pt x="143" y="624"/>
                      <a:pt x="259" y="559"/>
                    </a:cubicBezTo>
                    <a:cubicBezTo>
                      <a:pt x="207" y="320"/>
                      <a:pt x="303" y="111"/>
                      <a:pt x="331" y="0"/>
                    </a:cubicBezTo>
                    <a:cubicBezTo>
                      <a:pt x="192" y="139"/>
                      <a:pt x="115" y="83"/>
                      <a:pt x="64" y="101"/>
                    </a:cubicBezTo>
                    <a:close/>
                  </a:path>
                </a:pathLst>
              </a:cu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08" name="Freeform 24"/>
              <p:cNvSpPr>
                <a:spLocks/>
              </p:cNvSpPr>
              <p:nvPr/>
            </p:nvSpPr>
            <p:spPr bwMode="auto">
              <a:xfrm>
                <a:off x="4142" y="2176"/>
                <a:ext cx="170" cy="287"/>
              </a:xfrm>
              <a:custGeom>
                <a:avLst/>
                <a:gdLst/>
                <a:ahLst/>
                <a:cxnLst>
                  <a:cxn ang="0">
                    <a:pos x="515" y="55"/>
                  </a:cxn>
                  <a:cxn ang="0">
                    <a:pos x="885" y="0"/>
                  </a:cxn>
                  <a:cxn ang="0">
                    <a:pos x="784" y="166"/>
                  </a:cxn>
                  <a:cxn ang="0">
                    <a:pos x="321" y="447"/>
                  </a:cxn>
                  <a:cxn ang="0">
                    <a:pos x="719" y="962"/>
                  </a:cxn>
                  <a:cxn ang="0">
                    <a:pos x="0" y="1500"/>
                  </a:cxn>
                  <a:cxn ang="0">
                    <a:pos x="93" y="1218"/>
                  </a:cxn>
                  <a:cxn ang="0">
                    <a:pos x="557" y="957"/>
                  </a:cxn>
                  <a:cxn ang="0">
                    <a:pos x="137" y="503"/>
                  </a:cxn>
                  <a:cxn ang="0">
                    <a:pos x="515" y="55"/>
                  </a:cxn>
                </a:cxnLst>
                <a:rect l="0" t="0" r="r" b="b"/>
                <a:pathLst>
                  <a:path w="885" h="1500">
                    <a:moveTo>
                      <a:pt x="515" y="55"/>
                    </a:moveTo>
                    <a:cubicBezTo>
                      <a:pt x="674" y="21"/>
                      <a:pt x="691" y="21"/>
                      <a:pt x="885" y="0"/>
                    </a:cubicBezTo>
                    <a:cubicBezTo>
                      <a:pt x="885" y="0"/>
                      <a:pt x="835" y="88"/>
                      <a:pt x="784" y="166"/>
                    </a:cubicBezTo>
                    <a:cubicBezTo>
                      <a:pt x="566" y="210"/>
                      <a:pt x="393" y="183"/>
                      <a:pt x="321" y="447"/>
                    </a:cubicBezTo>
                    <a:cubicBezTo>
                      <a:pt x="249" y="711"/>
                      <a:pt x="770" y="592"/>
                      <a:pt x="719" y="962"/>
                    </a:cubicBezTo>
                    <a:cubicBezTo>
                      <a:pt x="668" y="1332"/>
                      <a:pt x="537" y="1198"/>
                      <a:pt x="0" y="1500"/>
                    </a:cubicBezTo>
                    <a:lnTo>
                      <a:pt x="93" y="1218"/>
                    </a:lnTo>
                    <a:cubicBezTo>
                      <a:pt x="353" y="1106"/>
                      <a:pt x="516" y="1200"/>
                      <a:pt x="557" y="957"/>
                    </a:cubicBezTo>
                    <a:cubicBezTo>
                      <a:pt x="598" y="714"/>
                      <a:pt x="100" y="835"/>
                      <a:pt x="137" y="503"/>
                    </a:cubicBezTo>
                    <a:cubicBezTo>
                      <a:pt x="174" y="170"/>
                      <a:pt x="356" y="89"/>
                      <a:pt x="515" y="55"/>
                    </a:cubicBezTo>
                    <a:close/>
                  </a:path>
                </a:pathLst>
              </a:cu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09" name="Freeform 25"/>
              <p:cNvSpPr>
                <a:spLocks/>
              </p:cNvSpPr>
              <p:nvPr/>
            </p:nvSpPr>
            <p:spPr bwMode="auto">
              <a:xfrm rot="245917">
                <a:off x="4290" y="2157"/>
                <a:ext cx="187" cy="263"/>
              </a:xfrm>
              <a:custGeom>
                <a:avLst/>
                <a:gdLst/>
                <a:ahLst/>
                <a:cxnLst>
                  <a:cxn ang="0">
                    <a:pos x="956" y="22"/>
                  </a:cxn>
                  <a:cxn ang="0">
                    <a:pos x="327" y="219"/>
                  </a:cxn>
                  <a:cxn ang="0">
                    <a:pos x="275" y="1175"/>
                  </a:cxn>
                  <a:cxn ang="0">
                    <a:pos x="973" y="1031"/>
                  </a:cxn>
                  <a:cxn ang="0">
                    <a:pos x="891" y="883"/>
                  </a:cxn>
                  <a:cxn ang="0">
                    <a:pos x="372" y="1027"/>
                  </a:cxn>
                  <a:cxn ang="0">
                    <a:pos x="386" y="416"/>
                  </a:cxn>
                  <a:cxn ang="0">
                    <a:pos x="840" y="295"/>
                  </a:cxn>
                  <a:cxn ang="0">
                    <a:pos x="956" y="22"/>
                  </a:cxn>
                </a:cxnLst>
                <a:rect l="0" t="0" r="r" b="b"/>
                <a:pathLst>
                  <a:path w="973" h="1370">
                    <a:moveTo>
                      <a:pt x="956" y="22"/>
                    </a:moveTo>
                    <a:cubicBezTo>
                      <a:pt x="673" y="15"/>
                      <a:pt x="508" y="0"/>
                      <a:pt x="327" y="219"/>
                    </a:cubicBezTo>
                    <a:cubicBezTo>
                      <a:pt x="146" y="437"/>
                      <a:pt x="0" y="980"/>
                      <a:pt x="275" y="1175"/>
                    </a:cubicBezTo>
                    <a:cubicBezTo>
                      <a:pt x="551" y="1370"/>
                      <a:pt x="878" y="1101"/>
                      <a:pt x="973" y="1031"/>
                    </a:cubicBezTo>
                    <a:cubicBezTo>
                      <a:pt x="931" y="967"/>
                      <a:pt x="914" y="957"/>
                      <a:pt x="891" y="883"/>
                    </a:cubicBezTo>
                    <a:cubicBezTo>
                      <a:pt x="717" y="1109"/>
                      <a:pt x="497" y="1106"/>
                      <a:pt x="372" y="1027"/>
                    </a:cubicBezTo>
                    <a:cubicBezTo>
                      <a:pt x="247" y="948"/>
                      <a:pt x="256" y="681"/>
                      <a:pt x="386" y="416"/>
                    </a:cubicBezTo>
                    <a:cubicBezTo>
                      <a:pt x="517" y="150"/>
                      <a:pt x="731" y="218"/>
                      <a:pt x="840" y="295"/>
                    </a:cubicBezTo>
                    <a:cubicBezTo>
                      <a:pt x="872" y="198"/>
                      <a:pt x="877" y="129"/>
                      <a:pt x="956" y="22"/>
                    </a:cubicBezTo>
                    <a:close/>
                  </a:path>
                </a:pathLst>
              </a:cu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10" name="AutoShape 26"/>
              <p:cNvSpPr>
                <a:spLocks noChangeArrowheads="1"/>
              </p:cNvSpPr>
              <p:nvPr/>
            </p:nvSpPr>
            <p:spPr bwMode="auto">
              <a:xfrm rot="386608">
                <a:off x="4485" y="2169"/>
                <a:ext cx="100" cy="188"/>
              </a:xfrm>
              <a:custGeom>
                <a:avLst/>
                <a:gdLst>
                  <a:gd name="G0" fmla="+- 4491 0 0"/>
                  <a:gd name="G1" fmla="+- 21600 0 4491"/>
                  <a:gd name="G2" fmla="+- 21600 0 4491"/>
                  <a:gd name="G3" fmla="*/ G0 2929 10000"/>
                  <a:gd name="G4" fmla="+- 21600 0 G3"/>
                  <a:gd name="G5" fmla="+- 21600 0 G3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4491" y="10800"/>
                    </a:moveTo>
                    <a:cubicBezTo>
                      <a:pt x="4491" y="14284"/>
                      <a:pt x="7316" y="17109"/>
                      <a:pt x="10800" y="17109"/>
                    </a:cubicBezTo>
                    <a:cubicBezTo>
                      <a:pt x="14284" y="17109"/>
                      <a:pt x="17109" y="14284"/>
                      <a:pt x="17109" y="10800"/>
                    </a:cubicBezTo>
                    <a:cubicBezTo>
                      <a:pt x="17109" y="7316"/>
                      <a:pt x="14284" y="4491"/>
                      <a:pt x="10800" y="4491"/>
                    </a:cubicBezTo>
                    <a:cubicBezTo>
                      <a:pt x="7316" y="4491"/>
                      <a:pt x="4491" y="7316"/>
                      <a:pt x="4491" y="10800"/>
                    </a:cubicBezTo>
                    <a:close/>
                  </a:path>
                </a:pathLst>
              </a:cu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11" name="Oval 27"/>
              <p:cNvSpPr>
                <a:spLocks noChangeArrowheads="1"/>
              </p:cNvSpPr>
              <p:nvPr/>
            </p:nvSpPr>
            <p:spPr bwMode="auto">
              <a:xfrm>
                <a:off x="4085" y="2239"/>
                <a:ext cx="32" cy="30"/>
              </a:xfrm>
              <a:prstGeom prst="ellipse">
                <a:avLst/>
              </a:pr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12" name="Freeform 28"/>
              <p:cNvSpPr>
                <a:spLocks/>
              </p:cNvSpPr>
              <p:nvPr/>
            </p:nvSpPr>
            <p:spPr bwMode="auto">
              <a:xfrm rot="10800000">
                <a:off x="4100" y="1524"/>
                <a:ext cx="927" cy="1510"/>
              </a:xfrm>
              <a:custGeom>
                <a:avLst/>
                <a:gdLst/>
                <a:ahLst/>
                <a:cxnLst>
                  <a:cxn ang="0">
                    <a:pos x="4829" y="93"/>
                  </a:cxn>
                  <a:cxn ang="0">
                    <a:pos x="3324" y="495"/>
                  </a:cxn>
                  <a:cxn ang="0">
                    <a:pos x="631" y="3142"/>
                  </a:cxn>
                  <a:cxn ang="0">
                    <a:pos x="532" y="4523"/>
                  </a:cxn>
                  <a:cxn ang="0">
                    <a:pos x="3492" y="7490"/>
                  </a:cxn>
                  <a:cxn ang="0">
                    <a:pos x="4511" y="7508"/>
                  </a:cxn>
                  <a:cxn ang="0">
                    <a:pos x="1369" y="4367"/>
                  </a:cxn>
                  <a:cxn ang="0">
                    <a:pos x="1360" y="3432"/>
                  </a:cxn>
                  <a:cxn ang="0">
                    <a:pos x="4100" y="682"/>
                  </a:cxn>
                  <a:cxn ang="0">
                    <a:pos x="4829" y="93"/>
                  </a:cxn>
                </a:cxnLst>
                <a:rect l="0" t="0" r="r" b="b"/>
                <a:pathLst>
                  <a:path w="4829" h="7874">
                    <a:moveTo>
                      <a:pt x="4829" y="93"/>
                    </a:moveTo>
                    <a:cubicBezTo>
                      <a:pt x="4416" y="88"/>
                      <a:pt x="3932" y="0"/>
                      <a:pt x="3324" y="495"/>
                    </a:cubicBezTo>
                    <a:lnTo>
                      <a:pt x="631" y="3142"/>
                    </a:lnTo>
                    <a:cubicBezTo>
                      <a:pt x="165" y="3589"/>
                      <a:pt x="0" y="4006"/>
                      <a:pt x="532" y="4523"/>
                    </a:cubicBezTo>
                    <a:cubicBezTo>
                      <a:pt x="1064" y="5040"/>
                      <a:pt x="3144" y="7124"/>
                      <a:pt x="3492" y="7490"/>
                    </a:cubicBezTo>
                    <a:cubicBezTo>
                      <a:pt x="3840" y="7855"/>
                      <a:pt x="4120" y="7874"/>
                      <a:pt x="4511" y="7508"/>
                    </a:cubicBezTo>
                    <a:lnTo>
                      <a:pt x="1369" y="4367"/>
                    </a:lnTo>
                    <a:cubicBezTo>
                      <a:pt x="1108" y="4049"/>
                      <a:pt x="1052" y="3760"/>
                      <a:pt x="1360" y="3432"/>
                    </a:cubicBezTo>
                    <a:lnTo>
                      <a:pt x="4100" y="682"/>
                    </a:lnTo>
                    <a:cubicBezTo>
                      <a:pt x="4371" y="411"/>
                      <a:pt x="4539" y="224"/>
                      <a:pt x="4829" y="93"/>
                    </a:cubicBezTo>
                    <a:close/>
                  </a:path>
                </a:pathLst>
              </a:custGeom>
              <a:solidFill>
                <a:srgbClr val="B8CCE4"/>
              </a:solidFill>
              <a:ln w="9525">
                <a:solidFill>
                  <a:srgbClr val="0D0D0D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13" name="Freeform 29"/>
              <p:cNvSpPr>
                <a:spLocks/>
              </p:cNvSpPr>
              <p:nvPr/>
            </p:nvSpPr>
            <p:spPr bwMode="auto">
              <a:xfrm>
                <a:off x="3301" y="1357"/>
                <a:ext cx="927" cy="1511"/>
              </a:xfrm>
              <a:custGeom>
                <a:avLst/>
                <a:gdLst/>
                <a:ahLst/>
                <a:cxnLst>
                  <a:cxn ang="0">
                    <a:pos x="4829" y="93"/>
                  </a:cxn>
                  <a:cxn ang="0">
                    <a:pos x="3324" y="495"/>
                  </a:cxn>
                  <a:cxn ang="0">
                    <a:pos x="631" y="3142"/>
                  </a:cxn>
                  <a:cxn ang="0">
                    <a:pos x="532" y="4523"/>
                  </a:cxn>
                  <a:cxn ang="0">
                    <a:pos x="3492" y="7490"/>
                  </a:cxn>
                  <a:cxn ang="0">
                    <a:pos x="4511" y="7508"/>
                  </a:cxn>
                  <a:cxn ang="0">
                    <a:pos x="1369" y="4367"/>
                  </a:cxn>
                  <a:cxn ang="0">
                    <a:pos x="1360" y="3432"/>
                  </a:cxn>
                  <a:cxn ang="0">
                    <a:pos x="4100" y="682"/>
                  </a:cxn>
                  <a:cxn ang="0">
                    <a:pos x="4829" y="93"/>
                  </a:cxn>
                </a:cxnLst>
                <a:rect l="0" t="0" r="r" b="b"/>
                <a:pathLst>
                  <a:path w="4829" h="7874">
                    <a:moveTo>
                      <a:pt x="4829" y="93"/>
                    </a:moveTo>
                    <a:cubicBezTo>
                      <a:pt x="4416" y="88"/>
                      <a:pt x="3932" y="0"/>
                      <a:pt x="3324" y="495"/>
                    </a:cubicBezTo>
                    <a:lnTo>
                      <a:pt x="631" y="3142"/>
                    </a:lnTo>
                    <a:cubicBezTo>
                      <a:pt x="165" y="3589"/>
                      <a:pt x="0" y="4006"/>
                      <a:pt x="532" y="4523"/>
                    </a:cubicBezTo>
                    <a:cubicBezTo>
                      <a:pt x="1064" y="5040"/>
                      <a:pt x="3144" y="7124"/>
                      <a:pt x="3492" y="7490"/>
                    </a:cubicBezTo>
                    <a:cubicBezTo>
                      <a:pt x="3840" y="7855"/>
                      <a:pt x="4120" y="7874"/>
                      <a:pt x="4511" y="7508"/>
                    </a:cubicBezTo>
                    <a:lnTo>
                      <a:pt x="1369" y="4367"/>
                    </a:lnTo>
                    <a:cubicBezTo>
                      <a:pt x="1108" y="4049"/>
                      <a:pt x="1052" y="3760"/>
                      <a:pt x="1360" y="3432"/>
                    </a:cubicBezTo>
                    <a:lnTo>
                      <a:pt x="4100" y="682"/>
                    </a:lnTo>
                    <a:cubicBezTo>
                      <a:pt x="4371" y="411"/>
                      <a:pt x="4539" y="224"/>
                      <a:pt x="4829" y="93"/>
                    </a:cubicBezTo>
                    <a:close/>
                  </a:path>
                </a:pathLst>
              </a:custGeom>
              <a:solidFill>
                <a:srgbClr val="B8CCE4"/>
              </a:solidFill>
              <a:ln w="9525">
                <a:solidFill>
                  <a:srgbClr val="0D0D0D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14" name="Freeform 30"/>
              <p:cNvSpPr>
                <a:spLocks/>
              </p:cNvSpPr>
              <p:nvPr/>
            </p:nvSpPr>
            <p:spPr bwMode="auto">
              <a:xfrm rot="5400000">
                <a:off x="3788" y="1039"/>
                <a:ext cx="926" cy="1511"/>
              </a:xfrm>
              <a:custGeom>
                <a:avLst/>
                <a:gdLst/>
                <a:ahLst/>
                <a:cxnLst>
                  <a:cxn ang="0">
                    <a:pos x="4829" y="93"/>
                  </a:cxn>
                  <a:cxn ang="0">
                    <a:pos x="3324" y="495"/>
                  </a:cxn>
                  <a:cxn ang="0">
                    <a:pos x="631" y="3142"/>
                  </a:cxn>
                  <a:cxn ang="0">
                    <a:pos x="532" y="4523"/>
                  </a:cxn>
                  <a:cxn ang="0">
                    <a:pos x="3492" y="7490"/>
                  </a:cxn>
                  <a:cxn ang="0">
                    <a:pos x="4511" y="7508"/>
                  </a:cxn>
                  <a:cxn ang="0">
                    <a:pos x="1369" y="4367"/>
                  </a:cxn>
                  <a:cxn ang="0">
                    <a:pos x="1360" y="3432"/>
                  </a:cxn>
                  <a:cxn ang="0">
                    <a:pos x="4100" y="682"/>
                  </a:cxn>
                  <a:cxn ang="0">
                    <a:pos x="4829" y="93"/>
                  </a:cxn>
                </a:cxnLst>
                <a:rect l="0" t="0" r="r" b="b"/>
                <a:pathLst>
                  <a:path w="4829" h="7874">
                    <a:moveTo>
                      <a:pt x="4829" y="93"/>
                    </a:moveTo>
                    <a:cubicBezTo>
                      <a:pt x="4416" y="88"/>
                      <a:pt x="3932" y="0"/>
                      <a:pt x="3324" y="495"/>
                    </a:cubicBezTo>
                    <a:lnTo>
                      <a:pt x="631" y="3142"/>
                    </a:lnTo>
                    <a:cubicBezTo>
                      <a:pt x="165" y="3589"/>
                      <a:pt x="0" y="4006"/>
                      <a:pt x="532" y="4523"/>
                    </a:cubicBezTo>
                    <a:cubicBezTo>
                      <a:pt x="1064" y="5040"/>
                      <a:pt x="3144" y="7124"/>
                      <a:pt x="3492" y="7490"/>
                    </a:cubicBezTo>
                    <a:cubicBezTo>
                      <a:pt x="3840" y="7855"/>
                      <a:pt x="4120" y="7874"/>
                      <a:pt x="4511" y="7508"/>
                    </a:cubicBezTo>
                    <a:lnTo>
                      <a:pt x="1369" y="4367"/>
                    </a:lnTo>
                    <a:cubicBezTo>
                      <a:pt x="1108" y="4049"/>
                      <a:pt x="1052" y="3760"/>
                      <a:pt x="1360" y="3432"/>
                    </a:cubicBezTo>
                    <a:lnTo>
                      <a:pt x="4100" y="682"/>
                    </a:lnTo>
                    <a:cubicBezTo>
                      <a:pt x="4371" y="411"/>
                      <a:pt x="4539" y="224"/>
                      <a:pt x="4829" y="93"/>
                    </a:cubicBezTo>
                    <a:close/>
                  </a:path>
                </a:pathLst>
              </a:custGeom>
              <a:solidFill>
                <a:srgbClr val="B8CCE4"/>
              </a:solidFill>
              <a:ln w="9525">
                <a:solidFill>
                  <a:srgbClr val="0D0D0D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15" name="Freeform 31"/>
              <p:cNvSpPr>
                <a:spLocks/>
              </p:cNvSpPr>
              <p:nvPr/>
            </p:nvSpPr>
            <p:spPr bwMode="auto">
              <a:xfrm rot="16200000">
                <a:off x="3616" y="1842"/>
                <a:ext cx="926" cy="1511"/>
              </a:xfrm>
              <a:custGeom>
                <a:avLst/>
                <a:gdLst/>
                <a:ahLst/>
                <a:cxnLst>
                  <a:cxn ang="0">
                    <a:pos x="4829" y="93"/>
                  </a:cxn>
                  <a:cxn ang="0">
                    <a:pos x="3324" y="495"/>
                  </a:cxn>
                  <a:cxn ang="0">
                    <a:pos x="631" y="3142"/>
                  </a:cxn>
                  <a:cxn ang="0">
                    <a:pos x="532" y="4523"/>
                  </a:cxn>
                  <a:cxn ang="0">
                    <a:pos x="3492" y="7490"/>
                  </a:cxn>
                  <a:cxn ang="0">
                    <a:pos x="4511" y="7508"/>
                  </a:cxn>
                  <a:cxn ang="0">
                    <a:pos x="1369" y="4367"/>
                  </a:cxn>
                  <a:cxn ang="0">
                    <a:pos x="1360" y="3432"/>
                  </a:cxn>
                  <a:cxn ang="0">
                    <a:pos x="4100" y="682"/>
                  </a:cxn>
                  <a:cxn ang="0">
                    <a:pos x="4829" y="93"/>
                  </a:cxn>
                </a:cxnLst>
                <a:rect l="0" t="0" r="r" b="b"/>
                <a:pathLst>
                  <a:path w="4829" h="7874">
                    <a:moveTo>
                      <a:pt x="4829" y="93"/>
                    </a:moveTo>
                    <a:cubicBezTo>
                      <a:pt x="4416" y="88"/>
                      <a:pt x="3932" y="0"/>
                      <a:pt x="3324" y="495"/>
                    </a:cubicBezTo>
                    <a:lnTo>
                      <a:pt x="631" y="3142"/>
                    </a:lnTo>
                    <a:cubicBezTo>
                      <a:pt x="165" y="3589"/>
                      <a:pt x="0" y="4006"/>
                      <a:pt x="532" y="4523"/>
                    </a:cubicBezTo>
                    <a:cubicBezTo>
                      <a:pt x="1064" y="5040"/>
                      <a:pt x="3144" y="7124"/>
                      <a:pt x="3492" y="7490"/>
                    </a:cubicBezTo>
                    <a:cubicBezTo>
                      <a:pt x="3840" y="7855"/>
                      <a:pt x="4120" y="7874"/>
                      <a:pt x="4511" y="7508"/>
                    </a:cubicBezTo>
                    <a:lnTo>
                      <a:pt x="1369" y="4367"/>
                    </a:lnTo>
                    <a:cubicBezTo>
                      <a:pt x="1108" y="4049"/>
                      <a:pt x="1052" y="3760"/>
                      <a:pt x="1360" y="3432"/>
                    </a:cubicBezTo>
                    <a:lnTo>
                      <a:pt x="4100" y="682"/>
                    </a:lnTo>
                    <a:cubicBezTo>
                      <a:pt x="4371" y="411"/>
                      <a:pt x="4539" y="224"/>
                      <a:pt x="4829" y="93"/>
                    </a:cubicBezTo>
                    <a:close/>
                  </a:path>
                </a:pathLst>
              </a:custGeom>
              <a:solidFill>
                <a:srgbClr val="B8CCE4"/>
              </a:solidFill>
              <a:ln w="9525">
                <a:solidFill>
                  <a:srgbClr val="0D0D0D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16" name="Rectangle 32"/>
              <p:cNvSpPr>
                <a:spLocks noChangeArrowheads="1"/>
              </p:cNvSpPr>
              <p:nvPr/>
            </p:nvSpPr>
            <p:spPr bwMode="auto">
              <a:xfrm rot="2724427">
                <a:off x="3355" y="2705"/>
                <a:ext cx="274" cy="1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</p:grpSp>
      <p:cxnSp>
        <p:nvCxnSpPr>
          <p:cNvPr id="40" name="Connecteur droit 39"/>
          <p:cNvCxnSpPr/>
          <p:nvPr/>
        </p:nvCxnSpPr>
        <p:spPr>
          <a:xfrm>
            <a:off x="323528" y="1052736"/>
            <a:ext cx="8424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Plan du chapitre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7" name="Espace réservé du contenu 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Principe de raisonnement temporel sur les systèmes</a:t>
            </a:r>
          </a:p>
          <a:p>
            <a:endParaRPr lang="fr-FR" dirty="0" smtClean="0"/>
          </a:p>
          <a:p>
            <a:r>
              <a:rPr lang="fr-FR" dirty="0" smtClean="0"/>
              <a:t>Types de logiques temporelles : LTL, CTL, CTL*</a:t>
            </a:r>
          </a:p>
          <a:p>
            <a:endParaRPr lang="fr-FR" dirty="0" smtClean="0"/>
          </a:p>
          <a:p>
            <a:r>
              <a:rPr lang="fr-FR" dirty="0" smtClean="0"/>
              <a:t>Notions avancées sur les logiques temporelles : logiques temporelles probabilistes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722313" y="404664"/>
            <a:ext cx="7772400" cy="1652736"/>
          </a:xfrm>
        </p:spPr>
        <p:txBody>
          <a:bodyPr>
            <a:noAutofit/>
          </a:bodyPr>
          <a:lstStyle/>
          <a:p>
            <a:r>
              <a:rPr lang="fr-FR" sz="4000" dirty="0" smtClean="0"/>
              <a:t>Principe de raisonnement temporel sur les systèmes</a:t>
            </a:r>
            <a:endParaRPr lang="fr-FR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Nature des propriétés des systèmes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r-FR" dirty="0" smtClean="0"/>
              <a:t>Certaines exigences d’un programme peuvent être spécifiées et vérifiées grâce aux sémantiques des langages</a:t>
            </a:r>
          </a:p>
          <a:p>
            <a:pPr lvl="1"/>
            <a:r>
              <a:rPr lang="fr-FR" dirty="0" smtClean="0"/>
              <a:t>En particulier, la sémantique axiomatique permet de spécifier des propriétés vérifiées par certains points du programme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Idée : soit Q un point d’un programme P (une méthode, une boucle, </a:t>
            </a:r>
            <a:r>
              <a:rPr lang="fr-FR" dirty="0" err="1" smtClean="0"/>
              <a:t>etc</a:t>
            </a:r>
            <a:r>
              <a:rPr lang="fr-FR" dirty="0" smtClean="0"/>
              <a:t>). Un invariant INV de Q est un prédicat vérifiant :</a:t>
            </a:r>
          </a:p>
          <a:p>
            <a:pPr lvl="2"/>
            <a:r>
              <a:rPr lang="fr-FR" dirty="0" smtClean="0"/>
              <a:t>Quelque soit le temps d’exécution de Q, INV est vrai!</a:t>
            </a:r>
          </a:p>
          <a:p>
            <a:pPr lvl="2"/>
            <a:r>
              <a:rPr lang="fr-FR" dirty="0" smtClean="0"/>
              <a:t>Exemple : à l’entrée d’une méthode, le premier paramètre est toujours non nul</a:t>
            </a:r>
          </a:p>
          <a:p>
            <a:pPr lvl="2"/>
            <a:endParaRPr lang="fr-FR" dirty="0" smtClean="0"/>
          </a:p>
          <a:p>
            <a:pPr lvl="1"/>
            <a:r>
              <a:rPr lang="fr-FR" dirty="0" smtClean="0"/>
              <a:t>Ceci nous indique deux choses :</a:t>
            </a:r>
          </a:p>
          <a:p>
            <a:pPr lvl="2"/>
            <a:r>
              <a:rPr lang="fr-FR" dirty="0" smtClean="0"/>
              <a:t>Les propriétés des programmes impliquent souvent l’aspect temps</a:t>
            </a:r>
          </a:p>
          <a:p>
            <a:pPr lvl="2"/>
            <a:r>
              <a:rPr lang="fr-FR" dirty="0" smtClean="0"/>
              <a:t>La sémantique axiomatique n’est pas suffisante pour décrire toute propriété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Complexité des propriétés à vérifier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 smtClean="0"/>
              <a:t>En effet, on peut s’intéresser à :</a:t>
            </a:r>
          </a:p>
          <a:p>
            <a:pPr lvl="1"/>
            <a:r>
              <a:rPr lang="fr-FR" dirty="0" smtClean="0"/>
              <a:t>Une propriété A qui est vérifié dans un temps postérieur à l’instant où une propriété B est vérifiée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Le système ne se bloque pas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Une propriété A est </a:t>
            </a:r>
            <a:r>
              <a:rPr lang="fr-FR" i="1" dirty="0" smtClean="0"/>
              <a:t>infiniment souvent </a:t>
            </a:r>
            <a:r>
              <a:rPr lang="fr-FR" dirty="0" smtClean="0"/>
              <a:t>vérifiée</a:t>
            </a:r>
          </a:p>
          <a:p>
            <a:pPr lvl="1"/>
            <a:endParaRPr lang="fr-FR" dirty="0" smtClean="0"/>
          </a:p>
          <a:p>
            <a:r>
              <a:rPr lang="fr-FR" dirty="0" smtClean="0"/>
              <a:t>Le problème est plus difficile pour un système non déterministe :</a:t>
            </a:r>
          </a:p>
          <a:p>
            <a:pPr lvl="1"/>
            <a:r>
              <a:rPr lang="fr-FR" dirty="0" smtClean="0"/>
              <a:t>Si une propriété A est vérifiée, alors le système peut toujours évoluer vers une situation où une propriété B est vérifiée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Dans toutes les exécutions, on peut trouver une étape à partir de laquelle une propriété A sera vérifiée au moins deux dans le futur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Nécessité de raisonner sur le temps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On doit alors introduire des mécanismes pour :</a:t>
            </a:r>
          </a:p>
          <a:p>
            <a:pPr lvl="1"/>
            <a:r>
              <a:rPr lang="fr-FR" dirty="0" smtClean="0"/>
              <a:t>Pouvoir définir des propriétés  dépendant du temps</a:t>
            </a:r>
          </a:p>
          <a:p>
            <a:pPr lvl="1"/>
            <a:r>
              <a:rPr lang="fr-FR" dirty="0" smtClean="0"/>
              <a:t>Pouvoir vérifier si le système respecte ces propriétés</a:t>
            </a:r>
          </a:p>
          <a:p>
            <a:pPr lvl="1"/>
            <a:r>
              <a:rPr lang="fr-FR" dirty="0" smtClean="0"/>
              <a:t>A noter que le raisonnement sur le temps ne signifie </a:t>
            </a:r>
            <a:r>
              <a:rPr lang="fr-FR" dirty="0" smtClean="0"/>
              <a:t>pas que </a:t>
            </a:r>
            <a:r>
              <a:rPr lang="fr-FR" dirty="0" smtClean="0"/>
              <a:t>le système est temps réel</a:t>
            </a:r>
          </a:p>
          <a:p>
            <a:pPr lvl="1"/>
            <a:endParaRPr lang="fr-FR" dirty="0" smtClean="0"/>
          </a:p>
          <a:p>
            <a:r>
              <a:rPr lang="fr-FR" dirty="0" smtClean="0"/>
              <a:t>Plusieurs possibilités pour représenter le temps :</a:t>
            </a:r>
          </a:p>
          <a:p>
            <a:pPr lvl="1"/>
            <a:r>
              <a:rPr lang="fr-FR" dirty="0" smtClean="0"/>
              <a:t>Représentation par des instants</a:t>
            </a:r>
          </a:p>
          <a:p>
            <a:pPr lvl="1"/>
            <a:r>
              <a:rPr lang="fr-FR" dirty="0" smtClean="0"/>
              <a:t>Représentation par des intervalles</a:t>
            </a:r>
          </a:p>
          <a:p>
            <a:pPr lvl="1"/>
            <a:r>
              <a:rPr lang="fr-FR" dirty="0" smtClean="0"/>
              <a:t>Représentation abstraite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Représentations par des instants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dirty="0" smtClean="0"/>
              <a:t>Principe :</a:t>
            </a:r>
          </a:p>
          <a:p>
            <a:pPr lvl="1"/>
            <a:r>
              <a:rPr lang="fr-FR" dirty="0" smtClean="0"/>
              <a:t>Primitives : instants (des entiers),</a:t>
            </a:r>
            <a:r>
              <a:rPr lang="fr-FR" b="1" dirty="0" smtClean="0">
                <a:solidFill>
                  <a:srgbClr val="FF0000"/>
                </a:solidFill>
              </a:rPr>
              <a:t> =</a:t>
            </a:r>
            <a:r>
              <a:rPr lang="fr-FR" dirty="0" smtClean="0"/>
              <a:t> pour simultanéité, </a:t>
            </a:r>
            <a:r>
              <a:rPr lang="fr-FR" b="1" dirty="0" smtClean="0">
                <a:solidFill>
                  <a:srgbClr val="FF0000"/>
                </a:solidFill>
              </a:rPr>
              <a:t>&lt;</a:t>
            </a:r>
            <a:r>
              <a:rPr lang="fr-FR" dirty="0" smtClean="0"/>
              <a:t> pour précédence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Un prédicat </a:t>
            </a:r>
            <a:r>
              <a:rPr lang="fr-FR" b="1" dirty="0" smtClean="0">
                <a:solidFill>
                  <a:srgbClr val="FF0000"/>
                </a:solidFill>
              </a:rPr>
              <a:t>N(x)</a:t>
            </a:r>
            <a:r>
              <a:rPr lang="fr-FR" dirty="0" smtClean="0"/>
              <a:t> indique l’instant actuel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N(x)</a:t>
            </a:r>
            <a:r>
              <a:rPr lang="fr-FR" dirty="0" smtClean="0"/>
              <a:t> signifie que </a:t>
            </a:r>
            <a:r>
              <a:rPr lang="fr-FR" b="1" dirty="0" smtClean="0">
                <a:solidFill>
                  <a:srgbClr val="FF0000"/>
                </a:solidFill>
              </a:rPr>
              <a:t>x</a:t>
            </a:r>
            <a:r>
              <a:rPr lang="fr-FR" dirty="0" smtClean="0"/>
              <a:t> est l’instant courant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Soit une propriété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</a:t>
            </a:r>
            <a:r>
              <a:rPr lang="fr-FR" dirty="0" smtClean="0">
                <a:sym typeface="Symbol"/>
              </a:rPr>
              <a:t> dépendant du temps :</a:t>
            </a:r>
          </a:p>
          <a:p>
            <a:pPr lvl="2"/>
            <a:r>
              <a:rPr lang="fr-FR" dirty="0" smtClean="0">
                <a:sym typeface="Symbol"/>
              </a:rPr>
              <a:t>On exprime que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</a:t>
            </a:r>
            <a:r>
              <a:rPr lang="fr-FR" dirty="0" smtClean="0">
                <a:sym typeface="Symbol"/>
              </a:rPr>
              <a:t> est toujours vraie par :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N(x)  (</a:t>
            </a:r>
            <a:r>
              <a:rPr lang="fr-FR" b="1" dirty="0" err="1" smtClean="0">
                <a:solidFill>
                  <a:srgbClr val="FF0000"/>
                </a:solidFill>
                <a:sym typeface="Symbol"/>
              </a:rPr>
              <a:t>y:y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&gt;x  (y))</a:t>
            </a:r>
          </a:p>
          <a:p>
            <a:pPr lvl="2"/>
            <a:r>
              <a:rPr lang="fr-FR" dirty="0" smtClean="0">
                <a:sym typeface="Symbol"/>
              </a:rPr>
              <a:t>On exprime que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</a:t>
            </a:r>
            <a:r>
              <a:rPr lang="fr-FR" dirty="0" smtClean="0">
                <a:sym typeface="Symbol"/>
              </a:rPr>
              <a:t> est parfois vraie par :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N(x)  (</a:t>
            </a:r>
            <a:r>
              <a:rPr lang="fr-FR" b="1" dirty="0" err="1" smtClean="0">
                <a:solidFill>
                  <a:srgbClr val="FF0000"/>
                </a:solidFill>
                <a:sym typeface="Symbol"/>
              </a:rPr>
              <a:t>y:y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&gt;x  (y))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On rajoute à tout prédicat </a:t>
            </a:r>
            <a:r>
              <a:rPr lang="fr-FR" b="1" dirty="0" smtClean="0">
                <a:solidFill>
                  <a:srgbClr val="FF0000"/>
                </a:solidFill>
              </a:rPr>
              <a:t>P(</a:t>
            </a:r>
            <a:r>
              <a:rPr lang="fr-FR" b="1" dirty="0" err="1" smtClean="0">
                <a:solidFill>
                  <a:srgbClr val="FF0000"/>
                </a:solidFill>
              </a:rPr>
              <a:t>x,y,z</a:t>
            </a:r>
            <a:r>
              <a:rPr lang="fr-FR" b="1" dirty="0" smtClean="0">
                <a:solidFill>
                  <a:srgbClr val="FF0000"/>
                </a:solidFill>
              </a:rPr>
              <a:t>,…) </a:t>
            </a:r>
            <a:r>
              <a:rPr lang="fr-FR" dirty="0" smtClean="0"/>
              <a:t>un nouveau paramètre </a:t>
            </a:r>
            <a:r>
              <a:rPr lang="fr-FR" b="1" dirty="0" smtClean="0">
                <a:solidFill>
                  <a:srgbClr val="FF0000"/>
                </a:solidFill>
              </a:rPr>
              <a:t>t</a:t>
            </a:r>
            <a:r>
              <a:rPr lang="fr-FR" dirty="0" smtClean="0"/>
              <a:t> indiquant que </a:t>
            </a:r>
            <a:r>
              <a:rPr lang="fr-FR" b="1" dirty="0" smtClean="0">
                <a:solidFill>
                  <a:srgbClr val="FF0000"/>
                </a:solidFill>
              </a:rPr>
              <a:t>P </a:t>
            </a:r>
            <a:r>
              <a:rPr lang="fr-FR" dirty="0" smtClean="0"/>
              <a:t>est vrai à l’instant t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P(</a:t>
            </a:r>
            <a:r>
              <a:rPr lang="fr-FR" b="1" dirty="0" err="1" smtClean="0">
                <a:solidFill>
                  <a:srgbClr val="FF0000"/>
                </a:solidFill>
              </a:rPr>
              <a:t>t,x,y,z</a:t>
            </a:r>
            <a:r>
              <a:rPr lang="fr-FR" b="1" dirty="0" smtClean="0">
                <a:solidFill>
                  <a:srgbClr val="FF0000"/>
                </a:solidFill>
              </a:rPr>
              <a:t>,…)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On peut écrire par exemple :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  <a:sym typeface="Symbol"/>
              </a:rPr>
              <a:t>x : (x)  (</a:t>
            </a:r>
            <a:r>
              <a:rPr lang="fr-FR" b="1" dirty="0" err="1" smtClean="0">
                <a:solidFill>
                  <a:srgbClr val="FF0000"/>
                </a:solidFill>
                <a:sym typeface="Symbol"/>
              </a:rPr>
              <a:t>y:y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&gt;x /\ (y))</a:t>
            </a:r>
          </a:p>
          <a:p>
            <a:pPr lvl="2"/>
            <a:r>
              <a:rPr lang="fr-FR" dirty="0" smtClean="0">
                <a:sym typeface="Symbol"/>
              </a:rPr>
              <a:t>Cette propriété signifie que chaque fois que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 </a:t>
            </a:r>
            <a:r>
              <a:rPr lang="fr-FR" dirty="0" smtClean="0">
                <a:sym typeface="Symbol"/>
              </a:rPr>
              <a:t>alors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</a:t>
            </a:r>
            <a:r>
              <a:rPr lang="fr-FR" dirty="0" smtClean="0">
                <a:sym typeface="Symbol"/>
              </a:rPr>
              <a:t> se produira surement dans le futur</a:t>
            </a:r>
            <a:endParaRPr lang="fr-F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Représentations du temps par des intervalles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Principe :</a:t>
            </a:r>
          </a:p>
          <a:p>
            <a:pPr lvl="1"/>
            <a:r>
              <a:rPr lang="fr-FR" dirty="0" smtClean="0"/>
              <a:t>Représenter la valeur de vérité d’un prédicat par intervalle de temps</a:t>
            </a:r>
          </a:p>
          <a:p>
            <a:pPr lvl="1"/>
            <a:r>
              <a:rPr lang="fr-FR" dirty="0" smtClean="0"/>
              <a:t>Primitives : </a:t>
            </a:r>
          </a:p>
          <a:p>
            <a:pPr lvl="2"/>
            <a:r>
              <a:rPr lang="fr-FR" dirty="0" smtClean="0"/>
              <a:t>Intervalles (</a:t>
            </a:r>
            <a:r>
              <a:rPr lang="fr-FR" b="1" dirty="0" smtClean="0">
                <a:solidFill>
                  <a:srgbClr val="FF0000"/>
                </a:solidFill>
              </a:rPr>
              <a:t>[</a:t>
            </a:r>
            <a:r>
              <a:rPr lang="fr-FR" b="1" dirty="0" err="1" smtClean="0">
                <a:solidFill>
                  <a:srgbClr val="FF0000"/>
                </a:solidFill>
              </a:rPr>
              <a:t>a,b</a:t>
            </a:r>
            <a:r>
              <a:rPr lang="fr-FR" b="1" dirty="0" smtClean="0">
                <a:solidFill>
                  <a:srgbClr val="FF0000"/>
                </a:solidFill>
              </a:rPr>
              <a:t>] </a:t>
            </a:r>
            <a:r>
              <a:rPr lang="fr-FR" dirty="0" smtClean="0"/>
              <a:t>tel que </a:t>
            </a:r>
            <a:r>
              <a:rPr lang="fr-FR" b="1" dirty="0" smtClean="0">
                <a:solidFill>
                  <a:srgbClr val="FF0000"/>
                </a:solidFill>
              </a:rPr>
              <a:t>a</a:t>
            </a:r>
            <a:r>
              <a:rPr lang="fr-FR" dirty="0" smtClean="0"/>
              <a:t> et </a:t>
            </a:r>
            <a:r>
              <a:rPr lang="fr-FR" b="1" dirty="0" smtClean="0">
                <a:solidFill>
                  <a:srgbClr val="FF0000"/>
                </a:solidFill>
              </a:rPr>
              <a:t>b</a:t>
            </a:r>
            <a:r>
              <a:rPr lang="fr-FR" dirty="0" smtClean="0"/>
              <a:t> sont des entiers et </a:t>
            </a:r>
            <a:r>
              <a:rPr lang="fr-FR" b="1" dirty="0" smtClean="0">
                <a:solidFill>
                  <a:srgbClr val="FF0000"/>
                </a:solidFill>
              </a:rPr>
              <a:t>a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b</a:t>
            </a:r>
            <a:r>
              <a:rPr lang="fr-FR" dirty="0" smtClean="0">
                <a:sym typeface="Symbol"/>
              </a:rPr>
              <a:t>)</a:t>
            </a:r>
          </a:p>
          <a:p>
            <a:pPr lvl="2"/>
            <a:r>
              <a:rPr lang="fr-FR" dirty="0" smtClean="0">
                <a:sym typeface="Symbol"/>
              </a:rPr>
              <a:t>Egalité, précédence, inclusion, chevauchement</a:t>
            </a:r>
          </a:p>
          <a:p>
            <a:pPr lvl="1"/>
            <a:endParaRPr lang="fr-FR" dirty="0" smtClean="0">
              <a:sym typeface="Symbol"/>
            </a:endParaRPr>
          </a:p>
          <a:p>
            <a:pPr lvl="1"/>
            <a:r>
              <a:rPr lang="fr-FR" b="1" dirty="0" smtClean="0">
                <a:solidFill>
                  <a:srgbClr val="FF0000"/>
                </a:solidFill>
                <a:sym typeface="Symbol"/>
              </a:rPr>
              <a:t>P(</a:t>
            </a:r>
            <a:r>
              <a:rPr lang="fr-FR" b="1" dirty="0" err="1" smtClean="0">
                <a:solidFill>
                  <a:srgbClr val="FF0000"/>
                </a:solidFill>
                <a:sym typeface="Symbol"/>
              </a:rPr>
              <a:t>x,y,z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,…) </a:t>
            </a:r>
            <a:r>
              <a:rPr lang="fr-FR" dirty="0" smtClean="0">
                <a:sym typeface="Symbol"/>
              </a:rPr>
              <a:t>est étendu par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P(</a:t>
            </a:r>
            <a:r>
              <a:rPr lang="fr-FR" b="1" dirty="0" err="1" smtClean="0">
                <a:solidFill>
                  <a:srgbClr val="FF0000"/>
                </a:solidFill>
                <a:sym typeface="Symbol"/>
              </a:rPr>
              <a:t>a,b,x,y,z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,…) </a:t>
            </a:r>
            <a:r>
              <a:rPr lang="fr-FR" dirty="0" smtClean="0">
                <a:sym typeface="Symbol"/>
              </a:rPr>
              <a:t>signifiant que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P</a:t>
            </a:r>
            <a:r>
              <a:rPr lang="fr-FR" dirty="0" smtClean="0">
                <a:sym typeface="Symbol"/>
              </a:rPr>
              <a:t> est vrai entre l’instant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a</a:t>
            </a:r>
            <a:r>
              <a:rPr lang="fr-FR" dirty="0" smtClean="0">
                <a:sym typeface="Symbol"/>
              </a:rPr>
              <a:t> et l’instance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b</a:t>
            </a:r>
          </a:p>
          <a:p>
            <a:pPr lvl="1"/>
            <a:endParaRPr lang="fr-FR" b="1" dirty="0" smtClean="0">
              <a:solidFill>
                <a:srgbClr val="FF0000"/>
              </a:solidFill>
              <a:sym typeface="Symbol"/>
            </a:endParaRPr>
          </a:p>
          <a:p>
            <a:pPr lvl="1"/>
            <a:r>
              <a:rPr lang="fr-FR" dirty="0" smtClean="0">
                <a:sym typeface="Symbol"/>
              </a:rPr>
              <a:t>…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Limites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La représentation du temps par instant ou intervalle est un langage puissant :</a:t>
            </a:r>
          </a:p>
          <a:p>
            <a:pPr lvl="1"/>
            <a:r>
              <a:rPr lang="fr-FR" dirty="0" smtClean="0"/>
              <a:t>Nécessaire pour des systèmes temps réels</a:t>
            </a:r>
          </a:p>
          <a:p>
            <a:pPr lvl="1"/>
            <a:endParaRPr lang="fr-FR" dirty="0" smtClean="0"/>
          </a:p>
          <a:p>
            <a:r>
              <a:rPr lang="fr-FR" dirty="0" smtClean="0"/>
              <a:t>Mais le langage obtenu est trop puissant pour pas mal de systèmes :</a:t>
            </a:r>
          </a:p>
          <a:p>
            <a:pPr lvl="1"/>
            <a:r>
              <a:rPr lang="fr-FR" dirty="0" smtClean="0"/>
              <a:t>Les problèmes CSP ne sont pas tous décidables dans ce cas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Il n’y a pas besoin de raisonner sur le temps directement, seule la précédence des opérations est intéressante</a:t>
            </a:r>
          </a:p>
          <a:p>
            <a:pPr lvl="2"/>
            <a:r>
              <a:rPr lang="fr-FR" dirty="0" smtClean="0"/>
              <a:t>On </a:t>
            </a:r>
            <a:r>
              <a:rPr lang="fr-FR" dirty="0" smtClean="0"/>
              <a:t>a besoin </a:t>
            </a:r>
            <a:r>
              <a:rPr lang="fr-FR" dirty="0" smtClean="0"/>
              <a:t>de modificateurs de prédicats comme : toujours, parfois, </a:t>
            </a:r>
            <a:r>
              <a:rPr lang="fr-FR" dirty="0" err="1" smtClean="0"/>
              <a:t>etc</a:t>
            </a:r>
            <a:r>
              <a:rPr lang="fr-FR" dirty="0" smtClean="0">
                <a:sym typeface="Wingdings" pitchFamily="2" charset="2"/>
              </a:rPr>
              <a:t>logique temporelle</a:t>
            </a:r>
            <a:endParaRPr lang="fr-FR" dirty="0" smtClean="0"/>
          </a:p>
          <a:p>
            <a:pPr lvl="1"/>
            <a:endParaRPr lang="fr-F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Logique temporelle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Définition : logique de premier ordre augmenté d’opérateur sur le temps</a:t>
            </a:r>
          </a:p>
          <a:p>
            <a:endParaRPr lang="fr-FR" dirty="0" smtClean="0"/>
          </a:p>
          <a:p>
            <a:r>
              <a:rPr lang="fr-FR" dirty="0" smtClean="0"/>
              <a:t>Idée :</a:t>
            </a:r>
          </a:p>
          <a:p>
            <a:pPr lvl="1"/>
            <a:r>
              <a:rPr lang="fr-FR" dirty="0" smtClean="0"/>
              <a:t>Les calculs ne dépendent pas explicitement du temps, mais plutôt des étapes de calcul</a:t>
            </a:r>
          </a:p>
          <a:p>
            <a:pPr lvl="1"/>
            <a:r>
              <a:rPr lang="fr-FR" dirty="0" smtClean="0"/>
              <a:t>Quand on écrit "</a:t>
            </a:r>
            <a:r>
              <a:rPr lang="fr-FR" dirty="0" smtClean="0">
                <a:sym typeface="Symbol"/>
              </a:rPr>
              <a:t></a:t>
            </a:r>
            <a:r>
              <a:rPr lang="fr-FR" dirty="0" smtClean="0"/>
              <a:t> est vrai" sans aucun opérateur, cela signifie </a:t>
            </a:r>
            <a:r>
              <a:rPr lang="fr-FR" dirty="0" smtClean="0"/>
              <a:t>que </a:t>
            </a:r>
            <a:r>
              <a:rPr lang="fr-FR" dirty="0" smtClean="0">
                <a:sym typeface="Symbol"/>
              </a:rPr>
              <a:t></a:t>
            </a:r>
            <a:r>
              <a:rPr lang="fr-FR" dirty="0" smtClean="0"/>
              <a:t> </a:t>
            </a:r>
            <a:r>
              <a:rPr lang="fr-FR" dirty="0" smtClean="0"/>
              <a:t>est vrai à l’état en cours</a:t>
            </a:r>
          </a:p>
          <a:p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Les opérateurs vont porter sur les étapes de calcul</a:t>
            </a:r>
            <a:endParaRPr lang="fr-FR" dirty="0"/>
          </a:p>
        </p:txBody>
      </p:sp>
      <p:sp>
        <p:nvSpPr>
          <p:cNvPr id="5" name="Ellipse 4"/>
          <p:cNvSpPr/>
          <p:nvPr/>
        </p:nvSpPr>
        <p:spPr>
          <a:xfrm>
            <a:off x="2267744" y="4797152"/>
            <a:ext cx="864096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ym typeface="Symbol"/>
              </a:rPr>
              <a:t>,</a:t>
            </a:r>
            <a:endParaRPr lang="fr-FR" dirty="0"/>
          </a:p>
        </p:txBody>
      </p:sp>
      <p:sp>
        <p:nvSpPr>
          <p:cNvPr id="6" name="Ellipse 5"/>
          <p:cNvSpPr/>
          <p:nvPr/>
        </p:nvSpPr>
        <p:spPr>
          <a:xfrm>
            <a:off x="3491880" y="4797152"/>
            <a:ext cx="720080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ym typeface="Symbol"/>
              </a:rPr>
              <a:t></a:t>
            </a:r>
            <a:endParaRPr lang="fr-FR" dirty="0"/>
          </a:p>
        </p:txBody>
      </p:sp>
      <p:sp>
        <p:nvSpPr>
          <p:cNvPr id="7" name="Ellipse 6"/>
          <p:cNvSpPr/>
          <p:nvPr/>
        </p:nvSpPr>
        <p:spPr>
          <a:xfrm>
            <a:off x="4644008" y="4797152"/>
            <a:ext cx="792088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/>
          <p:cNvSpPr/>
          <p:nvPr/>
        </p:nvSpPr>
        <p:spPr>
          <a:xfrm>
            <a:off x="6012160" y="4797152"/>
            <a:ext cx="792088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ym typeface="Symbol"/>
              </a:rPr>
              <a:t></a:t>
            </a:r>
            <a:endParaRPr lang="fr-FR" dirty="0"/>
          </a:p>
        </p:txBody>
      </p:sp>
      <p:cxnSp>
        <p:nvCxnSpPr>
          <p:cNvPr id="10" name="Connecteur droit avec flèche 9"/>
          <p:cNvCxnSpPr>
            <a:endCxn id="5" idx="2"/>
          </p:cNvCxnSpPr>
          <p:nvPr/>
        </p:nvCxnSpPr>
        <p:spPr>
          <a:xfrm>
            <a:off x="2123728" y="5085184"/>
            <a:ext cx="14401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/>
          <p:cNvCxnSpPr>
            <a:stCxn id="5" idx="6"/>
            <a:endCxn id="6" idx="2"/>
          </p:cNvCxnSpPr>
          <p:nvPr/>
        </p:nvCxnSpPr>
        <p:spPr>
          <a:xfrm>
            <a:off x="3131840" y="5085184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>
            <a:stCxn id="6" idx="6"/>
            <a:endCxn id="7" idx="2"/>
          </p:cNvCxnSpPr>
          <p:nvPr/>
        </p:nvCxnSpPr>
        <p:spPr>
          <a:xfrm>
            <a:off x="4211960" y="5085184"/>
            <a:ext cx="43204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stCxn id="7" idx="6"/>
            <a:endCxn id="8" idx="2"/>
          </p:cNvCxnSpPr>
          <p:nvPr/>
        </p:nvCxnSpPr>
        <p:spPr>
          <a:xfrm>
            <a:off x="5436096" y="5085184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/>
          <p:cNvCxnSpPr>
            <a:stCxn id="8" idx="6"/>
          </p:cNvCxnSpPr>
          <p:nvPr/>
        </p:nvCxnSpPr>
        <p:spPr>
          <a:xfrm>
            <a:off x="6804248" y="5085184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1709832" y="4869160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…</a:t>
            </a:r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>
            <a:off x="7092280" y="4869160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…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Opérateurs temporels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dirty="0" smtClean="0"/>
              <a:t>Les opérateurs sont (en plus de ceux de la logique du premier ordre) :</a:t>
            </a:r>
          </a:p>
          <a:p>
            <a:pPr lvl="1"/>
            <a:r>
              <a:rPr lang="fr-FR" b="1" dirty="0" err="1" smtClean="0">
                <a:solidFill>
                  <a:srgbClr val="FF0000"/>
                </a:solidFill>
              </a:rPr>
              <a:t>Xφ</a:t>
            </a:r>
            <a:r>
              <a:rPr lang="fr-FR" dirty="0" smtClean="0"/>
              <a:t> : </a:t>
            </a:r>
            <a:r>
              <a:rPr lang="fr-FR" b="1" dirty="0" smtClean="0">
                <a:solidFill>
                  <a:srgbClr val="FF0000"/>
                </a:solidFill>
              </a:rPr>
              <a:t>φ</a:t>
            </a:r>
            <a:r>
              <a:rPr lang="fr-FR" dirty="0" smtClean="0"/>
              <a:t> sera vrai au prochain état (parfois noté </a:t>
            </a:r>
            <a:r>
              <a:rPr lang="fr-FR" b="1" dirty="0" smtClean="0">
                <a:solidFill>
                  <a:srgbClr val="FF0000"/>
                </a:solidFill>
              </a:rPr>
              <a:t>O φ)</a:t>
            </a:r>
            <a:endParaRPr lang="fr-FR" dirty="0" smtClean="0"/>
          </a:p>
          <a:p>
            <a:pPr lvl="1"/>
            <a:endParaRPr lang="fr-FR" dirty="0" smtClean="0"/>
          </a:p>
          <a:p>
            <a:pPr lvl="1"/>
            <a:r>
              <a:rPr lang="fr-FR" b="1" dirty="0" err="1" smtClean="0">
                <a:solidFill>
                  <a:srgbClr val="FF0000"/>
                </a:solidFill>
              </a:rPr>
              <a:t>Fφ</a:t>
            </a:r>
            <a:r>
              <a:rPr lang="fr-FR" dirty="0" smtClean="0"/>
              <a:t> : </a:t>
            </a:r>
            <a:r>
              <a:rPr lang="fr-FR" b="1" dirty="0" smtClean="0">
                <a:solidFill>
                  <a:srgbClr val="FF0000"/>
                </a:solidFill>
              </a:rPr>
              <a:t>φ</a:t>
            </a:r>
            <a:r>
              <a:rPr lang="fr-FR" dirty="0" smtClean="0"/>
              <a:t> deviendra vrai dans un état futur</a:t>
            </a:r>
          </a:p>
          <a:p>
            <a:pPr lvl="2"/>
            <a:r>
              <a:rPr lang="fr-FR" dirty="0" smtClean="0"/>
              <a:t>Autre notation (logique modale) :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◊</a:t>
            </a:r>
            <a:r>
              <a:rPr lang="fr-FR" b="1" dirty="0" smtClean="0">
                <a:solidFill>
                  <a:srgbClr val="FF0000"/>
                </a:solidFill>
              </a:rPr>
              <a:t>φ</a:t>
            </a:r>
          </a:p>
          <a:p>
            <a:pPr lvl="1"/>
            <a:endParaRPr lang="fr-FR" b="1" dirty="0" smtClean="0">
              <a:solidFill>
                <a:srgbClr val="FF0000"/>
              </a:solidFill>
            </a:endParaRPr>
          </a:p>
          <a:p>
            <a:pPr lvl="1"/>
            <a:r>
              <a:rPr lang="fr-FR" b="1" dirty="0" err="1" smtClean="0">
                <a:solidFill>
                  <a:srgbClr val="FF0000"/>
                </a:solidFill>
              </a:rPr>
              <a:t>Gφ</a:t>
            </a:r>
            <a:r>
              <a:rPr lang="fr-FR" dirty="0" smtClean="0"/>
              <a:t> : </a:t>
            </a:r>
            <a:r>
              <a:rPr lang="fr-FR" b="1" dirty="0" smtClean="0">
                <a:solidFill>
                  <a:srgbClr val="FF0000"/>
                </a:solidFill>
              </a:rPr>
              <a:t>φ</a:t>
            </a:r>
            <a:r>
              <a:rPr lang="fr-FR" dirty="0" smtClean="0"/>
              <a:t> est toujours vrai dans le futur (dual de </a:t>
            </a:r>
            <a:r>
              <a:rPr lang="fr-FR" b="1" dirty="0" smtClean="0">
                <a:solidFill>
                  <a:srgbClr val="FF0000"/>
                </a:solidFill>
              </a:rPr>
              <a:t>F</a:t>
            </a:r>
            <a:r>
              <a:rPr lang="fr-FR" dirty="0" smtClean="0"/>
              <a:t>)</a:t>
            </a:r>
          </a:p>
          <a:p>
            <a:pPr lvl="2"/>
            <a:r>
              <a:rPr lang="fr-FR" dirty="0" smtClean="0"/>
              <a:t>autre notation (logique modale) : 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□</a:t>
            </a:r>
            <a:r>
              <a:rPr lang="fr-FR" b="1" dirty="0" smtClean="0">
                <a:solidFill>
                  <a:srgbClr val="FF0000"/>
                </a:solidFill>
              </a:rPr>
              <a:t>φ</a:t>
            </a:r>
          </a:p>
          <a:p>
            <a:pPr lvl="1"/>
            <a:endParaRPr lang="fr-FR" b="1" dirty="0" smtClean="0">
              <a:solidFill>
                <a:srgbClr val="FF0000"/>
              </a:solidFill>
            </a:endParaRPr>
          </a:p>
          <a:p>
            <a:pPr lvl="1"/>
            <a:r>
              <a:rPr lang="fr-FR" b="1" dirty="0" err="1" smtClean="0">
                <a:solidFill>
                  <a:srgbClr val="FF0000"/>
                </a:solidFill>
              </a:rPr>
              <a:t>Pφ</a:t>
            </a:r>
            <a:r>
              <a:rPr lang="fr-FR" dirty="0" smtClean="0"/>
              <a:t> : </a:t>
            </a:r>
            <a:r>
              <a:rPr lang="fr-FR" b="1" dirty="0" smtClean="0">
                <a:solidFill>
                  <a:srgbClr val="FF0000"/>
                </a:solidFill>
              </a:rPr>
              <a:t>φ</a:t>
            </a:r>
            <a:r>
              <a:rPr lang="fr-FR" dirty="0" smtClean="0"/>
              <a:t> était vrai dans un état passé</a:t>
            </a:r>
          </a:p>
          <a:p>
            <a:pPr lvl="1"/>
            <a:endParaRPr lang="fr-FR" b="1" dirty="0" smtClean="0">
              <a:solidFill>
                <a:srgbClr val="FF0000"/>
              </a:solidFill>
            </a:endParaRPr>
          </a:p>
          <a:p>
            <a:pPr lvl="1"/>
            <a:r>
              <a:rPr lang="fr-FR" b="1" dirty="0" err="1" smtClean="0">
                <a:solidFill>
                  <a:srgbClr val="FF0000"/>
                </a:solidFill>
              </a:rPr>
              <a:t>Hφ</a:t>
            </a:r>
            <a:r>
              <a:rPr lang="fr-FR" dirty="0" smtClean="0"/>
              <a:t> : </a:t>
            </a:r>
            <a:r>
              <a:rPr lang="fr-FR" b="1" dirty="0" smtClean="0">
                <a:solidFill>
                  <a:srgbClr val="FF0000"/>
                </a:solidFill>
              </a:rPr>
              <a:t>φ</a:t>
            </a:r>
            <a:r>
              <a:rPr lang="fr-FR" dirty="0" smtClean="0"/>
              <a:t> était toujours vrai dans le passé (dual de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)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Les opérateurs du passé ne sont pas utilisés dans les outils supportant la logique temporelle pour la vérification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Opérateurs temporels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Les opérateurs sont (en plus de ceux de la logique du premier ordre) :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φ U ψ </a:t>
            </a:r>
            <a:r>
              <a:rPr lang="fr-FR" dirty="0" smtClean="0"/>
              <a:t>: </a:t>
            </a:r>
            <a:r>
              <a:rPr lang="fr-FR" b="1" dirty="0" smtClean="0">
                <a:solidFill>
                  <a:srgbClr val="FF0000"/>
                </a:solidFill>
              </a:rPr>
              <a:t>φ</a:t>
            </a:r>
            <a:r>
              <a:rPr lang="fr-FR" dirty="0" smtClean="0"/>
              <a:t> est vrai jusqu’à ce que (</a:t>
            </a:r>
            <a:r>
              <a:rPr lang="fr-FR" dirty="0" err="1" smtClean="0"/>
              <a:t>until</a:t>
            </a:r>
            <a:r>
              <a:rPr lang="fr-FR" dirty="0" smtClean="0"/>
              <a:t>) </a:t>
            </a:r>
            <a:r>
              <a:rPr lang="fr-FR" b="1" dirty="0" smtClean="0">
                <a:solidFill>
                  <a:srgbClr val="FF0000"/>
                </a:solidFill>
              </a:rPr>
              <a:t>ψ</a:t>
            </a:r>
            <a:r>
              <a:rPr lang="fr-FR" dirty="0" smtClean="0"/>
              <a:t> le devienne (</a:t>
            </a:r>
            <a:r>
              <a:rPr lang="fr-FR" b="1" dirty="0" smtClean="0">
                <a:solidFill>
                  <a:srgbClr val="FF0000"/>
                </a:solidFill>
              </a:rPr>
              <a:t>ψ</a:t>
            </a:r>
            <a:r>
              <a:rPr lang="fr-FR" dirty="0" smtClean="0"/>
              <a:t> sera vrai un jour, en attendant </a:t>
            </a:r>
            <a:r>
              <a:rPr lang="el-GR" b="1" dirty="0" smtClean="0">
                <a:solidFill>
                  <a:srgbClr val="FF0000"/>
                </a:solidFill>
              </a:rPr>
              <a:t>φ</a:t>
            </a:r>
            <a:r>
              <a:rPr lang="el-GR" dirty="0" smtClean="0"/>
              <a:t> </a:t>
            </a:r>
            <a:r>
              <a:rPr lang="fr-FR" dirty="0" smtClean="0"/>
              <a:t>reste vrai)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Version faible : </a:t>
            </a:r>
            <a:r>
              <a:rPr lang="fr-FR" b="1" dirty="0" smtClean="0">
                <a:solidFill>
                  <a:srgbClr val="FF0000"/>
                </a:solidFill>
              </a:rPr>
              <a:t>φ W ψ </a:t>
            </a:r>
            <a:r>
              <a:rPr lang="fr-FR" dirty="0" smtClean="0"/>
              <a:t>→ même chose que </a:t>
            </a:r>
            <a:r>
              <a:rPr lang="fr-FR" b="1" dirty="0" smtClean="0">
                <a:solidFill>
                  <a:srgbClr val="FF0000"/>
                </a:solidFill>
              </a:rPr>
              <a:t>U</a:t>
            </a:r>
            <a:r>
              <a:rPr lang="fr-FR" dirty="0" smtClean="0"/>
              <a:t> mais il n’y a pas de garantie que </a:t>
            </a:r>
            <a:r>
              <a:rPr lang="fr-FR" b="1" dirty="0" smtClean="0">
                <a:solidFill>
                  <a:srgbClr val="FF0000"/>
                </a:solidFill>
              </a:rPr>
              <a:t>ψ</a:t>
            </a:r>
            <a:r>
              <a:rPr lang="fr-FR" dirty="0" smtClean="0"/>
              <a:t> devienne vrai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Explications sur la sémantique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On introduit ici une sémantique informelle des opérateurs temporels</a:t>
            </a:r>
          </a:p>
          <a:p>
            <a:endParaRPr lang="fr-FR" dirty="0" smtClean="0"/>
          </a:p>
          <a:p>
            <a:r>
              <a:rPr lang="fr-FR" dirty="0" smtClean="0"/>
              <a:t>Par sémantique, on entend donner un exemple de réalisation d’une propriété</a:t>
            </a:r>
          </a:p>
          <a:p>
            <a:endParaRPr lang="fr-FR" dirty="0" smtClean="0"/>
          </a:p>
          <a:p>
            <a:r>
              <a:rPr lang="fr-FR" dirty="0" smtClean="0"/>
              <a:t>Rappel : en logique des prédicats, dire qu’une propriété </a:t>
            </a:r>
            <a:r>
              <a:rPr lang="fr-FR" b="1" dirty="0" smtClean="0">
                <a:solidFill>
                  <a:srgbClr val="FF0000"/>
                </a:solidFill>
              </a:rPr>
              <a:t>φ</a:t>
            </a:r>
            <a:r>
              <a:rPr lang="fr-FR" dirty="0" smtClean="0"/>
              <a:t> est vérifiée signifie qu’elle l’est à l’état courant des choses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Explications sur la sémantique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L’opérateur </a:t>
            </a:r>
            <a:r>
              <a:rPr lang="fr-FR" b="1" dirty="0" smtClean="0">
                <a:solidFill>
                  <a:srgbClr val="FF0000"/>
                </a:solidFill>
              </a:rPr>
              <a:t>X φ</a:t>
            </a:r>
            <a:r>
              <a:rPr lang="fr-FR" dirty="0" smtClean="0"/>
              <a:t> :</a:t>
            </a:r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L’opérateur </a:t>
            </a:r>
            <a:r>
              <a:rPr lang="fr-FR" b="1" dirty="0" smtClean="0">
                <a:solidFill>
                  <a:srgbClr val="FF0000"/>
                </a:solidFill>
              </a:rPr>
              <a:t>F φ</a:t>
            </a:r>
            <a:r>
              <a:rPr lang="fr-FR" dirty="0" smtClean="0"/>
              <a:t> :</a:t>
            </a:r>
          </a:p>
          <a:p>
            <a:endParaRPr lang="fr-FR" dirty="0"/>
          </a:p>
        </p:txBody>
      </p:sp>
      <p:sp>
        <p:nvSpPr>
          <p:cNvPr id="5" name="Ellipse 4"/>
          <p:cNvSpPr/>
          <p:nvPr/>
        </p:nvSpPr>
        <p:spPr>
          <a:xfrm>
            <a:off x="1763688" y="2276872"/>
            <a:ext cx="864096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Ellipse 5"/>
          <p:cNvSpPr/>
          <p:nvPr/>
        </p:nvSpPr>
        <p:spPr>
          <a:xfrm>
            <a:off x="2987824" y="2276872"/>
            <a:ext cx="720080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ym typeface="Symbol"/>
              </a:rPr>
              <a:t></a:t>
            </a:r>
            <a:endParaRPr lang="fr-FR" dirty="0"/>
          </a:p>
        </p:txBody>
      </p:sp>
      <p:sp>
        <p:nvSpPr>
          <p:cNvPr id="7" name="Ellipse 6"/>
          <p:cNvSpPr/>
          <p:nvPr/>
        </p:nvSpPr>
        <p:spPr>
          <a:xfrm>
            <a:off x="4139952" y="2276872"/>
            <a:ext cx="792088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/>
          <p:cNvSpPr/>
          <p:nvPr/>
        </p:nvSpPr>
        <p:spPr>
          <a:xfrm>
            <a:off x="5508104" y="2276872"/>
            <a:ext cx="792088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" name="Connecteur droit avec flèche 8"/>
          <p:cNvCxnSpPr>
            <a:stCxn id="5" idx="6"/>
            <a:endCxn id="6" idx="2"/>
          </p:cNvCxnSpPr>
          <p:nvPr/>
        </p:nvCxnSpPr>
        <p:spPr>
          <a:xfrm>
            <a:off x="2627784" y="2564904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>
            <a:stCxn id="6" idx="6"/>
            <a:endCxn id="7" idx="2"/>
          </p:cNvCxnSpPr>
          <p:nvPr/>
        </p:nvCxnSpPr>
        <p:spPr>
          <a:xfrm>
            <a:off x="3707904" y="2564904"/>
            <a:ext cx="43204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>
            <a:stCxn id="7" idx="6"/>
            <a:endCxn id="8" idx="2"/>
          </p:cNvCxnSpPr>
          <p:nvPr/>
        </p:nvCxnSpPr>
        <p:spPr>
          <a:xfrm>
            <a:off x="4932040" y="2564904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>
            <a:stCxn id="8" idx="6"/>
            <a:endCxn id="20" idx="1"/>
          </p:cNvCxnSpPr>
          <p:nvPr/>
        </p:nvCxnSpPr>
        <p:spPr>
          <a:xfrm flipV="1">
            <a:off x="6300192" y="2562122"/>
            <a:ext cx="330896" cy="27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/>
          <p:cNvSpPr txBox="1"/>
          <p:nvPr/>
        </p:nvSpPr>
        <p:spPr>
          <a:xfrm>
            <a:off x="6631088" y="2377456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…</a:t>
            </a:r>
            <a:endParaRPr lang="fr-FR" dirty="0"/>
          </a:p>
        </p:txBody>
      </p:sp>
      <p:cxnSp>
        <p:nvCxnSpPr>
          <p:cNvPr id="24" name="Connecteur droit avec flèche 23"/>
          <p:cNvCxnSpPr/>
          <p:nvPr/>
        </p:nvCxnSpPr>
        <p:spPr>
          <a:xfrm flipV="1">
            <a:off x="2195736" y="2852936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ZoneTexte 24"/>
          <p:cNvSpPr txBox="1"/>
          <p:nvPr/>
        </p:nvSpPr>
        <p:spPr>
          <a:xfrm>
            <a:off x="1619672" y="3212976"/>
            <a:ext cx="1487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Etat courant</a:t>
            </a:r>
            <a:endParaRPr lang="fr-FR" dirty="0"/>
          </a:p>
        </p:txBody>
      </p:sp>
      <p:sp>
        <p:nvSpPr>
          <p:cNvPr id="26" name="Ellipse 25"/>
          <p:cNvSpPr/>
          <p:nvPr/>
        </p:nvSpPr>
        <p:spPr>
          <a:xfrm>
            <a:off x="971600" y="5291916"/>
            <a:ext cx="864096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7" name="Ellipse 26"/>
          <p:cNvSpPr/>
          <p:nvPr/>
        </p:nvSpPr>
        <p:spPr>
          <a:xfrm>
            <a:off x="2195736" y="5291916"/>
            <a:ext cx="720080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Ellipse 27"/>
          <p:cNvSpPr/>
          <p:nvPr/>
        </p:nvSpPr>
        <p:spPr>
          <a:xfrm>
            <a:off x="3347864" y="5291916"/>
            <a:ext cx="792088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/>
          <p:cNvSpPr/>
          <p:nvPr/>
        </p:nvSpPr>
        <p:spPr>
          <a:xfrm>
            <a:off x="4716016" y="5291916"/>
            <a:ext cx="792088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30" name="Connecteur droit avec flèche 29"/>
          <p:cNvCxnSpPr>
            <a:stCxn id="26" idx="6"/>
            <a:endCxn id="27" idx="2"/>
          </p:cNvCxnSpPr>
          <p:nvPr/>
        </p:nvCxnSpPr>
        <p:spPr>
          <a:xfrm>
            <a:off x="1835696" y="5579948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/>
          <p:cNvCxnSpPr>
            <a:stCxn id="27" idx="6"/>
            <a:endCxn id="28" idx="2"/>
          </p:cNvCxnSpPr>
          <p:nvPr/>
        </p:nvCxnSpPr>
        <p:spPr>
          <a:xfrm>
            <a:off x="2915816" y="5579948"/>
            <a:ext cx="43204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/>
          <p:cNvCxnSpPr>
            <a:stCxn id="28" idx="6"/>
            <a:endCxn id="29" idx="2"/>
          </p:cNvCxnSpPr>
          <p:nvPr/>
        </p:nvCxnSpPr>
        <p:spPr>
          <a:xfrm>
            <a:off x="4139952" y="5579948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/>
          <p:cNvCxnSpPr>
            <a:stCxn id="29" idx="6"/>
          </p:cNvCxnSpPr>
          <p:nvPr/>
        </p:nvCxnSpPr>
        <p:spPr>
          <a:xfrm>
            <a:off x="5508104" y="5579948"/>
            <a:ext cx="384752" cy="92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33"/>
          <p:cNvSpPr txBox="1"/>
          <p:nvPr/>
        </p:nvSpPr>
        <p:spPr>
          <a:xfrm>
            <a:off x="8100392" y="5407356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…</a:t>
            </a:r>
            <a:endParaRPr lang="fr-FR" dirty="0"/>
          </a:p>
        </p:txBody>
      </p:sp>
      <p:cxnSp>
        <p:nvCxnSpPr>
          <p:cNvPr id="35" name="Connecteur droit avec flèche 34"/>
          <p:cNvCxnSpPr/>
          <p:nvPr/>
        </p:nvCxnSpPr>
        <p:spPr>
          <a:xfrm flipV="1">
            <a:off x="1403648" y="5867980"/>
            <a:ext cx="0" cy="22531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827584" y="6021288"/>
            <a:ext cx="1487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Etat courant</a:t>
            </a:r>
            <a:endParaRPr lang="fr-FR" dirty="0"/>
          </a:p>
        </p:txBody>
      </p:sp>
      <p:sp>
        <p:nvSpPr>
          <p:cNvPr id="39" name="Ellipse 38"/>
          <p:cNvSpPr/>
          <p:nvPr/>
        </p:nvSpPr>
        <p:spPr>
          <a:xfrm>
            <a:off x="5892856" y="5301208"/>
            <a:ext cx="792088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ym typeface="Symbol"/>
              </a:rPr>
              <a:t></a:t>
            </a:r>
            <a:endParaRPr lang="fr-FR" dirty="0"/>
          </a:p>
        </p:txBody>
      </p:sp>
      <p:sp>
        <p:nvSpPr>
          <p:cNvPr id="40" name="Ellipse 39"/>
          <p:cNvSpPr/>
          <p:nvPr/>
        </p:nvSpPr>
        <p:spPr>
          <a:xfrm>
            <a:off x="6972976" y="5301208"/>
            <a:ext cx="792088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41" name="Connecteur droit avec flèche 40"/>
          <p:cNvCxnSpPr>
            <a:stCxn id="39" idx="6"/>
            <a:endCxn id="40" idx="2"/>
          </p:cNvCxnSpPr>
          <p:nvPr/>
        </p:nvCxnSpPr>
        <p:spPr>
          <a:xfrm>
            <a:off x="6684944" y="5589240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avec flèche 43"/>
          <p:cNvCxnSpPr>
            <a:stCxn id="40" idx="6"/>
            <a:endCxn id="34" idx="1"/>
          </p:cNvCxnSpPr>
          <p:nvPr/>
        </p:nvCxnSpPr>
        <p:spPr>
          <a:xfrm>
            <a:off x="7765064" y="5589240"/>
            <a:ext cx="335328" cy="27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Explications sur la sémantique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L’opérateur </a:t>
            </a:r>
            <a:r>
              <a:rPr lang="fr-FR" b="1" dirty="0" smtClean="0">
                <a:solidFill>
                  <a:srgbClr val="FF0000"/>
                </a:solidFill>
              </a:rPr>
              <a:t>G φ</a:t>
            </a:r>
            <a:r>
              <a:rPr lang="fr-FR" dirty="0" smtClean="0"/>
              <a:t> :</a:t>
            </a:r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L’opérateur </a:t>
            </a:r>
            <a:r>
              <a:rPr lang="fr-FR" b="1" dirty="0" smtClean="0">
                <a:solidFill>
                  <a:srgbClr val="FF0000"/>
                </a:solidFill>
              </a:rPr>
              <a:t>φ U ψ</a:t>
            </a:r>
            <a:r>
              <a:rPr lang="fr-FR" dirty="0" smtClean="0"/>
              <a:t> :</a:t>
            </a:r>
          </a:p>
          <a:p>
            <a:endParaRPr lang="fr-FR" dirty="0" smtClean="0"/>
          </a:p>
          <a:p>
            <a:endParaRPr lang="fr-FR" dirty="0"/>
          </a:p>
        </p:txBody>
      </p:sp>
      <p:sp>
        <p:nvSpPr>
          <p:cNvPr id="5" name="Ellipse 4"/>
          <p:cNvSpPr/>
          <p:nvPr/>
        </p:nvSpPr>
        <p:spPr>
          <a:xfrm>
            <a:off x="971600" y="2204864"/>
            <a:ext cx="864096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ym typeface="Symbol"/>
              </a:rPr>
              <a:t></a:t>
            </a:r>
            <a:endParaRPr lang="fr-FR" dirty="0"/>
          </a:p>
        </p:txBody>
      </p:sp>
      <p:sp>
        <p:nvSpPr>
          <p:cNvPr id="6" name="Ellipse 5"/>
          <p:cNvSpPr/>
          <p:nvPr/>
        </p:nvSpPr>
        <p:spPr>
          <a:xfrm>
            <a:off x="2195736" y="2204864"/>
            <a:ext cx="720080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ym typeface="Symbol"/>
              </a:rPr>
              <a:t></a:t>
            </a:r>
            <a:endParaRPr lang="fr-FR" dirty="0"/>
          </a:p>
        </p:txBody>
      </p:sp>
      <p:sp>
        <p:nvSpPr>
          <p:cNvPr id="7" name="Ellipse 6"/>
          <p:cNvSpPr/>
          <p:nvPr/>
        </p:nvSpPr>
        <p:spPr>
          <a:xfrm>
            <a:off x="3347864" y="2204864"/>
            <a:ext cx="792088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ym typeface="Symbol"/>
              </a:rPr>
              <a:t></a:t>
            </a:r>
            <a:endParaRPr lang="fr-FR" dirty="0"/>
          </a:p>
        </p:txBody>
      </p:sp>
      <p:sp>
        <p:nvSpPr>
          <p:cNvPr id="8" name="Ellipse 7"/>
          <p:cNvSpPr/>
          <p:nvPr/>
        </p:nvSpPr>
        <p:spPr>
          <a:xfrm>
            <a:off x="4716016" y="2204864"/>
            <a:ext cx="792088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ym typeface="Symbol"/>
              </a:rPr>
              <a:t></a:t>
            </a:r>
            <a:endParaRPr lang="fr-FR" dirty="0"/>
          </a:p>
        </p:txBody>
      </p:sp>
      <p:cxnSp>
        <p:nvCxnSpPr>
          <p:cNvPr id="9" name="Connecteur droit avec flèche 8"/>
          <p:cNvCxnSpPr>
            <a:stCxn id="5" idx="6"/>
            <a:endCxn id="6" idx="2"/>
          </p:cNvCxnSpPr>
          <p:nvPr/>
        </p:nvCxnSpPr>
        <p:spPr>
          <a:xfrm>
            <a:off x="1835696" y="2492896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>
            <a:stCxn id="6" idx="6"/>
            <a:endCxn id="7" idx="2"/>
          </p:cNvCxnSpPr>
          <p:nvPr/>
        </p:nvCxnSpPr>
        <p:spPr>
          <a:xfrm>
            <a:off x="2915816" y="2492896"/>
            <a:ext cx="43204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>
            <a:stCxn id="7" idx="6"/>
            <a:endCxn id="8" idx="2"/>
          </p:cNvCxnSpPr>
          <p:nvPr/>
        </p:nvCxnSpPr>
        <p:spPr>
          <a:xfrm>
            <a:off x="4139952" y="2492896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/>
          <p:cNvCxnSpPr>
            <a:stCxn id="8" idx="6"/>
          </p:cNvCxnSpPr>
          <p:nvPr/>
        </p:nvCxnSpPr>
        <p:spPr>
          <a:xfrm>
            <a:off x="5508104" y="2492896"/>
            <a:ext cx="384752" cy="92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8100392" y="2320304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…</a:t>
            </a:r>
            <a:endParaRPr lang="fr-FR" dirty="0"/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1403648" y="2780928"/>
            <a:ext cx="0" cy="22531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827584" y="2934236"/>
            <a:ext cx="1487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Etat courant</a:t>
            </a:r>
            <a:endParaRPr lang="fr-FR" dirty="0"/>
          </a:p>
        </p:txBody>
      </p:sp>
      <p:sp>
        <p:nvSpPr>
          <p:cNvPr id="16" name="Ellipse 15"/>
          <p:cNvSpPr/>
          <p:nvPr/>
        </p:nvSpPr>
        <p:spPr>
          <a:xfrm>
            <a:off x="5892856" y="2214156"/>
            <a:ext cx="792088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ym typeface="Symbol"/>
              </a:rPr>
              <a:t></a:t>
            </a:r>
            <a:endParaRPr lang="fr-FR" dirty="0"/>
          </a:p>
        </p:txBody>
      </p:sp>
      <p:sp>
        <p:nvSpPr>
          <p:cNvPr id="17" name="Ellipse 16"/>
          <p:cNvSpPr/>
          <p:nvPr/>
        </p:nvSpPr>
        <p:spPr>
          <a:xfrm>
            <a:off x="6972976" y="2214156"/>
            <a:ext cx="792088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ym typeface="Symbol"/>
              </a:rPr>
              <a:t></a:t>
            </a:r>
            <a:endParaRPr lang="fr-FR" dirty="0"/>
          </a:p>
        </p:txBody>
      </p:sp>
      <p:cxnSp>
        <p:nvCxnSpPr>
          <p:cNvPr id="18" name="Connecteur droit avec flèche 17"/>
          <p:cNvCxnSpPr>
            <a:stCxn id="16" idx="6"/>
            <a:endCxn id="17" idx="2"/>
          </p:cNvCxnSpPr>
          <p:nvPr/>
        </p:nvCxnSpPr>
        <p:spPr>
          <a:xfrm>
            <a:off x="6684944" y="2502188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>
            <a:stCxn id="17" idx="6"/>
            <a:endCxn id="13" idx="1"/>
          </p:cNvCxnSpPr>
          <p:nvPr/>
        </p:nvCxnSpPr>
        <p:spPr>
          <a:xfrm>
            <a:off x="7765064" y="2502188"/>
            <a:ext cx="335328" cy="27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lipse 19"/>
          <p:cNvSpPr/>
          <p:nvPr/>
        </p:nvSpPr>
        <p:spPr>
          <a:xfrm>
            <a:off x="971600" y="5229200"/>
            <a:ext cx="864096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ym typeface="Symbol"/>
              </a:rPr>
              <a:t></a:t>
            </a:r>
            <a:endParaRPr lang="fr-FR" dirty="0"/>
          </a:p>
        </p:txBody>
      </p:sp>
      <p:sp>
        <p:nvSpPr>
          <p:cNvPr id="21" name="Ellipse 20"/>
          <p:cNvSpPr/>
          <p:nvPr/>
        </p:nvSpPr>
        <p:spPr>
          <a:xfrm>
            <a:off x="2195736" y="5229200"/>
            <a:ext cx="720080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ym typeface="Symbol"/>
              </a:rPr>
              <a:t></a:t>
            </a:r>
            <a:endParaRPr lang="fr-FR" dirty="0"/>
          </a:p>
        </p:txBody>
      </p:sp>
      <p:sp>
        <p:nvSpPr>
          <p:cNvPr id="22" name="Ellipse 21"/>
          <p:cNvSpPr/>
          <p:nvPr/>
        </p:nvSpPr>
        <p:spPr>
          <a:xfrm>
            <a:off x="3347864" y="5229200"/>
            <a:ext cx="792088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ym typeface="Symbol"/>
              </a:rPr>
              <a:t></a:t>
            </a:r>
            <a:endParaRPr lang="fr-FR" dirty="0"/>
          </a:p>
        </p:txBody>
      </p:sp>
      <p:sp>
        <p:nvSpPr>
          <p:cNvPr id="23" name="Ellipse 22"/>
          <p:cNvSpPr/>
          <p:nvPr/>
        </p:nvSpPr>
        <p:spPr>
          <a:xfrm>
            <a:off x="4716016" y="5229200"/>
            <a:ext cx="792088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ym typeface="Symbol"/>
              </a:rPr>
              <a:t></a:t>
            </a:r>
            <a:endParaRPr lang="fr-FR" dirty="0" smtClean="0"/>
          </a:p>
        </p:txBody>
      </p:sp>
      <p:cxnSp>
        <p:nvCxnSpPr>
          <p:cNvPr id="24" name="Connecteur droit avec flèche 23"/>
          <p:cNvCxnSpPr>
            <a:stCxn id="20" idx="6"/>
            <a:endCxn id="21" idx="2"/>
          </p:cNvCxnSpPr>
          <p:nvPr/>
        </p:nvCxnSpPr>
        <p:spPr>
          <a:xfrm>
            <a:off x="1835696" y="5517232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>
            <a:stCxn id="21" idx="6"/>
            <a:endCxn id="22" idx="2"/>
          </p:cNvCxnSpPr>
          <p:nvPr/>
        </p:nvCxnSpPr>
        <p:spPr>
          <a:xfrm>
            <a:off x="2915816" y="5517232"/>
            <a:ext cx="43204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/>
          <p:cNvCxnSpPr>
            <a:stCxn id="22" idx="6"/>
            <a:endCxn id="23" idx="2"/>
          </p:cNvCxnSpPr>
          <p:nvPr/>
        </p:nvCxnSpPr>
        <p:spPr>
          <a:xfrm>
            <a:off x="4139952" y="5517232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/>
          <p:cNvCxnSpPr>
            <a:stCxn id="23" idx="6"/>
          </p:cNvCxnSpPr>
          <p:nvPr/>
        </p:nvCxnSpPr>
        <p:spPr>
          <a:xfrm>
            <a:off x="5508104" y="5517232"/>
            <a:ext cx="384752" cy="92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27"/>
          <p:cNvSpPr txBox="1"/>
          <p:nvPr/>
        </p:nvSpPr>
        <p:spPr>
          <a:xfrm>
            <a:off x="8100392" y="5344640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…</a:t>
            </a:r>
            <a:endParaRPr lang="fr-FR" dirty="0"/>
          </a:p>
        </p:txBody>
      </p:sp>
      <p:cxnSp>
        <p:nvCxnSpPr>
          <p:cNvPr id="29" name="Connecteur droit avec flèche 28"/>
          <p:cNvCxnSpPr/>
          <p:nvPr/>
        </p:nvCxnSpPr>
        <p:spPr>
          <a:xfrm flipV="1">
            <a:off x="1403648" y="5805264"/>
            <a:ext cx="0" cy="22531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ZoneTexte 29"/>
          <p:cNvSpPr txBox="1"/>
          <p:nvPr/>
        </p:nvSpPr>
        <p:spPr>
          <a:xfrm>
            <a:off x="827584" y="5958572"/>
            <a:ext cx="1487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Etat courant</a:t>
            </a:r>
            <a:endParaRPr lang="fr-FR" dirty="0"/>
          </a:p>
        </p:txBody>
      </p:sp>
      <p:sp>
        <p:nvSpPr>
          <p:cNvPr id="31" name="Ellipse 30"/>
          <p:cNvSpPr/>
          <p:nvPr/>
        </p:nvSpPr>
        <p:spPr>
          <a:xfrm>
            <a:off x="5892856" y="5238492"/>
            <a:ext cx="792088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2" name="Ellipse 31"/>
          <p:cNvSpPr/>
          <p:nvPr/>
        </p:nvSpPr>
        <p:spPr>
          <a:xfrm>
            <a:off x="6972976" y="5238492"/>
            <a:ext cx="792088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33" name="Connecteur droit avec flèche 32"/>
          <p:cNvCxnSpPr>
            <a:stCxn id="31" idx="6"/>
            <a:endCxn id="32" idx="2"/>
          </p:cNvCxnSpPr>
          <p:nvPr/>
        </p:nvCxnSpPr>
        <p:spPr>
          <a:xfrm>
            <a:off x="6684944" y="5526524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/>
          <p:cNvCxnSpPr>
            <a:stCxn id="32" idx="6"/>
            <a:endCxn id="28" idx="1"/>
          </p:cNvCxnSpPr>
          <p:nvPr/>
        </p:nvCxnSpPr>
        <p:spPr>
          <a:xfrm>
            <a:off x="7765064" y="5526524"/>
            <a:ext cx="335328" cy="27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Combinaisons intéressantes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L’opérateur </a:t>
            </a:r>
            <a:r>
              <a:rPr lang="fr-FR" b="1" dirty="0" smtClean="0">
                <a:solidFill>
                  <a:srgbClr val="FF0000"/>
                </a:solidFill>
              </a:rPr>
              <a:t>GF φ</a:t>
            </a:r>
            <a:r>
              <a:rPr lang="fr-FR" dirty="0" smtClean="0"/>
              <a:t> :</a:t>
            </a:r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L’opérateur </a:t>
            </a:r>
            <a:r>
              <a:rPr lang="fr-FR" b="1" dirty="0" smtClean="0">
                <a:solidFill>
                  <a:srgbClr val="FF0000"/>
                </a:solidFill>
              </a:rPr>
              <a:t>FG φ</a:t>
            </a:r>
            <a:r>
              <a:rPr lang="fr-FR" dirty="0" smtClean="0"/>
              <a:t> :</a:t>
            </a:r>
          </a:p>
          <a:p>
            <a:endParaRPr lang="fr-FR" dirty="0"/>
          </a:p>
        </p:txBody>
      </p:sp>
      <p:sp>
        <p:nvSpPr>
          <p:cNvPr id="5" name="Ellipse 4"/>
          <p:cNvSpPr/>
          <p:nvPr/>
        </p:nvSpPr>
        <p:spPr>
          <a:xfrm>
            <a:off x="971600" y="2204864"/>
            <a:ext cx="864096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Ellipse 5"/>
          <p:cNvSpPr/>
          <p:nvPr/>
        </p:nvSpPr>
        <p:spPr>
          <a:xfrm>
            <a:off x="2195736" y="2204864"/>
            <a:ext cx="720080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ym typeface="Symbol"/>
              </a:rPr>
              <a:t></a:t>
            </a:r>
            <a:endParaRPr lang="fr-FR" dirty="0"/>
          </a:p>
        </p:txBody>
      </p:sp>
      <p:sp>
        <p:nvSpPr>
          <p:cNvPr id="7" name="Ellipse 6"/>
          <p:cNvSpPr/>
          <p:nvPr/>
        </p:nvSpPr>
        <p:spPr>
          <a:xfrm>
            <a:off x="3347864" y="2204864"/>
            <a:ext cx="792088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llipse 7"/>
          <p:cNvSpPr/>
          <p:nvPr/>
        </p:nvSpPr>
        <p:spPr>
          <a:xfrm>
            <a:off x="4716016" y="2204864"/>
            <a:ext cx="792088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" name="Connecteur droit avec flèche 8"/>
          <p:cNvCxnSpPr>
            <a:stCxn id="5" idx="6"/>
            <a:endCxn id="6" idx="2"/>
          </p:cNvCxnSpPr>
          <p:nvPr/>
        </p:nvCxnSpPr>
        <p:spPr>
          <a:xfrm>
            <a:off x="1835696" y="2492896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>
            <a:stCxn id="6" idx="6"/>
            <a:endCxn id="7" idx="2"/>
          </p:cNvCxnSpPr>
          <p:nvPr/>
        </p:nvCxnSpPr>
        <p:spPr>
          <a:xfrm>
            <a:off x="2915816" y="2492896"/>
            <a:ext cx="43204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>
            <a:stCxn id="7" idx="6"/>
            <a:endCxn id="8" idx="2"/>
          </p:cNvCxnSpPr>
          <p:nvPr/>
        </p:nvCxnSpPr>
        <p:spPr>
          <a:xfrm>
            <a:off x="4139952" y="2492896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/>
          <p:cNvCxnSpPr>
            <a:stCxn id="8" idx="6"/>
          </p:cNvCxnSpPr>
          <p:nvPr/>
        </p:nvCxnSpPr>
        <p:spPr>
          <a:xfrm>
            <a:off x="5508104" y="2492896"/>
            <a:ext cx="384752" cy="92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8100392" y="2320304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…</a:t>
            </a:r>
            <a:endParaRPr lang="fr-FR" dirty="0"/>
          </a:p>
        </p:txBody>
      </p:sp>
      <p:cxnSp>
        <p:nvCxnSpPr>
          <p:cNvPr id="14" name="Connecteur droit avec flèche 13"/>
          <p:cNvCxnSpPr/>
          <p:nvPr/>
        </p:nvCxnSpPr>
        <p:spPr>
          <a:xfrm flipV="1">
            <a:off x="1403648" y="2780928"/>
            <a:ext cx="0" cy="22531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827584" y="2934236"/>
            <a:ext cx="1487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Etat courant</a:t>
            </a:r>
            <a:endParaRPr lang="fr-FR" dirty="0"/>
          </a:p>
        </p:txBody>
      </p:sp>
      <p:sp>
        <p:nvSpPr>
          <p:cNvPr id="16" name="Ellipse 15"/>
          <p:cNvSpPr/>
          <p:nvPr/>
        </p:nvSpPr>
        <p:spPr>
          <a:xfrm>
            <a:off x="5892856" y="2214156"/>
            <a:ext cx="792088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ym typeface="Symbol"/>
              </a:rPr>
              <a:t></a:t>
            </a:r>
            <a:endParaRPr lang="fr-FR" dirty="0"/>
          </a:p>
        </p:txBody>
      </p:sp>
      <p:sp>
        <p:nvSpPr>
          <p:cNvPr id="17" name="Ellipse 16"/>
          <p:cNvSpPr/>
          <p:nvPr/>
        </p:nvSpPr>
        <p:spPr>
          <a:xfrm>
            <a:off x="6972976" y="2214156"/>
            <a:ext cx="792088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ym typeface="Symbol"/>
              </a:rPr>
              <a:t></a:t>
            </a:r>
            <a:endParaRPr lang="fr-FR" dirty="0"/>
          </a:p>
        </p:txBody>
      </p:sp>
      <p:cxnSp>
        <p:nvCxnSpPr>
          <p:cNvPr id="18" name="Connecteur droit avec flèche 17"/>
          <p:cNvCxnSpPr>
            <a:stCxn id="16" idx="6"/>
            <a:endCxn id="17" idx="2"/>
          </p:cNvCxnSpPr>
          <p:nvPr/>
        </p:nvCxnSpPr>
        <p:spPr>
          <a:xfrm>
            <a:off x="6684944" y="2502188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>
            <a:stCxn id="17" idx="6"/>
            <a:endCxn id="13" idx="1"/>
          </p:cNvCxnSpPr>
          <p:nvPr/>
        </p:nvCxnSpPr>
        <p:spPr>
          <a:xfrm>
            <a:off x="7765064" y="2502188"/>
            <a:ext cx="335328" cy="27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lipse 19"/>
          <p:cNvSpPr/>
          <p:nvPr/>
        </p:nvSpPr>
        <p:spPr>
          <a:xfrm>
            <a:off x="971600" y="5210616"/>
            <a:ext cx="864096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" name="Ellipse 20"/>
          <p:cNvSpPr/>
          <p:nvPr/>
        </p:nvSpPr>
        <p:spPr>
          <a:xfrm>
            <a:off x="2195736" y="5210616"/>
            <a:ext cx="720080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Ellipse 21"/>
          <p:cNvSpPr/>
          <p:nvPr/>
        </p:nvSpPr>
        <p:spPr>
          <a:xfrm>
            <a:off x="3347864" y="5210616"/>
            <a:ext cx="792088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Ellipse 22"/>
          <p:cNvSpPr/>
          <p:nvPr/>
        </p:nvSpPr>
        <p:spPr>
          <a:xfrm>
            <a:off x="4716016" y="5210616"/>
            <a:ext cx="792088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ym typeface="Symbol"/>
              </a:rPr>
              <a:t></a:t>
            </a:r>
            <a:endParaRPr lang="fr-FR" dirty="0"/>
          </a:p>
        </p:txBody>
      </p:sp>
      <p:cxnSp>
        <p:nvCxnSpPr>
          <p:cNvPr id="24" name="Connecteur droit avec flèche 23"/>
          <p:cNvCxnSpPr>
            <a:stCxn id="20" idx="6"/>
            <a:endCxn id="21" idx="2"/>
          </p:cNvCxnSpPr>
          <p:nvPr/>
        </p:nvCxnSpPr>
        <p:spPr>
          <a:xfrm>
            <a:off x="1835696" y="5498648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>
            <a:stCxn id="21" idx="6"/>
            <a:endCxn id="22" idx="2"/>
          </p:cNvCxnSpPr>
          <p:nvPr/>
        </p:nvCxnSpPr>
        <p:spPr>
          <a:xfrm>
            <a:off x="2915816" y="5498648"/>
            <a:ext cx="43204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/>
          <p:cNvCxnSpPr>
            <a:stCxn id="22" idx="6"/>
            <a:endCxn id="23" idx="2"/>
          </p:cNvCxnSpPr>
          <p:nvPr/>
        </p:nvCxnSpPr>
        <p:spPr>
          <a:xfrm>
            <a:off x="4139952" y="5498648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/>
          <p:cNvCxnSpPr>
            <a:stCxn id="23" idx="6"/>
          </p:cNvCxnSpPr>
          <p:nvPr/>
        </p:nvCxnSpPr>
        <p:spPr>
          <a:xfrm>
            <a:off x="5508104" y="5498648"/>
            <a:ext cx="384752" cy="92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27"/>
          <p:cNvSpPr txBox="1"/>
          <p:nvPr/>
        </p:nvSpPr>
        <p:spPr>
          <a:xfrm>
            <a:off x="8100392" y="5326056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…</a:t>
            </a:r>
            <a:endParaRPr lang="fr-FR" dirty="0"/>
          </a:p>
        </p:txBody>
      </p:sp>
      <p:cxnSp>
        <p:nvCxnSpPr>
          <p:cNvPr id="29" name="Connecteur droit avec flèche 28"/>
          <p:cNvCxnSpPr/>
          <p:nvPr/>
        </p:nvCxnSpPr>
        <p:spPr>
          <a:xfrm flipV="1">
            <a:off x="1403648" y="5786680"/>
            <a:ext cx="0" cy="22531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ZoneTexte 29"/>
          <p:cNvSpPr txBox="1"/>
          <p:nvPr/>
        </p:nvSpPr>
        <p:spPr>
          <a:xfrm>
            <a:off x="827584" y="5939988"/>
            <a:ext cx="1487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Etat courant</a:t>
            </a:r>
            <a:endParaRPr lang="fr-FR" dirty="0"/>
          </a:p>
        </p:txBody>
      </p:sp>
      <p:sp>
        <p:nvSpPr>
          <p:cNvPr id="31" name="Ellipse 30"/>
          <p:cNvSpPr/>
          <p:nvPr/>
        </p:nvSpPr>
        <p:spPr>
          <a:xfrm>
            <a:off x="5892856" y="5219908"/>
            <a:ext cx="792088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ym typeface="Symbol"/>
              </a:rPr>
              <a:t></a:t>
            </a:r>
            <a:endParaRPr lang="fr-FR" dirty="0"/>
          </a:p>
        </p:txBody>
      </p:sp>
      <p:sp>
        <p:nvSpPr>
          <p:cNvPr id="32" name="Ellipse 31"/>
          <p:cNvSpPr/>
          <p:nvPr/>
        </p:nvSpPr>
        <p:spPr>
          <a:xfrm>
            <a:off x="6972976" y="5219908"/>
            <a:ext cx="792088" cy="5760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ym typeface="Symbol"/>
              </a:rPr>
              <a:t></a:t>
            </a:r>
            <a:endParaRPr lang="fr-FR" dirty="0"/>
          </a:p>
        </p:txBody>
      </p:sp>
      <p:cxnSp>
        <p:nvCxnSpPr>
          <p:cNvPr id="33" name="Connecteur droit avec flèche 32"/>
          <p:cNvCxnSpPr>
            <a:stCxn id="31" idx="6"/>
            <a:endCxn id="32" idx="2"/>
          </p:cNvCxnSpPr>
          <p:nvPr/>
        </p:nvCxnSpPr>
        <p:spPr>
          <a:xfrm>
            <a:off x="6684944" y="5507940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/>
          <p:cNvCxnSpPr>
            <a:stCxn id="32" idx="6"/>
            <a:endCxn id="28" idx="1"/>
          </p:cNvCxnSpPr>
          <p:nvPr/>
        </p:nvCxnSpPr>
        <p:spPr>
          <a:xfrm>
            <a:off x="7765064" y="5507940"/>
            <a:ext cx="335328" cy="27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ZoneTexte 34"/>
          <p:cNvSpPr txBox="1"/>
          <p:nvPr/>
        </p:nvSpPr>
        <p:spPr>
          <a:xfrm>
            <a:off x="4067944" y="3140968"/>
            <a:ext cx="3643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φ</a:t>
            </a:r>
            <a:r>
              <a:rPr lang="fr-FR" dirty="0" smtClean="0"/>
              <a:t> est infiniment souvent réalisée</a:t>
            </a:r>
            <a:endParaRPr lang="fr-FR" dirty="0"/>
          </a:p>
        </p:txBody>
      </p:sp>
      <p:sp>
        <p:nvSpPr>
          <p:cNvPr id="36" name="ZoneTexte 35"/>
          <p:cNvSpPr txBox="1"/>
          <p:nvPr/>
        </p:nvSpPr>
        <p:spPr>
          <a:xfrm>
            <a:off x="4211960" y="5949280"/>
            <a:ext cx="3456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φ</a:t>
            </a:r>
            <a:r>
              <a:rPr lang="fr-FR" dirty="0" smtClean="0"/>
              <a:t> est presque toujours réalisée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Dans un système, on définit :</a:t>
            </a:r>
          </a:p>
          <a:p>
            <a:pPr lvl="1"/>
            <a:r>
              <a:rPr lang="fr-FR" dirty="0" err="1" smtClean="0"/>
              <a:t>halt</a:t>
            </a:r>
            <a:r>
              <a:rPr lang="fr-FR" dirty="0" smtClean="0"/>
              <a:t>=système en arrêt</a:t>
            </a:r>
          </a:p>
          <a:p>
            <a:pPr lvl="1"/>
            <a:r>
              <a:rPr lang="fr-FR" dirty="0" err="1" smtClean="0"/>
              <a:t>alert</a:t>
            </a:r>
            <a:r>
              <a:rPr lang="fr-FR" dirty="0" smtClean="0"/>
              <a:t>=problème du fonctionnement</a:t>
            </a:r>
          </a:p>
          <a:p>
            <a:pPr lvl="1"/>
            <a:r>
              <a:rPr lang="fr-FR" dirty="0" smtClean="0"/>
              <a:t>alarme=alarme déclenchée</a:t>
            </a:r>
          </a:p>
          <a:p>
            <a:endParaRPr lang="fr-FR" dirty="0" smtClean="0"/>
          </a:p>
          <a:p>
            <a:r>
              <a:rPr lang="fr-FR" dirty="0" smtClean="0"/>
              <a:t>Exemples de propriétés temporelles :</a:t>
            </a:r>
          </a:p>
          <a:p>
            <a:pPr lvl="1"/>
            <a:r>
              <a:rPr lang="fr-FR" b="1" dirty="0" err="1" smtClean="0">
                <a:solidFill>
                  <a:srgbClr val="FF0000"/>
                </a:solidFill>
              </a:rPr>
              <a:t>alert</a:t>
            </a:r>
            <a:r>
              <a:rPr lang="fr-FR" b="1" dirty="0" smtClean="0">
                <a:solidFill>
                  <a:srgbClr val="FF0000"/>
                </a:solidFill>
              </a:rPr>
              <a:t> ⇒F </a:t>
            </a:r>
            <a:r>
              <a:rPr lang="fr-FR" b="1" dirty="0" err="1" smtClean="0">
                <a:solidFill>
                  <a:srgbClr val="FF0000"/>
                </a:solidFill>
              </a:rPr>
              <a:t>halt</a:t>
            </a:r>
            <a:r>
              <a:rPr lang="fr-FR" dirty="0" smtClean="0"/>
              <a:t> : signifie que si une alerte est déclenchée, alors dans un état futur le système va s’arrêter</a:t>
            </a:r>
          </a:p>
          <a:p>
            <a:pPr lvl="1"/>
            <a:endParaRPr lang="fr-FR" dirty="0" smtClean="0"/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G(</a:t>
            </a:r>
            <a:r>
              <a:rPr lang="fr-FR" b="1" dirty="0" err="1" smtClean="0">
                <a:solidFill>
                  <a:srgbClr val="FF0000"/>
                </a:solidFill>
              </a:rPr>
              <a:t>alert</a:t>
            </a:r>
            <a:r>
              <a:rPr lang="fr-FR" b="1" dirty="0" smtClean="0">
                <a:solidFill>
                  <a:srgbClr val="FF0000"/>
                </a:solidFill>
              </a:rPr>
              <a:t> ⇒ alarme U </a:t>
            </a:r>
            <a:r>
              <a:rPr lang="fr-FR" b="1" dirty="0" err="1" smtClean="0">
                <a:solidFill>
                  <a:srgbClr val="FF0000"/>
                </a:solidFill>
              </a:rPr>
              <a:t>halt</a:t>
            </a:r>
            <a:r>
              <a:rPr lang="fr-FR" b="1" dirty="0" smtClean="0">
                <a:solidFill>
                  <a:srgbClr val="FF0000"/>
                </a:solidFill>
              </a:rPr>
              <a:t>)</a:t>
            </a:r>
            <a:r>
              <a:rPr lang="fr-FR" dirty="0" smtClean="0"/>
              <a:t> : signifie qu’il est toujours vrai que : s’il y a une alerte alors l’alarme retentira jusqu’à l’arrêt du système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Propriétés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Définition minimale :</a:t>
            </a:r>
          </a:p>
          <a:p>
            <a:pPr lvl="1"/>
            <a:r>
              <a:rPr lang="fr-FR" sz="2300" b="1" dirty="0" smtClean="0">
                <a:solidFill>
                  <a:srgbClr val="FF0000"/>
                </a:solidFill>
              </a:rPr>
              <a:t>￢F ￢p</a:t>
            </a:r>
            <a:r>
              <a:rPr lang="el-GR" sz="2300" b="1" dirty="0" smtClean="0">
                <a:solidFill>
                  <a:srgbClr val="FF0000"/>
                </a:solidFill>
              </a:rPr>
              <a:t> </a:t>
            </a:r>
            <a:r>
              <a:rPr lang="pl-PL" sz="2300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⇔ </a:t>
            </a:r>
            <a:r>
              <a:rPr lang="fr-FR" sz="2300" b="1" dirty="0" smtClean="0">
                <a:solidFill>
                  <a:srgbClr val="FF0000"/>
                </a:solidFill>
              </a:rPr>
              <a:t>G p </a:t>
            </a:r>
            <a:r>
              <a:rPr lang="fr-FR" sz="2300" dirty="0" smtClean="0"/>
              <a:t>(</a:t>
            </a:r>
            <a:r>
              <a:rPr lang="fr-FR" sz="2300" b="1" dirty="0" smtClean="0">
                <a:solidFill>
                  <a:srgbClr val="FF0000"/>
                </a:solidFill>
              </a:rPr>
              <a:t>G</a:t>
            </a:r>
            <a:r>
              <a:rPr lang="fr-FR" sz="2300" dirty="0" smtClean="0"/>
              <a:t> est la forme duale de </a:t>
            </a:r>
            <a:r>
              <a:rPr lang="fr-FR" sz="2300" b="1" dirty="0" smtClean="0">
                <a:solidFill>
                  <a:srgbClr val="FF0000"/>
                </a:solidFill>
              </a:rPr>
              <a:t>F</a:t>
            </a:r>
            <a:r>
              <a:rPr lang="fr-FR" sz="2300" dirty="0" smtClean="0"/>
              <a:t>)</a:t>
            </a:r>
          </a:p>
          <a:p>
            <a:pPr lvl="1"/>
            <a:r>
              <a:rPr lang="pl-PL" sz="2300" dirty="0" smtClean="0"/>
              <a:t>F </a:t>
            </a:r>
            <a:r>
              <a:rPr lang="fr-FR" sz="2300" dirty="0" smtClean="0"/>
              <a:t>p</a:t>
            </a:r>
            <a:r>
              <a:rPr lang="pl-PL" sz="2300" dirty="0" smtClean="0"/>
              <a:t> </a:t>
            </a:r>
            <a:r>
              <a:rPr lang="pl-PL" sz="2300" dirty="0" smtClean="0">
                <a:latin typeface="Latin Modern Math"/>
                <a:ea typeface="Latin Modern Math"/>
              </a:rPr>
              <a:t> ⇔</a:t>
            </a:r>
            <a:r>
              <a:rPr lang="pl-PL" sz="2300" dirty="0" smtClean="0"/>
              <a:t> vrai U </a:t>
            </a:r>
            <a:r>
              <a:rPr lang="fr-FR" sz="2300" dirty="0" smtClean="0"/>
              <a:t>p</a:t>
            </a:r>
          </a:p>
          <a:p>
            <a:endParaRPr lang="fr-FR" sz="2800" dirty="0" smtClean="0"/>
          </a:p>
          <a:p>
            <a:r>
              <a:rPr lang="fr-FR" sz="2800" dirty="0" smtClean="0"/>
              <a:t>Propriétés des opérateurs :</a:t>
            </a:r>
          </a:p>
          <a:p>
            <a:endParaRPr lang="fr-FR" sz="2800" dirty="0" smtClean="0"/>
          </a:p>
          <a:p>
            <a:endParaRPr lang="fr-FR" sz="4000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611560" y="4149080"/>
          <a:ext cx="8352929" cy="1656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2927"/>
                <a:gridCol w="2223657"/>
                <a:gridCol w="3096345"/>
              </a:tblGrid>
              <a:tr h="586864">
                <a:tc>
                  <a:txBody>
                    <a:bodyPr/>
                    <a:lstStyle/>
                    <a:p>
                      <a:r>
                        <a:rPr lang="fr-FR" sz="1800" b="1" dirty="0" smtClean="0">
                          <a:solidFill>
                            <a:srgbClr val="FF0000"/>
                          </a:solidFill>
                        </a:rPr>
                        <a:t>p ⇒ </a:t>
                      </a:r>
                      <a:r>
                        <a:rPr lang="fr-FR" sz="1800" b="1" dirty="0" err="1" smtClean="0">
                          <a:solidFill>
                            <a:srgbClr val="FF0000"/>
                          </a:solidFill>
                        </a:rPr>
                        <a:t>Fp</a:t>
                      </a:r>
                      <a:r>
                        <a:rPr lang="fr-FR" sz="1800" b="1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endParaRPr lang="fr-FR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b="1" dirty="0" smtClean="0">
                          <a:solidFill>
                            <a:srgbClr val="FF0000"/>
                          </a:solidFill>
                        </a:rPr>
                        <a:t>Xp ⇒</a:t>
                      </a:r>
                      <a:r>
                        <a:rPr lang="fr-FR" sz="1800" b="1" dirty="0" err="1" smtClean="0">
                          <a:solidFill>
                            <a:srgbClr val="FF0000"/>
                          </a:solidFill>
                        </a:rPr>
                        <a:t>Fp</a:t>
                      </a:r>
                      <a:r>
                        <a:rPr lang="fr-FR" sz="1800" b="1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endParaRPr lang="fr-FR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b="1" dirty="0" smtClean="0">
                          <a:solidFill>
                            <a:srgbClr val="FF0000"/>
                          </a:solidFill>
                        </a:rPr>
                        <a:t> Gp ⇒</a:t>
                      </a:r>
                      <a:r>
                        <a:rPr lang="fr-FR" sz="1800" b="1" dirty="0" err="1" smtClean="0">
                          <a:solidFill>
                            <a:srgbClr val="FF0000"/>
                          </a:solidFill>
                        </a:rPr>
                        <a:t>Fp</a:t>
                      </a:r>
                      <a:endParaRPr lang="fr-FR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65264">
                <a:tc>
                  <a:txBody>
                    <a:bodyPr/>
                    <a:lstStyle/>
                    <a:p>
                      <a:r>
                        <a:rPr lang="fr-FR" sz="1800" b="1" dirty="0" err="1" smtClean="0">
                          <a:solidFill>
                            <a:srgbClr val="FF0000"/>
                          </a:solidFill>
                        </a:rPr>
                        <a:t>pUq</a:t>
                      </a:r>
                      <a:r>
                        <a:rPr lang="fr-FR" sz="1800" b="1" dirty="0" smtClean="0">
                          <a:solidFill>
                            <a:srgbClr val="FF0000"/>
                          </a:solidFill>
                        </a:rPr>
                        <a:t> ⇒ </a:t>
                      </a:r>
                      <a:r>
                        <a:rPr lang="fr-FR" sz="1800" b="1" dirty="0" err="1" smtClean="0">
                          <a:solidFill>
                            <a:srgbClr val="FF0000"/>
                          </a:solidFill>
                        </a:rPr>
                        <a:t>Fq</a:t>
                      </a:r>
                      <a:r>
                        <a:rPr lang="fr-FR" sz="1800" b="1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endParaRPr lang="fr-FR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b="1" dirty="0" err="1" smtClean="0">
                          <a:solidFill>
                            <a:srgbClr val="FF0000"/>
                          </a:solidFill>
                        </a:rPr>
                        <a:t>FGp</a:t>
                      </a:r>
                      <a:r>
                        <a:rPr lang="fr-FR" sz="1800" b="1" dirty="0" smtClean="0">
                          <a:solidFill>
                            <a:srgbClr val="FF0000"/>
                          </a:solidFill>
                        </a:rPr>
                        <a:t> ⇒</a:t>
                      </a:r>
                      <a:r>
                        <a:rPr lang="fr-FR" sz="1800" b="1" dirty="0" err="1" smtClean="0">
                          <a:solidFill>
                            <a:srgbClr val="FF0000"/>
                          </a:solidFill>
                        </a:rPr>
                        <a:t>GFp</a:t>
                      </a:r>
                      <a:r>
                        <a:rPr lang="fr-FR" sz="1800" b="1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endParaRPr lang="fr-FR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dirty="0" err="1" smtClean="0">
                          <a:solidFill>
                            <a:srgbClr val="FF0000"/>
                          </a:solidFill>
                        </a:rPr>
                        <a:t>FFp</a:t>
                      </a:r>
                      <a:r>
                        <a:rPr lang="fr-FR" sz="1800" b="1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pl-PL" sz="1800" b="1" dirty="0" smtClean="0">
                          <a:solidFill>
                            <a:srgbClr val="FF0000"/>
                          </a:solidFill>
                          <a:latin typeface="Latin Modern Math"/>
                          <a:ea typeface="Latin Modern Math"/>
                        </a:rPr>
                        <a:t>⇔</a:t>
                      </a:r>
                      <a:r>
                        <a:rPr lang="fr-FR" sz="1800" b="1" dirty="0" err="1" smtClean="0">
                          <a:solidFill>
                            <a:srgbClr val="FF0000"/>
                          </a:solidFill>
                        </a:rPr>
                        <a:t>Fp</a:t>
                      </a:r>
                      <a:endParaRPr lang="fr-FR" sz="18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04056">
                <a:tc>
                  <a:txBody>
                    <a:bodyPr/>
                    <a:lstStyle/>
                    <a:p>
                      <a:r>
                        <a:rPr lang="fr-FR" sz="1800" b="1" dirty="0" err="1" smtClean="0">
                          <a:solidFill>
                            <a:srgbClr val="FF0000"/>
                          </a:solidFill>
                        </a:rPr>
                        <a:t>Fp</a:t>
                      </a:r>
                      <a:r>
                        <a:rPr lang="fr-FR" sz="1800" b="1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pl-PL" sz="1800" b="1" dirty="0" smtClean="0">
                          <a:solidFill>
                            <a:srgbClr val="FF0000"/>
                          </a:solidFill>
                          <a:latin typeface="Latin Modern Math"/>
                          <a:ea typeface="Latin Modern Math"/>
                        </a:rPr>
                        <a:t>⇔</a:t>
                      </a:r>
                      <a:r>
                        <a:rPr lang="fr-FR" sz="1800" b="1" dirty="0" smtClean="0">
                          <a:solidFill>
                            <a:srgbClr val="FF0000"/>
                          </a:solidFill>
                        </a:rPr>
                        <a:t> p ∨ </a:t>
                      </a:r>
                      <a:r>
                        <a:rPr lang="fr-FR" sz="1800" b="1" dirty="0" err="1" smtClean="0">
                          <a:solidFill>
                            <a:srgbClr val="FF0000"/>
                          </a:solidFill>
                        </a:rPr>
                        <a:t>XFp</a:t>
                      </a:r>
                      <a:r>
                        <a:rPr lang="fr-FR" sz="1800" b="1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endParaRPr lang="fr-FR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b="1" dirty="0" smtClean="0">
                          <a:solidFill>
                            <a:srgbClr val="FF0000"/>
                          </a:solidFill>
                        </a:rPr>
                        <a:t>Gp </a:t>
                      </a:r>
                      <a:r>
                        <a:rPr lang="pl-PL" sz="1800" b="1" dirty="0" smtClean="0">
                          <a:solidFill>
                            <a:srgbClr val="FF0000"/>
                          </a:solidFill>
                          <a:latin typeface="Latin Modern Math"/>
                          <a:ea typeface="Latin Modern Math"/>
                        </a:rPr>
                        <a:t>⇔</a:t>
                      </a:r>
                      <a:r>
                        <a:rPr lang="fr-FR" sz="1800" b="1" dirty="0" smtClean="0">
                          <a:solidFill>
                            <a:srgbClr val="FF0000"/>
                          </a:solidFill>
                        </a:rPr>
                        <a:t> p ∧ </a:t>
                      </a:r>
                      <a:r>
                        <a:rPr lang="fr-FR" sz="1800" b="1" dirty="0" err="1" smtClean="0">
                          <a:solidFill>
                            <a:srgbClr val="FF0000"/>
                          </a:solidFill>
                        </a:rPr>
                        <a:t>XGp</a:t>
                      </a:r>
                      <a:r>
                        <a:rPr lang="fr-FR" sz="1800" b="1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endParaRPr lang="fr-FR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dirty="0" err="1" smtClean="0">
                          <a:solidFill>
                            <a:srgbClr val="FF0000"/>
                          </a:solidFill>
                        </a:rPr>
                        <a:t>pUq</a:t>
                      </a:r>
                      <a:r>
                        <a:rPr lang="fr-FR" sz="1800" b="1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pl-PL" sz="1800" b="1" dirty="0" smtClean="0">
                          <a:solidFill>
                            <a:srgbClr val="FF0000"/>
                          </a:solidFill>
                          <a:latin typeface="Latin Modern Math"/>
                          <a:ea typeface="Latin Modern Math"/>
                        </a:rPr>
                        <a:t>⇔</a:t>
                      </a:r>
                      <a:r>
                        <a:rPr lang="fr-FR" sz="1800" b="1" dirty="0" smtClean="0">
                          <a:solidFill>
                            <a:srgbClr val="FF0000"/>
                          </a:solidFill>
                        </a:rPr>
                        <a:t> q ∨ (p ∧ X(p U q))</a:t>
                      </a:r>
                      <a:endParaRPr lang="fr-FR" sz="28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Quantification temporelle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 smtClean="0"/>
              <a:t>Quantification à travers les exécutions</a:t>
            </a:r>
          </a:p>
          <a:p>
            <a:pPr lvl="1"/>
            <a:r>
              <a:rPr lang="fr-FR" dirty="0" smtClean="0"/>
              <a:t>Les opérateurs présentés correspondent à une seule exécution d’un programme (séquence linéaire), pour tenir compte de toutes les exécutions, il faut des quantificateurs :</a:t>
            </a:r>
          </a:p>
          <a:p>
            <a:pPr lvl="2"/>
            <a:r>
              <a:rPr lang="fr-FR" dirty="0" smtClean="0"/>
              <a:t>Universel : </a:t>
            </a:r>
            <a:r>
              <a:rPr lang="fr-FR" b="1" dirty="0" smtClean="0">
                <a:solidFill>
                  <a:srgbClr val="FF0000"/>
                </a:solidFill>
              </a:rPr>
              <a:t>A φ</a:t>
            </a:r>
            <a:r>
              <a:rPr lang="fr-FR" dirty="0" smtClean="0"/>
              <a:t> signifie que </a:t>
            </a:r>
            <a:r>
              <a:rPr lang="fr-FR" b="1" dirty="0" smtClean="0">
                <a:solidFill>
                  <a:srgbClr val="FF0000"/>
                </a:solidFill>
              </a:rPr>
              <a:t>φ</a:t>
            </a:r>
            <a:r>
              <a:rPr lang="fr-FR" dirty="0" smtClean="0"/>
              <a:t> est vrai pour toute exécution</a:t>
            </a:r>
          </a:p>
          <a:p>
            <a:pPr lvl="2"/>
            <a:r>
              <a:rPr lang="fr-FR" dirty="0" smtClean="0"/>
              <a:t>Existentiel : </a:t>
            </a:r>
            <a:r>
              <a:rPr lang="fr-FR" b="1" dirty="0" smtClean="0">
                <a:solidFill>
                  <a:srgbClr val="FF0000"/>
                </a:solidFill>
              </a:rPr>
              <a:t>E φ</a:t>
            </a:r>
            <a:r>
              <a:rPr lang="fr-FR" dirty="0" smtClean="0"/>
              <a:t> signifie qu’il existe au moins une exécution qui vérifie </a:t>
            </a:r>
            <a:r>
              <a:rPr lang="fr-FR" b="1" dirty="0" smtClean="0">
                <a:solidFill>
                  <a:srgbClr val="FF0000"/>
                </a:solidFill>
              </a:rPr>
              <a:t>φ</a:t>
            </a:r>
          </a:p>
          <a:p>
            <a:endParaRPr lang="fr-FR" dirty="0" smtClean="0"/>
          </a:p>
          <a:p>
            <a:r>
              <a:rPr lang="fr-FR" dirty="0" smtClean="0"/>
              <a:t>Dans la suite, on va donc distinguer deux types de logiques temporelles selon les utilisations des quantificateurs :</a:t>
            </a:r>
          </a:p>
          <a:p>
            <a:pPr lvl="1"/>
            <a:r>
              <a:rPr lang="fr-FR" dirty="0" smtClean="0"/>
              <a:t>Logique temporelle linéaire LTL</a:t>
            </a:r>
          </a:p>
          <a:p>
            <a:pPr lvl="1"/>
            <a:r>
              <a:rPr lang="fr-FR" dirty="0" smtClean="0"/>
              <a:t>Logique des arbres de calcul CTL</a:t>
            </a:r>
          </a:p>
          <a:p>
            <a:endParaRPr lang="fr-FR" dirty="0" smtClean="0"/>
          </a:p>
          <a:p>
            <a:r>
              <a:rPr lang="fr-FR" dirty="0" smtClean="0"/>
              <a:t>Quatre possibilités intéressants (à partir de l’état actuel) :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EF φ</a:t>
            </a:r>
            <a:r>
              <a:rPr lang="fr-FR" dirty="0" smtClean="0"/>
              <a:t>, </a:t>
            </a:r>
            <a:r>
              <a:rPr lang="fr-FR" b="1" dirty="0" smtClean="0">
                <a:solidFill>
                  <a:srgbClr val="FF0000"/>
                </a:solidFill>
              </a:rPr>
              <a:t>AF φ</a:t>
            </a:r>
            <a:r>
              <a:rPr lang="fr-FR" dirty="0" smtClean="0"/>
              <a:t>, </a:t>
            </a:r>
            <a:r>
              <a:rPr lang="fr-FR" b="1" dirty="0" smtClean="0">
                <a:solidFill>
                  <a:srgbClr val="FF0000"/>
                </a:solidFill>
              </a:rPr>
              <a:t>EG</a:t>
            </a:r>
            <a:r>
              <a:rPr lang="fr-FR" b="1" dirty="0" smtClean="0">
                <a:solidFill>
                  <a:srgbClr val="FF0000"/>
                </a:solidFill>
              </a:rPr>
              <a:t> </a:t>
            </a:r>
            <a:r>
              <a:rPr lang="fr-FR" b="1" dirty="0" smtClean="0">
                <a:solidFill>
                  <a:srgbClr val="FF0000"/>
                </a:solidFill>
              </a:rPr>
              <a:t>φ</a:t>
            </a:r>
            <a:r>
              <a:rPr lang="fr-FR" dirty="0" smtClean="0"/>
              <a:t> et </a:t>
            </a:r>
            <a:r>
              <a:rPr lang="fr-FR" b="1" dirty="0" smtClean="0">
                <a:solidFill>
                  <a:srgbClr val="FF0000"/>
                </a:solidFill>
              </a:rPr>
              <a:t>AG φ</a:t>
            </a:r>
          </a:p>
          <a:p>
            <a:pPr lvl="1"/>
            <a:r>
              <a:rPr lang="fr-FR" dirty="0" smtClean="0"/>
              <a:t>Il y en a d’autres...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Sémantique de la quantification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grpSp>
        <p:nvGrpSpPr>
          <p:cNvPr id="59" name="Groupe 58"/>
          <p:cNvGrpSpPr/>
          <p:nvPr/>
        </p:nvGrpSpPr>
        <p:grpSpPr>
          <a:xfrm>
            <a:off x="395536" y="2060848"/>
            <a:ext cx="3528392" cy="3168352"/>
            <a:chOff x="395536" y="1556792"/>
            <a:chExt cx="3528392" cy="3168352"/>
          </a:xfrm>
        </p:grpSpPr>
        <p:sp>
          <p:nvSpPr>
            <p:cNvPr id="6" name="Ellipse 5"/>
            <p:cNvSpPr/>
            <p:nvPr/>
          </p:nvSpPr>
          <p:spPr>
            <a:xfrm>
              <a:off x="1259632" y="1556792"/>
              <a:ext cx="792088" cy="79208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 err="1" smtClean="0">
                  <a:solidFill>
                    <a:schemeClr val="tx1"/>
                  </a:solidFill>
                </a:rPr>
                <a:t>EFp</a:t>
              </a:r>
              <a:endParaRPr lang="fr-FR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Ellipse 6"/>
            <p:cNvSpPr/>
            <p:nvPr/>
          </p:nvSpPr>
          <p:spPr>
            <a:xfrm>
              <a:off x="827584" y="2852936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Ellipse 7"/>
            <p:cNvSpPr/>
            <p:nvPr/>
          </p:nvSpPr>
          <p:spPr>
            <a:xfrm>
              <a:off x="1547664" y="2852936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Ellipse 8"/>
            <p:cNvSpPr/>
            <p:nvPr/>
          </p:nvSpPr>
          <p:spPr>
            <a:xfrm>
              <a:off x="2267744" y="2852936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Ellipse 9"/>
            <p:cNvSpPr/>
            <p:nvPr/>
          </p:nvSpPr>
          <p:spPr>
            <a:xfrm>
              <a:off x="467544" y="3573016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Ellipse 10"/>
            <p:cNvSpPr/>
            <p:nvPr/>
          </p:nvSpPr>
          <p:spPr>
            <a:xfrm>
              <a:off x="1043608" y="3573016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Ellipse 11"/>
            <p:cNvSpPr/>
            <p:nvPr/>
          </p:nvSpPr>
          <p:spPr>
            <a:xfrm>
              <a:off x="1691680" y="3573016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Ellipse 12"/>
            <p:cNvSpPr/>
            <p:nvPr/>
          </p:nvSpPr>
          <p:spPr>
            <a:xfrm>
              <a:off x="2339752" y="3573016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Ellipse 13"/>
            <p:cNvSpPr/>
            <p:nvPr/>
          </p:nvSpPr>
          <p:spPr>
            <a:xfrm>
              <a:off x="2915816" y="3573016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Ellipse 14"/>
            <p:cNvSpPr/>
            <p:nvPr/>
          </p:nvSpPr>
          <p:spPr>
            <a:xfrm>
              <a:off x="395536" y="4365104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" name="Ellipse 15"/>
            <p:cNvSpPr/>
            <p:nvPr/>
          </p:nvSpPr>
          <p:spPr>
            <a:xfrm>
              <a:off x="971600" y="4365104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Ellipse 16"/>
            <p:cNvSpPr/>
            <p:nvPr/>
          </p:nvSpPr>
          <p:spPr>
            <a:xfrm>
              <a:off x="1691680" y="4365104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Ellipse 17"/>
            <p:cNvSpPr/>
            <p:nvPr/>
          </p:nvSpPr>
          <p:spPr>
            <a:xfrm>
              <a:off x="2267744" y="4365104"/>
              <a:ext cx="360040" cy="36004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 smtClean="0">
                  <a:solidFill>
                    <a:schemeClr val="tx1"/>
                  </a:solidFill>
                </a:rPr>
                <a:t>p</a:t>
              </a:r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Ellipse 18"/>
            <p:cNvSpPr/>
            <p:nvPr/>
          </p:nvSpPr>
          <p:spPr>
            <a:xfrm>
              <a:off x="2915816" y="4365104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Ellipse 19"/>
            <p:cNvSpPr/>
            <p:nvPr/>
          </p:nvSpPr>
          <p:spPr>
            <a:xfrm>
              <a:off x="3563888" y="4365104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2" name="Connecteur droit avec flèche 21"/>
            <p:cNvCxnSpPr>
              <a:stCxn id="6" idx="4"/>
              <a:endCxn id="7" idx="0"/>
            </p:cNvCxnSpPr>
            <p:nvPr/>
          </p:nvCxnSpPr>
          <p:spPr>
            <a:xfrm flipH="1">
              <a:off x="1007604" y="2348880"/>
              <a:ext cx="648072" cy="5040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avec flèche 23"/>
            <p:cNvCxnSpPr>
              <a:stCxn id="6" idx="4"/>
              <a:endCxn id="8" idx="0"/>
            </p:cNvCxnSpPr>
            <p:nvPr/>
          </p:nvCxnSpPr>
          <p:spPr>
            <a:xfrm>
              <a:off x="1655676" y="2348880"/>
              <a:ext cx="72008" cy="5040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avec flèche 26"/>
            <p:cNvCxnSpPr>
              <a:stCxn id="6" idx="4"/>
              <a:endCxn id="9" idx="0"/>
            </p:cNvCxnSpPr>
            <p:nvPr/>
          </p:nvCxnSpPr>
          <p:spPr>
            <a:xfrm>
              <a:off x="1655676" y="2348880"/>
              <a:ext cx="792088" cy="5040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eur droit avec flèche 28"/>
            <p:cNvCxnSpPr>
              <a:stCxn id="7" idx="4"/>
              <a:endCxn id="10" idx="0"/>
            </p:cNvCxnSpPr>
            <p:nvPr/>
          </p:nvCxnSpPr>
          <p:spPr>
            <a:xfrm flipH="1">
              <a:off x="647564" y="3212976"/>
              <a:ext cx="360040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 droit avec flèche 30"/>
            <p:cNvCxnSpPr>
              <a:stCxn id="7" idx="4"/>
              <a:endCxn id="11" idx="0"/>
            </p:cNvCxnSpPr>
            <p:nvPr/>
          </p:nvCxnSpPr>
          <p:spPr>
            <a:xfrm>
              <a:off x="1007604" y="3212976"/>
              <a:ext cx="216024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avec flèche 32"/>
            <p:cNvCxnSpPr>
              <a:stCxn id="8" idx="4"/>
              <a:endCxn id="12" idx="0"/>
            </p:cNvCxnSpPr>
            <p:nvPr/>
          </p:nvCxnSpPr>
          <p:spPr>
            <a:xfrm>
              <a:off x="1727684" y="3212976"/>
              <a:ext cx="144016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eur droit avec flèche 35"/>
            <p:cNvCxnSpPr>
              <a:stCxn id="9" idx="4"/>
              <a:endCxn id="13" idx="0"/>
            </p:cNvCxnSpPr>
            <p:nvPr/>
          </p:nvCxnSpPr>
          <p:spPr>
            <a:xfrm>
              <a:off x="2447764" y="3212976"/>
              <a:ext cx="72008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eur droit avec flèche 37"/>
            <p:cNvCxnSpPr>
              <a:endCxn id="14" idx="0"/>
            </p:cNvCxnSpPr>
            <p:nvPr/>
          </p:nvCxnSpPr>
          <p:spPr>
            <a:xfrm>
              <a:off x="2483768" y="3212976"/>
              <a:ext cx="612068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avec flèche 39"/>
            <p:cNvCxnSpPr>
              <a:stCxn id="10" idx="4"/>
              <a:endCxn id="16" idx="0"/>
            </p:cNvCxnSpPr>
            <p:nvPr/>
          </p:nvCxnSpPr>
          <p:spPr>
            <a:xfrm>
              <a:off x="647564" y="3933056"/>
              <a:ext cx="504056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eur droit avec flèche 41"/>
            <p:cNvCxnSpPr>
              <a:stCxn id="10" idx="4"/>
              <a:endCxn id="15" idx="0"/>
            </p:cNvCxnSpPr>
            <p:nvPr/>
          </p:nvCxnSpPr>
          <p:spPr>
            <a:xfrm flipH="1">
              <a:off x="575556" y="3933056"/>
              <a:ext cx="72008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eur droit avec flèche 43"/>
            <p:cNvCxnSpPr>
              <a:stCxn id="12" idx="4"/>
              <a:endCxn id="17" idx="0"/>
            </p:cNvCxnSpPr>
            <p:nvPr/>
          </p:nvCxnSpPr>
          <p:spPr>
            <a:xfrm>
              <a:off x="1871700" y="3933056"/>
              <a:ext cx="0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eur droit avec flèche 45"/>
            <p:cNvCxnSpPr>
              <a:stCxn id="13" idx="4"/>
              <a:endCxn id="18" idx="0"/>
            </p:cNvCxnSpPr>
            <p:nvPr/>
          </p:nvCxnSpPr>
          <p:spPr>
            <a:xfrm flipH="1">
              <a:off x="2447764" y="3933056"/>
              <a:ext cx="72008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eur droit avec flèche 47"/>
            <p:cNvCxnSpPr>
              <a:stCxn id="13" idx="4"/>
              <a:endCxn id="19" idx="0"/>
            </p:cNvCxnSpPr>
            <p:nvPr/>
          </p:nvCxnSpPr>
          <p:spPr>
            <a:xfrm>
              <a:off x="2519772" y="3933056"/>
              <a:ext cx="576064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avec flèche 49"/>
            <p:cNvCxnSpPr>
              <a:stCxn id="14" idx="4"/>
              <a:endCxn id="20" idx="0"/>
            </p:cNvCxnSpPr>
            <p:nvPr/>
          </p:nvCxnSpPr>
          <p:spPr>
            <a:xfrm>
              <a:off x="3095836" y="3933056"/>
              <a:ext cx="648072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e 59"/>
          <p:cNvGrpSpPr/>
          <p:nvPr/>
        </p:nvGrpSpPr>
        <p:grpSpPr>
          <a:xfrm>
            <a:off x="5292080" y="2060848"/>
            <a:ext cx="3528392" cy="3168352"/>
            <a:chOff x="395536" y="1556792"/>
            <a:chExt cx="3528392" cy="3168352"/>
          </a:xfrm>
        </p:grpSpPr>
        <p:sp>
          <p:nvSpPr>
            <p:cNvPr id="61" name="Ellipse 60"/>
            <p:cNvSpPr/>
            <p:nvPr/>
          </p:nvSpPr>
          <p:spPr>
            <a:xfrm>
              <a:off x="1259632" y="1556792"/>
              <a:ext cx="936104" cy="79208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 err="1" smtClean="0">
                  <a:solidFill>
                    <a:schemeClr val="tx1"/>
                  </a:solidFill>
                </a:rPr>
                <a:t>AFp</a:t>
              </a:r>
              <a:endParaRPr lang="fr-FR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62" name="Ellipse 61"/>
            <p:cNvSpPr/>
            <p:nvPr/>
          </p:nvSpPr>
          <p:spPr>
            <a:xfrm>
              <a:off x="827584" y="2852936"/>
              <a:ext cx="360040" cy="36004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 smtClean="0">
                  <a:solidFill>
                    <a:schemeClr val="tx1"/>
                  </a:solidFill>
                </a:rPr>
                <a:t>p</a:t>
              </a:r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63" name="Ellipse 62"/>
            <p:cNvSpPr/>
            <p:nvPr/>
          </p:nvSpPr>
          <p:spPr>
            <a:xfrm>
              <a:off x="1547664" y="2852936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4" name="Ellipse 63"/>
            <p:cNvSpPr/>
            <p:nvPr/>
          </p:nvSpPr>
          <p:spPr>
            <a:xfrm>
              <a:off x="2267744" y="2852936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5" name="Ellipse 64"/>
            <p:cNvSpPr/>
            <p:nvPr/>
          </p:nvSpPr>
          <p:spPr>
            <a:xfrm>
              <a:off x="467544" y="3573016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6" name="Ellipse 65"/>
            <p:cNvSpPr/>
            <p:nvPr/>
          </p:nvSpPr>
          <p:spPr>
            <a:xfrm>
              <a:off x="1043608" y="3573016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7" name="Ellipse 66"/>
            <p:cNvSpPr/>
            <p:nvPr/>
          </p:nvSpPr>
          <p:spPr>
            <a:xfrm>
              <a:off x="1691680" y="3573016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8" name="Ellipse 67"/>
            <p:cNvSpPr/>
            <p:nvPr/>
          </p:nvSpPr>
          <p:spPr>
            <a:xfrm>
              <a:off x="2339752" y="3573016"/>
              <a:ext cx="360040" cy="36004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 smtClean="0">
                  <a:solidFill>
                    <a:schemeClr val="tx1"/>
                  </a:solidFill>
                </a:rPr>
                <a:t>p</a:t>
              </a:r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69" name="Ellipse 68"/>
            <p:cNvSpPr/>
            <p:nvPr/>
          </p:nvSpPr>
          <p:spPr>
            <a:xfrm>
              <a:off x="2915816" y="3573016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0" name="Ellipse 69"/>
            <p:cNvSpPr/>
            <p:nvPr/>
          </p:nvSpPr>
          <p:spPr>
            <a:xfrm>
              <a:off x="395536" y="4365104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1" name="Ellipse 70"/>
            <p:cNvSpPr/>
            <p:nvPr/>
          </p:nvSpPr>
          <p:spPr>
            <a:xfrm>
              <a:off x="971600" y="4365104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2" name="Ellipse 71"/>
            <p:cNvSpPr/>
            <p:nvPr/>
          </p:nvSpPr>
          <p:spPr>
            <a:xfrm>
              <a:off x="1691680" y="4365104"/>
              <a:ext cx="360040" cy="36004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 smtClean="0">
                  <a:solidFill>
                    <a:schemeClr val="tx1"/>
                  </a:solidFill>
                </a:rPr>
                <a:t>p</a:t>
              </a:r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73" name="Ellipse 72"/>
            <p:cNvSpPr/>
            <p:nvPr/>
          </p:nvSpPr>
          <p:spPr>
            <a:xfrm>
              <a:off x="2267744" y="4365104"/>
              <a:ext cx="360040" cy="36004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 smtClean="0">
                  <a:solidFill>
                    <a:schemeClr val="tx1"/>
                  </a:solidFill>
                </a:rPr>
                <a:t>p</a:t>
              </a:r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74" name="Ellipse 73"/>
            <p:cNvSpPr/>
            <p:nvPr/>
          </p:nvSpPr>
          <p:spPr>
            <a:xfrm>
              <a:off x="2915816" y="4365104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5" name="Ellipse 74"/>
            <p:cNvSpPr/>
            <p:nvPr/>
          </p:nvSpPr>
          <p:spPr>
            <a:xfrm>
              <a:off x="3563888" y="4365104"/>
              <a:ext cx="360040" cy="36004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 smtClean="0">
                  <a:solidFill>
                    <a:schemeClr val="tx1"/>
                  </a:solidFill>
                </a:rPr>
                <a:t>p</a:t>
              </a:r>
              <a:endParaRPr lang="fr-FR" b="1" dirty="0">
                <a:solidFill>
                  <a:schemeClr val="tx1"/>
                </a:solidFill>
              </a:endParaRPr>
            </a:p>
          </p:txBody>
        </p:sp>
        <p:cxnSp>
          <p:nvCxnSpPr>
            <p:cNvPr id="76" name="Connecteur droit avec flèche 75"/>
            <p:cNvCxnSpPr>
              <a:stCxn id="61" idx="4"/>
              <a:endCxn id="62" idx="0"/>
            </p:cNvCxnSpPr>
            <p:nvPr/>
          </p:nvCxnSpPr>
          <p:spPr>
            <a:xfrm flipH="1">
              <a:off x="1007604" y="2348880"/>
              <a:ext cx="720080" cy="5040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avec flèche 76"/>
            <p:cNvCxnSpPr>
              <a:stCxn id="61" idx="4"/>
              <a:endCxn id="63" idx="0"/>
            </p:cNvCxnSpPr>
            <p:nvPr/>
          </p:nvCxnSpPr>
          <p:spPr>
            <a:xfrm>
              <a:off x="1727684" y="2348880"/>
              <a:ext cx="0" cy="5040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eur droit avec flèche 77"/>
            <p:cNvCxnSpPr>
              <a:stCxn id="61" idx="4"/>
              <a:endCxn id="64" idx="0"/>
            </p:cNvCxnSpPr>
            <p:nvPr/>
          </p:nvCxnSpPr>
          <p:spPr>
            <a:xfrm>
              <a:off x="1727684" y="2348880"/>
              <a:ext cx="720080" cy="5040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eur droit avec flèche 78"/>
            <p:cNvCxnSpPr>
              <a:stCxn id="62" idx="4"/>
              <a:endCxn id="65" idx="0"/>
            </p:cNvCxnSpPr>
            <p:nvPr/>
          </p:nvCxnSpPr>
          <p:spPr>
            <a:xfrm flipH="1">
              <a:off x="647564" y="3212976"/>
              <a:ext cx="360040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eur droit avec flèche 79"/>
            <p:cNvCxnSpPr>
              <a:stCxn id="62" idx="4"/>
              <a:endCxn id="66" idx="0"/>
            </p:cNvCxnSpPr>
            <p:nvPr/>
          </p:nvCxnSpPr>
          <p:spPr>
            <a:xfrm>
              <a:off x="1007604" y="3212976"/>
              <a:ext cx="216024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eur droit avec flèche 80"/>
            <p:cNvCxnSpPr>
              <a:stCxn id="63" idx="4"/>
              <a:endCxn id="67" idx="0"/>
            </p:cNvCxnSpPr>
            <p:nvPr/>
          </p:nvCxnSpPr>
          <p:spPr>
            <a:xfrm>
              <a:off x="1727684" y="3212976"/>
              <a:ext cx="144016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eur droit avec flèche 81"/>
            <p:cNvCxnSpPr>
              <a:stCxn id="64" idx="4"/>
              <a:endCxn id="68" idx="0"/>
            </p:cNvCxnSpPr>
            <p:nvPr/>
          </p:nvCxnSpPr>
          <p:spPr>
            <a:xfrm>
              <a:off x="2447764" y="3212976"/>
              <a:ext cx="72008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eur droit avec flèche 82"/>
            <p:cNvCxnSpPr>
              <a:endCxn id="69" idx="0"/>
            </p:cNvCxnSpPr>
            <p:nvPr/>
          </p:nvCxnSpPr>
          <p:spPr>
            <a:xfrm>
              <a:off x="2483768" y="3212976"/>
              <a:ext cx="612068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eur droit avec flèche 83"/>
            <p:cNvCxnSpPr>
              <a:stCxn id="65" idx="4"/>
              <a:endCxn id="71" idx="0"/>
            </p:cNvCxnSpPr>
            <p:nvPr/>
          </p:nvCxnSpPr>
          <p:spPr>
            <a:xfrm>
              <a:off x="647564" y="3933056"/>
              <a:ext cx="504056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eur droit avec flèche 84"/>
            <p:cNvCxnSpPr>
              <a:stCxn id="65" idx="4"/>
              <a:endCxn id="70" idx="0"/>
            </p:cNvCxnSpPr>
            <p:nvPr/>
          </p:nvCxnSpPr>
          <p:spPr>
            <a:xfrm flipH="1">
              <a:off x="575556" y="3933056"/>
              <a:ext cx="72008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cteur droit avec flèche 85"/>
            <p:cNvCxnSpPr>
              <a:stCxn id="67" idx="4"/>
              <a:endCxn id="72" idx="0"/>
            </p:cNvCxnSpPr>
            <p:nvPr/>
          </p:nvCxnSpPr>
          <p:spPr>
            <a:xfrm>
              <a:off x="1871700" y="3933056"/>
              <a:ext cx="0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eur droit avec flèche 86"/>
            <p:cNvCxnSpPr>
              <a:stCxn id="68" idx="4"/>
              <a:endCxn id="73" idx="0"/>
            </p:cNvCxnSpPr>
            <p:nvPr/>
          </p:nvCxnSpPr>
          <p:spPr>
            <a:xfrm flipH="1">
              <a:off x="2447764" y="3933056"/>
              <a:ext cx="72008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eur droit avec flèche 87"/>
            <p:cNvCxnSpPr>
              <a:stCxn id="68" idx="4"/>
              <a:endCxn id="74" idx="0"/>
            </p:cNvCxnSpPr>
            <p:nvPr/>
          </p:nvCxnSpPr>
          <p:spPr>
            <a:xfrm>
              <a:off x="2519772" y="3933056"/>
              <a:ext cx="576064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avec flèche 88"/>
            <p:cNvCxnSpPr>
              <a:stCxn id="69" idx="4"/>
              <a:endCxn id="75" idx="0"/>
            </p:cNvCxnSpPr>
            <p:nvPr/>
          </p:nvCxnSpPr>
          <p:spPr>
            <a:xfrm>
              <a:off x="3095836" y="3933056"/>
              <a:ext cx="648072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Sémantique de la quantification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grpSp>
        <p:nvGrpSpPr>
          <p:cNvPr id="5" name="Groupe 4"/>
          <p:cNvGrpSpPr/>
          <p:nvPr/>
        </p:nvGrpSpPr>
        <p:grpSpPr>
          <a:xfrm>
            <a:off x="395536" y="2060848"/>
            <a:ext cx="3528392" cy="3168352"/>
            <a:chOff x="395536" y="1556792"/>
            <a:chExt cx="3528392" cy="3168352"/>
          </a:xfrm>
        </p:grpSpPr>
        <p:sp>
          <p:nvSpPr>
            <p:cNvPr id="6" name="Ellipse 5"/>
            <p:cNvSpPr/>
            <p:nvPr/>
          </p:nvSpPr>
          <p:spPr>
            <a:xfrm>
              <a:off x="1115616" y="1556792"/>
              <a:ext cx="936104" cy="792088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 err="1" smtClean="0">
                  <a:solidFill>
                    <a:schemeClr val="tx1"/>
                  </a:solidFill>
                </a:rPr>
                <a:t>EGp</a:t>
              </a:r>
              <a:endParaRPr lang="fr-FR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Ellipse 6"/>
            <p:cNvSpPr/>
            <p:nvPr/>
          </p:nvSpPr>
          <p:spPr>
            <a:xfrm>
              <a:off x="827584" y="2852936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Ellipse 7"/>
            <p:cNvSpPr/>
            <p:nvPr/>
          </p:nvSpPr>
          <p:spPr>
            <a:xfrm>
              <a:off x="1547664" y="2852936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Ellipse 8"/>
            <p:cNvSpPr/>
            <p:nvPr/>
          </p:nvSpPr>
          <p:spPr>
            <a:xfrm>
              <a:off x="2267744" y="2852936"/>
              <a:ext cx="360040" cy="36004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 smtClean="0">
                  <a:solidFill>
                    <a:schemeClr val="tx1"/>
                  </a:solidFill>
                </a:rPr>
                <a:t>p</a:t>
              </a:r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Ellipse 9"/>
            <p:cNvSpPr/>
            <p:nvPr/>
          </p:nvSpPr>
          <p:spPr>
            <a:xfrm>
              <a:off x="467544" y="3573016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Ellipse 10"/>
            <p:cNvSpPr/>
            <p:nvPr/>
          </p:nvSpPr>
          <p:spPr>
            <a:xfrm>
              <a:off x="1043608" y="3573016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Ellipse 11"/>
            <p:cNvSpPr/>
            <p:nvPr/>
          </p:nvSpPr>
          <p:spPr>
            <a:xfrm>
              <a:off x="1691680" y="3573016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Ellipse 12"/>
            <p:cNvSpPr/>
            <p:nvPr/>
          </p:nvSpPr>
          <p:spPr>
            <a:xfrm>
              <a:off x="2339752" y="3573016"/>
              <a:ext cx="360040" cy="36004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 smtClean="0">
                  <a:solidFill>
                    <a:schemeClr val="tx1"/>
                  </a:solidFill>
                </a:rPr>
                <a:t>p</a:t>
              </a:r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Ellipse 13"/>
            <p:cNvSpPr/>
            <p:nvPr/>
          </p:nvSpPr>
          <p:spPr>
            <a:xfrm>
              <a:off x="2915816" y="3573016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Ellipse 14"/>
            <p:cNvSpPr/>
            <p:nvPr/>
          </p:nvSpPr>
          <p:spPr>
            <a:xfrm>
              <a:off x="395536" y="4365104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" name="Ellipse 15"/>
            <p:cNvSpPr/>
            <p:nvPr/>
          </p:nvSpPr>
          <p:spPr>
            <a:xfrm>
              <a:off x="971600" y="4365104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Ellipse 16"/>
            <p:cNvSpPr/>
            <p:nvPr/>
          </p:nvSpPr>
          <p:spPr>
            <a:xfrm>
              <a:off x="1691680" y="4365104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Ellipse 17"/>
            <p:cNvSpPr/>
            <p:nvPr/>
          </p:nvSpPr>
          <p:spPr>
            <a:xfrm>
              <a:off x="2267744" y="4365104"/>
              <a:ext cx="360040" cy="36004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 smtClean="0">
                  <a:solidFill>
                    <a:schemeClr val="tx1"/>
                  </a:solidFill>
                </a:rPr>
                <a:t>p</a:t>
              </a:r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Ellipse 18"/>
            <p:cNvSpPr/>
            <p:nvPr/>
          </p:nvSpPr>
          <p:spPr>
            <a:xfrm>
              <a:off x="2915816" y="4365104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Ellipse 19"/>
            <p:cNvSpPr/>
            <p:nvPr/>
          </p:nvSpPr>
          <p:spPr>
            <a:xfrm>
              <a:off x="3563888" y="4365104"/>
              <a:ext cx="360040" cy="3600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1" name="Connecteur droit avec flèche 20"/>
            <p:cNvCxnSpPr>
              <a:stCxn id="6" idx="4"/>
              <a:endCxn id="7" idx="0"/>
            </p:cNvCxnSpPr>
            <p:nvPr/>
          </p:nvCxnSpPr>
          <p:spPr>
            <a:xfrm flipH="1">
              <a:off x="1007604" y="2348880"/>
              <a:ext cx="576064" cy="5040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avec flèche 21"/>
            <p:cNvCxnSpPr>
              <a:stCxn id="6" idx="4"/>
              <a:endCxn id="8" idx="0"/>
            </p:cNvCxnSpPr>
            <p:nvPr/>
          </p:nvCxnSpPr>
          <p:spPr>
            <a:xfrm>
              <a:off x="1583668" y="2348880"/>
              <a:ext cx="144016" cy="5040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avec flèche 22"/>
            <p:cNvCxnSpPr>
              <a:stCxn id="6" idx="4"/>
              <a:endCxn id="9" idx="0"/>
            </p:cNvCxnSpPr>
            <p:nvPr/>
          </p:nvCxnSpPr>
          <p:spPr>
            <a:xfrm>
              <a:off x="1583668" y="2348880"/>
              <a:ext cx="864096" cy="5040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avec flèche 23"/>
            <p:cNvCxnSpPr>
              <a:stCxn id="7" idx="4"/>
              <a:endCxn id="10" idx="0"/>
            </p:cNvCxnSpPr>
            <p:nvPr/>
          </p:nvCxnSpPr>
          <p:spPr>
            <a:xfrm flipH="1">
              <a:off x="647564" y="3212976"/>
              <a:ext cx="360040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eur droit avec flèche 24"/>
            <p:cNvCxnSpPr>
              <a:stCxn id="7" idx="4"/>
              <a:endCxn id="11" idx="0"/>
            </p:cNvCxnSpPr>
            <p:nvPr/>
          </p:nvCxnSpPr>
          <p:spPr>
            <a:xfrm>
              <a:off x="1007604" y="3212976"/>
              <a:ext cx="216024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eur droit avec flèche 25"/>
            <p:cNvCxnSpPr>
              <a:stCxn id="8" idx="4"/>
              <a:endCxn id="12" idx="0"/>
            </p:cNvCxnSpPr>
            <p:nvPr/>
          </p:nvCxnSpPr>
          <p:spPr>
            <a:xfrm>
              <a:off x="1727684" y="3212976"/>
              <a:ext cx="144016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avec flèche 26"/>
            <p:cNvCxnSpPr>
              <a:stCxn id="9" idx="4"/>
              <a:endCxn id="13" idx="0"/>
            </p:cNvCxnSpPr>
            <p:nvPr/>
          </p:nvCxnSpPr>
          <p:spPr>
            <a:xfrm>
              <a:off x="2447764" y="3212976"/>
              <a:ext cx="72008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eur droit avec flèche 27"/>
            <p:cNvCxnSpPr>
              <a:endCxn id="14" idx="0"/>
            </p:cNvCxnSpPr>
            <p:nvPr/>
          </p:nvCxnSpPr>
          <p:spPr>
            <a:xfrm>
              <a:off x="2483768" y="3212976"/>
              <a:ext cx="612068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eur droit avec flèche 28"/>
            <p:cNvCxnSpPr>
              <a:stCxn id="10" idx="4"/>
              <a:endCxn id="16" idx="0"/>
            </p:cNvCxnSpPr>
            <p:nvPr/>
          </p:nvCxnSpPr>
          <p:spPr>
            <a:xfrm>
              <a:off x="647564" y="3933056"/>
              <a:ext cx="504056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eur droit avec flèche 29"/>
            <p:cNvCxnSpPr>
              <a:stCxn id="10" idx="4"/>
              <a:endCxn id="15" idx="0"/>
            </p:cNvCxnSpPr>
            <p:nvPr/>
          </p:nvCxnSpPr>
          <p:spPr>
            <a:xfrm flipH="1">
              <a:off x="575556" y="3933056"/>
              <a:ext cx="72008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 droit avec flèche 30"/>
            <p:cNvCxnSpPr>
              <a:stCxn id="12" idx="4"/>
              <a:endCxn id="17" idx="0"/>
            </p:cNvCxnSpPr>
            <p:nvPr/>
          </p:nvCxnSpPr>
          <p:spPr>
            <a:xfrm>
              <a:off x="1871700" y="3933056"/>
              <a:ext cx="0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eur droit avec flèche 31"/>
            <p:cNvCxnSpPr>
              <a:stCxn id="13" idx="4"/>
              <a:endCxn id="18" idx="0"/>
            </p:cNvCxnSpPr>
            <p:nvPr/>
          </p:nvCxnSpPr>
          <p:spPr>
            <a:xfrm flipH="1">
              <a:off x="2447764" y="3933056"/>
              <a:ext cx="72008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avec flèche 32"/>
            <p:cNvCxnSpPr>
              <a:stCxn id="13" idx="4"/>
              <a:endCxn id="19" idx="0"/>
            </p:cNvCxnSpPr>
            <p:nvPr/>
          </p:nvCxnSpPr>
          <p:spPr>
            <a:xfrm>
              <a:off x="2519772" y="3933056"/>
              <a:ext cx="576064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avec flèche 33"/>
            <p:cNvCxnSpPr>
              <a:stCxn id="14" idx="4"/>
              <a:endCxn id="20" idx="0"/>
            </p:cNvCxnSpPr>
            <p:nvPr/>
          </p:nvCxnSpPr>
          <p:spPr>
            <a:xfrm>
              <a:off x="3095836" y="3933056"/>
              <a:ext cx="648072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e 34"/>
          <p:cNvGrpSpPr/>
          <p:nvPr/>
        </p:nvGrpSpPr>
        <p:grpSpPr>
          <a:xfrm>
            <a:off x="5292080" y="2060848"/>
            <a:ext cx="3528392" cy="3168352"/>
            <a:chOff x="395536" y="1556792"/>
            <a:chExt cx="3528392" cy="3168352"/>
          </a:xfrm>
        </p:grpSpPr>
        <p:sp>
          <p:nvSpPr>
            <p:cNvPr id="36" name="Ellipse 35"/>
            <p:cNvSpPr/>
            <p:nvPr/>
          </p:nvSpPr>
          <p:spPr>
            <a:xfrm>
              <a:off x="1259632" y="1556792"/>
              <a:ext cx="936104" cy="792088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 err="1" smtClean="0">
                  <a:solidFill>
                    <a:schemeClr val="tx1"/>
                  </a:solidFill>
                </a:rPr>
                <a:t>AGp</a:t>
              </a:r>
              <a:endParaRPr lang="fr-FR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37" name="Ellipse 36"/>
            <p:cNvSpPr/>
            <p:nvPr/>
          </p:nvSpPr>
          <p:spPr>
            <a:xfrm>
              <a:off x="827584" y="2852936"/>
              <a:ext cx="360040" cy="36004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 smtClean="0">
                  <a:solidFill>
                    <a:schemeClr val="tx1"/>
                  </a:solidFill>
                </a:rPr>
                <a:t>p</a:t>
              </a:r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38" name="Ellipse 37"/>
            <p:cNvSpPr/>
            <p:nvPr/>
          </p:nvSpPr>
          <p:spPr>
            <a:xfrm>
              <a:off x="1547664" y="2852936"/>
              <a:ext cx="360040" cy="36004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 smtClean="0">
                  <a:solidFill>
                    <a:schemeClr val="tx1"/>
                  </a:solidFill>
                </a:rPr>
                <a:t>p</a:t>
              </a:r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39" name="Ellipse 38"/>
            <p:cNvSpPr/>
            <p:nvPr/>
          </p:nvSpPr>
          <p:spPr>
            <a:xfrm>
              <a:off x="2267744" y="2852936"/>
              <a:ext cx="360040" cy="36004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 smtClean="0">
                  <a:solidFill>
                    <a:schemeClr val="tx1"/>
                  </a:solidFill>
                </a:rPr>
                <a:t>p</a:t>
              </a:r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40" name="Ellipse 39"/>
            <p:cNvSpPr/>
            <p:nvPr/>
          </p:nvSpPr>
          <p:spPr>
            <a:xfrm>
              <a:off x="467544" y="3573016"/>
              <a:ext cx="360040" cy="36004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 smtClean="0">
                  <a:solidFill>
                    <a:schemeClr val="tx1"/>
                  </a:solidFill>
                </a:rPr>
                <a:t>p</a:t>
              </a:r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41" name="Ellipse 40"/>
            <p:cNvSpPr/>
            <p:nvPr/>
          </p:nvSpPr>
          <p:spPr>
            <a:xfrm>
              <a:off x="1043608" y="3573016"/>
              <a:ext cx="360040" cy="36004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 smtClean="0">
                  <a:solidFill>
                    <a:schemeClr val="tx1"/>
                  </a:solidFill>
                </a:rPr>
                <a:t>p</a:t>
              </a:r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42" name="Ellipse 41"/>
            <p:cNvSpPr/>
            <p:nvPr/>
          </p:nvSpPr>
          <p:spPr>
            <a:xfrm>
              <a:off x="1691680" y="3573016"/>
              <a:ext cx="360040" cy="36004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 smtClean="0">
                  <a:solidFill>
                    <a:schemeClr val="tx1"/>
                  </a:solidFill>
                </a:rPr>
                <a:t>p</a:t>
              </a:r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43" name="Ellipse 42"/>
            <p:cNvSpPr/>
            <p:nvPr/>
          </p:nvSpPr>
          <p:spPr>
            <a:xfrm>
              <a:off x="2339752" y="3573016"/>
              <a:ext cx="360040" cy="36004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 smtClean="0">
                  <a:solidFill>
                    <a:schemeClr val="tx1"/>
                  </a:solidFill>
                </a:rPr>
                <a:t>p</a:t>
              </a:r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44" name="Ellipse 43"/>
            <p:cNvSpPr/>
            <p:nvPr/>
          </p:nvSpPr>
          <p:spPr>
            <a:xfrm>
              <a:off x="2915816" y="3573016"/>
              <a:ext cx="360040" cy="36004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 smtClean="0">
                  <a:solidFill>
                    <a:schemeClr val="tx1"/>
                  </a:solidFill>
                </a:rPr>
                <a:t>p</a:t>
              </a:r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45" name="Ellipse 44"/>
            <p:cNvSpPr/>
            <p:nvPr/>
          </p:nvSpPr>
          <p:spPr>
            <a:xfrm>
              <a:off x="395536" y="4365104"/>
              <a:ext cx="360040" cy="36004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 smtClean="0">
                  <a:solidFill>
                    <a:schemeClr val="tx1"/>
                  </a:solidFill>
                </a:rPr>
                <a:t>p</a:t>
              </a:r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46" name="Ellipse 45"/>
            <p:cNvSpPr/>
            <p:nvPr/>
          </p:nvSpPr>
          <p:spPr>
            <a:xfrm>
              <a:off x="971600" y="4365104"/>
              <a:ext cx="360040" cy="36004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 smtClean="0">
                  <a:solidFill>
                    <a:schemeClr val="tx1"/>
                  </a:solidFill>
                </a:rPr>
                <a:t>p</a:t>
              </a:r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47" name="Ellipse 46"/>
            <p:cNvSpPr/>
            <p:nvPr/>
          </p:nvSpPr>
          <p:spPr>
            <a:xfrm>
              <a:off x="1691680" y="4365104"/>
              <a:ext cx="360040" cy="36004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 smtClean="0">
                  <a:solidFill>
                    <a:schemeClr val="tx1"/>
                  </a:solidFill>
                </a:rPr>
                <a:t>p</a:t>
              </a:r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48" name="Ellipse 47"/>
            <p:cNvSpPr/>
            <p:nvPr/>
          </p:nvSpPr>
          <p:spPr>
            <a:xfrm>
              <a:off x="2267744" y="4365104"/>
              <a:ext cx="360040" cy="36004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 smtClean="0">
                  <a:solidFill>
                    <a:schemeClr val="tx1"/>
                  </a:solidFill>
                </a:rPr>
                <a:t>p</a:t>
              </a:r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49" name="Ellipse 48"/>
            <p:cNvSpPr/>
            <p:nvPr/>
          </p:nvSpPr>
          <p:spPr>
            <a:xfrm>
              <a:off x="2915816" y="4365104"/>
              <a:ext cx="360040" cy="36004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 smtClean="0">
                  <a:solidFill>
                    <a:schemeClr val="tx1"/>
                  </a:solidFill>
                </a:rPr>
                <a:t>p</a:t>
              </a:r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50" name="Ellipse 49"/>
            <p:cNvSpPr/>
            <p:nvPr/>
          </p:nvSpPr>
          <p:spPr>
            <a:xfrm>
              <a:off x="3563888" y="4365104"/>
              <a:ext cx="360040" cy="36004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 smtClean="0">
                  <a:solidFill>
                    <a:schemeClr val="tx1"/>
                  </a:solidFill>
                </a:rPr>
                <a:t>p</a:t>
              </a:r>
              <a:endParaRPr lang="fr-FR" b="1" dirty="0">
                <a:solidFill>
                  <a:schemeClr val="tx1"/>
                </a:solidFill>
              </a:endParaRPr>
            </a:p>
          </p:txBody>
        </p:sp>
        <p:cxnSp>
          <p:nvCxnSpPr>
            <p:cNvPr id="51" name="Connecteur droit avec flèche 50"/>
            <p:cNvCxnSpPr>
              <a:stCxn id="36" idx="4"/>
              <a:endCxn id="37" idx="0"/>
            </p:cNvCxnSpPr>
            <p:nvPr/>
          </p:nvCxnSpPr>
          <p:spPr>
            <a:xfrm flipH="1">
              <a:off x="1007604" y="2348880"/>
              <a:ext cx="720080" cy="5040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eur droit avec flèche 51"/>
            <p:cNvCxnSpPr>
              <a:stCxn id="36" idx="4"/>
              <a:endCxn id="38" idx="0"/>
            </p:cNvCxnSpPr>
            <p:nvPr/>
          </p:nvCxnSpPr>
          <p:spPr>
            <a:xfrm>
              <a:off x="1727684" y="2348880"/>
              <a:ext cx="0" cy="5040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eur droit avec flèche 52"/>
            <p:cNvCxnSpPr>
              <a:stCxn id="36" idx="4"/>
              <a:endCxn id="39" idx="0"/>
            </p:cNvCxnSpPr>
            <p:nvPr/>
          </p:nvCxnSpPr>
          <p:spPr>
            <a:xfrm>
              <a:off x="1727684" y="2348880"/>
              <a:ext cx="720080" cy="5040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eur droit avec flèche 53"/>
            <p:cNvCxnSpPr>
              <a:stCxn id="37" idx="4"/>
              <a:endCxn id="40" idx="0"/>
            </p:cNvCxnSpPr>
            <p:nvPr/>
          </p:nvCxnSpPr>
          <p:spPr>
            <a:xfrm flipH="1">
              <a:off x="647564" y="3212976"/>
              <a:ext cx="360040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eur droit avec flèche 54"/>
            <p:cNvCxnSpPr>
              <a:stCxn id="37" idx="4"/>
              <a:endCxn id="41" idx="0"/>
            </p:cNvCxnSpPr>
            <p:nvPr/>
          </p:nvCxnSpPr>
          <p:spPr>
            <a:xfrm>
              <a:off x="1007604" y="3212976"/>
              <a:ext cx="216024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eur droit avec flèche 55"/>
            <p:cNvCxnSpPr>
              <a:stCxn id="38" idx="4"/>
              <a:endCxn id="42" idx="0"/>
            </p:cNvCxnSpPr>
            <p:nvPr/>
          </p:nvCxnSpPr>
          <p:spPr>
            <a:xfrm>
              <a:off x="1727684" y="3212976"/>
              <a:ext cx="144016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eur droit avec flèche 56"/>
            <p:cNvCxnSpPr>
              <a:stCxn id="39" idx="4"/>
              <a:endCxn id="43" idx="0"/>
            </p:cNvCxnSpPr>
            <p:nvPr/>
          </p:nvCxnSpPr>
          <p:spPr>
            <a:xfrm>
              <a:off x="2447764" y="3212976"/>
              <a:ext cx="72008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eur droit avec flèche 57"/>
            <p:cNvCxnSpPr>
              <a:endCxn id="44" idx="0"/>
            </p:cNvCxnSpPr>
            <p:nvPr/>
          </p:nvCxnSpPr>
          <p:spPr>
            <a:xfrm>
              <a:off x="2483768" y="3212976"/>
              <a:ext cx="612068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avec flèche 58"/>
            <p:cNvCxnSpPr>
              <a:stCxn id="40" idx="4"/>
              <a:endCxn id="46" idx="0"/>
            </p:cNvCxnSpPr>
            <p:nvPr/>
          </p:nvCxnSpPr>
          <p:spPr>
            <a:xfrm>
              <a:off x="647564" y="3933056"/>
              <a:ext cx="504056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avec flèche 59"/>
            <p:cNvCxnSpPr>
              <a:stCxn id="40" idx="4"/>
              <a:endCxn id="45" idx="0"/>
            </p:cNvCxnSpPr>
            <p:nvPr/>
          </p:nvCxnSpPr>
          <p:spPr>
            <a:xfrm flipH="1">
              <a:off x="575556" y="3933056"/>
              <a:ext cx="72008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avec flèche 60"/>
            <p:cNvCxnSpPr>
              <a:stCxn id="42" idx="4"/>
              <a:endCxn id="47" idx="0"/>
            </p:cNvCxnSpPr>
            <p:nvPr/>
          </p:nvCxnSpPr>
          <p:spPr>
            <a:xfrm>
              <a:off x="1871700" y="3933056"/>
              <a:ext cx="0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eur droit avec flèche 61"/>
            <p:cNvCxnSpPr>
              <a:stCxn id="43" idx="4"/>
              <a:endCxn id="48" idx="0"/>
            </p:cNvCxnSpPr>
            <p:nvPr/>
          </p:nvCxnSpPr>
          <p:spPr>
            <a:xfrm flipH="1">
              <a:off x="2447764" y="3933056"/>
              <a:ext cx="72008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avec flèche 62"/>
            <p:cNvCxnSpPr>
              <a:stCxn id="43" idx="4"/>
              <a:endCxn id="49" idx="0"/>
            </p:cNvCxnSpPr>
            <p:nvPr/>
          </p:nvCxnSpPr>
          <p:spPr>
            <a:xfrm>
              <a:off x="2519772" y="3933056"/>
              <a:ext cx="576064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eur droit avec flèche 63"/>
            <p:cNvCxnSpPr>
              <a:stCxn id="44" idx="4"/>
              <a:endCxn id="50" idx="0"/>
            </p:cNvCxnSpPr>
            <p:nvPr/>
          </p:nvCxnSpPr>
          <p:spPr>
            <a:xfrm>
              <a:off x="3095836" y="3933056"/>
              <a:ext cx="648072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ZoneTexte 67"/>
          <p:cNvSpPr txBox="1"/>
          <p:nvPr/>
        </p:nvSpPr>
        <p:spPr>
          <a:xfrm>
            <a:off x="5868144" y="5579948"/>
            <a:ext cx="1989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p est un invariant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Logiques temporelles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 smtClean="0"/>
              <a:t>Pour des raisons liées à l’efficacité de l’algorithme de vérification, quelques sous-logique temporelles ont été proposées</a:t>
            </a:r>
          </a:p>
          <a:p>
            <a:pPr lvl="1"/>
            <a:r>
              <a:rPr lang="fr-FR" dirty="0" smtClean="0"/>
              <a:t>La complexité est un enjeu de taille pour les approches formelles</a:t>
            </a:r>
          </a:p>
          <a:p>
            <a:pPr lvl="1"/>
            <a:endParaRPr lang="fr-FR" dirty="0" smtClean="0"/>
          </a:p>
          <a:p>
            <a:r>
              <a:rPr lang="fr-FR" dirty="0" smtClean="0"/>
              <a:t>On distingue alors trois grands types de logiques temporelles :</a:t>
            </a:r>
          </a:p>
          <a:p>
            <a:pPr lvl="1"/>
            <a:r>
              <a:rPr lang="fr-FR" dirty="0" smtClean="0"/>
              <a:t>Logique temporelle linéaire (LTL) : idéale pour les systèmes sans déterminisme</a:t>
            </a:r>
          </a:p>
          <a:p>
            <a:pPr lvl="1"/>
            <a:r>
              <a:rPr lang="fr-FR" dirty="0" smtClean="0"/>
              <a:t>Logique d’arbre de calcul (CTL) : idéale pour les systèmes avec déterminisme, mais elle ne peut pas tout exprimer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Logique CTL* : on peut utiliser tous les opérateurs, mais il n’y a pas un algorithme efficace pour la vérification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332656"/>
            <a:ext cx="8534400" cy="758952"/>
          </a:xfrm>
        </p:spPr>
        <p:txBody>
          <a:bodyPr>
            <a:noAutofit/>
          </a:bodyPr>
          <a:lstStyle/>
          <a:p>
            <a:r>
              <a:rPr lang="fr-FR" sz="2600" dirty="0" smtClean="0"/>
              <a:t>Structure de </a:t>
            </a:r>
            <a:r>
              <a:rPr lang="fr-FR" sz="2600" dirty="0" err="1" smtClean="0"/>
              <a:t>Kripke</a:t>
            </a:r>
            <a:r>
              <a:rPr lang="fr-FR" sz="2600" dirty="0" smtClean="0"/>
              <a:t> :</a:t>
            </a:r>
            <a:br>
              <a:rPr lang="fr-FR" sz="2600" dirty="0" smtClean="0"/>
            </a:br>
            <a:r>
              <a:rPr lang="fr-FR" sz="2600" dirty="0" smtClean="0"/>
              <a:t>un cadre formel pour la sémantique :</a:t>
            </a:r>
            <a:endParaRPr lang="fr-FR" sz="2600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782272"/>
          </a:xfrm>
        </p:spPr>
        <p:txBody>
          <a:bodyPr>
            <a:normAutofit fontScale="77500" lnSpcReduction="20000"/>
          </a:bodyPr>
          <a:lstStyle/>
          <a:p>
            <a:r>
              <a:rPr lang="fr-FR" dirty="0" smtClean="0"/>
              <a:t>Pour mieux comprendre la sémantique des logiques temporelles et la différence entre elles, on introduit les structure de </a:t>
            </a:r>
            <a:r>
              <a:rPr lang="fr-FR" dirty="0" err="1" smtClean="0"/>
              <a:t>Kripke</a:t>
            </a:r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Informellement, une structure de </a:t>
            </a:r>
            <a:r>
              <a:rPr lang="fr-FR" dirty="0" err="1" smtClean="0"/>
              <a:t>Kripke</a:t>
            </a:r>
            <a:r>
              <a:rPr lang="fr-FR" dirty="0" smtClean="0"/>
              <a:t> correspond à tous les états que peut prendre un système et les transitions possibles entre les états. Elle correspond à toutes les exécutions possibles d’un système</a:t>
            </a:r>
          </a:p>
          <a:p>
            <a:endParaRPr lang="fr-FR" dirty="0" smtClean="0"/>
          </a:p>
          <a:p>
            <a:r>
              <a:rPr lang="fr-FR" dirty="0" smtClean="0"/>
              <a:t>Formellement, une structure de </a:t>
            </a:r>
            <a:r>
              <a:rPr lang="fr-FR" dirty="0" err="1" smtClean="0"/>
              <a:t>Kripke</a:t>
            </a:r>
            <a:r>
              <a:rPr lang="fr-FR" dirty="0" smtClean="0"/>
              <a:t> est un quadruplet </a:t>
            </a:r>
            <a:r>
              <a:rPr lang="fr-FR" b="1" dirty="0" smtClean="0">
                <a:solidFill>
                  <a:srgbClr val="FF0000"/>
                </a:solidFill>
              </a:rPr>
              <a:t>(W,R,I,L)</a:t>
            </a:r>
            <a:r>
              <a:rPr lang="fr-FR" dirty="0" smtClean="0"/>
              <a:t> défini sur un ensemble de propositions atomique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tel que :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W</a:t>
            </a:r>
            <a:r>
              <a:rPr lang="fr-FR" dirty="0" smtClean="0"/>
              <a:t> est l’ensemble des états possibles…</a:t>
            </a:r>
          </a:p>
          <a:p>
            <a:pPr lvl="1"/>
            <a:r>
              <a:rPr lang="fr-FR" dirty="0" smtClean="0"/>
              <a:t>R</a:t>
            </a:r>
            <a:r>
              <a:rPr lang="fr-FR" dirty="0" smtClean="0">
                <a:sym typeface="Symbol"/>
              </a:rPr>
              <a:t>WW</a:t>
            </a:r>
            <a:r>
              <a:rPr lang="fr-FR" dirty="0" smtClean="0"/>
              <a:t> est une relation de transition : </a:t>
            </a:r>
            <a:r>
              <a:rPr lang="fr-FR" b="1" dirty="0" smtClean="0">
                <a:solidFill>
                  <a:srgbClr val="FF0000"/>
                </a:solidFill>
              </a:rPr>
              <a:t>(</a:t>
            </a:r>
            <a:r>
              <a:rPr lang="fr-FR" b="1" dirty="0" err="1" smtClean="0">
                <a:solidFill>
                  <a:srgbClr val="FF0000"/>
                </a:solidFill>
              </a:rPr>
              <a:t>q,q</a:t>
            </a:r>
            <a:r>
              <a:rPr lang="fr-FR" b="1" dirty="0" smtClean="0">
                <a:solidFill>
                  <a:srgbClr val="FF0000"/>
                </a:solidFill>
              </a:rPr>
              <a:t>’)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R </a:t>
            </a:r>
            <a:r>
              <a:rPr lang="fr-FR" dirty="0" smtClean="0">
                <a:sym typeface="Symbol"/>
              </a:rPr>
              <a:t>signifie qu’il est possible de passer de l’état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q</a:t>
            </a:r>
            <a:r>
              <a:rPr lang="fr-FR" dirty="0" smtClean="0">
                <a:sym typeface="Symbol"/>
              </a:rPr>
              <a:t> à l’état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q’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  <a:sym typeface="Symbol"/>
              </a:rPr>
              <a:t>I </a:t>
            </a:r>
            <a:r>
              <a:rPr lang="fr-FR" dirty="0" smtClean="0">
                <a:sym typeface="Symbol"/>
              </a:rPr>
              <a:t>est l’ensemble des états initiaux (points d’entrée du système)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  <a:sym typeface="Symbol"/>
              </a:rPr>
              <a:t>L</a:t>
            </a:r>
            <a:r>
              <a:rPr lang="fr-FR" dirty="0" smtClean="0">
                <a:sym typeface="Symbol"/>
              </a:rPr>
              <a:t> est la fonction d’étiquetage : pour chaque état, on donne la liste des propositions atomiques vérifiée par l’état.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L(q) 2</a:t>
            </a:r>
            <a:r>
              <a:rPr lang="fr-FR" b="1" baseline="30000" dirty="0" smtClean="0">
                <a:solidFill>
                  <a:srgbClr val="FF0000"/>
                </a:solidFill>
                <a:sym typeface="Symbol"/>
              </a:rPr>
              <a:t>P</a:t>
            </a:r>
            <a:endParaRPr lang="fr-FR" b="1" baseline="30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Structure de </a:t>
            </a:r>
            <a:r>
              <a:rPr lang="fr-FR" dirty="0" err="1" smtClean="0"/>
              <a:t>Kripke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1469904"/>
          </a:xfrm>
        </p:spPr>
        <p:txBody>
          <a:bodyPr>
            <a:normAutofit fontScale="92500" lnSpcReduction="10000"/>
          </a:bodyPr>
          <a:lstStyle/>
          <a:p>
            <a:r>
              <a:rPr lang="fr-FR" sz="1800" dirty="0" smtClean="0"/>
              <a:t>Exemple : considérons un programme pouvant décider si un nombre x (compris entre 3 et 5) est pair. On s’intéresse à la parité de x et le fait que x soit inférieur à 2, compris entre 2 et 3 et supérieur à 3 (</a:t>
            </a:r>
            <a:r>
              <a:rPr lang="fr-FR" sz="1800" b="1" dirty="0" smtClean="0">
                <a:solidFill>
                  <a:srgbClr val="FF0000"/>
                </a:solidFill>
              </a:rPr>
              <a:t>P={Pair,</a:t>
            </a:r>
            <a:r>
              <a:rPr lang="fr-FR" sz="1800" b="1" dirty="0" err="1" smtClean="0">
                <a:solidFill>
                  <a:srgbClr val="FF0000"/>
                </a:solidFill>
              </a:rPr>
              <a:t>Impair,inf2</a:t>
            </a:r>
            <a:r>
              <a:rPr lang="fr-FR" sz="1800" b="1" dirty="0" smtClean="0">
                <a:solidFill>
                  <a:srgbClr val="FF0000"/>
                </a:solidFill>
              </a:rPr>
              <a:t>,compr2_3,sup3}</a:t>
            </a:r>
            <a:r>
              <a:rPr lang="fr-FR" sz="1800" dirty="0" smtClean="0"/>
              <a:t>)</a:t>
            </a:r>
          </a:p>
          <a:p>
            <a:endParaRPr lang="fr-FR" sz="1800" dirty="0" smtClean="0"/>
          </a:p>
          <a:p>
            <a:r>
              <a:rPr lang="fr-FR" sz="1800" dirty="0" smtClean="0"/>
              <a:t>Pseudo-code : </a:t>
            </a:r>
            <a:r>
              <a:rPr lang="fr-FR" sz="1800" dirty="0" smtClean="0">
                <a:solidFill>
                  <a:srgbClr val="FF0000"/>
                </a:solidFill>
              </a:rPr>
              <a:t>Tant que x&gt;1 faire x</a:t>
            </a:r>
            <a:r>
              <a:rPr lang="fr-FR" sz="1800" dirty="0" smtClean="0">
                <a:solidFill>
                  <a:srgbClr val="FF0000"/>
                </a:solidFill>
                <a:sym typeface="Wingdings" pitchFamily="2" charset="2"/>
              </a:rPr>
              <a:t></a:t>
            </a:r>
            <a:r>
              <a:rPr lang="fr-FR" sz="1800" dirty="0" smtClean="0">
                <a:solidFill>
                  <a:srgbClr val="FF0000"/>
                </a:solidFill>
              </a:rPr>
              <a:t>x-2</a:t>
            </a:r>
          </a:p>
          <a:p>
            <a:endParaRPr lang="fr-FR" sz="1800" dirty="0">
              <a:solidFill>
                <a:srgbClr val="FF0000"/>
              </a:solidFill>
            </a:endParaRPr>
          </a:p>
        </p:txBody>
      </p:sp>
      <p:grpSp>
        <p:nvGrpSpPr>
          <p:cNvPr id="32" name="Groupe 31"/>
          <p:cNvGrpSpPr/>
          <p:nvPr/>
        </p:nvGrpSpPr>
        <p:grpSpPr>
          <a:xfrm>
            <a:off x="1187624" y="2924944"/>
            <a:ext cx="6644851" cy="3528392"/>
            <a:chOff x="1187624" y="2924944"/>
            <a:chExt cx="6644851" cy="3528392"/>
          </a:xfrm>
        </p:grpSpPr>
        <p:sp>
          <p:nvSpPr>
            <p:cNvPr id="30" name="Ellipse 29"/>
            <p:cNvSpPr/>
            <p:nvPr/>
          </p:nvSpPr>
          <p:spPr>
            <a:xfrm>
              <a:off x="1763688" y="2924944"/>
              <a:ext cx="3096344" cy="3528392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Ellipse 4"/>
            <p:cNvSpPr/>
            <p:nvPr/>
          </p:nvSpPr>
          <p:spPr>
            <a:xfrm>
              <a:off x="6372200" y="3861048"/>
              <a:ext cx="648072" cy="43204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b="1" dirty="0" smtClean="0">
                  <a:solidFill>
                    <a:schemeClr val="tx1"/>
                  </a:solidFill>
                </a:rPr>
                <a:t>X=0</a:t>
              </a:r>
              <a:endParaRPr lang="fr-FR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Ellipse 10"/>
            <p:cNvSpPr/>
            <p:nvPr/>
          </p:nvSpPr>
          <p:spPr>
            <a:xfrm>
              <a:off x="5004048" y="4869160"/>
              <a:ext cx="648072" cy="43204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b="1" dirty="0" smtClean="0">
                  <a:solidFill>
                    <a:schemeClr val="tx1"/>
                  </a:solidFill>
                </a:rPr>
                <a:t>X=1</a:t>
              </a:r>
              <a:endParaRPr lang="fr-FR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Ellipse 11"/>
            <p:cNvSpPr/>
            <p:nvPr/>
          </p:nvSpPr>
          <p:spPr>
            <a:xfrm>
              <a:off x="5004048" y="3861048"/>
              <a:ext cx="648072" cy="43204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b="1" dirty="0" smtClean="0">
                  <a:solidFill>
                    <a:schemeClr val="tx1"/>
                  </a:solidFill>
                </a:rPr>
                <a:t>X=2</a:t>
              </a:r>
              <a:endParaRPr lang="fr-FR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Ellipse 12"/>
            <p:cNvSpPr/>
            <p:nvPr/>
          </p:nvSpPr>
          <p:spPr>
            <a:xfrm>
              <a:off x="3275856" y="3457802"/>
              <a:ext cx="648072" cy="43204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b="1" dirty="0" smtClean="0">
                  <a:solidFill>
                    <a:schemeClr val="tx1"/>
                  </a:solidFill>
                </a:rPr>
                <a:t>X=3</a:t>
              </a:r>
              <a:endParaRPr lang="fr-FR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Ellipse 13"/>
            <p:cNvSpPr/>
            <p:nvPr/>
          </p:nvSpPr>
          <p:spPr>
            <a:xfrm>
              <a:off x="3275856" y="4667536"/>
              <a:ext cx="648072" cy="43204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b="1" dirty="0" smtClean="0">
                  <a:solidFill>
                    <a:schemeClr val="tx1"/>
                  </a:solidFill>
                </a:rPr>
                <a:t>X=4</a:t>
              </a:r>
              <a:endParaRPr lang="fr-FR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Ellipse 14"/>
            <p:cNvSpPr/>
            <p:nvPr/>
          </p:nvSpPr>
          <p:spPr>
            <a:xfrm>
              <a:off x="3275856" y="5877272"/>
              <a:ext cx="648072" cy="43204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b="1" dirty="0" smtClean="0">
                  <a:solidFill>
                    <a:schemeClr val="tx1"/>
                  </a:solidFill>
                </a:rPr>
                <a:t>X=5</a:t>
              </a:r>
              <a:endParaRPr lang="fr-FR" sz="11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Connecteur en angle 16"/>
            <p:cNvCxnSpPr>
              <a:stCxn id="15" idx="6"/>
              <a:endCxn id="13" idx="6"/>
            </p:cNvCxnSpPr>
            <p:nvPr/>
          </p:nvCxnSpPr>
          <p:spPr>
            <a:xfrm flipV="1">
              <a:off x="3923928" y="3673826"/>
              <a:ext cx="12700" cy="2419470"/>
            </a:xfrm>
            <a:prstGeom prst="bentConnector3">
              <a:avLst>
                <a:gd name="adj1" fmla="val 180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avec flèche 18"/>
            <p:cNvCxnSpPr>
              <a:stCxn id="14" idx="6"/>
              <a:endCxn id="12" idx="2"/>
            </p:cNvCxnSpPr>
            <p:nvPr/>
          </p:nvCxnSpPr>
          <p:spPr>
            <a:xfrm flipV="1">
              <a:off x="3923928" y="4077072"/>
              <a:ext cx="1080120" cy="8064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avec flèche 20"/>
            <p:cNvCxnSpPr>
              <a:stCxn id="12" idx="6"/>
              <a:endCxn id="5" idx="2"/>
            </p:cNvCxnSpPr>
            <p:nvPr/>
          </p:nvCxnSpPr>
          <p:spPr>
            <a:xfrm>
              <a:off x="5652120" y="4077072"/>
              <a:ext cx="72008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avec flèche 22"/>
            <p:cNvCxnSpPr>
              <a:stCxn id="13" idx="5"/>
              <a:endCxn id="11" idx="1"/>
            </p:cNvCxnSpPr>
            <p:nvPr/>
          </p:nvCxnSpPr>
          <p:spPr>
            <a:xfrm>
              <a:off x="3829020" y="3826578"/>
              <a:ext cx="1269936" cy="110585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ZoneTexte 23"/>
            <p:cNvSpPr txBox="1"/>
            <p:nvPr/>
          </p:nvSpPr>
          <p:spPr>
            <a:xfrm>
              <a:off x="2267744" y="4321898"/>
              <a:ext cx="13131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 smtClean="0">
                  <a:solidFill>
                    <a:srgbClr val="FF0000"/>
                  </a:solidFill>
                </a:rPr>
                <a:t>L={</a:t>
              </a:r>
              <a:r>
                <a:rPr lang="fr-FR" sz="1400" b="1" dirty="0" err="1" smtClean="0">
                  <a:solidFill>
                    <a:srgbClr val="FF0000"/>
                  </a:solidFill>
                </a:rPr>
                <a:t>Pair,sup3</a:t>
              </a:r>
              <a:r>
                <a:rPr lang="fr-FR" sz="1400" b="1" dirty="0" smtClean="0">
                  <a:solidFill>
                    <a:srgbClr val="FF0000"/>
                  </a:solidFill>
                </a:rPr>
                <a:t>}</a:t>
              </a:r>
              <a:endParaRPr lang="fr-FR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25" name="ZoneTexte 24"/>
            <p:cNvSpPr txBox="1"/>
            <p:nvPr/>
          </p:nvSpPr>
          <p:spPr>
            <a:xfrm>
              <a:off x="2339752" y="3169770"/>
              <a:ext cx="19479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 smtClean="0">
                  <a:solidFill>
                    <a:srgbClr val="FF0000"/>
                  </a:solidFill>
                </a:rPr>
                <a:t>L={</a:t>
              </a:r>
              <a:r>
                <a:rPr lang="fr-FR" sz="1400" b="1" dirty="0" err="1" smtClean="0">
                  <a:solidFill>
                    <a:srgbClr val="FF0000"/>
                  </a:solidFill>
                </a:rPr>
                <a:t>Impair,compr2_3</a:t>
              </a:r>
              <a:r>
                <a:rPr lang="fr-FR" sz="1400" b="1" dirty="0" smtClean="0">
                  <a:solidFill>
                    <a:srgbClr val="FF0000"/>
                  </a:solidFill>
                </a:rPr>
                <a:t>}</a:t>
              </a:r>
              <a:endParaRPr lang="fr-FR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26" name="ZoneTexte 25"/>
            <p:cNvSpPr txBox="1"/>
            <p:nvPr/>
          </p:nvSpPr>
          <p:spPr>
            <a:xfrm>
              <a:off x="4499992" y="3457802"/>
              <a:ext cx="174278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 smtClean="0">
                  <a:solidFill>
                    <a:srgbClr val="FF0000"/>
                  </a:solidFill>
                </a:rPr>
                <a:t>L={</a:t>
              </a:r>
              <a:r>
                <a:rPr lang="fr-FR" sz="1400" b="1" dirty="0" err="1" smtClean="0">
                  <a:solidFill>
                    <a:srgbClr val="FF0000"/>
                  </a:solidFill>
                </a:rPr>
                <a:t>Pair,compr2_3</a:t>
              </a:r>
              <a:r>
                <a:rPr lang="fr-FR" sz="1400" b="1" dirty="0" smtClean="0">
                  <a:solidFill>
                    <a:srgbClr val="FF0000"/>
                  </a:solidFill>
                </a:rPr>
                <a:t>}</a:t>
              </a:r>
              <a:endParaRPr lang="fr-FR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27" name="ZoneTexte 26"/>
            <p:cNvSpPr txBox="1"/>
            <p:nvPr/>
          </p:nvSpPr>
          <p:spPr>
            <a:xfrm>
              <a:off x="2411760" y="5589240"/>
              <a:ext cx="15183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 smtClean="0">
                  <a:solidFill>
                    <a:srgbClr val="FF0000"/>
                  </a:solidFill>
                </a:rPr>
                <a:t>L={</a:t>
              </a:r>
              <a:r>
                <a:rPr lang="fr-FR" sz="1400" b="1" dirty="0" err="1" smtClean="0">
                  <a:solidFill>
                    <a:srgbClr val="FF0000"/>
                  </a:solidFill>
                </a:rPr>
                <a:t>Impair,sup3</a:t>
              </a:r>
              <a:r>
                <a:rPr lang="fr-FR" sz="1400" b="1" dirty="0" smtClean="0">
                  <a:solidFill>
                    <a:srgbClr val="FF0000"/>
                  </a:solidFill>
                </a:rPr>
                <a:t>}</a:t>
              </a:r>
              <a:endParaRPr lang="fr-FR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28" name="ZoneTexte 27"/>
            <p:cNvSpPr txBox="1"/>
            <p:nvPr/>
          </p:nvSpPr>
          <p:spPr>
            <a:xfrm>
              <a:off x="4788024" y="5373216"/>
              <a:ext cx="14494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 smtClean="0">
                  <a:solidFill>
                    <a:srgbClr val="FF0000"/>
                  </a:solidFill>
                </a:rPr>
                <a:t>L={</a:t>
              </a:r>
              <a:r>
                <a:rPr lang="fr-FR" sz="1400" b="1" dirty="0" err="1" smtClean="0">
                  <a:solidFill>
                    <a:srgbClr val="FF0000"/>
                  </a:solidFill>
                </a:rPr>
                <a:t>Impair,inf2</a:t>
              </a:r>
              <a:r>
                <a:rPr lang="fr-FR" sz="1400" b="1" dirty="0" smtClean="0">
                  <a:solidFill>
                    <a:srgbClr val="FF0000"/>
                  </a:solidFill>
                </a:rPr>
                <a:t>}</a:t>
              </a:r>
              <a:endParaRPr lang="fr-FR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29" name="ZoneTexte 28"/>
            <p:cNvSpPr txBox="1"/>
            <p:nvPr/>
          </p:nvSpPr>
          <p:spPr>
            <a:xfrm>
              <a:off x="6588224" y="3501008"/>
              <a:ext cx="1244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 smtClean="0">
                  <a:solidFill>
                    <a:srgbClr val="FF0000"/>
                  </a:solidFill>
                </a:rPr>
                <a:t>L={</a:t>
              </a:r>
              <a:r>
                <a:rPr lang="fr-FR" sz="1400" b="1" dirty="0" err="1" smtClean="0">
                  <a:solidFill>
                    <a:srgbClr val="FF0000"/>
                  </a:solidFill>
                </a:rPr>
                <a:t>Pair,inf2</a:t>
              </a:r>
              <a:r>
                <a:rPr lang="fr-FR" sz="1400" b="1" dirty="0" smtClean="0">
                  <a:solidFill>
                    <a:srgbClr val="FF0000"/>
                  </a:solidFill>
                </a:rPr>
                <a:t>}</a:t>
              </a:r>
              <a:endParaRPr lang="fr-FR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31" name="ZoneTexte 30"/>
            <p:cNvSpPr txBox="1"/>
            <p:nvPr/>
          </p:nvSpPr>
          <p:spPr>
            <a:xfrm>
              <a:off x="1187624" y="4365104"/>
              <a:ext cx="11521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b="1" dirty="0" err="1" smtClean="0">
                  <a:solidFill>
                    <a:srgbClr val="FF0000"/>
                  </a:solidFill>
                </a:rPr>
                <a:t>Init</a:t>
              </a:r>
              <a:endParaRPr lang="fr-FR" sz="3600" b="1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Propriétés des structures de </a:t>
            </a:r>
            <a:r>
              <a:rPr lang="fr-FR" dirty="0" err="1" smtClean="0"/>
              <a:t>Kripke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smtClean="0"/>
              <a:t>La structure de </a:t>
            </a:r>
            <a:r>
              <a:rPr lang="fr-FR" dirty="0" err="1" smtClean="0"/>
              <a:t>Kripke</a:t>
            </a:r>
            <a:r>
              <a:rPr lang="fr-FR" dirty="0" smtClean="0"/>
              <a:t> est le plus souvent de bas niveau, car elle modélise tous les états possibles du systèmes (niveau d’abstraction bas)</a:t>
            </a:r>
          </a:p>
          <a:p>
            <a:endParaRPr lang="fr-FR" dirty="0" smtClean="0"/>
          </a:p>
          <a:p>
            <a:r>
              <a:rPr lang="fr-FR" dirty="0" smtClean="0"/>
              <a:t>Dans une structure de </a:t>
            </a:r>
            <a:r>
              <a:rPr lang="fr-FR" dirty="0" err="1" smtClean="0"/>
              <a:t>Kripke</a:t>
            </a:r>
            <a:r>
              <a:rPr lang="fr-FR" dirty="0" smtClean="0"/>
              <a:t>, les étiquettes de deux états sont distincts</a:t>
            </a:r>
          </a:p>
          <a:p>
            <a:endParaRPr lang="fr-FR" dirty="0" smtClean="0"/>
          </a:p>
          <a:p>
            <a:r>
              <a:rPr lang="fr-FR" dirty="0" smtClean="0"/>
              <a:t>Une structure de </a:t>
            </a:r>
            <a:r>
              <a:rPr lang="fr-FR" dirty="0" err="1" smtClean="0"/>
              <a:t>Kripke</a:t>
            </a:r>
            <a:r>
              <a:rPr lang="fr-FR" dirty="0" smtClean="0"/>
              <a:t> peut être infinie</a:t>
            </a:r>
          </a:p>
          <a:p>
            <a:endParaRPr lang="fr-FR" dirty="0" smtClean="0"/>
          </a:p>
          <a:p>
            <a:r>
              <a:rPr lang="fr-FR" dirty="0" smtClean="0"/>
              <a:t>Un chemin est une suite, finie ou infinie, d’états </a:t>
            </a:r>
            <a:r>
              <a:rPr lang="fr-FR" b="1" dirty="0" smtClean="0">
                <a:solidFill>
                  <a:srgbClr val="FF0000"/>
                </a:solidFill>
              </a:rPr>
              <a:t>q</a:t>
            </a:r>
            <a:r>
              <a:rPr lang="fr-FR" b="1" baseline="-25000" dirty="0" smtClean="0">
                <a:solidFill>
                  <a:srgbClr val="FF0000"/>
                </a:solidFill>
              </a:rPr>
              <a:t>0</a:t>
            </a:r>
            <a:r>
              <a:rPr lang="fr-FR" b="1" dirty="0" smtClean="0">
                <a:solidFill>
                  <a:srgbClr val="FF0000"/>
                </a:solidFill>
              </a:rPr>
              <a:t>,q</a:t>
            </a:r>
            <a:r>
              <a:rPr lang="fr-FR" b="1" baseline="-25000" dirty="0" smtClean="0">
                <a:solidFill>
                  <a:srgbClr val="FF0000"/>
                </a:solidFill>
              </a:rPr>
              <a:t>1</a:t>
            </a:r>
            <a:r>
              <a:rPr lang="fr-FR" b="1" dirty="0" smtClean="0">
                <a:solidFill>
                  <a:srgbClr val="FF0000"/>
                </a:solidFill>
              </a:rPr>
              <a:t>,q</a:t>
            </a:r>
            <a:r>
              <a:rPr lang="fr-FR" b="1" baseline="-25000" dirty="0" smtClean="0">
                <a:solidFill>
                  <a:srgbClr val="FF0000"/>
                </a:solidFill>
              </a:rPr>
              <a:t>2</a:t>
            </a:r>
            <a:r>
              <a:rPr lang="fr-FR" b="1" dirty="0" smtClean="0">
                <a:solidFill>
                  <a:srgbClr val="FF0000"/>
                </a:solidFill>
              </a:rPr>
              <a:t>,… </a:t>
            </a:r>
            <a:r>
              <a:rPr lang="fr-FR" dirty="0" smtClean="0"/>
              <a:t>tel que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i : (</a:t>
            </a:r>
            <a:r>
              <a:rPr lang="fr-FR" b="1" dirty="0" err="1" smtClean="0">
                <a:solidFill>
                  <a:srgbClr val="FF0000"/>
                </a:solidFill>
                <a:sym typeface="Symbol"/>
              </a:rPr>
              <a:t>q</a:t>
            </a:r>
            <a:r>
              <a:rPr lang="fr-FR" b="1" baseline="-25000" dirty="0" err="1" smtClean="0">
                <a:solidFill>
                  <a:srgbClr val="FF0000"/>
                </a:solidFill>
                <a:sym typeface="Symbol"/>
              </a:rPr>
              <a:t>i</a:t>
            </a:r>
            <a:r>
              <a:rPr lang="fr-FR" b="1" dirty="0" err="1" smtClean="0">
                <a:solidFill>
                  <a:srgbClr val="FF0000"/>
                </a:solidFill>
                <a:sym typeface="Symbol"/>
              </a:rPr>
              <a:t>,q</a:t>
            </a:r>
            <a:r>
              <a:rPr lang="fr-FR" b="1" baseline="-25000" dirty="0" err="1" smtClean="0">
                <a:solidFill>
                  <a:srgbClr val="FF0000"/>
                </a:solidFill>
                <a:sym typeface="Symbol"/>
              </a:rPr>
              <a:t>i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+1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)R</a:t>
            </a:r>
            <a:r>
              <a:rPr lang="fr-FR" dirty="0" smtClean="0">
                <a:sym typeface="Symbol"/>
              </a:rPr>
              <a:t> et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q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0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I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 de chemin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grpSp>
        <p:nvGrpSpPr>
          <p:cNvPr id="5" name="Groupe 4"/>
          <p:cNvGrpSpPr/>
          <p:nvPr/>
        </p:nvGrpSpPr>
        <p:grpSpPr>
          <a:xfrm>
            <a:off x="1475656" y="1844824"/>
            <a:ext cx="6068787" cy="3528392"/>
            <a:chOff x="1763688" y="2924944"/>
            <a:chExt cx="6068787" cy="3528392"/>
          </a:xfrm>
        </p:grpSpPr>
        <p:sp>
          <p:nvSpPr>
            <p:cNvPr id="6" name="Ellipse 5"/>
            <p:cNvSpPr/>
            <p:nvPr/>
          </p:nvSpPr>
          <p:spPr>
            <a:xfrm>
              <a:off x="1763688" y="2924944"/>
              <a:ext cx="3096344" cy="3528392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Ellipse 6"/>
            <p:cNvSpPr/>
            <p:nvPr/>
          </p:nvSpPr>
          <p:spPr>
            <a:xfrm>
              <a:off x="6372200" y="3861048"/>
              <a:ext cx="648072" cy="432048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b="1" dirty="0" smtClean="0">
                  <a:solidFill>
                    <a:schemeClr val="tx1"/>
                  </a:solidFill>
                </a:rPr>
                <a:t>X=0</a:t>
              </a:r>
              <a:endParaRPr lang="fr-FR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Ellipse 7"/>
            <p:cNvSpPr/>
            <p:nvPr/>
          </p:nvSpPr>
          <p:spPr>
            <a:xfrm>
              <a:off x="5004048" y="4869160"/>
              <a:ext cx="648072" cy="43204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b="1" dirty="0" smtClean="0">
                  <a:solidFill>
                    <a:schemeClr val="tx1"/>
                  </a:solidFill>
                </a:rPr>
                <a:t>X=1</a:t>
              </a:r>
              <a:endParaRPr lang="fr-FR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Ellipse 8"/>
            <p:cNvSpPr/>
            <p:nvPr/>
          </p:nvSpPr>
          <p:spPr>
            <a:xfrm>
              <a:off x="5004048" y="3861048"/>
              <a:ext cx="648072" cy="432048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b="1" dirty="0" smtClean="0">
                  <a:solidFill>
                    <a:schemeClr val="tx1"/>
                  </a:solidFill>
                </a:rPr>
                <a:t>X=2</a:t>
              </a:r>
              <a:endParaRPr lang="fr-FR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Ellipse 9"/>
            <p:cNvSpPr/>
            <p:nvPr/>
          </p:nvSpPr>
          <p:spPr>
            <a:xfrm>
              <a:off x="3275856" y="3457802"/>
              <a:ext cx="648072" cy="43204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b="1" dirty="0" smtClean="0">
                  <a:solidFill>
                    <a:schemeClr val="tx1"/>
                  </a:solidFill>
                </a:rPr>
                <a:t>X=3</a:t>
              </a:r>
              <a:endParaRPr lang="fr-FR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Ellipse 10"/>
            <p:cNvSpPr/>
            <p:nvPr/>
          </p:nvSpPr>
          <p:spPr>
            <a:xfrm>
              <a:off x="3275856" y="4667536"/>
              <a:ext cx="648072" cy="432048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b="1" dirty="0" smtClean="0">
                  <a:solidFill>
                    <a:schemeClr val="tx1"/>
                  </a:solidFill>
                </a:rPr>
                <a:t>X=4</a:t>
              </a:r>
              <a:endParaRPr lang="fr-FR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Ellipse 11"/>
            <p:cNvSpPr/>
            <p:nvPr/>
          </p:nvSpPr>
          <p:spPr>
            <a:xfrm>
              <a:off x="3275856" y="5877272"/>
              <a:ext cx="648072" cy="43204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b="1" dirty="0" smtClean="0">
                  <a:solidFill>
                    <a:schemeClr val="tx1"/>
                  </a:solidFill>
                </a:rPr>
                <a:t>X=5</a:t>
              </a:r>
              <a:endParaRPr lang="fr-FR" sz="11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Connecteur en angle 12"/>
            <p:cNvCxnSpPr>
              <a:stCxn id="12" idx="6"/>
              <a:endCxn id="10" idx="6"/>
            </p:cNvCxnSpPr>
            <p:nvPr/>
          </p:nvCxnSpPr>
          <p:spPr>
            <a:xfrm flipV="1">
              <a:off x="3923928" y="3673826"/>
              <a:ext cx="12700" cy="2419470"/>
            </a:xfrm>
            <a:prstGeom prst="bentConnector3">
              <a:avLst>
                <a:gd name="adj1" fmla="val 180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avec flèche 13"/>
            <p:cNvCxnSpPr>
              <a:stCxn id="11" idx="6"/>
              <a:endCxn id="9" idx="2"/>
            </p:cNvCxnSpPr>
            <p:nvPr/>
          </p:nvCxnSpPr>
          <p:spPr>
            <a:xfrm flipV="1">
              <a:off x="3923928" y="4077072"/>
              <a:ext cx="1080120" cy="806488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avec flèche 14"/>
            <p:cNvCxnSpPr>
              <a:stCxn id="9" idx="6"/>
              <a:endCxn id="7" idx="2"/>
            </p:cNvCxnSpPr>
            <p:nvPr/>
          </p:nvCxnSpPr>
          <p:spPr>
            <a:xfrm>
              <a:off x="5652120" y="4077072"/>
              <a:ext cx="720080" cy="0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avec flèche 15"/>
            <p:cNvCxnSpPr>
              <a:stCxn id="10" idx="5"/>
              <a:endCxn id="8" idx="1"/>
            </p:cNvCxnSpPr>
            <p:nvPr/>
          </p:nvCxnSpPr>
          <p:spPr>
            <a:xfrm>
              <a:off x="3829020" y="3826578"/>
              <a:ext cx="1269936" cy="110585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ZoneTexte 16"/>
            <p:cNvSpPr txBox="1"/>
            <p:nvPr/>
          </p:nvSpPr>
          <p:spPr>
            <a:xfrm>
              <a:off x="2267744" y="4321898"/>
              <a:ext cx="13131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 smtClean="0">
                  <a:solidFill>
                    <a:srgbClr val="FF0000"/>
                  </a:solidFill>
                </a:rPr>
                <a:t>L={</a:t>
              </a:r>
              <a:r>
                <a:rPr lang="fr-FR" sz="1400" b="1" dirty="0" err="1" smtClean="0">
                  <a:solidFill>
                    <a:srgbClr val="FF0000"/>
                  </a:solidFill>
                </a:rPr>
                <a:t>Pair,sup3</a:t>
              </a:r>
              <a:r>
                <a:rPr lang="fr-FR" sz="1400" b="1" dirty="0" smtClean="0">
                  <a:solidFill>
                    <a:srgbClr val="FF0000"/>
                  </a:solidFill>
                </a:rPr>
                <a:t>}</a:t>
              </a:r>
              <a:endParaRPr lang="fr-FR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18" name="ZoneTexte 17"/>
            <p:cNvSpPr txBox="1"/>
            <p:nvPr/>
          </p:nvSpPr>
          <p:spPr>
            <a:xfrm>
              <a:off x="2339752" y="3169770"/>
              <a:ext cx="19479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 smtClean="0">
                  <a:solidFill>
                    <a:srgbClr val="FF0000"/>
                  </a:solidFill>
                </a:rPr>
                <a:t>L={</a:t>
              </a:r>
              <a:r>
                <a:rPr lang="fr-FR" sz="1400" b="1" dirty="0" err="1" smtClean="0">
                  <a:solidFill>
                    <a:srgbClr val="FF0000"/>
                  </a:solidFill>
                </a:rPr>
                <a:t>Impair,compr2_3</a:t>
              </a:r>
              <a:r>
                <a:rPr lang="fr-FR" sz="1400" b="1" dirty="0" smtClean="0">
                  <a:solidFill>
                    <a:srgbClr val="FF0000"/>
                  </a:solidFill>
                </a:rPr>
                <a:t>}</a:t>
              </a:r>
              <a:endParaRPr lang="fr-FR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19" name="ZoneTexte 18"/>
            <p:cNvSpPr txBox="1"/>
            <p:nvPr/>
          </p:nvSpPr>
          <p:spPr>
            <a:xfrm>
              <a:off x="4499992" y="3457802"/>
              <a:ext cx="174278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 smtClean="0">
                  <a:solidFill>
                    <a:srgbClr val="FF0000"/>
                  </a:solidFill>
                </a:rPr>
                <a:t>L={</a:t>
              </a:r>
              <a:r>
                <a:rPr lang="fr-FR" sz="1400" b="1" dirty="0" err="1" smtClean="0">
                  <a:solidFill>
                    <a:srgbClr val="FF0000"/>
                  </a:solidFill>
                </a:rPr>
                <a:t>Pair,compr2_3</a:t>
              </a:r>
              <a:r>
                <a:rPr lang="fr-FR" sz="1400" b="1" dirty="0" smtClean="0">
                  <a:solidFill>
                    <a:srgbClr val="FF0000"/>
                  </a:solidFill>
                </a:rPr>
                <a:t>}</a:t>
              </a:r>
              <a:endParaRPr lang="fr-FR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20" name="ZoneTexte 19"/>
            <p:cNvSpPr txBox="1"/>
            <p:nvPr/>
          </p:nvSpPr>
          <p:spPr>
            <a:xfrm>
              <a:off x="2411760" y="5589240"/>
              <a:ext cx="15183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 smtClean="0">
                  <a:solidFill>
                    <a:srgbClr val="FF0000"/>
                  </a:solidFill>
                </a:rPr>
                <a:t>L={</a:t>
              </a:r>
              <a:r>
                <a:rPr lang="fr-FR" sz="1400" b="1" dirty="0" err="1" smtClean="0">
                  <a:solidFill>
                    <a:srgbClr val="FF0000"/>
                  </a:solidFill>
                </a:rPr>
                <a:t>Impair,sup3</a:t>
              </a:r>
              <a:r>
                <a:rPr lang="fr-FR" sz="1400" b="1" dirty="0" smtClean="0">
                  <a:solidFill>
                    <a:srgbClr val="FF0000"/>
                  </a:solidFill>
                </a:rPr>
                <a:t>}</a:t>
              </a:r>
              <a:endParaRPr lang="fr-FR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21" name="ZoneTexte 20"/>
            <p:cNvSpPr txBox="1"/>
            <p:nvPr/>
          </p:nvSpPr>
          <p:spPr>
            <a:xfrm>
              <a:off x="4788024" y="5373216"/>
              <a:ext cx="14494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 smtClean="0">
                  <a:solidFill>
                    <a:srgbClr val="FF0000"/>
                  </a:solidFill>
                </a:rPr>
                <a:t>L={</a:t>
              </a:r>
              <a:r>
                <a:rPr lang="fr-FR" sz="1400" b="1" dirty="0" err="1" smtClean="0">
                  <a:solidFill>
                    <a:srgbClr val="FF0000"/>
                  </a:solidFill>
                </a:rPr>
                <a:t>Impair,inf2</a:t>
              </a:r>
              <a:r>
                <a:rPr lang="fr-FR" sz="1400" b="1" dirty="0" smtClean="0">
                  <a:solidFill>
                    <a:srgbClr val="FF0000"/>
                  </a:solidFill>
                </a:rPr>
                <a:t>}</a:t>
              </a:r>
              <a:endParaRPr lang="fr-FR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22" name="ZoneTexte 21"/>
            <p:cNvSpPr txBox="1"/>
            <p:nvPr/>
          </p:nvSpPr>
          <p:spPr>
            <a:xfrm>
              <a:off x="6588224" y="3501008"/>
              <a:ext cx="1244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 smtClean="0">
                  <a:solidFill>
                    <a:srgbClr val="FF0000"/>
                  </a:solidFill>
                </a:rPr>
                <a:t>L={</a:t>
              </a:r>
              <a:r>
                <a:rPr lang="fr-FR" sz="1400" b="1" dirty="0" err="1" smtClean="0">
                  <a:solidFill>
                    <a:srgbClr val="FF0000"/>
                  </a:solidFill>
                </a:rPr>
                <a:t>Pair,inf2</a:t>
              </a:r>
              <a:r>
                <a:rPr lang="fr-FR" sz="1400" b="1" dirty="0" smtClean="0">
                  <a:solidFill>
                    <a:srgbClr val="FF0000"/>
                  </a:solidFill>
                </a:rPr>
                <a:t>}</a:t>
              </a:r>
              <a:endParaRPr lang="fr-FR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23" name="ZoneTexte 22"/>
            <p:cNvSpPr txBox="1"/>
            <p:nvPr/>
          </p:nvSpPr>
          <p:spPr>
            <a:xfrm>
              <a:off x="1763688" y="4365104"/>
              <a:ext cx="50405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b="1" dirty="0" smtClean="0">
                  <a:solidFill>
                    <a:srgbClr val="FF0000"/>
                  </a:solidFill>
                </a:rPr>
                <a:t>I</a:t>
              </a:r>
              <a:endParaRPr lang="fr-FR" sz="3600" b="1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La logique LTL : </a:t>
            </a:r>
            <a:r>
              <a:rPr lang="fr-FR" i="1" dirty="0" err="1" smtClean="0"/>
              <a:t>linear</a:t>
            </a:r>
            <a:r>
              <a:rPr lang="fr-FR" i="1" dirty="0" smtClean="0"/>
              <a:t> </a:t>
            </a:r>
            <a:r>
              <a:rPr lang="fr-FR" i="1" dirty="0" err="1" smtClean="0"/>
              <a:t>tomporal</a:t>
            </a:r>
            <a:r>
              <a:rPr lang="fr-FR" i="1" dirty="0" smtClean="0"/>
              <a:t> </a:t>
            </a:r>
            <a:r>
              <a:rPr lang="fr-FR" i="1" dirty="0" err="1" smtClean="0"/>
              <a:t>logic</a:t>
            </a:r>
            <a:endParaRPr lang="fr-FR" i="1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 smtClean="0"/>
              <a:t>Philosophie : le temps évolue linéairement</a:t>
            </a:r>
          </a:p>
          <a:p>
            <a:pPr lvl="1"/>
            <a:r>
              <a:rPr lang="fr-FR" dirty="0" smtClean="0"/>
              <a:t>Spécifie le comportement d’un seul chemin</a:t>
            </a:r>
          </a:p>
          <a:p>
            <a:pPr lvl="1"/>
            <a:r>
              <a:rPr lang="fr-FR" dirty="0" smtClean="0"/>
              <a:t>Une seule évolution est possible quelque soit l’état (déterminisme)</a:t>
            </a:r>
          </a:p>
          <a:p>
            <a:pPr lvl="1"/>
            <a:r>
              <a:rPr lang="fr-FR" dirty="0" smtClean="0"/>
              <a:t>Il n’y a pas de quantificateurs, mais toutes les formules sont considérées vraies si elles le sont pour chaque chemin (quantification implicite par </a:t>
            </a:r>
            <a:r>
              <a:rPr lang="fr-FR" b="1" dirty="0" smtClean="0">
                <a:solidFill>
                  <a:srgbClr val="FF0000"/>
                </a:solidFill>
              </a:rPr>
              <a:t>A</a:t>
            </a:r>
            <a:r>
              <a:rPr lang="fr-FR" dirty="0" smtClean="0"/>
              <a:t>)</a:t>
            </a:r>
          </a:p>
          <a:p>
            <a:endParaRPr lang="fr-FR" dirty="0" smtClean="0"/>
          </a:p>
          <a:p>
            <a:r>
              <a:rPr lang="fr-FR" dirty="0" smtClean="0"/>
              <a:t>Définition : soit un ensemble de propositions atomiques </a:t>
            </a:r>
            <a:r>
              <a:rPr lang="fr-FR" b="1" dirty="0" smtClean="0">
                <a:solidFill>
                  <a:srgbClr val="FF0000"/>
                </a:solidFill>
              </a:rPr>
              <a:t>AP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∀p ∈ AP </a:t>
            </a:r>
            <a:r>
              <a:rPr lang="fr-FR" dirty="0" smtClean="0"/>
              <a:t>: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est un formule LTL</a:t>
            </a:r>
          </a:p>
          <a:p>
            <a:pPr lvl="1"/>
            <a:r>
              <a:rPr lang="fr-FR" dirty="0" smtClean="0"/>
              <a:t>Si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et </a:t>
            </a:r>
            <a:r>
              <a:rPr lang="fr-FR" b="1" dirty="0" smtClean="0">
                <a:solidFill>
                  <a:srgbClr val="FF0000"/>
                </a:solidFill>
              </a:rPr>
              <a:t>q</a:t>
            </a:r>
            <a:r>
              <a:rPr lang="fr-FR" dirty="0" smtClean="0"/>
              <a:t> sont des formules LTL alors </a:t>
            </a:r>
            <a:r>
              <a:rPr lang="fr-FR" b="1" dirty="0" smtClean="0">
                <a:solidFill>
                  <a:srgbClr val="FF0000"/>
                </a:solidFill>
              </a:rPr>
              <a:t>p ∨ q </a:t>
            </a:r>
            <a:r>
              <a:rPr lang="fr-FR" dirty="0" smtClean="0"/>
              <a:t>et </a:t>
            </a:r>
            <a:r>
              <a:rPr lang="fr-FR" b="1" dirty="0" smtClean="0">
                <a:solidFill>
                  <a:srgbClr val="FF0000"/>
                </a:solidFill>
              </a:rPr>
              <a:t>￢p</a:t>
            </a:r>
            <a:r>
              <a:rPr lang="fr-FR" dirty="0" smtClean="0"/>
              <a:t> le sont également</a:t>
            </a:r>
          </a:p>
          <a:p>
            <a:pPr lvl="1"/>
            <a:r>
              <a:rPr lang="fr-FR" dirty="0" smtClean="0"/>
              <a:t>si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et </a:t>
            </a:r>
            <a:r>
              <a:rPr lang="fr-FR" b="1" dirty="0" smtClean="0">
                <a:solidFill>
                  <a:srgbClr val="FF0000"/>
                </a:solidFill>
              </a:rPr>
              <a:t>q</a:t>
            </a:r>
            <a:r>
              <a:rPr lang="fr-FR" dirty="0" smtClean="0"/>
              <a:t> sont des formules LTL alors </a:t>
            </a:r>
            <a:r>
              <a:rPr lang="fr-FR" b="1" dirty="0" smtClean="0">
                <a:solidFill>
                  <a:srgbClr val="FF0000"/>
                </a:solidFill>
              </a:rPr>
              <a:t>X p</a:t>
            </a:r>
            <a:r>
              <a:rPr lang="fr-FR" dirty="0" smtClean="0"/>
              <a:t> et </a:t>
            </a:r>
            <a:r>
              <a:rPr lang="fr-FR" b="1" dirty="0" smtClean="0">
                <a:solidFill>
                  <a:srgbClr val="FF0000"/>
                </a:solidFill>
              </a:rPr>
              <a:t>p U q </a:t>
            </a:r>
            <a:r>
              <a:rPr lang="fr-FR" dirty="0" smtClean="0"/>
              <a:t>le sont également</a:t>
            </a:r>
          </a:p>
          <a:p>
            <a:endParaRPr lang="fr-FR" dirty="0" smtClean="0"/>
          </a:p>
          <a:p>
            <a:r>
              <a:rPr lang="fr-FR" dirty="0" smtClean="0"/>
              <a:t>Les autres opérateurs sont dérivés à partir de ceux-là (notamment </a:t>
            </a:r>
            <a:r>
              <a:rPr lang="fr-FR" b="1" dirty="0" smtClean="0">
                <a:solidFill>
                  <a:srgbClr val="FF0000"/>
                </a:solidFill>
              </a:rPr>
              <a:t>F</a:t>
            </a:r>
            <a:r>
              <a:rPr lang="fr-FR" dirty="0" smtClean="0"/>
              <a:t> et </a:t>
            </a:r>
            <a:r>
              <a:rPr lang="fr-FR" b="1" dirty="0" smtClean="0">
                <a:solidFill>
                  <a:srgbClr val="FF0000"/>
                </a:solidFill>
              </a:rPr>
              <a:t>G</a:t>
            </a:r>
            <a:r>
              <a:rPr lang="fr-FR" dirty="0" smtClean="0"/>
              <a:t>)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Sémantique LTL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Étant donnée une structure de </a:t>
            </a:r>
            <a:r>
              <a:rPr lang="fr-FR" dirty="0" err="1" smtClean="0"/>
              <a:t>Kripke</a:t>
            </a:r>
            <a:r>
              <a:rPr lang="fr-FR" dirty="0" smtClean="0"/>
              <a:t> </a:t>
            </a:r>
            <a:r>
              <a:rPr lang="fr-FR" b="1" dirty="0" smtClean="0">
                <a:solidFill>
                  <a:srgbClr val="FF0000"/>
                </a:solidFill>
              </a:rPr>
              <a:t>(W,R, I,L)</a:t>
            </a:r>
            <a:r>
              <a:rPr lang="fr-FR" dirty="0" smtClean="0"/>
              <a:t>, on considère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=s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0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s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1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s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2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…</a:t>
            </a:r>
            <a:r>
              <a:rPr lang="fr-FR" dirty="0" smtClean="0">
                <a:sym typeface="Symbol"/>
              </a:rPr>
              <a:t> un chemin fini ou infini</a:t>
            </a:r>
          </a:p>
          <a:p>
            <a:endParaRPr lang="fr-FR" dirty="0" smtClean="0">
              <a:sym typeface="Symbol"/>
            </a:endParaRPr>
          </a:p>
          <a:p>
            <a:r>
              <a:rPr lang="fr-FR" dirty="0" smtClean="0">
                <a:sym typeface="Symbol"/>
              </a:rPr>
              <a:t>On s’intéresse aux conditions de satisfaction des formules LTL :</a:t>
            </a:r>
            <a:endParaRPr lang="fr-FR" dirty="0" smtClean="0"/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σ, i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⊨</a:t>
            </a:r>
            <a:r>
              <a:rPr lang="fr-FR" b="1" dirty="0" smtClean="0">
                <a:solidFill>
                  <a:srgbClr val="FF0000"/>
                </a:solidFill>
              </a:rPr>
              <a:t>p </a:t>
            </a:r>
            <a:r>
              <a:rPr lang="fr-FR" dirty="0" smtClean="0"/>
              <a:t>équivaut à </a:t>
            </a:r>
            <a:r>
              <a:rPr lang="fr-FR" b="1" dirty="0" smtClean="0">
                <a:solidFill>
                  <a:srgbClr val="FF0000"/>
                </a:solidFill>
              </a:rPr>
              <a:t>p ∈ L(s</a:t>
            </a:r>
            <a:r>
              <a:rPr lang="fr-FR" b="1" baseline="-25000" dirty="0" smtClean="0">
                <a:solidFill>
                  <a:srgbClr val="FF0000"/>
                </a:solidFill>
              </a:rPr>
              <a:t>i</a:t>
            </a:r>
            <a:r>
              <a:rPr lang="fr-FR" b="1" dirty="0" smtClean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σ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⊨</a:t>
            </a:r>
            <a:r>
              <a:rPr lang="fr-FR" b="1" dirty="0" smtClean="0">
                <a:solidFill>
                  <a:srgbClr val="FF0000"/>
                </a:solidFill>
              </a:rPr>
              <a:t> p </a:t>
            </a:r>
            <a:r>
              <a:rPr lang="fr-FR" dirty="0" smtClean="0"/>
              <a:t>équivaut à </a:t>
            </a:r>
            <a:r>
              <a:rPr lang="fr-FR" b="1" dirty="0" smtClean="0">
                <a:solidFill>
                  <a:srgbClr val="FF0000"/>
                </a:solidFill>
              </a:rPr>
              <a:t>σ, 0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⊨</a:t>
            </a:r>
            <a:r>
              <a:rPr lang="fr-FR" b="1" dirty="0" smtClean="0">
                <a:solidFill>
                  <a:srgbClr val="FF0000"/>
                </a:solidFill>
              </a:rPr>
              <a:t> p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σ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⊨</a:t>
            </a:r>
            <a:r>
              <a:rPr lang="fr-FR" b="1" dirty="0" smtClean="0">
                <a:solidFill>
                  <a:srgbClr val="FF0000"/>
                </a:solidFill>
              </a:rPr>
              <a:t> ￢p </a:t>
            </a:r>
            <a:r>
              <a:rPr lang="fr-FR" dirty="0" smtClean="0"/>
              <a:t>équivaut à </a:t>
            </a:r>
            <a:r>
              <a:rPr lang="fr-FR" b="1" dirty="0" smtClean="0">
                <a:solidFill>
                  <a:srgbClr val="FF0000"/>
                </a:solidFill>
              </a:rPr>
              <a:t>σ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⊭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σ, i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⊨</a:t>
            </a:r>
            <a:r>
              <a:rPr lang="fr-FR" b="1" dirty="0" smtClean="0">
                <a:solidFill>
                  <a:srgbClr val="FF0000"/>
                </a:solidFill>
              </a:rPr>
              <a:t> Xp </a:t>
            </a:r>
            <a:r>
              <a:rPr lang="fr-FR" dirty="0" smtClean="0"/>
              <a:t>équivaut à </a:t>
            </a:r>
            <a:r>
              <a:rPr lang="fr-FR" b="1" dirty="0" smtClean="0">
                <a:solidFill>
                  <a:srgbClr val="FF0000"/>
                </a:solidFill>
              </a:rPr>
              <a:t>σ, i+1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⊨</a:t>
            </a:r>
            <a:r>
              <a:rPr lang="fr-FR" b="1" dirty="0" smtClean="0">
                <a:solidFill>
                  <a:srgbClr val="FF0000"/>
                </a:solidFill>
              </a:rPr>
              <a:t> p</a:t>
            </a:r>
          </a:p>
          <a:p>
            <a:pPr lvl="1"/>
            <a:r>
              <a:rPr lang="el-GR" b="1" dirty="0" smtClean="0">
                <a:solidFill>
                  <a:srgbClr val="FF0000"/>
                </a:solidFill>
              </a:rPr>
              <a:t>σ, </a:t>
            </a:r>
            <a:r>
              <a:rPr lang="fr-FR" b="1" dirty="0" smtClean="0">
                <a:solidFill>
                  <a:srgbClr val="FF0000"/>
                </a:solidFill>
              </a:rPr>
              <a:t>i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⊨</a:t>
            </a:r>
            <a:r>
              <a:rPr lang="fr-FR" b="1" dirty="0" smtClean="0">
                <a:solidFill>
                  <a:srgbClr val="FF0000"/>
                </a:solidFill>
              </a:rPr>
              <a:t> </a:t>
            </a:r>
            <a:r>
              <a:rPr lang="fr-FR" b="1" dirty="0" err="1" smtClean="0">
                <a:solidFill>
                  <a:srgbClr val="FF0000"/>
                </a:solidFill>
              </a:rPr>
              <a:t>Fp</a:t>
            </a:r>
            <a:r>
              <a:rPr lang="fr-FR" b="1" dirty="0" smtClean="0">
                <a:solidFill>
                  <a:srgbClr val="FF0000"/>
                </a:solidFill>
              </a:rPr>
              <a:t> </a:t>
            </a:r>
            <a:r>
              <a:rPr lang="fr-FR" dirty="0" smtClean="0"/>
              <a:t>équivaut à </a:t>
            </a:r>
            <a:r>
              <a:rPr lang="fr-FR" b="1" dirty="0" smtClean="0">
                <a:solidFill>
                  <a:srgbClr val="FF0000"/>
                </a:solidFill>
              </a:rPr>
              <a:t>∃j : j ≥ i ∧ </a:t>
            </a:r>
            <a:r>
              <a:rPr lang="el-GR" b="1" dirty="0" smtClean="0">
                <a:solidFill>
                  <a:srgbClr val="FF0000"/>
                </a:solidFill>
              </a:rPr>
              <a:t>σ, </a:t>
            </a:r>
            <a:r>
              <a:rPr lang="fr-FR" b="1" dirty="0" smtClean="0">
                <a:solidFill>
                  <a:srgbClr val="FF0000"/>
                </a:solidFill>
              </a:rPr>
              <a:t>j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⊨</a:t>
            </a:r>
            <a:r>
              <a:rPr lang="fr-FR" b="1" dirty="0" smtClean="0">
                <a:solidFill>
                  <a:srgbClr val="FF0000"/>
                </a:solidFill>
              </a:rPr>
              <a:t> p</a:t>
            </a:r>
          </a:p>
          <a:p>
            <a:pPr lvl="1"/>
            <a:r>
              <a:rPr lang="el-GR" b="1" dirty="0" smtClean="0">
                <a:solidFill>
                  <a:srgbClr val="FF0000"/>
                </a:solidFill>
              </a:rPr>
              <a:t>σ, </a:t>
            </a:r>
            <a:r>
              <a:rPr lang="fr-FR" b="1" dirty="0" smtClean="0">
                <a:solidFill>
                  <a:srgbClr val="FF0000"/>
                </a:solidFill>
              </a:rPr>
              <a:t>i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⊨</a:t>
            </a:r>
            <a:r>
              <a:rPr lang="fr-FR" b="1" dirty="0" smtClean="0">
                <a:solidFill>
                  <a:srgbClr val="FF0000"/>
                </a:solidFill>
              </a:rPr>
              <a:t> </a:t>
            </a:r>
            <a:r>
              <a:rPr lang="fr-FR" b="1" dirty="0" err="1" smtClean="0">
                <a:solidFill>
                  <a:srgbClr val="FF0000"/>
                </a:solidFill>
              </a:rPr>
              <a:t>pUq</a:t>
            </a:r>
            <a:r>
              <a:rPr lang="fr-FR" b="1" dirty="0" smtClean="0">
                <a:solidFill>
                  <a:srgbClr val="FF0000"/>
                </a:solidFill>
              </a:rPr>
              <a:t> </a:t>
            </a:r>
            <a:r>
              <a:rPr lang="fr-FR" dirty="0" smtClean="0"/>
              <a:t>équivaut à </a:t>
            </a:r>
            <a:r>
              <a:rPr lang="fr-FR" b="1" dirty="0" smtClean="0">
                <a:solidFill>
                  <a:srgbClr val="FF0000"/>
                </a:solidFill>
              </a:rPr>
              <a:t>∃</a:t>
            </a:r>
            <a:r>
              <a:rPr lang="fr-FR" b="1" dirty="0" err="1" smtClean="0">
                <a:solidFill>
                  <a:srgbClr val="FF0000"/>
                </a:solidFill>
              </a:rPr>
              <a:t>j∀k</a:t>
            </a:r>
            <a:r>
              <a:rPr lang="fr-FR" b="1" dirty="0" smtClean="0">
                <a:solidFill>
                  <a:srgbClr val="FF0000"/>
                </a:solidFill>
              </a:rPr>
              <a:t> : j &gt; i ∧ j &gt; k ≥ i ∧ </a:t>
            </a:r>
            <a:r>
              <a:rPr lang="el-GR" b="1" dirty="0" smtClean="0">
                <a:solidFill>
                  <a:srgbClr val="FF0000"/>
                </a:solidFill>
              </a:rPr>
              <a:t>σ, </a:t>
            </a:r>
            <a:r>
              <a:rPr lang="fr-FR" b="1" dirty="0" smtClean="0">
                <a:solidFill>
                  <a:srgbClr val="FF0000"/>
                </a:solidFill>
              </a:rPr>
              <a:t>k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⊨</a:t>
            </a:r>
            <a:r>
              <a:rPr lang="fr-FR" b="1" dirty="0" smtClean="0">
                <a:solidFill>
                  <a:srgbClr val="FF0000"/>
                </a:solidFill>
              </a:rPr>
              <a:t> p ∧ </a:t>
            </a:r>
            <a:r>
              <a:rPr lang="el-GR" b="1" dirty="0" smtClean="0">
                <a:solidFill>
                  <a:srgbClr val="FF0000"/>
                </a:solidFill>
              </a:rPr>
              <a:t>σ, </a:t>
            </a:r>
            <a:r>
              <a:rPr lang="fr-FR" b="1" dirty="0" smtClean="0">
                <a:solidFill>
                  <a:srgbClr val="FF0000"/>
                </a:solidFill>
              </a:rPr>
              <a:t>j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⊨</a:t>
            </a:r>
            <a:r>
              <a:rPr lang="fr-FR" b="1" dirty="0" smtClean="0">
                <a:solidFill>
                  <a:srgbClr val="FF0000"/>
                </a:solidFill>
              </a:rPr>
              <a:t> q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La logique CTL : </a:t>
            </a:r>
            <a:r>
              <a:rPr lang="fr-FR" i="1" dirty="0" smtClean="0"/>
              <a:t>computation </a:t>
            </a:r>
            <a:r>
              <a:rPr lang="fr-FR" i="1" dirty="0" err="1" smtClean="0"/>
              <a:t>tree</a:t>
            </a:r>
            <a:r>
              <a:rPr lang="fr-FR" i="1" dirty="0" smtClean="0"/>
              <a:t> </a:t>
            </a:r>
            <a:r>
              <a:rPr lang="fr-FR" i="1" dirty="0" err="1" smtClean="0"/>
              <a:t>logic</a:t>
            </a:r>
            <a:endParaRPr lang="fr-FR" i="1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842248" cy="4572000"/>
          </a:xfrm>
        </p:spPr>
        <p:txBody>
          <a:bodyPr>
            <a:normAutofit fontScale="77500" lnSpcReduction="20000"/>
          </a:bodyPr>
          <a:lstStyle/>
          <a:p>
            <a:r>
              <a:rPr lang="fr-FR" dirty="0" smtClean="0"/>
              <a:t>Cette logique prend en considération l’ensemble des exécutions possibles</a:t>
            </a:r>
          </a:p>
          <a:p>
            <a:pPr lvl="1"/>
            <a:r>
              <a:rPr lang="fr-FR" dirty="0" smtClean="0"/>
              <a:t>Plusieurs possibilités d’évolution sont possibles (non déterminisme)</a:t>
            </a:r>
          </a:p>
          <a:p>
            <a:pPr lvl="1"/>
            <a:r>
              <a:rPr lang="fr-FR" dirty="0" smtClean="0"/>
              <a:t>Utilisation des quantificateurs </a:t>
            </a:r>
            <a:r>
              <a:rPr lang="fr-FR" b="1" dirty="0" smtClean="0">
                <a:solidFill>
                  <a:srgbClr val="FF0000"/>
                </a:solidFill>
              </a:rPr>
              <a:t>A</a:t>
            </a:r>
            <a:r>
              <a:rPr lang="fr-FR" dirty="0" smtClean="0"/>
              <a:t> et </a:t>
            </a:r>
            <a:r>
              <a:rPr lang="fr-FR" b="1" dirty="0" smtClean="0">
                <a:solidFill>
                  <a:srgbClr val="FF0000"/>
                </a:solidFill>
              </a:rPr>
              <a:t>E</a:t>
            </a:r>
          </a:p>
          <a:p>
            <a:endParaRPr lang="fr-FR" dirty="0" smtClean="0"/>
          </a:p>
          <a:p>
            <a:r>
              <a:rPr lang="fr-FR" dirty="0" smtClean="0"/>
              <a:t>Soit un ensemble de propositions atomiques </a:t>
            </a:r>
            <a:r>
              <a:rPr lang="fr-FR" b="1" dirty="0" smtClean="0">
                <a:solidFill>
                  <a:srgbClr val="FF0000"/>
                </a:solidFill>
              </a:rPr>
              <a:t>AP</a:t>
            </a:r>
            <a:r>
              <a:rPr lang="fr-FR" dirty="0" smtClean="0"/>
              <a:t>, les formules CTL sont</a:t>
            </a:r>
          </a:p>
          <a:p>
            <a:r>
              <a:rPr lang="fr-FR" dirty="0" smtClean="0"/>
              <a:t>les formules d’états telles que :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∀p ∈ AP </a:t>
            </a:r>
            <a:r>
              <a:rPr lang="fr-FR" dirty="0" smtClean="0"/>
              <a:t>: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est une formule d’état</a:t>
            </a:r>
          </a:p>
          <a:p>
            <a:pPr lvl="1"/>
            <a:r>
              <a:rPr lang="fr-FR" dirty="0" smtClean="0"/>
              <a:t>Si </a:t>
            </a:r>
            <a:r>
              <a:rPr lang="fr-FR" b="1" dirty="0" smtClean="0">
                <a:solidFill>
                  <a:srgbClr val="FF0000"/>
                </a:solidFill>
              </a:rPr>
              <a:t>p, q </a:t>
            </a:r>
            <a:r>
              <a:rPr lang="fr-FR" dirty="0" smtClean="0"/>
              <a:t>sont des formules d’états alors </a:t>
            </a:r>
            <a:r>
              <a:rPr lang="fr-FR" b="1" dirty="0" smtClean="0">
                <a:solidFill>
                  <a:srgbClr val="FF0000"/>
                </a:solidFill>
              </a:rPr>
              <a:t>p ∨ q </a:t>
            </a:r>
            <a:r>
              <a:rPr lang="fr-FR" dirty="0" smtClean="0"/>
              <a:t>et </a:t>
            </a:r>
            <a:r>
              <a:rPr lang="fr-FR" b="1" dirty="0" smtClean="0">
                <a:solidFill>
                  <a:srgbClr val="FF0000"/>
                </a:solidFill>
              </a:rPr>
              <a:t>￢p</a:t>
            </a:r>
            <a:r>
              <a:rPr lang="fr-FR" dirty="0" smtClean="0"/>
              <a:t> le sont également</a:t>
            </a:r>
          </a:p>
          <a:p>
            <a:pPr lvl="1"/>
            <a:r>
              <a:rPr lang="fr-FR" dirty="0" smtClean="0"/>
              <a:t>Si </a:t>
            </a:r>
            <a:r>
              <a:rPr lang="fr-FR" b="1" dirty="0" smtClean="0">
                <a:solidFill>
                  <a:srgbClr val="FF0000"/>
                </a:solidFill>
              </a:rPr>
              <a:t>p, q </a:t>
            </a:r>
            <a:r>
              <a:rPr lang="fr-FR" dirty="0" smtClean="0"/>
              <a:t>sont des formules d’états alors </a:t>
            </a:r>
            <a:r>
              <a:rPr lang="fr-FR" b="1" dirty="0" smtClean="0">
                <a:solidFill>
                  <a:srgbClr val="FF0000"/>
                </a:solidFill>
              </a:rPr>
              <a:t>X p</a:t>
            </a:r>
            <a:r>
              <a:rPr lang="fr-FR" dirty="0" smtClean="0"/>
              <a:t> et </a:t>
            </a:r>
            <a:r>
              <a:rPr lang="fr-FR" b="1" dirty="0" smtClean="0">
                <a:solidFill>
                  <a:srgbClr val="FF0000"/>
                </a:solidFill>
              </a:rPr>
              <a:t>p U q </a:t>
            </a:r>
            <a:r>
              <a:rPr lang="fr-FR" dirty="0" smtClean="0"/>
              <a:t>sont des formules de chemins</a:t>
            </a:r>
          </a:p>
          <a:p>
            <a:pPr lvl="1"/>
            <a:r>
              <a:rPr lang="fr-FR" dirty="0" smtClean="0"/>
              <a:t>Si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est une formule de chemin, alors </a:t>
            </a:r>
            <a:r>
              <a:rPr lang="fr-FR" b="1" dirty="0" smtClean="0">
                <a:solidFill>
                  <a:srgbClr val="FF0000"/>
                </a:solidFill>
              </a:rPr>
              <a:t>E p </a:t>
            </a:r>
            <a:r>
              <a:rPr lang="fr-FR" dirty="0" smtClean="0"/>
              <a:t>et </a:t>
            </a:r>
            <a:r>
              <a:rPr lang="fr-FR" b="1" dirty="0" smtClean="0">
                <a:solidFill>
                  <a:srgbClr val="FF0000"/>
                </a:solidFill>
              </a:rPr>
              <a:t>A p </a:t>
            </a:r>
            <a:r>
              <a:rPr lang="fr-FR" dirty="0" smtClean="0"/>
              <a:t>sont des formules d’états</a:t>
            </a:r>
          </a:p>
          <a:p>
            <a:endParaRPr lang="fr-FR" dirty="0" smtClean="0"/>
          </a:p>
          <a:p>
            <a:r>
              <a:rPr lang="fr-FR" dirty="0" smtClean="0"/>
              <a:t>On doit alterner </a:t>
            </a:r>
            <a:r>
              <a:rPr lang="fr-FR" b="1" dirty="0" smtClean="0">
                <a:solidFill>
                  <a:srgbClr val="FF0000"/>
                </a:solidFill>
              </a:rPr>
              <a:t>A</a:t>
            </a:r>
            <a:r>
              <a:rPr lang="fr-FR" dirty="0" smtClean="0"/>
              <a:t>, </a:t>
            </a:r>
            <a:r>
              <a:rPr lang="fr-FR" dirty="0" smtClean="0">
                <a:solidFill>
                  <a:srgbClr val="FF0000"/>
                </a:solidFill>
              </a:rPr>
              <a:t>E</a:t>
            </a:r>
            <a:r>
              <a:rPr lang="fr-FR" dirty="0" smtClean="0"/>
              <a:t> et </a:t>
            </a:r>
            <a:r>
              <a:rPr lang="fr-FR" b="1" dirty="0" smtClean="0">
                <a:solidFill>
                  <a:srgbClr val="FF0000"/>
                </a:solidFill>
              </a:rPr>
              <a:t>F</a:t>
            </a:r>
            <a:r>
              <a:rPr lang="fr-FR" dirty="0" smtClean="0"/>
              <a:t>, </a:t>
            </a:r>
            <a:r>
              <a:rPr lang="fr-FR" b="1" dirty="0" smtClean="0">
                <a:solidFill>
                  <a:srgbClr val="FF0000"/>
                </a:solidFill>
              </a:rPr>
              <a:t>G</a:t>
            </a:r>
            <a:r>
              <a:rPr lang="fr-FR" dirty="0" smtClean="0"/>
              <a:t> !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Sémantique CTL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fr-FR" dirty="0" smtClean="0"/>
              <a:t>Étant donnée une structure de </a:t>
            </a:r>
            <a:r>
              <a:rPr lang="fr-FR" dirty="0" err="1" smtClean="0"/>
              <a:t>Kripke</a:t>
            </a:r>
            <a:r>
              <a:rPr lang="fr-FR" dirty="0" smtClean="0"/>
              <a:t> </a:t>
            </a:r>
            <a:r>
              <a:rPr lang="fr-FR" b="1" dirty="0" smtClean="0">
                <a:solidFill>
                  <a:srgbClr val="FF0000"/>
                </a:solidFill>
              </a:rPr>
              <a:t>M=(W,R, I,L)</a:t>
            </a:r>
            <a:r>
              <a:rPr lang="fr-FR" dirty="0" smtClean="0"/>
              <a:t>, o</a:t>
            </a:r>
            <a:r>
              <a:rPr lang="fr-FR" dirty="0" smtClean="0">
                <a:sym typeface="Symbol"/>
              </a:rPr>
              <a:t>n s’intéresse aux conditions de satisfaction des formules CTL (on ne peut pas se baser sur les chemins ici) :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M, s ⊨ p </a:t>
            </a:r>
            <a:r>
              <a:rPr lang="fr-FR" dirty="0" smtClean="0"/>
              <a:t>équivaut à </a:t>
            </a:r>
            <a:r>
              <a:rPr lang="fr-FR" b="1" dirty="0" smtClean="0">
                <a:solidFill>
                  <a:srgbClr val="FF0000"/>
                </a:solidFill>
              </a:rPr>
              <a:t>p ∈ L(s) </a:t>
            </a:r>
            <a:r>
              <a:rPr lang="fr-FR" dirty="0" smtClean="0"/>
              <a:t>(exécution à partir de 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dirty="0" smtClean="0"/>
              <a:t>)</a:t>
            </a:r>
          </a:p>
          <a:p>
            <a:pPr lvl="1"/>
            <a:r>
              <a:rPr lang="pt-BR" b="1" dirty="0" smtClean="0">
                <a:solidFill>
                  <a:srgbClr val="FF0000"/>
                </a:solidFill>
              </a:rPr>
              <a:t>M, s ⊨ ￢φ </a:t>
            </a:r>
            <a:r>
              <a:rPr lang="pt-BR" dirty="0" smtClean="0"/>
              <a:t>équivaut à </a:t>
            </a:r>
            <a:r>
              <a:rPr lang="pt-BR" b="1" dirty="0" smtClean="0">
                <a:solidFill>
                  <a:srgbClr val="FF0000"/>
                </a:solidFill>
              </a:rPr>
              <a:t>M, s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⊭</a:t>
            </a:r>
            <a:r>
              <a:rPr lang="pt-BR" b="1" dirty="0" smtClean="0">
                <a:solidFill>
                  <a:srgbClr val="FF0000"/>
                </a:solidFill>
              </a:rPr>
              <a:t>φ</a:t>
            </a:r>
          </a:p>
          <a:p>
            <a:pPr lvl="1"/>
            <a:r>
              <a:rPr lang="pt-BR" b="1" dirty="0" smtClean="0">
                <a:solidFill>
                  <a:srgbClr val="FF0000"/>
                </a:solidFill>
              </a:rPr>
              <a:t>M, s⊨ φ</a:t>
            </a:r>
            <a:r>
              <a:rPr lang="pt-BR" b="1" baseline="-25000" dirty="0" smtClean="0">
                <a:solidFill>
                  <a:srgbClr val="FF0000"/>
                </a:solidFill>
              </a:rPr>
              <a:t>1</a:t>
            </a:r>
            <a:r>
              <a:rPr lang="pt-BR" b="1" dirty="0" smtClean="0">
                <a:solidFill>
                  <a:srgbClr val="FF0000"/>
                </a:solidFill>
              </a:rPr>
              <a:t> ∧ φ</a:t>
            </a:r>
            <a:r>
              <a:rPr lang="pt-BR" b="1" baseline="-25000" dirty="0" smtClean="0">
                <a:solidFill>
                  <a:srgbClr val="FF0000"/>
                </a:solidFill>
              </a:rPr>
              <a:t>2</a:t>
            </a:r>
            <a:r>
              <a:rPr lang="pt-BR" b="1" dirty="0" smtClean="0">
                <a:solidFill>
                  <a:srgbClr val="FF0000"/>
                </a:solidFill>
              </a:rPr>
              <a:t> </a:t>
            </a:r>
            <a:r>
              <a:rPr lang="pt-BR" dirty="0" smtClean="0"/>
              <a:t>équivaut à </a:t>
            </a:r>
            <a:r>
              <a:rPr lang="pt-BR" b="1" dirty="0" smtClean="0">
                <a:solidFill>
                  <a:srgbClr val="FF0000"/>
                </a:solidFill>
              </a:rPr>
              <a:t>M, s ⊨ φ</a:t>
            </a:r>
            <a:r>
              <a:rPr lang="pt-BR" b="1" baseline="-25000" dirty="0" smtClean="0">
                <a:solidFill>
                  <a:srgbClr val="FF0000"/>
                </a:solidFill>
              </a:rPr>
              <a:t>1</a:t>
            </a:r>
            <a:r>
              <a:rPr lang="pt-BR" b="1" dirty="0" smtClean="0">
                <a:solidFill>
                  <a:srgbClr val="FF0000"/>
                </a:solidFill>
              </a:rPr>
              <a:t> </a:t>
            </a:r>
            <a:r>
              <a:rPr lang="pt-BR" dirty="0" smtClean="0"/>
              <a:t>et </a:t>
            </a:r>
            <a:r>
              <a:rPr lang="pt-BR" b="1" dirty="0" smtClean="0">
                <a:solidFill>
                  <a:srgbClr val="FF0000"/>
                </a:solidFill>
              </a:rPr>
              <a:t>M, s ⊨ φ</a:t>
            </a:r>
            <a:r>
              <a:rPr lang="pt-BR" b="1" baseline="-25000" dirty="0" smtClean="0">
                <a:solidFill>
                  <a:srgbClr val="FF0000"/>
                </a:solidFill>
              </a:rPr>
              <a:t>2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M, s ⊨ EX</a:t>
            </a:r>
            <a:r>
              <a:rPr lang="el-GR" b="1" dirty="0" smtClean="0">
                <a:solidFill>
                  <a:srgbClr val="FF0000"/>
                </a:solidFill>
              </a:rPr>
              <a:t>φ </a:t>
            </a:r>
            <a:r>
              <a:rPr lang="fr-FR" dirty="0" smtClean="0"/>
              <a:t>équivaut à </a:t>
            </a:r>
            <a:r>
              <a:rPr lang="fr-FR" b="1" dirty="0" smtClean="0">
                <a:solidFill>
                  <a:srgbClr val="FF0000"/>
                </a:solidFill>
              </a:rPr>
              <a:t>∃s′ ∈ W : </a:t>
            </a:r>
            <a:r>
              <a:rPr lang="fr-FR" b="1" dirty="0" err="1" smtClean="0">
                <a:solidFill>
                  <a:srgbClr val="FF0000"/>
                </a:solidFill>
              </a:rPr>
              <a:t>sRs</a:t>
            </a:r>
            <a:r>
              <a:rPr lang="fr-FR" b="1" dirty="0" smtClean="0">
                <a:solidFill>
                  <a:srgbClr val="FF0000"/>
                </a:solidFill>
              </a:rPr>
              <a:t>′ ∧M, s′ ⊨ </a:t>
            </a:r>
            <a:r>
              <a:rPr lang="el-GR" b="1" dirty="0" smtClean="0">
                <a:solidFill>
                  <a:srgbClr val="FF0000"/>
                </a:solidFill>
              </a:rPr>
              <a:t>φ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M, s ⊨ </a:t>
            </a:r>
            <a:r>
              <a:rPr lang="fr-FR" b="1" dirty="0" err="1" smtClean="0">
                <a:solidFill>
                  <a:srgbClr val="FF0000"/>
                </a:solidFill>
              </a:rPr>
              <a:t>EGφ</a:t>
            </a:r>
            <a:r>
              <a:rPr lang="fr-FR" b="1" dirty="0" smtClean="0">
                <a:solidFill>
                  <a:srgbClr val="FF0000"/>
                </a:solidFill>
              </a:rPr>
              <a:t> </a:t>
            </a:r>
            <a:r>
              <a:rPr lang="fr-FR" dirty="0" smtClean="0"/>
              <a:t>équivaut à : il existe un chemin infini 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b="1" baseline="-25000" dirty="0" smtClean="0">
                <a:solidFill>
                  <a:srgbClr val="FF0000"/>
                </a:solidFill>
              </a:rPr>
              <a:t>0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b="1" baseline="-25000" dirty="0" smtClean="0">
                <a:solidFill>
                  <a:srgbClr val="FF0000"/>
                </a:solidFill>
              </a:rPr>
              <a:t>1</a:t>
            </a:r>
            <a:r>
              <a:rPr lang="fr-FR" b="1" dirty="0" smtClean="0">
                <a:solidFill>
                  <a:srgbClr val="FF0000"/>
                </a:solidFill>
              </a:rPr>
              <a:t>... </a:t>
            </a:r>
            <a:r>
              <a:rPr lang="fr-FR" dirty="0" smtClean="0"/>
              <a:t>tel que </a:t>
            </a:r>
            <a:r>
              <a:rPr lang="fr-FR" b="1" dirty="0" smtClean="0">
                <a:solidFill>
                  <a:srgbClr val="FF0000"/>
                </a:solidFill>
              </a:rPr>
              <a:t>s = s</a:t>
            </a:r>
            <a:r>
              <a:rPr lang="fr-FR" b="1" baseline="-25000" dirty="0" smtClean="0">
                <a:solidFill>
                  <a:srgbClr val="FF0000"/>
                </a:solidFill>
              </a:rPr>
              <a:t>0</a:t>
            </a:r>
            <a:r>
              <a:rPr lang="fr-FR" b="1" dirty="0" smtClean="0">
                <a:solidFill>
                  <a:srgbClr val="FF0000"/>
                </a:solidFill>
              </a:rPr>
              <a:t> </a:t>
            </a:r>
            <a:r>
              <a:rPr lang="fr-FR" dirty="0" smtClean="0"/>
              <a:t>et pour chaque </a:t>
            </a:r>
            <a:r>
              <a:rPr lang="fr-FR" b="1" dirty="0" smtClean="0">
                <a:solidFill>
                  <a:srgbClr val="FF0000"/>
                </a:solidFill>
              </a:rPr>
              <a:t>k ≥ 0, M, </a:t>
            </a:r>
            <a:r>
              <a:rPr lang="fr-FR" b="1" dirty="0" err="1" smtClean="0">
                <a:solidFill>
                  <a:srgbClr val="FF0000"/>
                </a:solidFill>
              </a:rPr>
              <a:t>s</a:t>
            </a:r>
            <a:r>
              <a:rPr lang="fr-FR" b="1" baseline="-25000" dirty="0" err="1" smtClean="0">
                <a:solidFill>
                  <a:srgbClr val="FF0000"/>
                </a:solidFill>
              </a:rPr>
              <a:t>k</a:t>
            </a:r>
            <a:r>
              <a:rPr lang="fr-FR" b="1" dirty="0" smtClean="0">
                <a:solidFill>
                  <a:srgbClr val="FF0000"/>
                </a:solidFill>
              </a:rPr>
              <a:t> ⊨ </a:t>
            </a:r>
            <a:r>
              <a:rPr lang="el-GR" b="1" dirty="0" smtClean="0">
                <a:solidFill>
                  <a:srgbClr val="FF0000"/>
                </a:solidFill>
              </a:rPr>
              <a:t>φ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M, s ⊨ E(</a:t>
            </a:r>
            <a:r>
              <a:rPr lang="el-GR" b="1" dirty="0" smtClean="0">
                <a:solidFill>
                  <a:srgbClr val="FF0000"/>
                </a:solidFill>
              </a:rPr>
              <a:t>φ1</a:t>
            </a:r>
            <a:r>
              <a:rPr lang="fr-FR" b="1" dirty="0" smtClean="0">
                <a:solidFill>
                  <a:srgbClr val="FF0000"/>
                </a:solidFill>
              </a:rPr>
              <a:t>U</a:t>
            </a:r>
            <a:r>
              <a:rPr lang="el-GR" b="1" dirty="0" smtClean="0">
                <a:solidFill>
                  <a:srgbClr val="FF0000"/>
                </a:solidFill>
              </a:rPr>
              <a:t>φ2) </a:t>
            </a:r>
            <a:r>
              <a:rPr lang="fr-FR" dirty="0" smtClean="0"/>
              <a:t>équivaut à : il existe un chemin infini 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b="1" baseline="-25000" dirty="0" smtClean="0">
                <a:solidFill>
                  <a:srgbClr val="FF0000"/>
                </a:solidFill>
              </a:rPr>
              <a:t>0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b="1" baseline="-25000" dirty="0" smtClean="0">
                <a:solidFill>
                  <a:srgbClr val="FF0000"/>
                </a:solidFill>
              </a:rPr>
              <a:t>1</a:t>
            </a:r>
            <a:r>
              <a:rPr lang="fr-FR" b="1" dirty="0" smtClean="0">
                <a:solidFill>
                  <a:srgbClr val="FF0000"/>
                </a:solidFill>
              </a:rPr>
              <a:t>... </a:t>
            </a:r>
            <a:r>
              <a:rPr lang="fr-FR" dirty="0" smtClean="0"/>
              <a:t>tel que </a:t>
            </a:r>
            <a:r>
              <a:rPr lang="fr-FR" b="1" dirty="0" smtClean="0">
                <a:solidFill>
                  <a:srgbClr val="FF0000"/>
                </a:solidFill>
              </a:rPr>
              <a:t>s = s</a:t>
            </a:r>
            <a:r>
              <a:rPr lang="fr-FR" b="1" baseline="-25000" dirty="0" smtClean="0">
                <a:solidFill>
                  <a:srgbClr val="FF0000"/>
                </a:solidFill>
              </a:rPr>
              <a:t>0</a:t>
            </a:r>
            <a:r>
              <a:rPr lang="fr-FR" b="1" dirty="0" smtClean="0">
                <a:solidFill>
                  <a:srgbClr val="FF0000"/>
                </a:solidFill>
              </a:rPr>
              <a:t>, ∃k ≥ 0 </a:t>
            </a:r>
            <a:r>
              <a:rPr lang="fr-FR" dirty="0" smtClean="0"/>
              <a:t>vérifiant </a:t>
            </a:r>
            <a:r>
              <a:rPr lang="fr-FR" b="1" dirty="0" smtClean="0">
                <a:solidFill>
                  <a:srgbClr val="FF0000"/>
                </a:solidFill>
              </a:rPr>
              <a:t>M, </a:t>
            </a:r>
            <a:r>
              <a:rPr lang="fr-FR" b="1" dirty="0" err="1" smtClean="0">
                <a:solidFill>
                  <a:srgbClr val="FF0000"/>
                </a:solidFill>
              </a:rPr>
              <a:t>s</a:t>
            </a:r>
            <a:r>
              <a:rPr lang="fr-FR" b="1" baseline="-25000" dirty="0" err="1" smtClean="0">
                <a:solidFill>
                  <a:srgbClr val="FF0000"/>
                </a:solidFill>
              </a:rPr>
              <a:t>k</a:t>
            </a:r>
            <a:r>
              <a:rPr lang="fr-FR" b="1" dirty="0" smtClean="0">
                <a:solidFill>
                  <a:srgbClr val="FF0000"/>
                </a:solidFill>
              </a:rPr>
              <a:t> ⊨ φ</a:t>
            </a:r>
            <a:r>
              <a:rPr lang="fr-FR" b="1" baseline="-25000" dirty="0" smtClean="0">
                <a:solidFill>
                  <a:srgbClr val="FF0000"/>
                </a:solidFill>
              </a:rPr>
              <a:t>2</a:t>
            </a:r>
            <a:r>
              <a:rPr lang="fr-FR" b="1" dirty="0" smtClean="0">
                <a:solidFill>
                  <a:srgbClr val="FF0000"/>
                </a:solidFill>
              </a:rPr>
              <a:t> </a:t>
            </a:r>
            <a:r>
              <a:rPr lang="fr-FR" dirty="0" smtClean="0"/>
              <a:t>et pour chaque </a:t>
            </a:r>
            <a:r>
              <a:rPr lang="fr-FR" b="1" dirty="0" smtClean="0">
                <a:solidFill>
                  <a:srgbClr val="FF0000"/>
                </a:solidFill>
              </a:rPr>
              <a:t>0 ≤ i &lt; k </a:t>
            </a:r>
            <a:r>
              <a:rPr lang="fr-FR" dirty="0" smtClean="0"/>
              <a:t>on a : </a:t>
            </a:r>
            <a:br>
              <a:rPr lang="fr-FR" dirty="0" smtClean="0"/>
            </a:br>
            <a:r>
              <a:rPr lang="fr-FR" b="1" dirty="0" smtClean="0">
                <a:solidFill>
                  <a:srgbClr val="FF0000"/>
                </a:solidFill>
              </a:rPr>
              <a:t>M, s</a:t>
            </a:r>
            <a:r>
              <a:rPr lang="fr-FR" b="1" baseline="-25000" dirty="0" smtClean="0">
                <a:solidFill>
                  <a:srgbClr val="FF0000"/>
                </a:solidFill>
              </a:rPr>
              <a:t>i</a:t>
            </a:r>
            <a:r>
              <a:rPr lang="fr-FR" b="1" dirty="0" smtClean="0">
                <a:solidFill>
                  <a:srgbClr val="FF0000"/>
                </a:solidFill>
              </a:rPr>
              <a:t> ⊨ φ</a:t>
            </a:r>
            <a:r>
              <a:rPr lang="fr-FR" b="1" baseline="-25000" dirty="0" smtClean="0">
                <a:solidFill>
                  <a:srgbClr val="FF0000"/>
                </a:solidFill>
              </a:rPr>
              <a:t>1</a:t>
            </a:r>
            <a:endParaRPr lang="fr-FR" b="1" baseline="-25000" dirty="0" smtClean="0">
              <a:solidFill>
                <a:srgbClr val="FF0000"/>
              </a:solidFill>
              <a:sym typeface="Symbo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Quelques propriétés CTL communes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Invariant : </a:t>
            </a:r>
            <a:r>
              <a:rPr lang="fr-FR" b="1" dirty="0" smtClean="0">
                <a:solidFill>
                  <a:srgbClr val="FF0000"/>
                </a:solidFill>
              </a:rPr>
              <a:t>AG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</a:t>
            </a:r>
            <a:endParaRPr lang="fr-FR" b="1" dirty="0" smtClean="0">
              <a:solidFill>
                <a:srgbClr val="FF0000"/>
              </a:solidFill>
            </a:endParaRPr>
          </a:p>
          <a:p>
            <a:r>
              <a:rPr lang="fr-FR" dirty="0" smtClean="0"/>
              <a:t>Absence globale : </a:t>
            </a:r>
            <a:r>
              <a:rPr lang="fr-FR" b="1" dirty="0" smtClean="0">
                <a:solidFill>
                  <a:srgbClr val="FF0000"/>
                </a:solidFill>
              </a:rPr>
              <a:t>AG￢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</a:t>
            </a:r>
            <a:endParaRPr lang="fr-FR" b="1" dirty="0" smtClean="0">
              <a:solidFill>
                <a:srgbClr val="FF0000"/>
              </a:solidFill>
            </a:endParaRPr>
          </a:p>
          <a:p>
            <a:r>
              <a:rPr lang="fr-FR" dirty="0" smtClean="0"/>
              <a:t>Existence inévitable : </a:t>
            </a:r>
            <a:r>
              <a:rPr lang="fr-FR" b="1" dirty="0" smtClean="0">
                <a:solidFill>
                  <a:srgbClr val="FF0000"/>
                </a:solidFill>
              </a:rPr>
              <a:t>AF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</a:t>
            </a:r>
            <a:endParaRPr lang="fr-FR" b="1" dirty="0" smtClean="0">
              <a:solidFill>
                <a:srgbClr val="FF0000"/>
              </a:solidFill>
            </a:endParaRPr>
          </a:p>
          <a:p>
            <a:r>
              <a:rPr lang="fr-FR" dirty="0" smtClean="0"/>
              <a:t>Absence postérieure : </a:t>
            </a:r>
            <a:r>
              <a:rPr lang="fr-FR" b="1" dirty="0" smtClean="0">
                <a:solidFill>
                  <a:srgbClr val="FF0000"/>
                </a:solidFill>
              </a:rPr>
              <a:t>AG(</a:t>
            </a:r>
            <a:r>
              <a:rPr lang="el-GR" b="1" dirty="0" smtClean="0">
                <a:solidFill>
                  <a:srgbClr val="FF0000"/>
                </a:solidFill>
              </a:rPr>
              <a:t>ψ</a:t>
            </a:r>
            <a:r>
              <a:rPr lang="fr-FR" b="1" dirty="0" smtClean="0">
                <a:solidFill>
                  <a:srgbClr val="FF0000"/>
                </a:solidFill>
              </a:rPr>
              <a:t>⇒ AG￢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</a:t>
            </a:r>
            <a:r>
              <a:rPr lang="fr-FR" b="1" dirty="0" smtClean="0">
                <a:solidFill>
                  <a:srgbClr val="FF0000"/>
                </a:solidFill>
              </a:rPr>
              <a:t>)</a:t>
            </a:r>
          </a:p>
          <a:p>
            <a:r>
              <a:rPr lang="fr-FR" dirty="0" smtClean="0"/>
              <a:t>Déclenchement : </a:t>
            </a:r>
            <a:r>
              <a:rPr lang="fr-FR" b="1" dirty="0" smtClean="0">
                <a:solidFill>
                  <a:srgbClr val="FF0000"/>
                </a:solidFill>
              </a:rPr>
              <a:t>AG(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</a:t>
            </a:r>
            <a:r>
              <a:rPr lang="fr-FR" b="1" dirty="0" smtClean="0">
                <a:solidFill>
                  <a:srgbClr val="FF0000"/>
                </a:solidFill>
              </a:rPr>
              <a:t>⇒ AF </a:t>
            </a:r>
            <a:r>
              <a:rPr lang="el-GR" b="1" dirty="0" smtClean="0">
                <a:solidFill>
                  <a:srgbClr val="FF0000"/>
                </a:solidFill>
              </a:rPr>
              <a:t>ψ</a:t>
            </a:r>
            <a:r>
              <a:rPr lang="fr-FR" b="1" dirty="0" smtClean="0">
                <a:solidFill>
                  <a:srgbClr val="FF0000"/>
                </a:solidFill>
              </a:rPr>
              <a:t>)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Pouvoir d’expression LTL vs CTL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 smtClean="0"/>
              <a:t>En LTL, on ne peut pas exprimer des propriétés comme </a:t>
            </a:r>
            <a:r>
              <a:rPr lang="fr-FR" b="1" dirty="0" smtClean="0">
                <a:solidFill>
                  <a:srgbClr val="FF0000"/>
                </a:solidFill>
              </a:rPr>
              <a:t>AG</a:t>
            </a:r>
            <a:r>
              <a:rPr lang="fr-FR" dirty="0" smtClean="0"/>
              <a:t> (</a:t>
            </a:r>
            <a:r>
              <a:rPr lang="fr-FR" b="1" dirty="0" smtClean="0">
                <a:solidFill>
                  <a:srgbClr val="FF0000"/>
                </a:solidFill>
              </a:rPr>
              <a:t>EF p</a:t>
            </a:r>
            <a:r>
              <a:rPr lang="fr-FR" dirty="0" smtClean="0"/>
              <a:t>) : utilisation très limitée des quantificateurs</a:t>
            </a:r>
          </a:p>
          <a:p>
            <a:endParaRPr lang="fr-FR" dirty="0" smtClean="0"/>
          </a:p>
          <a:p>
            <a:r>
              <a:rPr lang="fr-FR" dirty="0" smtClean="0"/>
              <a:t>Propriété d’équité : toutes les transitions ont la même chance d’être franchies </a:t>
            </a:r>
          </a:p>
          <a:p>
            <a:pPr lvl="1"/>
            <a:r>
              <a:rPr lang="fr-FR" dirty="0" smtClean="0"/>
              <a:t>Soit </a:t>
            </a:r>
            <a:r>
              <a:rPr lang="fr-FR" b="1" dirty="0" smtClean="0">
                <a:solidFill>
                  <a:srgbClr val="FF0000"/>
                </a:solidFill>
              </a:rPr>
              <a:t>a</a:t>
            </a:r>
            <a:r>
              <a:rPr lang="fr-FR" dirty="0" smtClean="0"/>
              <a:t> une action pouvant être exécutée par le système</a:t>
            </a:r>
          </a:p>
          <a:p>
            <a:pPr lvl="1"/>
            <a:r>
              <a:rPr lang="fr-FR" dirty="0" smtClean="0"/>
              <a:t>En LTL :</a:t>
            </a:r>
          </a:p>
          <a:p>
            <a:pPr lvl="2"/>
            <a:r>
              <a:rPr lang="fr-FR" dirty="0" smtClean="0"/>
              <a:t>Équité faible : </a:t>
            </a:r>
            <a:r>
              <a:rPr lang="fr-FR" b="1" dirty="0" smtClean="0">
                <a:solidFill>
                  <a:srgbClr val="FF0000"/>
                </a:solidFill>
              </a:rPr>
              <a:t>FG </a:t>
            </a:r>
            <a:r>
              <a:rPr lang="fr-FR" b="1" dirty="0" err="1" smtClean="0">
                <a:solidFill>
                  <a:srgbClr val="FF0000"/>
                </a:solidFill>
              </a:rPr>
              <a:t>enabled</a:t>
            </a:r>
            <a:r>
              <a:rPr lang="fr-FR" b="1" dirty="0" smtClean="0">
                <a:solidFill>
                  <a:srgbClr val="FF0000"/>
                </a:solidFill>
              </a:rPr>
              <a:t>(t) ⇒ GF </a:t>
            </a:r>
            <a:r>
              <a:rPr lang="fr-FR" b="1" dirty="0" err="1" smtClean="0">
                <a:solidFill>
                  <a:srgbClr val="FF0000"/>
                </a:solidFill>
              </a:rPr>
              <a:t>exec</a:t>
            </a:r>
            <a:r>
              <a:rPr lang="fr-FR" b="1" dirty="0" smtClean="0">
                <a:solidFill>
                  <a:srgbClr val="FF0000"/>
                </a:solidFill>
              </a:rPr>
              <a:t>(t)</a:t>
            </a:r>
          </a:p>
          <a:p>
            <a:pPr lvl="2"/>
            <a:r>
              <a:rPr lang="fr-FR" dirty="0" smtClean="0"/>
              <a:t>Équité forte : </a:t>
            </a:r>
            <a:r>
              <a:rPr lang="fr-FR" b="1" dirty="0" smtClean="0">
                <a:solidFill>
                  <a:srgbClr val="FF0000"/>
                </a:solidFill>
              </a:rPr>
              <a:t>GF </a:t>
            </a:r>
            <a:r>
              <a:rPr lang="fr-FR" b="1" dirty="0" err="1" smtClean="0">
                <a:solidFill>
                  <a:srgbClr val="FF0000"/>
                </a:solidFill>
              </a:rPr>
              <a:t>enabled</a:t>
            </a:r>
            <a:r>
              <a:rPr lang="fr-FR" b="1" dirty="0" smtClean="0">
                <a:solidFill>
                  <a:srgbClr val="FF0000"/>
                </a:solidFill>
              </a:rPr>
              <a:t>(t) ⇒ GF </a:t>
            </a:r>
            <a:r>
              <a:rPr lang="fr-FR" b="1" dirty="0" err="1" smtClean="0">
                <a:solidFill>
                  <a:srgbClr val="FF0000"/>
                </a:solidFill>
              </a:rPr>
              <a:t>exec</a:t>
            </a:r>
            <a:r>
              <a:rPr lang="fr-FR" b="1" dirty="0" smtClean="0">
                <a:solidFill>
                  <a:srgbClr val="FF0000"/>
                </a:solidFill>
              </a:rPr>
              <a:t>(t)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En CTL : c’est impossible ! (on ne pas emboîter F et G)</a:t>
            </a:r>
          </a:p>
          <a:p>
            <a:endParaRPr lang="fr-FR" dirty="0" smtClean="0"/>
          </a:p>
          <a:p>
            <a:pPr lvl="1"/>
            <a:r>
              <a:rPr lang="fr-FR" dirty="0" smtClean="0"/>
              <a:t>Solution :</a:t>
            </a:r>
          </a:p>
          <a:p>
            <a:pPr lvl="2"/>
            <a:r>
              <a:rPr lang="fr-FR" dirty="0" err="1" smtClean="0"/>
              <a:t>fair</a:t>
            </a:r>
            <a:r>
              <a:rPr lang="fr-FR" dirty="0" smtClean="0"/>
              <a:t> CTL : CTL avec une sémantique </a:t>
            </a:r>
            <a:r>
              <a:rPr lang="fr-FR" dirty="0" err="1" smtClean="0"/>
              <a:t>fair</a:t>
            </a:r>
            <a:r>
              <a:rPr lang="fr-FR" dirty="0" smtClean="0"/>
              <a:t> (équitable) (implémentée en SMV)</a:t>
            </a:r>
          </a:p>
          <a:p>
            <a:pPr lvl="2"/>
            <a:r>
              <a:rPr lang="fr-FR" dirty="0" smtClean="0"/>
              <a:t>CTL*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Notions avancées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Logiques temporelles probabilistes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3486128"/>
          </a:xfrm>
        </p:spPr>
        <p:txBody>
          <a:bodyPr>
            <a:normAutofit lnSpcReduction="10000"/>
          </a:bodyPr>
          <a:lstStyle/>
          <a:p>
            <a:r>
              <a:rPr lang="fr-FR" sz="2000" dirty="0" smtClean="0"/>
              <a:t>La logique de prédicats et son extension temporelle ne gèrent pas </a:t>
            </a:r>
          </a:p>
          <a:p>
            <a:pPr lvl="1"/>
            <a:r>
              <a:rPr lang="fr-FR" sz="1800" dirty="0" smtClean="0"/>
              <a:t>L’incertitude</a:t>
            </a:r>
          </a:p>
          <a:p>
            <a:pPr lvl="1"/>
            <a:r>
              <a:rPr lang="fr-FR" sz="1800" dirty="0" smtClean="0"/>
              <a:t>Le non-déterminisme avec des chances non égales</a:t>
            </a:r>
          </a:p>
          <a:p>
            <a:endParaRPr lang="fr-FR" sz="2000" dirty="0" smtClean="0"/>
          </a:p>
          <a:p>
            <a:r>
              <a:rPr lang="fr-FR" sz="2000" dirty="0" smtClean="0"/>
              <a:t>Exemple :</a:t>
            </a:r>
          </a:p>
          <a:p>
            <a:pPr lvl="1"/>
            <a:r>
              <a:rPr lang="fr-FR" sz="1800" dirty="0" smtClean="0"/>
              <a:t>On dispose d’une pièce non biaisée</a:t>
            </a:r>
          </a:p>
          <a:p>
            <a:pPr lvl="2"/>
            <a:r>
              <a:rPr lang="fr-FR" sz="1600" dirty="0" smtClean="0"/>
              <a:t>Probabilité de pile=probabilité de face=0.5</a:t>
            </a:r>
          </a:p>
          <a:p>
            <a:pPr lvl="2"/>
            <a:endParaRPr lang="fr-FR" sz="1600" dirty="0" smtClean="0"/>
          </a:p>
          <a:p>
            <a:pPr lvl="1"/>
            <a:r>
              <a:rPr lang="fr-FR" sz="1800" dirty="0" smtClean="0"/>
              <a:t>On veut construire un système capable de simuler un dé</a:t>
            </a:r>
          </a:p>
          <a:p>
            <a:pPr lvl="2"/>
            <a:r>
              <a:rPr lang="fr-FR" sz="1600" dirty="0" smtClean="0"/>
              <a:t>Obtenir aléatoirement un nombre de 1 à 6 avec une probabilité de 1/6 chacun</a:t>
            </a:r>
          </a:p>
          <a:p>
            <a:pPr lvl="2"/>
            <a:r>
              <a:rPr lang="fr-FR" sz="1600" dirty="0" smtClean="0"/>
              <a:t>De surcroît, on veut minimiser le nombre de lancée de la pièce</a:t>
            </a:r>
          </a:p>
        </p:txBody>
      </p:sp>
      <p:grpSp>
        <p:nvGrpSpPr>
          <p:cNvPr id="9" name="Groupe 8"/>
          <p:cNvGrpSpPr/>
          <p:nvPr/>
        </p:nvGrpSpPr>
        <p:grpSpPr>
          <a:xfrm>
            <a:off x="2075444" y="5078997"/>
            <a:ext cx="4512780" cy="1301207"/>
            <a:chOff x="1427372" y="5078997"/>
            <a:chExt cx="4512780" cy="1301207"/>
          </a:xfrm>
        </p:grpSpPr>
        <p:sp>
          <p:nvSpPr>
            <p:cNvPr id="5" name="Ellipse 4"/>
            <p:cNvSpPr/>
            <p:nvPr/>
          </p:nvSpPr>
          <p:spPr>
            <a:xfrm rot="1416190">
              <a:off x="1427372" y="5078997"/>
              <a:ext cx="1279032" cy="1105100"/>
            </a:xfrm>
            <a:prstGeom prst="ellipse">
              <a:avLst/>
            </a:prstGeom>
            <a:ln w="34925">
              <a:solidFill>
                <a:srgbClr val="FFFFFF"/>
              </a:solidFill>
            </a:ln>
            <a:effectLst>
              <a:outerShdw blurRad="317500" dir="2700000" algn="ctr">
                <a:srgbClr val="000000">
                  <a:alpha val="43000"/>
                </a:srgbClr>
              </a:outerShdw>
            </a:effectLst>
            <a:scene3d>
              <a:camera prst="perspectiveFront" fov="2700000">
                <a:rot lat="19086000" lon="19067999" rev="3108000"/>
              </a:camera>
              <a:lightRig rig="sunset" dir="t"/>
            </a:scene3d>
            <a:sp3d extrusionH="38100" prstMaterial="metal">
              <a:bevelT w="260350" h="50800" prst="softRound"/>
              <a:bevelB prst="softRound"/>
            </a:sp3d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8000" dirty="0" smtClean="0"/>
                <a:t>1</a:t>
              </a:r>
              <a:endParaRPr lang="fr-FR" sz="8000" dirty="0"/>
            </a:p>
          </p:txBody>
        </p:sp>
        <p:pic>
          <p:nvPicPr>
            <p:cNvPr id="16387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770090" y="5085184"/>
              <a:ext cx="1170062" cy="12950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8" name="Flèche droite 7"/>
            <p:cNvSpPr/>
            <p:nvPr/>
          </p:nvSpPr>
          <p:spPr>
            <a:xfrm>
              <a:off x="3275856" y="5445224"/>
              <a:ext cx="1368152" cy="504056"/>
            </a:xfrm>
            <a:prstGeom prst="rightArrow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Logiques temporelles probabilistes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710264"/>
          </a:xfrm>
        </p:spPr>
        <p:txBody>
          <a:bodyPr>
            <a:normAutofit fontScale="85000" lnSpcReduction="20000"/>
          </a:bodyPr>
          <a:lstStyle/>
          <a:p>
            <a:r>
              <a:rPr lang="fr-FR" dirty="0" smtClean="0"/>
              <a:t>Deuxième exemple :</a:t>
            </a:r>
          </a:p>
          <a:p>
            <a:pPr lvl="1"/>
            <a:r>
              <a:rPr lang="fr-FR" dirty="0" smtClean="0"/>
              <a:t>Dans un service donné, l’employé reçoit des clients qui arrivent à des intervalles aléatoires suivant une certaine loi de probabilité (le plus souvent loi exponentielle)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Lorsque le serveur est occupé, si d’autres clients arrivent, alors ils attendent. La durée du service est également aléatoire (suivant une loi de probabilité)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Un distributeur sert soit du café, soit du thé. On a constaté qu’un client qui a bu du thé </a:t>
            </a:r>
            <a:r>
              <a:rPr lang="fr-FR" dirty="0" smtClean="0"/>
              <a:t>devient </a:t>
            </a:r>
            <a:r>
              <a:rPr lang="fr-FR" dirty="0" smtClean="0"/>
              <a:t>plus patient (</a:t>
            </a:r>
            <a:r>
              <a:rPr lang="fr-FR" dirty="0" smtClean="0"/>
              <a:t>il accepte </a:t>
            </a:r>
            <a:r>
              <a:rPr lang="fr-FR" dirty="0" smtClean="0"/>
              <a:t>une durée d’attente assez longue).  Chaque client a droit à une seule boisson. Le thé coûte deux fois plus cher que le café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Problèmes :</a:t>
            </a:r>
          </a:p>
          <a:p>
            <a:pPr lvl="2"/>
            <a:r>
              <a:rPr lang="fr-FR" dirty="0" smtClean="0"/>
              <a:t>Modéliser le système du distributeur</a:t>
            </a:r>
          </a:p>
          <a:p>
            <a:pPr lvl="2"/>
            <a:r>
              <a:rPr lang="fr-FR" dirty="0" smtClean="0"/>
              <a:t>Faire en sorte que le coût de boisson soit minimal</a:t>
            </a:r>
            <a:endParaRPr lang="fr-FR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Logiques temporelles probabilistes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854280"/>
          </a:xfrm>
        </p:spPr>
        <p:txBody>
          <a:bodyPr>
            <a:normAutofit fontScale="85000" lnSpcReduction="20000"/>
          </a:bodyPr>
          <a:lstStyle/>
          <a:p>
            <a:r>
              <a:rPr lang="fr-FR" dirty="0" smtClean="0"/>
              <a:t>Les deux exemples illustrent :</a:t>
            </a:r>
          </a:p>
          <a:p>
            <a:pPr lvl="1"/>
            <a:r>
              <a:rPr lang="fr-FR" dirty="0" smtClean="0"/>
              <a:t>L’insuffisance des logiques classiques à modéliser certains systèmes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La modélisation vise parfois à optimiser un critère, chose qui n’est pas facile à gérer avec la logique classique</a:t>
            </a:r>
          </a:p>
          <a:p>
            <a:endParaRPr lang="fr-FR" dirty="0" smtClean="0"/>
          </a:p>
          <a:p>
            <a:r>
              <a:rPr lang="fr-FR" dirty="0" smtClean="0"/>
              <a:t>Différence :</a:t>
            </a:r>
          </a:p>
          <a:p>
            <a:pPr lvl="1"/>
            <a:r>
              <a:rPr lang="fr-FR" dirty="0" smtClean="0"/>
              <a:t>Les deux systèmes ont une représentation différente du temps</a:t>
            </a:r>
          </a:p>
          <a:p>
            <a:pPr lvl="1"/>
            <a:r>
              <a:rPr lang="fr-FR" dirty="0" smtClean="0"/>
              <a:t>Le premier système : </a:t>
            </a:r>
          </a:p>
          <a:p>
            <a:pPr lvl="2"/>
            <a:r>
              <a:rPr lang="fr-FR" dirty="0" smtClean="0"/>
              <a:t>Évènements discrets</a:t>
            </a:r>
          </a:p>
          <a:p>
            <a:pPr lvl="2"/>
            <a:r>
              <a:rPr lang="fr-FR" dirty="0" smtClean="0"/>
              <a:t>On a juste besoin de connaître la chronologie mais pas les dates</a:t>
            </a:r>
          </a:p>
          <a:p>
            <a:pPr lvl="2"/>
            <a:r>
              <a:rPr lang="fr-FR" dirty="0" smtClean="0">
                <a:sym typeface="Wingdings" pitchFamily="2" charset="2"/>
              </a:rPr>
              <a:t>on dit que le temps est discret</a:t>
            </a:r>
            <a:endParaRPr lang="fr-FR" dirty="0" smtClean="0"/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Le deuxième système</a:t>
            </a:r>
          </a:p>
          <a:p>
            <a:pPr lvl="2"/>
            <a:r>
              <a:rPr lang="fr-FR" dirty="0" smtClean="0"/>
              <a:t>Importance de modéliser le temps réel</a:t>
            </a:r>
          </a:p>
          <a:p>
            <a:pPr lvl="2"/>
            <a:r>
              <a:rPr lang="fr-FR" dirty="0" smtClean="0"/>
              <a:t>On dit que le temps est continu</a:t>
            </a:r>
            <a:endParaRPr lang="fr-FR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Logiques temporelles probabilistes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Conséquences :</a:t>
            </a:r>
          </a:p>
          <a:p>
            <a:pPr lvl="1"/>
            <a:r>
              <a:rPr lang="fr-FR" dirty="0" smtClean="0"/>
              <a:t>Besoin d’une ou plusieurs logiques pour prendre en charge des systèmes à caractère stochastique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Il y a au moins deux types de logiques :</a:t>
            </a:r>
          </a:p>
          <a:p>
            <a:pPr lvl="2"/>
            <a:r>
              <a:rPr lang="fr-FR" dirty="0" smtClean="0"/>
              <a:t>Logique basée sur des variables aléatoires discrètes (PCTL)</a:t>
            </a:r>
          </a:p>
          <a:p>
            <a:pPr lvl="2"/>
            <a:endParaRPr lang="fr-FR" dirty="0" smtClean="0"/>
          </a:p>
          <a:p>
            <a:pPr lvl="2"/>
            <a:r>
              <a:rPr lang="fr-FR" dirty="0" smtClean="0"/>
              <a:t>Logique basée sur des variables aléatoires continues (CSL)</a:t>
            </a:r>
            <a:endParaRPr lang="fr-FR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La logique PCTL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782272"/>
          </a:xfrm>
        </p:spPr>
        <p:txBody>
          <a:bodyPr>
            <a:normAutofit fontScale="85000" lnSpcReduction="20000"/>
          </a:bodyPr>
          <a:lstStyle/>
          <a:p>
            <a:r>
              <a:rPr lang="fr-FR" dirty="0" smtClean="0"/>
              <a:t>PCTL : </a:t>
            </a:r>
            <a:r>
              <a:rPr lang="fr-FR" dirty="0" err="1" smtClean="0"/>
              <a:t>Probabilistic</a:t>
            </a:r>
            <a:r>
              <a:rPr lang="fr-FR" dirty="0" smtClean="0"/>
              <a:t> CTL</a:t>
            </a:r>
          </a:p>
          <a:p>
            <a:endParaRPr lang="fr-FR" dirty="0" smtClean="0"/>
          </a:p>
          <a:p>
            <a:r>
              <a:rPr lang="fr-FR" dirty="0" smtClean="0"/>
              <a:t>C’est une extension de CTL permettant d’introduire les probabilités dans les propriétés du système</a:t>
            </a:r>
          </a:p>
          <a:p>
            <a:endParaRPr lang="fr-FR" dirty="0" smtClean="0"/>
          </a:p>
          <a:p>
            <a:r>
              <a:rPr lang="fr-FR" dirty="0" smtClean="0"/>
              <a:t>Grammaire :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</a:t>
            </a:r>
            <a:r>
              <a:rPr lang="el-G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ϕ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::=p |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  <a:sym typeface="Symbol"/>
              </a:rPr>
              <a:t> p | </a:t>
            </a:r>
            <a:r>
              <a:rPr lang="el-G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ϕ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</a:t>
            </a:r>
            <a:r>
              <a:rPr lang="el-GR" b="1" dirty="0" smtClean="0">
                <a:solidFill>
                  <a:srgbClr val="FF0000"/>
                </a:solidFill>
                <a:latin typeface="Latin Modern Math"/>
                <a:ea typeface="Latin Modern Math"/>
                <a:sym typeface="Symbol"/>
              </a:rPr>
              <a:t></a:t>
            </a:r>
            <a:r>
              <a:rPr lang="el-G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ϕ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| </a:t>
            </a:r>
            <a:r>
              <a:rPr lang="el-G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ϕ </a:t>
            </a:r>
            <a:r>
              <a:rPr lang="el-GR" b="1" dirty="0" smtClean="0">
                <a:solidFill>
                  <a:srgbClr val="FF0000"/>
                </a:solidFill>
                <a:latin typeface="Latin Modern Math"/>
                <a:ea typeface="Latin Modern Math"/>
                <a:sym typeface="Symbol"/>
              </a:rPr>
              <a:t>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  <a:sym typeface="Symbol"/>
              </a:rPr>
              <a:t> </a:t>
            </a:r>
            <a:r>
              <a:rPr lang="el-G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ϕ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| ℙ</a:t>
            </a:r>
            <a:r>
              <a:rPr lang="fr-FR" b="1" baseline="-25000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~</a:t>
            </a:r>
            <a:r>
              <a:rPr lang="el-GR" b="1" baseline="-25000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λ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(</a:t>
            </a:r>
            <a:r>
              <a:rPr lang="el-G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ϕ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U </a:t>
            </a:r>
            <a:r>
              <a:rPr lang="el-G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ϕ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) | ℙ</a:t>
            </a:r>
            <a:r>
              <a:rPr lang="fr-FR" b="1" baseline="-25000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~</a:t>
            </a:r>
            <a:r>
              <a:rPr lang="el-GR" b="1" baseline="-25000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λ</a:t>
            </a:r>
            <a:r>
              <a:rPr lang="fr-FR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(G</a:t>
            </a:r>
            <a:r>
              <a:rPr lang="el-GR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ϕ</a:t>
            </a:r>
            <a:r>
              <a:rPr lang="fr-FR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)</a:t>
            </a:r>
          </a:p>
          <a:p>
            <a:pPr lvl="1"/>
            <a:endParaRPr lang="fr-FR" b="1" dirty="0" smtClean="0">
              <a:solidFill>
                <a:srgbClr val="FF0000"/>
              </a:solidFill>
              <a:latin typeface="+mj-lt"/>
              <a:ea typeface="Latin Modern Math"/>
            </a:endParaRPr>
          </a:p>
          <a:p>
            <a:pPr lvl="1"/>
            <a:r>
              <a:rPr lang="fr-FR" b="1" dirty="0" smtClean="0">
                <a:solidFill>
                  <a:srgbClr val="FF0000"/>
                </a:solidFill>
                <a:latin typeface="+mj-lt"/>
                <a:ea typeface="Latin Modern Math"/>
              </a:rPr>
              <a:t>p</a:t>
            </a:r>
            <a:r>
              <a:rPr lang="fr-FR" dirty="0" smtClean="0">
                <a:latin typeface="+mj-lt"/>
                <a:ea typeface="Latin Modern Math"/>
              </a:rPr>
              <a:t> : une proposition atomique</a:t>
            </a:r>
          </a:p>
          <a:p>
            <a:pPr lvl="1"/>
            <a:endParaRPr lang="fr-FR" dirty="0" smtClean="0">
              <a:latin typeface="+mj-lt"/>
              <a:ea typeface="Latin Modern Math"/>
            </a:endParaRPr>
          </a:p>
          <a:p>
            <a:pPr lvl="1"/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ℙ</a:t>
            </a:r>
            <a:r>
              <a:rPr lang="fr-FR" b="1" baseline="-25000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~</a:t>
            </a:r>
            <a:r>
              <a:rPr lang="el-GR" b="1" baseline="-25000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λ</a:t>
            </a:r>
            <a:r>
              <a:rPr lang="fr-FR" dirty="0" smtClean="0">
                <a:latin typeface="Latin Modern Math"/>
                <a:ea typeface="Latin Modern Math"/>
              </a:rPr>
              <a:t> : </a:t>
            </a:r>
            <a:r>
              <a:rPr lang="fr-FR" dirty="0" smtClean="0">
                <a:latin typeface="+mj-lt"/>
                <a:ea typeface="Latin Modern Math"/>
              </a:rPr>
              <a:t>compare la probabilité de réalisation d’un évènement par rapport à </a:t>
            </a:r>
            <a:r>
              <a:rPr lang="el-G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λ</a:t>
            </a:r>
            <a:r>
              <a:rPr lang="fr-FR" dirty="0" smtClean="0">
                <a:latin typeface="Latin Modern Math"/>
                <a:ea typeface="Latin Modern Math"/>
              </a:rPr>
              <a:t> </a:t>
            </a:r>
            <a:r>
              <a:rPr lang="fr-FR" dirty="0" smtClean="0">
                <a:latin typeface="+mj-lt"/>
                <a:ea typeface="Latin Modern Math"/>
              </a:rPr>
              <a:t>(</a:t>
            </a:r>
            <a:r>
              <a:rPr lang="fr-FR" b="1" dirty="0" smtClean="0">
                <a:solidFill>
                  <a:srgbClr val="FF0000"/>
                </a:solidFill>
                <a:latin typeface="+mj-lt"/>
                <a:ea typeface="Latin Modern Math"/>
              </a:rPr>
              <a:t>~</a:t>
            </a:r>
            <a:r>
              <a:rPr lang="fr-FR" dirty="0" smtClean="0">
                <a:latin typeface="+mj-lt"/>
                <a:ea typeface="Latin Modern Math"/>
              </a:rPr>
              <a:t> correspond à un opérateur de comparaison)</a:t>
            </a:r>
          </a:p>
          <a:p>
            <a:pPr lvl="1"/>
            <a:endParaRPr lang="fr-FR" dirty="0" smtClean="0">
              <a:latin typeface="+mj-lt"/>
              <a:ea typeface="Latin Modern Math"/>
            </a:endParaRPr>
          </a:p>
          <a:p>
            <a:pPr lvl="1"/>
            <a:r>
              <a:rPr lang="fr-FR" dirty="0" smtClean="0">
                <a:latin typeface="+mj-lt"/>
                <a:ea typeface="Latin Modern Math"/>
              </a:rPr>
              <a:t>Dans certains outils, on peut rajouter un indice à l’opérateur </a:t>
            </a:r>
            <a:r>
              <a:rPr lang="fr-FR" b="1" dirty="0" smtClean="0">
                <a:solidFill>
                  <a:srgbClr val="FF0000"/>
                </a:solidFill>
                <a:latin typeface="+mj-lt"/>
                <a:ea typeface="Latin Modern Math"/>
              </a:rPr>
              <a:t>U</a:t>
            </a:r>
            <a:r>
              <a:rPr lang="fr-FR" dirty="0" smtClean="0">
                <a:latin typeface="+mj-lt"/>
                <a:ea typeface="Latin Modern Math"/>
              </a:rPr>
              <a:t> signifiant le nombre d’étapes minimal ou maximal pour atteindre un état réalisant la deuxième formule</a:t>
            </a:r>
            <a:endParaRPr lang="fr-FR" dirty="0" smtClean="0">
              <a:latin typeface="+mj-lt"/>
            </a:endParaRP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Sémantique de PCTL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 smtClean="0"/>
              <a:t>La logique PCTL est interprétée via les chaînes de Markov discrètes</a:t>
            </a:r>
          </a:p>
          <a:p>
            <a:endParaRPr lang="fr-FR" dirty="0" smtClean="0"/>
          </a:p>
          <a:p>
            <a:r>
              <a:rPr lang="fr-FR" dirty="0" smtClean="0"/>
              <a:t>Définition :</a:t>
            </a:r>
          </a:p>
          <a:p>
            <a:pPr lvl="1"/>
            <a:r>
              <a:rPr lang="fr-FR" dirty="0" smtClean="0"/>
              <a:t>Soient un ensemble de variables aléatoires X</a:t>
            </a:r>
            <a:r>
              <a:rPr lang="fr-FR" baseline="-25000" dirty="0" smtClean="0"/>
              <a:t>1</a:t>
            </a:r>
            <a:r>
              <a:rPr lang="fr-FR" dirty="0" smtClean="0"/>
              <a:t>,X</a:t>
            </a:r>
            <a:r>
              <a:rPr lang="fr-FR" baseline="-25000" dirty="0" smtClean="0"/>
              <a:t>2</a:t>
            </a:r>
            <a:r>
              <a:rPr lang="fr-FR" dirty="0" smtClean="0"/>
              <a:t>,…</a:t>
            </a:r>
          </a:p>
          <a:p>
            <a:pPr lvl="1"/>
            <a:r>
              <a:rPr lang="fr-FR" dirty="0" smtClean="0"/>
              <a:t>La séquence X</a:t>
            </a:r>
            <a:r>
              <a:rPr lang="fr-FR" baseline="-25000" dirty="0" smtClean="0"/>
              <a:t>1</a:t>
            </a:r>
            <a:r>
              <a:rPr lang="fr-FR" dirty="0" smtClean="0"/>
              <a:t>,X</a:t>
            </a:r>
            <a:r>
              <a:rPr lang="fr-FR" baseline="-25000" dirty="0" smtClean="0"/>
              <a:t>2</a:t>
            </a:r>
            <a:r>
              <a:rPr lang="fr-FR" dirty="0" smtClean="0"/>
              <a:t>,… représente une chaîne de Markov </a:t>
            </a:r>
            <a:r>
              <a:rPr lang="fr-FR" dirty="0" err="1" smtClean="0"/>
              <a:t>ssi</a:t>
            </a:r>
            <a:r>
              <a:rPr lang="fr-FR" dirty="0" smtClean="0"/>
              <a:t> :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P(</a:t>
            </a:r>
            <a:r>
              <a:rPr lang="fr-FR" b="1" dirty="0" err="1" smtClean="0">
                <a:solidFill>
                  <a:srgbClr val="FF0000"/>
                </a:solidFill>
              </a:rPr>
              <a:t>X</a:t>
            </a:r>
            <a:r>
              <a:rPr lang="fr-FR" b="1" baseline="-25000" dirty="0" err="1" smtClean="0">
                <a:solidFill>
                  <a:srgbClr val="FF0000"/>
                </a:solidFill>
              </a:rPr>
              <a:t>n</a:t>
            </a:r>
            <a:r>
              <a:rPr lang="fr-FR" b="1" baseline="-25000" dirty="0" smtClean="0">
                <a:solidFill>
                  <a:srgbClr val="FF0000"/>
                </a:solidFill>
              </a:rPr>
              <a:t>+1</a:t>
            </a:r>
            <a:r>
              <a:rPr lang="fr-FR" b="1" dirty="0" smtClean="0">
                <a:solidFill>
                  <a:srgbClr val="FF0000"/>
                </a:solidFill>
              </a:rPr>
              <a:t>=x | X</a:t>
            </a:r>
            <a:r>
              <a:rPr lang="fr-FR" b="1" baseline="-25000" dirty="0" smtClean="0">
                <a:solidFill>
                  <a:srgbClr val="FF0000"/>
                </a:solidFill>
              </a:rPr>
              <a:t>1</a:t>
            </a:r>
            <a:r>
              <a:rPr lang="fr-FR" b="1" dirty="0" smtClean="0">
                <a:solidFill>
                  <a:srgbClr val="FF0000"/>
                </a:solidFill>
              </a:rPr>
              <a:t>=x</a:t>
            </a:r>
            <a:r>
              <a:rPr lang="fr-FR" b="1" baseline="-25000" dirty="0" smtClean="0">
                <a:solidFill>
                  <a:srgbClr val="FF0000"/>
                </a:solidFill>
              </a:rPr>
              <a:t>1</a:t>
            </a:r>
            <a:r>
              <a:rPr lang="fr-FR" b="1" dirty="0" smtClean="0">
                <a:solidFill>
                  <a:srgbClr val="FF0000"/>
                </a:solidFill>
              </a:rPr>
              <a:t>, X</a:t>
            </a:r>
            <a:r>
              <a:rPr lang="fr-FR" b="1" baseline="-25000" dirty="0" smtClean="0">
                <a:solidFill>
                  <a:srgbClr val="FF0000"/>
                </a:solidFill>
              </a:rPr>
              <a:t>2</a:t>
            </a:r>
            <a:r>
              <a:rPr lang="fr-FR" b="1" dirty="0" smtClean="0">
                <a:solidFill>
                  <a:srgbClr val="FF0000"/>
                </a:solidFill>
              </a:rPr>
              <a:t>=x</a:t>
            </a:r>
            <a:r>
              <a:rPr lang="fr-FR" b="1" baseline="-25000" dirty="0" smtClean="0">
                <a:solidFill>
                  <a:srgbClr val="FF0000"/>
                </a:solidFill>
              </a:rPr>
              <a:t>2</a:t>
            </a:r>
            <a:r>
              <a:rPr lang="fr-FR" b="1" dirty="0" smtClean="0">
                <a:solidFill>
                  <a:srgbClr val="FF0000"/>
                </a:solidFill>
              </a:rPr>
              <a:t>,…,</a:t>
            </a:r>
            <a:r>
              <a:rPr lang="fr-FR" b="1" dirty="0" err="1" smtClean="0">
                <a:solidFill>
                  <a:srgbClr val="FF0000"/>
                </a:solidFill>
              </a:rPr>
              <a:t>X</a:t>
            </a:r>
            <a:r>
              <a:rPr lang="fr-FR" b="1" baseline="-25000" dirty="0" err="1" smtClean="0">
                <a:solidFill>
                  <a:srgbClr val="FF0000"/>
                </a:solidFill>
              </a:rPr>
              <a:t>n</a:t>
            </a:r>
            <a:r>
              <a:rPr lang="fr-FR" b="1" dirty="0" smtClean="0">
                <a:solidFill>
                  <a:srgbClr val="FF0000"/>
                </a:solidFill>
              </a:rPr>
              <a:t>=</a:t>
            </a:r>
            <a:r>
              <a:rPr lang="fr-FR" b="1" dirty="0" err="1" smtClean="0">
                <a:solidFill>
                  <a:srgbClr val="FF0000"/>
                </a:solidFill>
              </a:rPr>
              <a:t>x</a:t>
            </a:r>
            <a:r>
              <a:rPr lang="fr-FR" b="1" baseline="-25000" dirty="0" err="1" smtClean="0">
                <a:solidFill>
                  <a:srgbClr val="FF0000"/>
                </a:solidFill>
              </a:rPr>
              <a:t>n</a:t>
            </a:r>
            <a:r>
              <a:rPr lang="fr-FR" b="1" dirty="0" smtClean="0">
                <a:solidFill>
                  <a:srgbClr val="FF0000"/>
                </a:solidFill>
              </a:rPr>
              <a:t>)=P(</a:t>
            </a:r>
            <a:r>
              <a:rPr lang="fr-FR" b="1" dirty="0" err="1" smtClean="0">
                <a:solidFill>
                  <a:srgbClr val="FF0000"/>
                </a:solidFill>
              </a:rPr>
              <a:t>X</a:t>
            </a:r>
            <a:r>
              <a:rPr lang="fr-FR" b="1" baseline="-25000" dirty="0" err="1" smtClean="0">
                <a:solidFill>
                  <a:srgbClr val="FF0000"/>
                </a:solidFill>
              </a:rPr>
              <a:t>n</a:t>
            </a:r>
            <a:r>
              <a:rPr lang="fr-FR" b="1" baseline="-25000" dirty="0" smtClean="0">
                <a:solidFill>
                  <a:srgbClr val="FF0000"/>
                </a:solidFill>
              </a:rPr>
              <a:t>+1</a:t>
            </a:r>
            <a:r>
              <a:rPr lang="fr-FR" b="1" dirty="0" smtClean="0">
                <a:solidFill>
                  <a:srgbClr val="FF0000"/>
                </a:solidFill>
              </a:rPr>
              <a:t>=x | </a:t>
            </a:r>
            <a:r>
              <a:rPr lang="fr-FR" b="1" dirty="0" err="1" smtClean="0">
                <a:solidFill>
                  <a:srgbClr val="FF0000"/>
                </a:solidFill>
              </a:rPr>
              <a:t>X</a:t>
            </a:r>
            <a:r>
              <a:rPr lang="fr-FR" b="1" baseline="-25000" dirty="0" err="1" smtClean="0">
                <a:solidFill>
                  <a:srgbClr val="FF0000"/>
                </a:solidFill>
              </a:rPr>
              <a:t>n</a:t>
            </a:r>
            <a:r>
              <a:rPr lang="fr-FR" b="1" dirty="0" smtClean="0">
                <a:solidFill>
                  <a:srgbClr val="FF0000"/>
                </a:solidFill>
              </a:rPr>
              <a:t>=</a:t>
            </a:r>
            <a:r>
              <a:rPr lang="fr-FR" b="1" dirty="0" err="1" smtClean="0">
                <a:solidFill>
                  <a:srgbClr val="FF0000"/>
                </a:solidFill>
              </a:rPr>
              <a:t>x</a:t>
            </a:r>
            <a:r>
              <a:rPr lang="fr-FR" b="1" baseline="-25000" dirty="0" err="1" smtClean="0">
                <a:solidFill>
                  <a:srgbClr val="FF0000"/>
                </a:solidFill>
              </a:rPr>
              <a:t>n</a:t>
            </a:r>
            <a:r>
              <a:rPr lang="fr-FR" b="1" dirty="0" smtClean="0">
                <a:solidFill>
                  <a:srgbClr val="FF0000"/>
                </a:solidFill>
              </a:rPr>
              <a:t>)</a:t>
            </a:r>
          </a:p>
          <a:p>
            <a:pPr lvl="2"/>
            <a:r>
              <a:rPr lang="fr-FR" dirty="0" smtClean="0"/>
              <a:t>En d’autres termes, l’état courant ne dépend que de l’état précédent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Une chaîne de Markov est souvent représentée par :</a:t>
            </a:r>
          </a:p>
          <a:p>
            <a:pPr lvl="2"/>
            <a:r>
              <a:rPr lang="fr-FR" dirty="0" smtClean="0"/>
              <a:t>L’ensemble d’états que peuvent prendre les variables </a:t>
            </a:r>
            <a:r>
              <a:rPr lang="fr-FR" b="1" dirty="0" smtClean="0">
                <a:solidFill>
                  <a:srgbClr val="FF0000"/>
                </a:solidFill>
              </a:rPr>
              <a:t>X</a:t>
            </a:r>
            <a:r>
              <a:rPr lang="fr-FR" b="1" baseline="-25000" dirty="0" smtClean="0">
                <a:solidFill>
                  <a:srgbClr val="FF0000"/>
                </a:solidFill>
              </a:rPr>
              <a:t>i</a:t>
            </a:r>
          </a:p>
          <a:p>
            <a:pPr lvl="2"/>
            <a:r>
              <a:rPr lang="fr-FR" dirty="0" smtClean="0"/>
              <a:t>Les probabilités de passage d’un état à un autre (souvent c’est une matrice carrée)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Sémantique PCTL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Extension des structures de </a:t>
            </a:r>
            <a:r>
              <a:rPr lang="fr-FR" dirty="0" err="1" smtClean="0"/>
              <a:t>Kripke</a:t>
            </a:r>
            <a:r>
              <a:rPr lang="fr-FR" dirty="0" smtClean="0"/>
              <a:t> :</a:t>
            </a:r>
          </a:p>
          <a:p>
            <a:pPr lvl="1"/>
            <a:r>
              <a:rPr lang="fr-FR" dirty="0" smtClean="0"/>
              <a:t>Soit </a:t>
            </a:r>
            <a:r>
              <a:rPr lang="fr-FR" b="1" dirty="0" smtClean="0">
                <a:solidFill>
                  <a:srgbClr val="FF0000"/>
                </a:solidFill>
              </a:rPr>
              <a:t>(W,R,I,L) </a:t>
            </a:r>
            <a:r>
              <a:rPr lang="fr-FR" dirty="0" smtClean="0"/>
              <a:t>une structure de </a:t>
            </a:r>
            <a:r>
              <a:rPr lang="fr-FR" dirty="0" err="1" smtClean="0"/>
              <a:t>Kripke</a:t>
            </a:r>
            <a:endParaRPr lang="fr-FR" dirty="0" smtClean="0"/>
          </a:p>
          <a:p>
            <a:pPr lvl="1"/>
            <a:r>
              <a:rPr lang="fr-FR" dirty="0" smtClean="0"/>
              <a:t>Définissons une matrice carrée </a:t>
            </a:r>
            <a:r>
              <a:rPr lang="fr-FR" b="1" dirty="0" smtClean="0">
                <a:solidFill>
                  <a:srgbClr val="FF0000"/>
                </a:solidFill>
              </a:rPr>
              <a:t>A</a:t>
            </a:r>
            <a:r>
              <a:rPr lang="fr-FR" dirty="0" smtClean="0"/>
              <a:t> : </a:t>
            </a:r>
            <a:r>
              <a:rPr lang="fr-FR" b="1" dirty="0" smtClean="0">
                <a:solidFill>
                  <a:srgbClr val="FF0000"/>
                </a:solidFill>
              </a:rPr>
              <a:t>|w|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</a:t>
            </a:r>
            <a:r>
              <a:rPr lang="fr-FR" b="1" dirty="0" smtClean="0">
                <a:solidFill>
                  <a:srgbClr val="FF0000"/>
                </a:solidFill>
              </a:rPr>
              <a:t>|w|</a:t>
            </a:r>
          </a:p>
          <a:p>
            <a:pPr lvl="1"/>
            <a:r>
              <a:rPr lang="fr-FR" dirty="0" smtClean="0"/>
              <a:t>Pour tout </a:t>
            </a:r>
            <a:r>
              <a:rPr lang="fr-FR" b="1" dirty="0" smtClean="0">
                <a:solidFill>
                  <a:srgbClr val="FF0000"/>
                </a:solidFill>
              </a:rPr>
              <a:t>i</a:t>
            </a:r>
            <a:r>
              <a:rPr lang="fr-FR" dirty="0" smtClean="0"/>
              <a:t> et </a:t>
            </a:r>
            <a:r>
              <a:rPr lang="fr-FR" b="1" dirty="0" smtClean="0">
                <a:solidFill>
                  <a:srgbClr val="FF0000"/>
                </a:solidFill>
              </a:rPr>
              <a:t>j</a:t>
            </a:r>
            <a:r>
              <a:rPr lang="fr-FR" dirty="0" smtClean="0"/>
              <a:t> : </a:t>
            </a:r>
            <a:r>
              <a:rPr lang="fr-FR" b="1" dirty="0" smtClean="0">
                <a:solidFill>
                  <a:srgbClr val="FF0000"/>
                </a:solidFill>
              </a:rPr>
              <a:t>0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</a:t>
            </a:r>
            <a:r>
              <a:rPr lang="fr-FR" b="1" dirty="0" err="1" smtClean="0">
                <a:solidFill>
                  <a:srgbClr val="FF0000"/>
                </a:solidFill>
              </a:rPr>
              <a:t>A</a:t>
            </a:r>
            <a:r>
              <a:rPr lang="fr-FR" b="1" baseline="-25000" dirty="0" err="1" smtClean="0">
                <a:solidFill>
                  <a:srgbClr val="FF0000"/>
                </a:solidFill>
              </a:rPr>
              <a:t>ij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</a:t>
            </a:r>
            <a:r>
              <a:rPr lang="fr-FR" b="1" dirty="0" smtClean="0">
                <a:solidFill>
                  <a:srgbClr val="FF0000"/>
                </a:solidFill>
              </a:rPr>
              <a:t>1</a:t>
            </a:r>
          </a:p>
          <a:p>
            <a:pPr lvl="1"/>
            <a:r>
              <a:rPr lang="fr-FR" dirty="0" smtClean="0"/>
              <a:t>Pour tout </a:t>
            </a:r>
            <a:r>
              <a:rPr lang="fr-FR" b="1" dirty="0" smtClean="0">
                <a:solidFill>
                  <a:srgbClr val="FF0000"/>
                </a:solidFill>
              </a:rPr>
              <a:t>i</a:t>
            </a:r>
            <a:r>
              <a:rPr lang="fr-FR" dirty="0" smtClean="0"/>
              <a:t> : </a:t>
            </a:r>
            <a:r>
              <a:rPr lang="fr-FR" sz="3200" b="1" dirty="0" smtClean="0">
                <a:solidFill>
                  <a:srgbClr val="FF0000"/>
                </a:solidFill>
                <a:sym typeface="Symbol"/>
              </a:rPr>
              <a:t>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j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fr-FR" b="1" dirty="0" err="1" smtClean="0">
                <a:solidFill>
                  <a:srgbClr val="FF0000"/>
                </a:solidFill>
                <a:sym typeface="Symbol"/>
              </a:rPr>
              <a:t>A</a:t>
            </a:r>
            <a:r>
              <a:rPr lang="fr-FR" b="1" baseline="-25000" dirty="0" err="1" smtClean="0">
                <a:solidFill>
                  <a:srgbClr val="FF0000"/>
                </a:solidFill>
                <a:sym typeface="Symbol"/>
              </a:rPr>
              <a:t>ij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=1</a:t>
            </a:r>
          </a:p>
          <a:p>
            <a:pPr lvl="1"/>
            <a:r>
              <a:rPr lang="fr-FR" b="1" dirty="0" err="1" smtClean="0">
                <a:solidFill>
                  <a:srgbClr val="FF0000"/>
                </a:solidFill>
                <a:sym typeface="Symbol"/>
              </a:rPr>
              <a:t>A</a:t>
            </a:r>
            <a:r>
              <a:rPr lang="fr-FR" b="1" baseline="-25000" dirty="0" err="1" smtClean="0">
                <a:solidFill>
                  <a:srgbClr val="FF0000"/>
                </a:solidFill>
                <a:sym typeface="Symbol"/>
              </a:rPr>
              <a:t>ij</a:t>
            </a:r>
            <a:r>
              <a:rPr lang="fr-FR" dirty="0" smtClean="0">
                <a:sym typeface="Symbol"/>
              </a:rPr>
              <a:t> : représente la probabilité de passage de l’état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i</a:t>
            </a:r>
            <a:r>
              <a:rPr lang="fr-FR" dirty="0" smtClean="0">
                <a:sym typeface="Symbol"/>
              </a:rPr>
              <a:t> vers l’état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j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Sémantique PCTL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 smtClean="0"/>
              <a:t>On s’intéresse à la satisfaction d’une propriété </a:t>
            </a:r>
            <a:r>
              <a:rPr lang="fr-FR" b="1" dirty="0" smtClean="0">
                <a:solidFill>
                  <a:srgbClr val="FF0000"/>
                </a:solidFill>
              </a:rPr>
              <a:t>M, s ⊨ </a:t>
            </a:r>
            <a:r>
              <a:rPr lang="pt-BR" b="1" dirty="0" smtClean="0">
                <a:solidFill>
                  <a:srgbClr val="FF0000"/>
                </a:solidFill>
              </a:rPr>
              <a:t>φ</a:t>
            </a:r>
            <a:endParaRPr lang="fr-FR" dirty="0" smtClean="0"/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M, s ⊨ p </a:t>
            </a:r>
            <a:r>
              <a:rPr lang="fr-FR" dirty="0" smtClean="0"/>
              <a:t>équivaut à </a:t>
            </a:r>
            <a:r>
              <a:rPr lang="fr-FR" b="1" dirty="0" smtClean="0">
                <a:solidFill>
                  <a:srgbClr val="FF0000"/>
                </a:solidFill>
              </a:rPr>
              <a:t>p ∈ L(s) </a:t>
            </a:r>
            <a:r>
              <a:rPr lang="fr-FR" dirty="0" smtClean="0"/>
              <a:t>(exécution à partir de 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dirty="0" smtClean="0"/>
              <a:t>)</a:t>
            </a:r>
          </a:p>
          <a:p>
            <a:pPr lvl="1"/>
            <a:r>
              <a:rPr lang="pt-BR" b="1" dirty="0" smtClean="0">
                <a:solidFill>
                  <a:srgbClr val="FF0000"/>
                </a:solidFill>
              </a:rPr>
              <a:t>M, s ⊨ ￢φ </a:t>
            </a:r>
            <a:r>
              <a:rPr lang="pt-BR" dirty="0" smtClean="0"/>
              <a:t>équivaut à </a:t>
            </a:r>
            <a:r>
              <a:rPr lang="pt-BR" b="1" dirty="0" smtClean="0">
                <a:solidFill>
                  <a:srgbClr val="FF0000"/>
                </a:solidFill>
              </a:rPr>
              <a:t>M, s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⊭</a:t>
            </a:r>
            <a:r>
              <a:rPr lang="pt-BR" b="1" dirty="0" smtClean="0">
                <a:solidFill>
                  <a:srgbClr val="FF0000"/>
                </a:solidFill>
              </a:rPr>
              <a:t>φ</a:t>
            </a:r>
          </a:p>
          <a:p>
            <a:pPr lvl="1"/>
            <a:r>
              <a:rPr lang="pt-BR" b="1" dirty="0" smtClean="0">
                <a:solidFill>
                  <a:srgbClr val="FF0000"/>
                </a:solidFill>
              </a:rPr>
              <a:t>M, s⊨ φ</a:t>
            </a:r>
            <a:r>
              <a:rPr lang="pt-BR" b="1" baseline="-25000" dirty="0" smtClean="0">
                <a:solidFill>
                  <a:srgbClr val="FF0000"/>
                </a:solidFill>
              </a:rPr>
              <a:t>1</a:t>
            </a:r>
            <a:r>
              <a:rPr lang="pt-BR" b="1" dirty="0" smtClean="0">
                <a:solidFill>
                  <a:srgbClr val="FF0000"/>
                </a:solidFill>
              </a:rPr>
              <a:t> ∧ φ</a:t>
            </a:r>
            <a:r>
              <a:rPr lang="pt-BR" b="1" baseline="-25000" dirty="0" smtClean="0">
                <a:solidFill>
                  <a:srgbClr val="FF0000"/>
                </a:solidFill>
              </a:rPr>
              <a:t>2</a:t>
            </a:r>
            <a:r>
              <a:rPr lang="pt-BR" b="1" dirty="0" smtClean="0">
                <a:solidFill>
                  <a:srgbClr val="FF0000"/>
                </a:solidFill>
              </a:rPr>
              <a:t> </a:t>
            </a:r>
            <a:r>
              <a:rPr lang="pt-BR" dirty="0" smtClean="0"/>
              <a:t>équivaut à </a:t>
            </a:r>
            <a:r>
              <a:rPr lang="pt-BR" b="1" dirty="0" smtClean="0">
                <a:solidFill>
                  <a:srgbClr val="FF0000"/>
                </a:solidFill>
              </a:rPr>
              <a:t>M, s ⊨ φ</a:t>
            </a:r>
            <a:r>
              <a:rPr lang="pt-BR" b="1" baseline="-25000" dirty="0" smtClean="0">
                <a:solidFill>
                  <a:srgbClr val="FF0000"/>
                </a:solidFill>
              </a:rPr>
              <a:t>1</a:t>
            </a:r>
            <a:r>
              <a:rPr lang="pt-BR" b="1" dirty="0" smtClean="0">
                <a:solidFill>
                  <a:srgbClr val="FF0000"/>
                </a:solidFill>
              </a:rPr>
              <a:t> </a:t>
            </a:r>
            <a:r>
              <a:rPr lang="pt-BR" dirty="0" smtClean="0"/>
              <a:t>et </a:t>
            </a:r>
            <a:r>
              <a:rPr lang="pt-BR" b="1" dirty="0" smtClean="0">
                <a:solidFill>
                  <a:srgbClr val="FF0000"/>
                </a:solidFill>
              </a:rPr>
              <a:t>M, s ⊨ φ</a:t>
            </a:r>
            <a:r>
              <a:rPr lang="pt-BR" b="1" baseline="-25000" dirty="0" smtClean="0">
                <a:solidFill>
                  <a:srgbClr val="FF0000"/>
                </a:solidFill>
              </a:rPr>
              <a:t>2</a:t>
            </a:r>
          </a:p>
          <a:p>
            <a:pPr lvl="1"/>
            <a:r>
              <a:rPr lang="pt-BR" b="1" dirty="0" smtClean="0">
                <a:solidFill>
                  <a:srgbClr val="FF0000"/>
                </a:solidFill>
              </a:rPr>
              <a:t>M, s⊨ φ</a:t>
            </a:r>
            <a:r>
              <a:rPr lang="pt-BR" b="1" baseline="-25000" dirty="0" smtClean="0">
                <a:solidFill>
                  <a:srgbClr val="FF0000"/>
                </a:solidFill>
              </a:rPr>
              <a:t>1</a:t>
            </a:r>
            <a:r>
              <a:rPr lang="pt-BR" b="1" dirty="0" smtClean="0">
                <a:solidFill>
                  <a:srgbClr val="FF0000"/>
                </a:solidFill>
              </a:rPr>
              <a:t> </a:t>
            </a:r>
            <a:r>
              <a:rPr lang="el-GR" b="1" dirty="0" smtClean="0">
                <a:solidFill>
                  <a:srgbClr val="FF0000"/>
                </a:solidFill>
                <a:latin typeface="Latin Modern Math"/>
                <a:ea typeface="Latin Modern Math"/>
                <a:sym typeface="Symbol"/>
              </a:rPr>
              <a:t></a:t>
            </a:r>
            <a:r>
              <a:rPr lang="pt-BR" b="1" dirty="0" smtClean="0">
                <a:solidFill>
                  <a:srgbClr val="FF0000"/>
                </a:solidFill>
              </a:rPr>
              <a:t> φ</a:t>
            </a:r>
            <a:r>
              <a:rPr lang="pt-BR" b="1" baseline="-25000" dirty="0" smtClean="0">
                <a:solidFill>
                  <a:srgbClr val="FF0000"/>
                </a:solidFill>
              </a:rPr>
              <a:t>2</a:t>
            </a:r>
            <a:r>
              <a:rPr lang="pt-BR" b="1" dirty="0" smtClean="0">
                <a:solidFill>
                  <a:srgbClr val="FF0000"/>
                </a:solidFill>
              </a:rPr>
              <a:t> </a:t>
            </a:r>
            <a:r>
              <a:rPr lang="pt-BR" dirty="0" smtClean="0"/>
              <a:t>équivaut à </a:t>
            </a:r>
            <a:r>
              <a:rPr lang="pt-BR" b="1" dirty="0" smtClean="0">
                <a:solidFill>
                  <a:srgbClr val="FF0000"/>
                </a:solidFill>
              </a:rPr>
              <a:t>M, s ⊨ φ</a:t>
            </a:r>
            <a:r>
              <a:rPr lang="pt-BR" b="1" baseline="-25000" dirty="0" smtClean="0">
                <a:solidFill>
                  <a:srgbClr val="FF0000"/>
                </a:solidFill>
              </a:rPr>
              <a:t>1</a:t>
            </a:r>
            <a:r>
              <a:rPr lang="pt-BR" b="1" dirty="0" smtClean="0">
                <a:solidFill>
                  <a:srgbClr val="FF0000"/>
                </a:solidFill>
              </a:rPr>
              <a:t> </a:t>
            </a:r>
            <a:r>
              <a:rPr lang="pt-BR" dirty="0" smtClean="0"/>
              <a:t>ou </a:t>
            </a:r>
            <a:r>
              <a:rPr lang="pt-BR" b="1" dirty="0" smtClean="0">
                <a:solidFill>
                  <a:srgbClr val="FF0000"/>
                </a:solidFill>
              </a:rPr>
              <a:t>M, s ⊨ φ</a:t>
            </a:r>
            <a:r>
              <a:rPr lang="pt-BR" b="1" baseline="-25000" dirty="0" smtClean="0">
                <a:solidFill>
                  <a:srgbClr val="FF0000"/>
                </a:solidFill>
              </a:rPr>
              <a:t>2</a:t>
            </a:r>
          </a:p>
          <a:p>
            <a:pPr lvl="1"/>
            <a:endParaRPr lang="fr-FR" b="1" dirty="0" smtClean="0">
              <a:solidFill>
                <a:srgbClr val="FF0000"/>
              </a:solidFill>
            </a:endParaRP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M, s ⊨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ℙ</a:t>
            </a:r>
            <a:r>
              <a:rPr lang="fr-FR" b="1" baseline="-25000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~</a:t>
            </a:r>
            <a:r>
              <a:rPr lang="el-GR" b="1" baseline="-25000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λ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(</a:t>
            </a:r>
            <a:r>
              <a:rPr lang="el-GR" b="1" dirty="0" smtClean="0">
                <a:solidFill>
                  <a:srgbClr val="FF0000"/>
                </a:solidFill>
                <a:latin typeface="+mj-lt"/>
                <a:ea typeface="Latin Modern Math"/>
              </a:rPr>
              <a:t>ϕ</a:t>
            </a:r>
            <a:r>
              <a:rPr lang="fr-FR" b="1" baseline="-25000" dirty="0" smtClean="0">
                <a:solidFill>
                  <a:srgbClr val="FF0000"/>
                </a:solidFill>
                <a:latin typeface="+mj-lt"/>
                <a:ea typeface="Latin Modern Math"/>
              </a:rPr>
              <a:t>1</a:t>
            </a:r>
            <a:r>
              <a:rPr lang="fr-FR" b="1" dirty="0" smtClean="0">
                <a:solidFill>
                  <a:srgbClr val="FF0000"/>
                </a:solidFill>
                <a:latin typeface="+mj-lt"/>
                <a:ea typeface="Latin Modern Math"/>
              </a:rPr>
              <a:t> U </a:t>
            </a:r>
            <a:r>
              <a:rPr lang="el-GR" b="1" dirty="0" smtClean="0">
                <a:solidFill>
                  <a:srgbClr val="FF0000"/>
                </a:solidFill>
                <a:latin typeface="+mj-lt"/>
                <a:ea typeface="Latin Modern Math"/>
              </a:rPr>
              <a:t>ϕ</a:t>
            </a:r>
            <a:r>
              <a:rPr lang="fr-FR" b="1" baseline="-25000" dirty="0" smtClean="0">
                <a:solidFill>
                  <a:srgbClr val="FF0000"/>
                </a:solidFill>
                <a:latin typeface="+mj-lt"/>
                <a:ea typeface="Latin Modern Math"/>
              </a:rPr>
              <a:t>2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)</a:t>
            </a:r>
            <a:r>
              <a:rPr lang="el-GR" b="1" dirty="0" smtClean="0">
                <a:solidFill>
                  <a:srgbClr val="FF0000"/>
                </a:solidFill>
              </a:rPr>
              <a:t> </a:t>
            </a:r>
            <a:r>
              <a:rPr lang="fr-FR" dirty="0" smtClean="0"/>
              <a:t>équivaut à trouver un chemin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=</a:t>
            </a:r>
            <a:r>
              <a:rPr lang="fr-FR" b="1" dirty="0" smtClean="0">
                <a:solidFill>
                  <a:srgbClr val="FF0000"/>
                </a:solidFill>
              </a:rPr>
              <a:t> s</a:t>
            </a:r>
            <a:r>
              <a:rPr lang="fr-FR" b="1" baseline="-25000" dirty="0" smtClean="0">
                <a:solidFill>
                  <a:srgbClr val="FF0000"/>
                </a:solidFill>
              </a:rPr>
              <a:t>0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b="1" baseline="-25000" dirty="0" smtClean="0">
                <a:solidFill>
                  <a:srgbClr val="FF0000"/>
                </a:solidFill>
              </a:rPr>
              <a:t>1</a:t>
            </a:r>
            <a:r>
              <a:rPr lang="fr-FR" b="1" dirty="0" smtClean="0">
                <a:solidFill>
                  <a:srgbClr val="FF0000"/>
                </a:solidFill>
              </a:rPr>
              <a:t>... </a:t>
            </a:r>
            <a:r>
              <a:rPr lang="fr-FR" dirty="0" smtClean="0"/>
              <a:t>tel que :</a:t>
            </a:r>
          </a:p>
          <a:p>
            <a:pPr lvl="2"/>
            <a:r>
              <a:rPr lang="fr-FR" sz="2100" b="1" dirty="0" smtClean="0">
                <a:solidFill>
                  <a:srgbClr val="FF0000"/>
                </a:solidFill>
              </a:rPr>
              <a:t>s = s</a:t>
            </a:r>
            <a:r>
              <a:rPr lang="fr-FR" sz="2100" b="1" baseline="-25000" dirty="0" smtClean="0">
                <a:solidFill>
                  <a:srgbClr val="FF0000"/>
                </a:solidFill>
              </a:rPr>
              <a:t>0</a:t>
            </a:r>
            <a:endParaRPr lang="fr-FR" sz="2100" dirty="0" smtClean="0"/>
          </a:p>
          <a:p>
            <a:pPr lvl="2"/>
            <a:r>
              <a:rPr lang="fr-FR" sz="2100" b="1" dirty="0" smtClean="0">
                <a:solidFill>
                  <a:srgbClr val="FF0000"/>
                </a:solidFill>
                <a:sym typeface="Symbol"/>
              </a:rPr>
              <a:t>k&gt;0: </a:t>
            </a:r>
            <a:r>
              <a:rPr lang="fr-FR" sz="2100" b="1" dirty="0" smtClean="0">
                <a:solidFill>
                  <a:srgbClr val="FF0000"/>
                </a:solidFill>
              </a:rPr>
              <a:t>M, </a:t>
            </a:r>
            <a:r>
              <a:rPr lang="fr-FR" sz="2100" b="1" dirty="0" err="1" smtClean="0">
                <a:solidFill>
                  <a:srgbClr val="FF0000"/>
                </a:solidFill>
              </a:rPr>
              <a:t>s</a:t>
            </a:r>
            <a:r>
              <a:rPr lang="fr-FR" sz="2100" b="1" baseline="-25000" dirty="0" err="1" smtClean="0">
                <a:solidFill>
                  <a:srgbClr val="FF0000"/>
                </a:solidFill>
              </a:rPr>
              <a:t>k</a:t>
            </a:r>
            <a:r>
              <a:rPr lang="fr-FR" sz="2100" b="1" dirty="0" smtClean="0">
                <a:solidFill>
                  <a:srgbClr val="FF0000"/>
                </a:solidFill>
              </a:rPr>
              <a:t> ⊨ </a:t>
            </a:r>
            <a:r>
              <a:rPr lang="el-GR" sz="2100" b="1" dirty="0" smtClean="0">
                <a:solidFill>
                  <a:srgbClr val="FF0000"/>
                </a:solidFill>
                <a:ea typeface="Latin Modern Math"/>
              </a:rPr>
              <a:t>ϕ</a:t>
            </a:r>
            <a:r>
              <a:rPr lang="fr-FR" sz="2100" b="1" baseline="-25000" dirty="0" smtClean="0">
                <a:solidFill>
                  <a:srgbClr val="FF0000"/>
                </a:solidFill>
                <a:ea typeface="Latin Modern Math"/>
              </a:rPr>
              <a:t>2 </a:t>
            </a:r>
          </a:p>
          <a:p>
            <a:pPr lvl="2"/>
            <a:r>
              <a:rPr lang="fr-FR" sz="2100" b="1" dirty="0" smtClean="0">
                <a:solidFill>
                  <a:srgbClr val="FF0000"/>
                </a:solidFill>
                <a:ea typeface="Latin Modern Math"/>
                <a:sym typeface="Symbol"/>
              </a:rPr>
              <a:t>j(0&lt;j&lt;k) : </a:t>
            </a:r>
            <a:r>
              <a:rPr lang="fr-FR" sz="2100" b="1" dirty="0" smtClean="0">
                <a:solidFill>
                  <a:srgbClr val="FF0000"/>
                </a:solidFill>
              </a:rPr>
              <a:t>M, </a:t>
            </a:r>
            <a:r>
              <a:rPr lang="fr-FR" sz="2100" b="1" dirty="0" err="1" smtClean="0">
                <a:solidFill>
                  <a:srgbClr val="FF0000"/>
                </a:solidFill>
              </a:rPr>
              <a:t>s</a:t>
            </a:r>
            <a:r>
              <a:rPr lang="fr-FR" sz="2100" b="1" baseline="-25000" dirty="0" err="1" smtClean="0">
                <a:solidFill>
                  <a:srgbClr val="FF0000"/>
                </a:solidFill>
              </a:rPr>
              <a:t>j</a:t>
            </a:r>
            <a:r>
              <a:rPr lang="fr-FR" sz="2100" b="1" dirty="0" smtClean="0">
                <a:solidFill>
                  <a:srgbClr val="FF0000"/>
                </a:solidFill>
              </a:rPr>
              <a:t> ⊨ </a:t>
            </a:r>
            <a:r>
              <a:rPr lang="el-GR" sz="2100" b="1" dirty="0" smtClean="0">
                <a:solidFill>
                  <a:srgbClr val="FF0000"/>
                </a:solidFill>
                <a:ea typeface="Latin Modern Math"/>
              </a:rPr>
              <a:t>ϕ</a:t>
            </a:r>
            <a:r>
              <a:rPr lang="fr-FR" sz="2100" b="1" baseline="-25000" dirty="0" smtClean="0">
                <a:solidFill>
                  <a:srgbClr val="FF0000"/>
                </a:solidFill>
                <a:ea typeface="Latin Modern Math"/>
              </a:rPr>
              <a:t>1 </a:t>
            </a:r>
            <a:endParaRPr lang="fr-FR" sz="2100" b="1" dirty="0" smtClean="0">
              <a:solidFill>
                <a:srgbClr val="FF0000"/>
              </a:solidFill>
              <a:ea typeface="Latin Modern Math"/>
            </a:endParaRPr>
          </a:p>
          <a:p>
            <a:pPr lvl="2"/>
            <a:r>
              <a:rPr lang="fr-FR" sz="2100" b="1" dirty="0" smtClean="0">
                <a:solidFill>
                  <a:srgbClr val="FF0000"/>
                </a:solidFill>
              </a:rPr>
              <a:t>P(</a:t>
            </a:r>
            <a:r>
              <a:rPr lang="fr-FR" sz="2100" b="1" dirty="0" smtClean="0">
                <a:solidFill>
                  <a:srgbClr val="FF0000"/>
                </a:solidFill>
                <a:sym typeface="Symbol"/>
              </a:rPr>
              <a:t>)={A(s</a:t>
            </a:r>
            <a:r>
              <a:rPr lang="fr-FR" sz="2100" b="1" baseline="-25000" dirty="0" smtClean="0">
                <a:solidFill>
                  <a:srgbClr val="FF0000"/>
                </a:solidFill>
                <a:sym typeface="Symbol"/>
              </a:rPr>
              <a:t>0</a:t>
            </a:r>
            <a:r>
              <a:rPr lang="fr-FR" sz="2100" b="1" dirty="0" smtClean="0">
                <a:solidFill>
                  <a:srgbClr val="FF0000"/>
                </a:solidFill>
                <a:sym typeface="Symbol"/>
              </a:rPr>
              <a:t>,s</a:t>
            </a:r>
            <a:r>
              <a:rPr lang="fr-FR" sz="2100" b="1" baseline="-25000" dirty="0" smtClean="0">
                <a:solidFill>
                  <a:srgbClr val="FF0000"/>
                </a:solidFill>
                <a:sym typeface="Symbol"/>
              </a:rPr>
              <a:t>1</a:t>
            </a:r>
            <a:r>
              <a:rPr lang="fr-FR" sz="2100" b="1" dirty="0" smtClean="0">
                <a:solidFill>
                  <a:srgbClr val="FF0000"/>
                </a:solidFill>
                <a:sym typeface="Symbol"/>
              </a:rPr>
              <a:t>)*A(s</a:t>
            </a:r>
            <a:r>
              <a:rPr lang="fr-FR" sz="2100" b="1" baseline="-25000" dirty="0" smtClean="0">
                <a:solidFill>
                  <a:srgbClr val="FF0000"/>
                </a:solidFill>
                <a:sym typeface="Symbol"/>
              </a:rPr>
              <a:t>1</a:t>
            </a:r>
            <a:r>
              <a:rPr lang="fr-FR" sz="2100" b="1" dirty="0" smtClean="0">
                <a:solidFill>
                  <a:srgbClr val="FF0000"/>
                </a:solidFill>
                <a:sym typeface="Symbol"/>
              </a:rPr>
              <a:t>,s</a:t>
            </a:r>
            <a:r>
              <a:rPr lang="fr-FR" sz="2100" b="1" baseline="-25000" dirty="0" smtClean="0">
                <a:solidFill>
                  <a:srgbClr val="FF0000"/>
                </a:solidFill>
                <a:sym typeface="Symbol"/>
              </a:rPr>
              <a:t>2</a:t>
            </a:r>
            <a:r>
              <a:rPr lang="fr-FR" sz="2100" b="1" dirty="0" smtClean="0">
                <a:solidFill>
                  <a:srgbClr val="FF0000"/>
                </a:solidFill>
                <a:sym typeface="Symbol"/>
              </a:rPr>
              <a:t>)…*A(</a:t>
            </a:r>
            <a:r>
              <a:rPr lang="fr-FR" sz="2100" b="1" dirty="0" err="1" smtClean="0">
                <a:solidFill>
                  <a:srgbClr val="FF0000"/>
                </a:solidFill>
                <a:sym typeface="Symbol"/>
              </a:rPr>
              <a:t>s</a:t>
            </a:r>
            <a:r>
              <a:rPr lang="fr-FR" sz="2100" b="1" baseline="-25000" dirty="0" err="1" smtClean="0">
                <a:solidFill>
                  <a:srgbClr val="FF0000"/>
                </a:solidFill>
                <a:sym typeface="Symbol"/>
              </a:rPr>
              <a:t>k</a:t>
            </a:r>
            <a:r>
              <a:rPr lang="fr-FR" sz="2100" b="1" baseline="-25000" dirty="0" smtClean="0">
                <a:solidFill>
                  <a:srgbClr val="FF0000"/>
                </a:solidFill>
                <a:sym typeface="Symbol"/>
              </a:rPr>
              <a:t>-1</a:t>
            </a:r>
            <a:r>
              <a:rPr lang="fr-FR" sz="2100" b="1" dirty="0" smtClean="0">
                <a:solidFill>
                  <a:srgbClr val="FF0000"/>
                </a:solidFill>
                <a:sym typeface="Symbol"/>
              </a:rPr>
              <a:t>,</a:t>
            </a:r>
            <a:r>
              <a:rPr lang="fr-FR" sz="2100" b="1" dirty="0" err="1" smtClean="0">
                <a:solidFill>
                  <a:srgbClr val="FF0000"/>
                </a:solidFill>
                <a:sym typeface="Symbol"/>
              </a:rPr>
              <a:t>s</a:t>
            </a:r>
            <a:r>
              <a:rPr lang="fr-FR" sz="2100" b="1" baseline="-25000" dirty="0" err="1" smtClean="0">
                <a:solidFill>
                  <a:srgbClr val="FF0000"/>
                </a:solidFill>
                <a:sym typeface="Symbol"/>
              </a:rPr>
              <a:t>k</a:t>
            </a:r>
            <a:r>
              <a:rPr lang="fr-FR" sz="2100" b="1" dirty="0" smtClean="0">
                <a:solidFill>
                  <a:srgbClr val="FF0000"/>
                </a:solidFill>
                <a:sym typeface="Symbol"/>
              </a:rPr>
              <a:t>)}</a:t>
            </a:r>
            <a:r>
              <a:rPr lang="fr-FR" sz="2100" b="1" baseline="-25000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</a:t>
            </a:r>
            <a:r>
              <a:rPr lang="fr-FR" sz="2100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~</a:t>
            </a:r>
            <a:r>
              <a:rPr lang="el-GR" sz="2100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λ</a:t>
            </a:r>
            <a:endParaRPr lang="fr-FR" sz="2100" b="1" dirty="0" smtClean="0">
              <a:solidFill>
                <a:srgbClr val="FF0000"/>
              </a:solidFill>
            </a:endParaRPr>
          </a:p>
          <a:p>
            <a:pPr lvl="1"/>
            <a:endParaRPr lang="fr-FR" b="1" dirty="0" smtClean="0">
              <a:solidFill>
                <a:srgbClr val="FF0000"/>
              </a:solidFill>
            </a:endParaRP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M, s ⊨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ℙ</a:t>
            </a:r>
            <a:r>
              <a:rPr lang="fr-FR" b="1" baseline="-25000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~</a:t>
            </a:r>
            <a:r>
              <a:rPr lang="el-GR" b="1" baseline="-25000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λ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(</a:t>
            </a:r>
            <a:r>
              <a:rPr lang="fr-FR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□</a:t>
            </a:r>
            <a:r>
              <a:rPr lang="el-G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ϕ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)</a:t>
            </a:r>
            <a:r>
              <a:rPr lang="el-GR" b="1" dirty="0" smtClean="0">
                <a:solidFill>
                  <a:srgbClr val="FF0000"/>
                </a:solidFill>
              </a:rPr>
              <a:t> </a:t>
            </a:r>
            <a:r>
              <a:rPr lang="fr-FR" dirty="0" smtClean="0"/>
              <a:t>équivaut à trouver un chemin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=</a:t>
            </a:r>
            <a:r>
              <a:rPr lang="fr-FR" b="1" dirty="0" smtClean="0">
                <a:solidFill>
                  <a:srgbClr val="FF0000"/>
                </a:solidFill>
              </a:rPr>
              <a:t> s</a:t>
            </a:r>
            <a:r>
              <a:rPr lang="fr-FR" b="1" baseline="-25000" dirty="0" smtClean="0">
                <a:solidFill>
                  <a:srgbClr val="FF0000"/>
                </a:solidFill>
              </a:rPr>
              <a:t>0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b="1" baseline="-25000" dirty="0" smtClean="0">
                <a:solidFill>
                  <a:srgbClr val="FF0000"/>
                </a:solidFill>
              </a:rPr>
              <a:t>1</a:t>
            </a:r>
            <a:r>
              <a:rPr lang="fr-FR" b="1" dirty="0" smtClean="0">
                <a:solidFill>
                  <a:srgbClr val="FF0000"/>
                </a:solidFill>
              </a:rPr>
              <a:t>... </a:t>
            </a:r>
            <a:r>
              <a:rPr lang="fr-FR" dirty="0" smtClean="0"/>
              <a:t>tel que :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s = s</a:t>
            </a:r>
            <a:r>
              <a:rPr lang="fr-FR" b="1" baseline="-25000" dirty="0" smtClean="0">
                <a:solidFill>
                  <a:srgbClr val="FF0000"/>
                </a:solidFill>
              </a:rPr>
              <a:t>0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  <a:ea typeface="Latin Modern Math"/>
                <a:sym typeface="Symbol"/>
              </a:rPr>
              <a:t>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k: </a:t>
            </a:r>
            <a:r>
              <a:rPr lang="fr-FR" b="1" dirty="0" smtClean="0">
                <a:solidFill>
                  <a:srgbClr val="FF0000"/>
                </a:solidFill>
              </a:rPr>
              <a:t>M, </a:t>
            </a:r>
            <a:r>
              <a:rPr lang="fr-FR" b="1" dirty="0" err="1" smtClean="0">
                <a:solidFill>
                  <a:srgbClr val="FF0000"/>
                </a:solidFill>
              </a:rPr>
              <a:t>s</a:t>
            </a:r>
            <a:r>
              <a:rPr lang="fr-FR" b="1" baseline="-25000" dirty="0" err="1" smtClean="0">
                <a:solidFill>
                  <a:srgbClr val="FF0000"/>
                </a:solidFill>
              </a:rPr>
              <a:t>k</a:t>
            </a:r>
            <a:r>
              <a:rPr lang="fr-FR" b="1" dirty="0" smtClean="0">
                <a:solidFill>
                  <a:srgbClr val="FF0000"/>
                </a:solidFill>
              </a:rPr>
              <a:t> ⊨ </a:t>
            </a:r>
            <a:r>
              <a:rPr lang="el-GR" b="1" dirty="0" smtClean="0">
                <a:solidFill>
                  <a:srgbClr val="FF0000"/>
                </a:solidFill>
                <a:ea typeface="Latin Modern Math"/>
              </a:rPr>
              <a:t>ϕ</a:t>
            </a:r>
            <a:r>
              <a:rPr lang="fr-FR" b="1" baseline="-25000" dirty="0" smtClean="0">
                <a:solidFill>
                  <a:srgbClr val="FF0000"/>
                </a:solidFill>
                <a:ea typeface="Latin Modern Math"/>
              </a:rPr>
              <a:t> </a:t>
            </a:r>
            <a:endParaRPr lang="fr-FR" dirty="0" smtClean="0"/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P(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)</a:t>
            </a:r>
            <a:r>
              <a:rPr lang="fr-FR" b="1" baseline="-25000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~</a:t>
            </a:r>
            <a:r>
              <a:rPr lang="el-G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λ</a:t>
            </a:r>
            <a:endParaRPr lang="fr-FR" b="1" dirty="0" smtClean="0">
              <a:solidFill>
                <a:srgbClr val="FF0000"/>
              </a:solidFill>
            </a:endParaRPr>
          </a:p>
          <a:p>
            <a:pPr lvl="1"/>
            <a:endParaRPr lang="fr-FR" b="1" dirty="0" smtClean="0">
              <a:solidFill>
                <a:srgbClr val="FF0000"/>
              </a:solidFill>
            </a:endParaRP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La logique CSL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782272"/>
          </a:xfrm>
        </p:spPr>
        <p:txBody>
          <a:bodyPr>
            <a:normAutofit fontScale="77500" lnSpcReduction="20000"/>
          </a:bodyPr>
          <a:lstStyle/>
          <a:p>
            <a:r>
              <a:rPr lang="fr-FR" dirty="0" smtClean="0"/>
              <a:t>CSL : </a:t>
            </a:r>
            <a:r>
              <a:rPr lang="fr-FR" dirty="0" err="1" smtClean="0"/>
              <a:t>Continuous</a:t>
            </a:r>
            <a:r>
              <a:rPr lang="fr-FR" dirty="0" smtClean="0"/>
              <a:t> </a:t>
            </a:r>
            <a:r>
              <a:rPr lang="fr-FR" dirty="0" err="1" smtClean="0"/>
              <a:t>stochastic</a:t>
            </a:r>
            <a:r>
              <a:rPr lang="fr-FR" dirty="0" smtClean="0"/>
              <a:t> </a:t>
            </a:r>
            <a:r>
              <a:rPr lang="fr-FR" dirty="0" err="1" smtClean="0"/>
              <a:t>Logic</a:t>
            </a:r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C’est une extension de CTL permettant d’introduire les probabilités dans les propriétés du système où le temps de manière continue</a:t>
            </a:r>
          </a:p>
          <a:p>
            <a:endParaRPr lang="fr-FR" dirty="0" smtClean="0"/>
          </a:p>
          <a:p>
            <a:r>
              <a:rPr lang="fr-FR" dirty="0" smtClean="0"/>
              <a:t>Grammaire :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</a:t>
            </a:r>
            <a:r>
              <a:rPr lang="el-G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ϕ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::=p |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  <a:sym typeface="Symbol"/>
              </a:rPr>
              <a:t> p | </a:t>
            </a:r>
            <a:r>
              <a:rPr lang="el-G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ϕ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</a:t>
            </a:r>
            <a:r>
              <a:rPr lang="el-GR" b="1" dirty="0" smtClean="0">
                <a:solidFill>
                  <a:srgbClr val="FF0000"/>
                </a:solidFill>
                <a:latin typeface="Latin Modern Math"/>
                <a:ea typeface="Latin Modern Math"/>
                <a:sym typeface="Symbol"/>
              </a:rPr>
              <a:t></a:t>
            </a:r>
            <a:r>
              <a:rPr lang="el-G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ϕ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| ℙ</a:t>
            </a:r>
            <a:r>
              <a:rPr lang="fr-FR" b="1" baseline="-25000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~</a:t>
            </a:r>
            <a:r>
              <a:rPr lang="el-GR" b="1" baseline="-25000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λ</a:t>
            </a:r>
            <a:r>
              <a:rPr lang="fr-FR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(</a:t>
            </a:r>
            <a:r>
              <a:rPr lang="fr-FR" sz="2000" dirty="0" smtClean="0">
                <a:solidFill>
                  <a:srgbClr val="FF0000"/>
                </a:solidFill>
                <a:ea typeface="Latin Modern Math"/>
              </a:rPr>
              <a:t>X</a:t>
            </a:r>
            <a:r>
              <a:rPr lang="el-GR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ϕ</a:t>
            </a:r>
            <a:r>
              <a:rPr lang="fr-FR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)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| ℙ</a:t>
            </a:r>
            <a:r>
              <a:rPr lang="fr-FR" b="1" baseline="-25000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~</a:t>
            </a:r>
            <a:r>
              <a:rPr lang="el-GR" b="1" baseline="-25000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λ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(</a:t>
            </a:r>
            <a:r>
              <a:rPr lang="el-G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ϕ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U </a:t>
            </a:r>
            <a:r>
              <a:rPr lang="el-G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ϕ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) </a:t>
            </a:r>
            <a:r>
              <a:rPr lang="fr-FR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|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ℙ</a:t>
            </a:r>
            <a:r>
              <a:rPr lang="fr-FR" b="1" baseline="-25000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~</a:t>
            </a:r>
            <a:r>
              <a:rPr lang="el-GR" b="1" baseline="-25000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λ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(</a:t>
            </a:r>
            <a:r>
              <a:rPr lang="el-G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ϕ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</a:t>
            </a:r>
            <a:r>
              <a:rPr lang="fr-FR" b="1" dirty="0" smtClean="0">
                <a:solidFill>
                  <a:srgbClr val="FF0000"/>
                </a:solidFill>
                <a:latin typeface="+mj-lt"/>
                <a:ea typeface="Latin Modern Math"/>
              </a:rPr>
              <a:t>U</a:t>
            </a:r>
            <a:r>
              <a:rPr lang="fr-FR" b="1" baseline="30000" dirty="0" smtClean="0">
                <a:solidFill>
                  <a:srgbClr val="FF0000"/>
                </a:solidFill>
                <a:latin typeface="+mj-lt"/>
                <a:ea typeface="Latin Modern Math"/>
                <a:sym typeface="Symbol"/>
              </a:rPr>
              <a:t>t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</a:t>
            </a:r>
            <a:r>
              <a:rPr lang="el-G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ϕ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) | S</a:t>
            </a:r>
            <a:r>
              <a:rPr lang="fr-FR" b="1" baseline="-25000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~</a:t>
            </a:r>
            <a:r>
              <a:rPr lang="el-GR" b="1" baseline="-25000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λ</a:t>
            </a:r>
            <a:r>
              <a:rPr lang="fr-FR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(</a:t>
            </a:r>
            <a:r>
              <a:rPr lang="el-GR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ϕ</a:t>
            </a:r>
            <a:r>
              <a:rPr lang="fr-FR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)</a:t>
            </a:r>
          </a:p>
          <a:p>
            <a:pPr lvl="1"/>
            <a:endParaRPr lang="fr-FR" b="1" dirty="0" smtClean="0">
              <a:solidFill>
                <a:srgbClr val="FF0000"/>
              </a:solidFill>
              <a:ea typeface="Latin Modern Math"/>
            </a:endParaRPr>
          </a:p>
          <a:p>
            <a:pPr lvl="1"/>
            <a:r>
              <a:rPr lang="fr-FR" b="1" dirty="0" smtClean="0">
                <a:solidFill>
                  <a:srgbClr val="FF0000"/>
                </a:solidFill>
                <a:ea typeface="Latin Modern Math"/>
              </a:rPr>
              <a:t>p</a:t>
            </a:r>
            <a:r>
              <a:rPr lang="fr-FR" dirty="0" smtClean="0">
                <a:ea typeface="Latin Modern Math"/>
              </a:rPr>
              <a:t> : une proposition atomique</a:t>
            </a:r>
          </a:p>
          <a:p>
            <a:pPr lvl="1"/>
            <a:endParaRPr lang="fr-FR" dirty="0" smtClean="0">
              <a:ea typeface="Latin Modern Math"/>
            </a:endParaRPr>
          </a:p>
          <a:p>
            <a:pPr lvl="1"/>
            <a:r>
              <a:rPr lang="fr-FR" b="1" dirty="0" smtClean="0">
                <a:solidFill>
                  <a:srgbClr val="FF0000"/>
                </a:solidFill>
                <a:latin typeface="+mj-lt"/>
                <a:ea typeface="Latin Modern Math"/>
              </a:rPr>
              <a:t>U</a:t>
            </a:r>
            <a:r>
              <a:rPr lang="fr-FR" b="1" baseline="30000" dirty="0" smtClean="0">
                <a:solidFill>
                  <a:srgbClr val="FF0000"/>
                </a:solidFill>
                <a:latin typeface="+mj-lt"/>
                <a:ea typeface="Latin Modern Math"/>
                <a:sym typeface="Symbol"/>
              </a:rPr>
              <a:t>t</a:t>
            </a:r>
            <a:r>
              <a:rPr lang="fr-FR" b="1" baseline="30000" dirty="0" smtClean="0">
                <a:solidFill>
                  <a:srgbClr val="FF0000"/>
                </a:solidFill>
                <a:latin typeface="Latin Modern Math"/>
                <a:ea typeface="Latin Modern Math"/>
                <a:sym typeface="Symbol"/>
              </a:rPr>
              <a:t> </a:t>
            </a:r>
            <a:r>
              <a:rPr lang="fr-FR" dirty="0" smtClean="0">
                <a:latin typeface="Latin Modern Math"/>
                <a:ea typeface="Latin Modern Math"/>
              </a:rPr>
              <a:t>: </a:t>
            </a:r>
            <a:r>
              <a:rPr lang="fr-FR" dirty="0" smtClean="0">
                <a:ea typeface="Latin Modern Math"/>
              </a:rPr>
              <a:t>signifie que l’on atteint le deuxième évènement dans un temps compris entre 0 et t (t est continu ici)</a:t>
            </a:r>
          </a:p>
          <a:p>
            <a:pPr lvl="1"/>
            <a:endParaRPr lang="fr-FR" dirty="0" smtClean="0">
              <a:ea typeface="Latin Modern Math"/>
            </a:endParaRPr>
          </a:p>
          <a:p>
            <a:pPr lvl="1"/>
            <a:r>
              <a:rPr lang="fr-FR" dirty="0" smtClean="0">
                <a:ea typeface="Latin Modern Math"/>
              </a:rPr>
              <a:t>S : signifie « </a:t>
            </a:r>
            <a:r>
              <a:rPr lang="fr-FR" dirty="0" err="1" smtClean="0">
                <a:ea typeface="Latin Modern Math"/>
              </a:rPr>
              <a:t>steady</a:t>
            </a:r>
            <a:r>
              <a:rPr lang="fr-FR" dirty="0" smtClean="0">
                <a:ea typeface="Latin Modern Math"/>
              </a:rPr>
              <a:t> state » ou état stationnaire, ceci correspond à la situation où les caractéristiques du systèmes de dépendent plus du temps (mais plutôt des états)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Sémantique de CSL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301752" y="1484784"/>
            <a:ext cx="8503920" cy="4926288"/>
          </a:xfrm>
        </p:spPr>
        <p:txBody>
          <a:bodyPr>
            <a:normAutofit fontScale="77500" lnSpcReduction="20000"/>
          </a:bodyPr>
          <a:lstStyle/>
          <a:p>
            <a:r>
              <a:rPr lang="fr-FR" dirty="0" smtClean="0"/>
              <a:t>La logique CSL est interprétée selon une structure de </a:t>
            </a:r>
            <a:r>
              <a:rPr lang="fr-FR" dirty="0" err="1" smtClean="0"/>
              <a:t>Kripke</a:t>
            </a:r>
            <a:r>
              <a:rPr lang="fr-FR" dirty="0" smtClean="0"/>
              <a:t> augmentée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(W,R,I,L)</a:t>
            </a:r>
            <a:r>
              <a:rPr lang="fr-FR" dirty="0" smtClean="0"/>
              <a:t> et une matrice de réels positifs </a:t>
            </a:r>
            <a:r>
              <a:rPr lang="fr-FR" b="1" dirty="0" err="1" smtClean="0">
                <a:solidFill>
                  <a:srgbClr val="FF0000"/>
                </a:solidFill>
              </a:rPr>
              <a:t>A</a:t>
            </a:r>
            <a:r>
              <a:rPr lang="fr-FR" b="1" baseline="-25000" dirty="0" err="1" smtClean="0">
                <a:solidFill>
                  <a:srgbClr val="FF0000"/>
                </a:solidFill>
              </a:rPr>
              <a:t>ij</a:t>
            </a:r>
            <a:r>
              <a:rPr lang="fr-FR" dirty="0" smtClean="0"/>
              <a:t> :</a:t>
            </a:r>
          </a:p>
          <a:p>
            <a:pPr lvl="1"/>
            <a:endParaRPr lang="fr-FR" dirty="0" smtClean="0"/>
          </a:p>
          <a:p>
            <a:pPr lvl="1"/>
            <a:r>
              <a:rPr lang="fr-FR" b="1" dirty="0" err="1" smtClean="0">
                <a:solidFill>
                  <a:srgbClr val="FF0000"/>
                </a:solidFill>
              </a:rPr>
              <a:t>A</a:t>
            </a:r>
            <a:r>
              <a:rPr lang="fr-FR" b="1" baseline="-25000" dirty="0" err="1" smtClean="0">
                <a:solidFill>
                  <a:srgbClr val="FF0000"/>
                </a:solidFill>
              </a:rPr>
              <a:t>ij</a:t>
            </a:r>
            <a:r>
              <a:rPr lang="fr-FR" dirty="0" smtClean="0"/>
              <a:t> : taux de transition de l’état </a:t>
            </a:r>
            <a:r>
              <a:rPr lang="fr-FR" b="1" dirty="0" smtClean="0">
                <a:solidFill>
                  <a:srgbClr val="FF0000"/>
                </a:solidFill>
              </a:rPr>
              <a:t>i</a:t>
            </a:r>
            <a:r>
              <a:rPr lang="fr-FR" dirty="0" smtClean="0"/>
              <a:t> à l’état </a:t>
            </a:r>
            <a:r>
              <a:rPr lang="fr-FR" b="1" dirty="0" smtClean="0">
                <a:solidFill>
                  <a:srgbClr val="FF0000"/>
                </a:solidFill>
              </a:rPr>
              <a:t>j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Formellement, le passage de l’état i à l’état j en un temps t se fait selon la probabilité </a:t>
            </a:r>
            <a:r>
              <a:rPr lang="fr-FR" b="1" dirty="0" smtClean="0">
                <a:solidFill>
                  <a:srgbClr val="FF0000"/>
                </a:solidFill>
              </a:rPr>
              <a:t>1-e</a:t>
            </a:r>
            <a:r>
              <a:rPr lang="fr-FR" b="1" baseline="30000" dirty="0" smtClean="0">
                <a:solidFill>
                  <a:srgbClr val="FF0000"/>
                </a:solidFill>
              </a:rPr>
              <a:t>- </a:t>
            </a:r>
            <a:r>
              <a:rPr lang="fr-FR" b="1" baseline="30000" dirty="0" err="1" smtClean="0">
                <a:solidFill>
                  <a:srgbClr val="FF0000"/>
                </a:solidFill>
              </a:rPr>
              <a:t>Aij</a:t>
            </a:r>
            <a:r>
              <a:rPr lang="fr-FR" b="1" baseline="30000" dirty="0" smtClean="0">
                <a:solidFill>
                  <a:srgbClr val="FF0000"/>
                </a:solidFill>
              </a:rPr>
              <a:t> * t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La probabilité de passage d’un état s à un état s’est :</a:t>
            </a:r>
          </a:p>
          <a:p>
            <a:pPr lvl="2"/>
            <a:r>
              <a:rPr lang="pt-BR" b="1" dirty="0" smtClean="0">
                <a:solidFill>
                  <a:srgbClr val="FF0000"/>
                </a:solidFill>
              </a:rPr>
              <a:t>P(s,s’) = A</a:t>
            </a:r>
            <a:r>
              <a:rPr lang="pt-BR" b="1" baseline="-25000" dirty="0" smtClean="0">
                <a:solidFill>
                  <a:srgbClr val="FF0000"/>
                </a:solidFill>
              </a:rPr>
              <a:t>s,s’</a:t>
            </a:r>
            <a:r>
              <a:rPr lang="pt-BR" b="1" dirty="0" smtClean="0">
                <a:solidFill>
                  <a:srgbClr val="FF0000"/>
                </a:solidFill>
              </a:rPr>
              <a:t>/E(s) </a:t>
            </a:r>
            <a:r>
              <a:rPr lang="pt-BR" dirty="0" smtClean="0"/>
              <a:t>tel que </a:t>
            </a:r>
            <a:r>
              <a:rPr lang="pt-BR" b="1" dirty="0" smtClean="0">
                <a:solidFill>
                  <a:srgbClr val="FF0000"/>
                </a:solidFill>
              </a:rPr>
              <a:t>E(s)=</a:t>
            </a:r>
            <a:r>
              <a:rPr lang="fr-FR" sz="2400" b="1" dirty="0" smtClean="0">
                <a:solidFill>
                  <a:srgbClr val="FF0000"/>
                </a:solidFill>
                <a:sym typeface="Symbol"/>
              </a:rPr>
              <a:t> 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s’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fr-FR" b="1" dirty="0" err="1" smtClean="0">
                <a:solidFill>
                  <a:srgbClr val="FF0000"/>
                </a:solidFill>
                <a:sym typeface="Symbol"/>
              </a:rPr>
              <a:t>A</a:t>
            </a:r>
            <a:r>
              <a:rPr lang="fr-FR" b="1" baseline="-25000" dirty="0" err="1" smtClean="0">
                <a:solidFill>
                  <a:srgbClr val="FF0000"/>
                </a:solidFill>
                <a:sym typeface="Symbol"/>
              </a:rPr>
              <a:t>s,s’</a:t>
            </a:r>
            <a:endParaRPr lang="fr-FR" b="1" baseline="-25000" dirty="0" smtClean="0">
              <a:solidFill>
                <a:srgbClr val="FF0000"/>
              </a:solidFill>
              <a:sym typeface="Symbol"/>
            </a:endParaRPr>
          </a:p>
          <a:p>
            <a:endParaRPr lang="fr-FR" b="1" dirty="0" smtClean="0">
              <a:solidFill>
                <a:srgbClr val="FF0000"/>
              </a:solidFill>
              <a:sym typeface="Symbol"/>
            </a:endParaRPr>
          </a:p>
          <a:p>
            <a:r>
              <a:rPr lang="fr-FR" dirty="0" smtClean="0">
                <a:sym typeface="Symbol"/>
              </a:rPr>
              <a:t>Notion de chemin :</a:t>
            </a:r>
          </a:p>
          <a:p>
            <a:pPr lvl="1"/>
            <a:r>
              <a:rPr lang="fr-FR" dirty="0" smtClean="0">
                <a:sym typeface="Symbol"/>
              </a:rPr>
              <a:t>Un chemin est une séquence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=s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0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</a:t>
            </a:r>
            <a:r>
              <a:rPr lang="fr-FR" b="1" baseline="30000" dirty="0" smtClean="0">
                <a:solidFill>
                  <a:srgbClr val="FF0000"/>
                </a:solidFill>
                <a:sym typeface="Symbol"/>
              </a:rPr>
              <a:t>t0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s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1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 </a:t>
            </a:r>
            <a:r>
              <a:rPr lang="fr-FR" b="1" baseline="30000" dirty="0" smtClean="0">
                <a:solidFill>
                  <a:srgbClr val="FF0000"/>
                </a:solidFill>
                <a:sym typeface="Symbol"/>
              </a:rPr>
              <a:t>t1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s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2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 </a:t>
            </a:r>
            <a:r>
              <a:rPr lang="fr-FR" b="1" baseline="30000" dirty="0" smtClean="0">
                <a:solidFill>
                  <a:srgbClr val="FF0000"/>
                </a:solidFill>
                <a:sym typeface="Symbol"/>
              </a:rPr>
              <a:t>t2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s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3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…</a:t>
            </a:r>
          </a:p>
          <a:p>
            <a:pPr lvl="1"/>
            <a:endParaRPr lang="fr-FR" dirty="0" smtClean="0">
              <a:sym typeface="Symbol"/>
            </a:endParaRPr>
          </a:p>
          <a:p>
            <a:pPr lvl="1"/>
            <a:r>
              <a:rPr lang="fr-FR" b="1" dirty="0" smtClean="0">
                <a:solidFill>
                  <a:srgbClr val="FF0000"/>
                </a:solidFill>
                <a:sym typeface="Symbol"/>
              </a:rPr>
              <a:t>A(</a:t>
            </a:r>
            <a:r>
              <a:rPr lang="fr-FR" b="1" dirty="0" err="1" smtClean="0">
                <a:solidFill>
                  <a:srgbClr val="FF0000"/>
                </a:solidFill>
                <a:sym typeface="Symbol"/>
              </a:rPr>
              <a:t>s</a:t>
            </a:r>
            <a:r>
              <a:rPr lang="fr-FR" b="1" baseline="-25000" dirty="0" err="1" smtClean="0">
                <a:solidFill>
                  <a:srgbClr val="FF0000"/>
                </a:solidFill>
                <a:sym typeface="Symbol"/>
              </a:rPr>
              <a:t>i</a:t>
            </a:r>
            <a:r>
              <a:rPr lang="fr-FR" b="1" dirty="0" err="1" smtClean="0">
                <a:solidFill>
                  <a:srgbClr val="FF0000"/>
                </a:solidFill>
                <a:sym typeface="Symbol"/>
              </a:rPr>
              <a:t>,s</a:t>
            </a:r>
            <a:r>
              <a:rPr lang="fr-FR" b="1" baseline="-25000" dirty="0" err="1" smtClean="0">
                <a:solidFill>
                  <a:srgbClr val="FF0000"/>
                </a:solidFill>
                <a:sym typeface="Symbol"/>
              </a:rPr>
              <a:t>i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+1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)&gt;0</a:t>
            </a:r>
          </a:p>
          <a:p>
            <a:pPr lvl="1"/>
            <a:endParaRPr lang="fr-FR" dirty="0" smtClean="0">
              <a:sym typeface="Symbol"/>
            </a:endParaRPr>
          </a:p>
          <a:p>
            <a:pPr lvl="1"/>
            <a:r>
              <a:rPr lang="fr-FR" b="1" dirty="0" smtClean="0">
                <a:solidFill>
                  <a:srgbClr val="FF0000"/>
                </a:solidFill>
                <a:sym typeface="Symbol"/>
              </a:rPr>
              <a:t>t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i</a:t>
            </a:r>
            <a:r>
              <a:rPr lang="fr-FR" dirty="0" smtClean="0">
                <a:sym typeface="Symbol"/>
              </a:rPr>
              <a:t> est le temps de séjour dans l’état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s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i</a:t>
            </a:r>
            <a:endParaRPr lang="pt-BR" b="1" baseline="-25000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Sémantique de CSL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fr-FR" dirty="0" smtClean="0"/>
              <a:t>On s’intéresse à la satisfaction d’une propriété </a:t>
            </a:r>
            <a:r>
              <a:rPr lang="fr-FR" b="1" dirty="0" smtClean="0">
                <a:solidFill>
                  <a:srgbClr val="FF0000"/>
                </a:solidFill>
              </a:rPr>
              <a:t>M, s ⊨ </a:t>
            </a:r>
            <a:r>
              <a:rPr lang="pt-BR" b="1" dirty="0" smtClean="0">
                <a:solidFill>
                  <a:srgbClr val="FF0000"/>
                </a:solidFill>
              </a:rPr>
              <a:t>φ</a:t>
            </a:r>
            <a:endParaRPr lang="fr-FR" dirty="0" smtClean="0"/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M, s ⊨ p </a:t>
            </a:r>
            <a:r>
              <a:rPr lang="fr-FR" dirty="0" smtClean="0"/>
              <a:t>équivaut à </a:t>
            </a:r>
            <a:r>
              <a:rPr lang="fr-FR" b="1" dirty="0" smtClean="0">
                <a:solidFill>
                  <a:srgbClr val="FF0000"/>
                </a:solidFill>
              </a:rPr>
              <a:t>p ∈ L(s) </a:t>
            </a:r>
            <a:r>
              <a:rPr lang="fr-FR" dirty="0" smtClean="0"/>
              <a:t>(exécution à partir de 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dirty="0" smtClean="0"/>
              <a:t>)</a:t>
            </a:r>
          </a:p>
          <a:p>
            <a:pPr lvl="1"/>
            <a:r>
              <a:rPr lang="pt-BR" b="1" dirty="0" smtClean="0">
                <a:solidFill>
                  <a:srgbClr val="FF0000"/>
                </a:solidFill>
              </a:rPr>
              <a:t>M, s ⊨ ￢φ </a:t>
            </a:r>
            <a:r>
              <a:rPr lang="pt-BR" dirty="0" smtClean="0"/>
              <a:t>équivaut à </a:t>
            </a:r>
            <a:r>
              <a:rPr lang="pt-BR" b="1" dirty="0" smtClean="0">
                <a:solidFill>
                  <a:srgbClr val="FF0000"/>
                </a:solidFill>
              </a:rPr>
              <a:t>M, s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⊭</a:t>
            </a:r>
            <a:r>
              <a:rPr lang="pt-BR" b="1" dirty="0" smtClean="0">
                <a:solidFill>
                  <a:srgbClr val="FF0000"/>
                </a:solidFill>
              </a:rPr>
              <a:t>φ</a:t>
            </a:r>
          </a:p>
          <a:p>
            <a:pPr lvl="1"/>
            <a:r>
              <a:rPr lang="pt-BR" b="1" dirty="0" smtClean="0">
                <a:solidFill>
                  <a:srgbClr val="FF0000"/>
                </a:solidFill>
              </a:rPr>
              <a:t>M, s⊨ φ</a:t>
            </a:r>
            <a:r>
              <a:rPr lang="pt-BR" b="1" baseline="-25000" dirty="0" smtClean="0">
                <a:solidFill>
                  <a:srgbClr val="FF0000"/>
                </a:solidFill>
              </a:rPr>
              <a:t>1</a:t>
            </a:r>
            <a:r>
              <a:rPr lang="pt-BR" b="1" dirty="0" smtClean="0">
                <a:solidFill>
                  <a:srgbClr val="FF0000"/>
                </a:solidFill>
              </a:rPr>
              <a:t> ∧ φ</a:t>
            </a:r>
            <a:r>
              <a:rPr lang="pt-BR" b="1" baseline="-25000" dirty="0" smtClean="0">
                <a:solidFill>
                  <a:srgbClr val="FF0000"/>
                </a:solidFill>
              </a:rPr>
              <a:t>2</a:t>
            </a:r>
            <a:r>
              <a:rPr lang="pt-BR" b="1" dirty="0" smtClean="0">
                <a:solidFill>
                  <a:srgbClr val="FF0000"/>
                </a:solidFill>
              </a:rPr>
              <a:t> </a:t>
            </a:r>
            <a:r>
              <a:rPr lang="pt-BR" dirty="0" smtClean="0"/>
              <a:t>équivaut à </a:t>
            </a:r>
            <a:r>
              <a:rPr lang="pt-BR" b="1" dirty="0" smtClean="0">
                <a:solidFill>
                  <a:srgbClr val="FF0000"/>
                </a:solidFill>
              </a:rPr>
              <a:t>M, s ⊨ φ</a:t>
            </a:r>
            <a:r>
              <a:rPr lang="pt-BR" b="1" baseline="-25000" dirty="0" smtClean="0">
                <a:solidFill>
                  <a:srgbClr val="FF0000"/>
                </a:solidFill>
              </a:rPr>
              <a:t>1</a:t>
            </a:r>
            <a:r>
              <a:rPr lang="pt-BR" b="1" dirty="0" smtClean="0">
                <a:solidFill>
                  <a:srgbClr val="FF0000"/>
                </a:solidFill>
              </a:rPr>
              <a:t> </a:t>
            </a:r>
            <a:r>
              <a:rPr lang="pt-BR" dirty="0" smtClean="0"/>
              <a:t>et </a:t>
            </a:r>
            <a:r>
              <a:rPr lang="pt-BR" b="1" dirty="0" smtClean="0">
                <a:solidFill>
                  <a:srgbClr val="FF0000"/>
                </a:solidFill>
              </a:rPr>
              <a:t>M, s ⊨ φ</a:t>
            </a:r>
            <a:r>
              <a:rPr lang="pt-BR" b="1" baseline="-25000" dirty="0" smtClean="0">
                <a:solidFill>
                  <a:srgbClr val="FF0000"/>
                </a:solidFill>
              </a:rPr>
              <a:t>2</a:t>
            </a:r>
          </a:p>
          <a:p>
            <a:pPr lvl="1"/>
            <a:endParaRPr lang="fr-FR" b="1" dirty="0" smtClean="0">
              <a:solidFill>
                <a:srgbClr val="FF0000"/>
              </a:solidFill>
            </a:endParaRP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M, s ⊨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S</a:t>
            </a:r>
            <a:r>
              <a:rPr lang="fr-FR" b="1" baseline="-25000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~</a:t>
            </a:r>
            <a:r>
              <a:rPr lang="el-GR" b="1" baseline="-25000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λ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(</a:t>
            </a:r>
            <a:r>
              <a:rPr lang="el-GR" b="1" dirty="0" smtClean="0">
                <a:solidFill>
                  <a:srgbClr val="FF0000"/>
                </a:solidFill>
                <a:ea typeface="Latin Modern Math"/>
              </a:rPr>
              <a:t>ϕ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)</a:t>
            </a:r>
            <a:r>
              <a:rPr lang="el-GR" b="1" dirty="0" smtClean="0">
                <a:solidFill>
                  <a:srgbClr val="FF0000"/>
                </a:solidFill>
              </a:rPr>
              <a:t> </a:t>
            </a:r>
            <a:r>
              <a:rPr lang="fr-FR" dirty="0" smtClean="0"/>
              <a:t>équivaut à trouver tous les états </a:t>
            </a:r>
            <a:r>
              <a:rPr lang="fr-FR" b="1" dirty="0" smtClean="0">
                <a:solidFill>
                  <a:srgbClr val="FF0000"/>
                </a:solidFill>
              </a:rPr>
              <a:t>s’</a:t>
            </a:r>
            <a:r>
              <a:rPr lang="fr-FR" dirty="0" smtClean="0"/>
              <a:t> tel que :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M, s’ ⊨ </a:t>
            </a:r>
            <a:r>
              <a:rPr lang="el-GR" b="1" dirty="0" smtClean="0">
                <a:solidFill>
                  <a:srgbClr val="FF0000"/>
                </a:solidFill>
                <a:ea typeface="Latin Modern Math"/>
              </a:rPr>
              <a:t>ϕ</a:t>
            </a:r>
            <a:endParaRPr lang="fr-FR" b="1" dirty="0" smtClean="0">
              <a:solidFill>
                <a:srgbClr val="FF0000"/>
              </a:solidFill>
            </a:endParaRPr>
          </a:p>
          <a:p>
            <a:pPr lvl="2"/>
            <a:r>
              <a:rPr lang="en-US" sz="2100" b="1" dirty="0" smtClean="0">
                <a:solidFill>
                  <a:srgbClr val="FF0000"/>
                </a:solidFill>
                <a:sym typeface="Symbol"/>
              </a:rPr>
              <a:t></a:t>
            </a:r>
            <a:r>
              <a:rPr lang="en-US" sz="2100" b="1" baseline="-25000" dirty="0" smtClean="0">
                <a:solidFill>
                  <a:srgbClr val="FF0000"/>
                </a:solidFill>
                <a:sym typeface="Symbol"/>
              </a:rPr>
              <a:t>s’</a:t>
            </a:r>
            <a:r>
              <a:rPr lang="en-US" sz="2100" b="1" dirty="0" smtClean="0">
                <a:solidFill>
                  <a:srgbClr val="FF0000"/>
                </a:solidFill>
                <a:sym typeface="Symbol"/>
              </a:rPr>
              <a:t>(s)=</a:t>
            </a:r>
            <a:r>
              <a:rPr lang="en-US" sz="2100" b="1" dirty="0" err="1" smtClean="0">
                <a:solidFill>
                  <a:srgbClr val="FF0000"/>
                </a:solidFill>
                <a:sym typeface="Symbol"/>
              </a:rPr>
              <a:t>lim</a:t>
            </a:r>
            <a:r>
              <a:rPr lang="en-US" sz="2100" b="1" baseline="-25000" dirty="0" err="1" smtClean="0">
                <a:solidFill>
                  <a:srgbClr val="FF0000"/>
                </a:solidFill>
                <a:sym typeface="Symbol"/>
              </a:rPr>
              <a:t>t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  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 P{</a:t>
            </a:r>
            <a:r>
              <a:rPr lang="fr-FR" b="1" dirty="0" err="1" smtClean="0">
                <a:solidFill>
                  <a:srgbClr val="FF0000"/>
                </a:solidFill>
                <a:sym typeface="Symbol"/>
              </a:rPr>
              <a:t>Path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(s) | (t)S’}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~</a:t>
            </a:r>
            <a:r>
              <a:rPr lang="el-G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λ</a:t>
            </a:r>
            <a:endParaRPr lang="fr-FR" b="1" dirty="0" smtClean="0">
              <a:solidFill>
                <a:srgbClr val="FF0000"/>
              </a:solidFill>
              <a:sym typeface="Symbol"/>
            </a:endParaRPr>
          </a:p>
          <a:p>
            <a:pPr lvl="3"/>
            <a:r>
              <a:rPr lang="fr-FR" dirty="0" err="1" smtClean="0">
                <a:sym typeface="Symbol"/>
              </a:rPr>
              <a:t>Path</a:t>
            </a:r>
            <a:r>
              <a:rPr lang="fr-FR" dirty="0" smtClean="0">
                <a:sym typeface="Symbol"/>
              </a:rPr>
              <a:t>(s) : tous les chemins commençant par s</a:t>
            </a:r>
            <a:endParaRPr lang="en-US" dirty="0" smtClean="0"/>
          </a:p>
          <a:p>
            <a:pPr lvl="1"/>
            <a:endParaRPr lang="fr-FR" b="1" dirty="0" smtClean="0">
              <a:solidFill>
                <a:srgbClr val="FF0000"/>
              </a:solidFill>
            </a:endParaRP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M, s ⊨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ℙ</a:t>
            </a:r>
            <a:r>
              <a:rPr lang="fr-FR" b="1" baseline="-25000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~</a:t>
            </a:r>
            <a:r>
              <a:rPr lang="el-GR" b="1" baseline="-25000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λ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(</a:t>
            </a:r>
            <a:r>
              <a:rPr lang="el-G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ϕ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)</a:t>
            </a:r>
            <a:r>
              <a:rPr lang="el-GR" b="1" dirty="0" smtClean="0">
                <a:solidFill>
                  <a:srgbClr val="FF0000"/>
                </a:solidFill>
              </a:rPr>
              <a:t> </a:t>
            </a:r>
            <a:r>
              <a:rPr lang="fr-FR" dirty="0" smtClean="0"/>
              <a:t>équivaut à :</a:t>
            </a:r>
          </a:p>
          <a:p>
            <a:pPr lvl="2"/>
            <a:r>
              <a:rPr lang="fr-FR" dirty="0" smtClean="0"/>
              <a:t>Calculer </a:t>
            </a:r>
            <a:r>
              <a:rPr lang="en-US" b="1" dirty="0" smtClean="0">
                <a:solidFill>
                  <a:srgbClr val="FF0000"/>
                </a:solidFill>
              </a:rPr>
              <a:t>P(s,</a:t>
            </a:r>
            <a:r>
              <a:rPr lang="el-G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ϕ</a:t>
            </a:r>
            <a:r>
              <a:rPr lang="en-US" b="1" dirty="0" smtClean="0">
                <a:solidFill>
                  <a:srgbClr val="FF0000"/>
                </a:solidFill>
              </a:rPr>
              <a:t>) = P {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</a:t>
            </a:r>
            <a:r>
              <a:rPr lang="fr-FR" b="1" dirty="0" err="1" smtClean="0">
                <a:solidFill>
                  <a:srgbClr val="FF0000"/>
                </a:solidFill>
                <a:sym typeface="Symbol"/>
              </a:rPr>
              <a:t>Path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(s)</a:t>
            </a:r>
            <a:r>
              <a:rPr lang="en-US" b="1" dirty="0" smtClean="0">
                <a:solidFill>
                  <a:srgbClr val="FF0000"/>
                </a:solidFill>
              </a:rPr>
              <a:t> |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</a:t>
            </a:r>
            <a:r>
              <a:rPr lang="fr-FR" b="1" dirty="0" smtClean="0">
                <a:solidFill>
                  <a:srgbClr val="FF0000"/>
                </a:solidFill>
              </a:rPr>
              <a:t> ⊨</a:t>
            </a:r>
            <a:r>
              <a:rPr lang="el-G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ϕ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}</a:t>
            </a:r>
            <a:r>
              <a:rPr lang="en-US" dirty="0" smtClean="0"/>
              <a:t> et comparer à </a:t>
            </a:r>
            <a:r>
              <a:rPr lang="el-G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λ</a:t>
            </a:r>
            <a:endParaRPr lang="fr-FR" dirty="0" smtClean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Civil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Personnalisé 1">
      <a:majorFont>
        <a:latin typeface="Ubuntu"/>
        <a:ea typeface=""/>
        <a:cs typeface=""/>
      </a:majorFont>
      <a:minorFont>
        <a:latin typeface="Ubuntu"/>
        <a:ea typeface=""/>
        <a:cs typeface="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5436</TotalTime>
  <Words>3856</Words>
  <Application>Microsoft Office PowerPoint</Application>
  <PresentationFormat>Affichage à l'écran (4:3)</PresentationFormat>
  <Paragraphs>559</Paragraphs>
  <Slides>44</Slides>
  <Notes>1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44</vt:i4>
      </vt:variant>
    </vt:vector>
  </HeadingPairs>
  <TitlesOfParts>
    <vt:vector size="46" baseType="lpstr">
      <vt:lpstr>Civil</vt:lpstr>
      <vt:lpstr>Picture</vt:lpstr>
      <vt:lpstr>Chapitre 2 : spécification formelle des propriétés </vt:lpstr>
      <vt:lpstr>Plan du chapitre</vt:lpstr>
      <vt:lpstr>Principe de raisonnement temporel sur les systèmes</vt:lpstr>
      <vt:lpstr>Nature des propriétés des systèmes</vt:lpstr>
      <vt:lpstr>Complexité des propriétés à vérifier</vt:lpstr>
      <vt:lpstr>Nécessité de raisonner sur le temps</vt:lpstr>
      <vt:lpstr>Représentations par des instants</vt:lpstr>
      <vt:lpstr>Représentations du temps par des intervalles</vt:lpstr>
      <vt:lpstr>Limites</vt:lpstr>
      <vt:lpstr>Logique temporelle</vt:lpstr>
      <vt:lpstr>Opérateurs temporels</vt:lpstr>
      <vt:lpstr>Opérateurs temporels</vt:lpstr>
      <vt:lpstr>Explications sur la sémantique</vt:lpstr>
      <vt:lpstr>Explications sur la sémantique</vt:lpstr>
      <vt:lpstr>Explications sur la sémantique</vt:lpstr>
      <vt:lpstr>Combinaisons intéressantes</vt:lpstr>
      <vt:lpstr>Exemples</vt:lpstr>
      <vt:lpstr>Propriétés</vt:lpstr>
      <vt:lpstr>Quantification temporelle</vt:lpstr>
      <vt:lpstr>Sémantique de la quantification</vt:lpstr>
      <vt:lpstr>Sémantique de la quantification</vt:lpstr>
      <vt:lpstr>Logiques temporelles</vt:lpstr>
      <vt:lpstr>Structure de Kripke : un cadre formel pour la sémantique :</vt:lpstr>
      <vt:lpstr>Structure de Kripke</vt:lpstr>
      <vt:lpstr>Propriétés des structures de Kripke</vt:lpstr>
      <vt:lpstr>Exemple de chemin</vt:lpstr>
      <vt:lpstr>La logique LTL : linear tomporal logic</vt:lpstr>
      <vt:lpstr>Sémantique LTL</vt:lpstr>
      <vt:lpstr>La logique CTL : computation tree logic</vt:lpstr>
      <vt:lpstr>Sémantique CTL</vt:lpstr>
      <vt:lpstr>Quelques propriétés CTL communes</vt:lpstr>
      <vt:lpstr>Pouvoir d’expression LTL vs CTL</vt:lpstr>
      <vt:lpstr>Notions avancées</vt:lpstr>
      <vt:lpstr>Logiques temporelles probabilistes</vt:lpstr>
      <vt:lpstr>Logiques temporelles probabilistes</vt:lpstr>
      <vt:lpstr>Logiques temporelles probabilistes</vt:lpstr>
      <vt:lpstr>Logiques temporelles probabilistes</vt:lpstr>
      <vt:lpstr>La logique PCTL</vt:lpstr>
      <vt:lpstr>Sémantique de PCTL</vt:lpstr>
      <vt:lpstr>Sémantique PCTL</vt:lpstr>
      <vt:lpstr>Sémantique PCTL</vt:lpstr>
      <vt:lpstr>La logique CSL</vt:lpstr>
      <vt:lpstr>Sémantique de CSL</vt:lpstr>
      <vt:lpstr>Sémantique de CSL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 2 : spécification formelle des propriétés </dc:title>
  <dc:creator>DELL</dc:creator>
  <cp:lastModifiedBy>DELL</cp:lastModifiedBy>
  <cp:revision>120</cp:revision>
  <dcterms:created xsi:type="dcterms:W3CDTF">2014-03-13T01:59:59Z</dcterms:created>
  <dcterms:modified xsi:type="dcterms:W3CDTF">2015-02-26T08:29:20Z</dcterms:modified>
</cp:coreProperties>
</file>