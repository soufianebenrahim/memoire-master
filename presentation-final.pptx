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Layouts/slideLayout8.xml" ContentType="application/vnd.openxmlformats-officedocument.presentationml.slideLayout+xml"/>
  <Override PartName="/ppt/notesSlides/notesSlide2.xml" ContentType="application/vnd.openxmlformats-officedocument.presentationml.notesSlide+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wmf" ContentType="image/x-wmf"/>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notesSlides/notesSlide13.xml" ContentType="application/vnd.openxmlformats-officedocument.presentationml.notesSlide+xml"/>
  <Override PartName="/ppt/slideLayouts/slideLayout10.xml" ContentType="application/vnd.openxmlformats-officedocument.presentationml.slideLayout+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10.xml" ContentType="application/vnd.openxmlformats-officedocument.presentationml.notes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Layouts/slideLayout7.xml" ContentType="application/vnd.openxmlformats-officedocument.presentationml.slideLayout+xml"/>
  <Override PartName="/ppt/notesSlides/notesSlide1.xml" ContentType="application/vnd.openxmlformats-officedocument.presentationml.notesSlide+xml"/>
  <Default Extension="png" ContentType="image/png"/>
  <Override PartName="/ppt/notesSlides/notesSlide3.xml" ContentType="application/vnd.openxmlformats-officedocument.presentationml.notesSlide+xml"/>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Default Extension="jpeg" ContentType="image/jpeg"/>
  <Override PartName="/ppt/slideLayouts/slideLayout3.xml" ContentType="application/vnd.openxmlformats-officedocument.presentationml.slideLayout+xml"/>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177" r:id="rId1"/>
  </p:sldMasterIdLst>
  <p:notesMasterIdLst>
    <p:notesMasterId r:id="rId34"/>
  </p:notesMasterIdLst>
  <p:sldIdLst>
    <p:sldId id="256" r:id="rId2"/>
    <p:sldId id="265" r:id="rId3"/>
    <p:sldId id="264" r:id="rId4"/>
    <p:sldId id="269" r:id="rId5"/>
    <p:sldId id="266" r:id="rId6"/>
    <p:sldId id="267" r:id="rId7"/>
    <p:sldId id="268" r:id="rId8"/>
    <p:sldId id="270" r:id="rId9"/>
    <p:sldId id="276" r:id="rId10"/>
    <p:sldId id="275" r:id="rId11"/>
    <p:sldId id="272" r:id="rId12"/>
    <p:sldId id="273" r:id="rId13"/>
    <p:sldId id="292" r:id="rId14"/>
    <p:sldId id="294" r:id="rId15"/>
    <p:sldId id="295" r:id="rId16"/>
    <p:sldId id="261" r:id="rId17"/>
    <p:sldId id="257" r:id="rId18"/>
    <p:sldId id="260" r:id="rId19"/>
    <p:sldId id="277" r:id="rId20"/>
    <p:sldId id="279" r:id="rId21"/>
    <p:sldId id="289" r:id="rId22"/>
    <p:sldId id="290" r:id="rId23"/>
    <p:sldId id="280" r:id="rId24"/>
    <p:sldId id="281" r:id="rId25"/>
    <p:sldId id="282" r:id="rId26"/>
    <p:sldId id="258" r:id="rId27"/>
    <p:sldId id="283" r:id="rId28"/>
    <p:sldId id="259" r:id="rId29"/>
    <p:sldId id="284" r:id="rId30"/>
    <p:sldId id="285" r:id="rId31"/>
    <p:sldId id="286" r:id="rId32"/>
    <p:sldId id="288" r:id="rId33"/>
  </p:sldIdLst>
  <p:sldSz cx="9144000" cy="5143500" type="screen16x9"/>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xmlns="" val="0"/>
    </p:ext>
    <p:ext uri="{D31A062A-798A-4329-ABDD-BBA856620510}">
      <p14:defaultImageDpi xmlns:p14="http://schemas.microsoft.com/office/powerpoint/2010/main" xmlns=""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618" autoAdjust="0"/>
    <p:restoredTop sz="94680" autoAdjust="0"/>
  </p:normalViewPr>
  <p:slideViewPr>
    <p:cSldViewPr>
      <p:cViewPr varScale="1">
        <p:scale>
          <a:sx n="108" d="100"/>
          <a:sy n="108" d="100"/>
        </p:scale>
        <p:origin x="-264" y="-90"/>
      </p:cViewPr>
      <p:guideLst>
        <p:guide orient="horz" pos="1620"/>
        <p:guide pos="2880"/>
      </p:guideLst>
    </p:cSldViewPr>
  </p:slideViewPr>
  <p:outlineViewPr>
    <p:cViewPr>
      <p:scale>
        <a:sx n="33" d="100"/>
        <a:sy n="33" d="100"/>
      </p:scale>
      <p:origin x="0" y="0"/>
    </p:cViewPr>
  </p:outlin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44405F2-21D4-4322-8F43-88587026B278}" type="datetimeFigureOut">
              <a:rPr lang="fr-FR" smtClean="0"/>
              <a:pPr/>
              <a:t>24/06/2018</a:t>
            </a:fld>
            <a:endParaRPr lang="fr-FR"/>
          </a:p>
        </p:txBody>
      </p:sp>
      <p:sp>
        <p:nvSpPr>
          <p:cNvPr id="4" name="Espace réservé de l'image des diapositives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smtClean="0"/>
              <a:t>Modifiez les styles du texte du masque</a:t>
            </a:r>
          </a:p>
          <a:p>
            <a:pPr lvl="1"/>
            <a:r>
              <a:rPr lang="fr-FR" smtClean="0"/>
              <a:t>Deuxième niveau</a:t>
            </a:r>
          </a:p>
          <a:p>
            <a:pPr lvl="2"/>
            <a:r>
              <a:rPr lang="fr-FR" smtClean="0"/>
              <a:t>Troisième niveau</a:t>
            </a:r>
          </a:p>
          <a:p>
            <a:pPr lvl="3"/>
            <a:r>
              <a:rPr lang="fr-FR" smtClean="0"/>
              <a:t>Quatrième niveau</a:t>
            </a:r>
          </a:p>
          <a:p>
            <a:pPr lvl="4"/>
            <a:r>
              <a:rPr lang="fr-FR" smtClean="0"/>
              <a:t>Cinquième niveau</a:t>
            </a:r>
            <a:endParaRPr lang="fr-F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101F6EB-9E6A-4C0D-B326-6BD7C74A0994}" type="slidenum">
              <a:rPr lang="fr-FR" smtClean="0"/>
              <a:pPr/>
              <a:t>‹N°›</a:t>
            </a:fld>
            <a:endParaRPr lang="fr-FR"/>
          </a:p>
        </p:txBody>
      </p:sp>
    </p:spTree>
    <p:extLst>
      <p:ext uri="{BB962C8B-B14F-4D97-AF65-F5344CB8AC3E}">
        <p14:creationId xmlns:p14="http://schemas.microsoft.com/office/powerpoint/2010/main" xmlns="" val="2210152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smtClean="0">
                <a:solidFill>
                  <a:schemeClr val="tx1"/>
                </a:solidFill>
                <a:latin typeface="+mn-lt"/>
                <a:ea typeface="+mn-ea"/>
                <a:cs typeface="+mn-cs"/>
              </a:rPr>
              <a:t>Le besoin de villes intelligentes augmente de jour en jour avec l'augmentation de la population car les ressources terrestres sont limitées.</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3</a:t>
            </a:fld>
            <a:endParaRPr lang="fr-FR"/>
          </a:p>
        </p:txBody>
      </p:sp>
    </p:spTree>
    <p:extLst>
      <p:ext uri="{BB962C8B-B14F-4D97-AF65-F5344CB8AC3E}">
        <p14:creationId xmlns:p14="http://schemas.microsoft.com/office/powerpoint/2010/main" xmlns="" val="3811742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dirty="0" smtClean="0"/>
              <a:t>Une ville intelligente peut avoir un ou plusieurs composants intelligents, y compris le transport intelligent, le réseau intelligent, les soins de santé intelligents et la gouvernance intelligente. L’Internet of </a:t>
            </a:r>
            <a:r>
              <a:rPr lang="fr-FR" dirty="0" err="1" smtClean="0"/>
              <a:t>Things</a:t>
            </a:r>
            <a:r>
              <a:rPr lang="fr-FR" dirty="0" smtClean="0"/>
              <a:t> (</a:t>
            </a:r>
            <a:r>
              <a:rPr lang="fr-FR" dirty="0" err="1" smtClean="0"/>
              <a:t>IoT</a:t>
            </a:r>
            <a:r>
              <a:rPr lang="fr-FR" dirty="0" smtClean="0"/>
              <a:t>), les Cyber </a:t>
            </a:r>
            <a:r>
              <a:rPr lang="fr-FR" dirty="0" err="1" smtClean="0"/>
              <a:t>Physical</a:t>
            </a:r>
            <a:r>
              <a:rPr lang="fr-FR" dirty="0" smtClean="0"/>
              <a:t> </a:t>
            </a:r>
            <a:r>
              <a:rPr lang="fr-FR" dirty="0" err="1" smtClean="0"/>
              <a:t>Systems</a:t>
            </a:r>
            <a:r>
              <a:rPr lang="fr-FR" dirty="0" smtClean="0"/>
              <a:t> (CPS) et </a:t>
            </a:r>
            <a:r>
              <a:rPr lang="fr-FR" dirty="0" err="1" smtClean="0"/>
              <a:t>Big</a:t>
            </a:r>
            <a:r>
              <a:rPr lang="fr-FR" dirty="0" smtClean="0"/>
              <a:t> Data sont des technologies clés dans le contexte des technologies de l'information et de la communication (TIC) et essentielles à l’implémentation des villes intelligentes</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4</a:t>
            </a:fld>
            <a:endParaRPr lang="fr-FR"/>
          </a:p>
        </p:txBody>
      </p:sp>
    </p:spTree>
    <p:extLst>
      <p:ext uri="{BB962C8B-B14F-4D97-AF65-F5344CB8AC3E}">
        <p14:creationId xmlns:p14="http://schemas.microsoft.com/office/powerpoint/2010/main" xmlns="" val="7797427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err="1" smtClean="0">
                <a:solidFill>
                  <a:schemeClr val="tx1"/>
                </a:solidFill>
                <a:latin typeface="+mn-lt"/>
                <a:ea typeface="+mn-ea"/>
                <a:cs typeface="+mn-cs"/>
              </a:rPr>
              <a:t>malgre</a:t>
            </a:r>
            <a:r>
              <a:rPr lang="fr-FR" sz="1200" b="0" i="0" u="none" strike="noStrike" kern="1200" baseline="0" dirty="0" smtClean="0">
                <a:solidFill>
                  <a:schemeClr val="tx1"/>
                </a:solidFill>
                <a:latin typeface="+mn-lt"/>
                <a:ea typeface="+mn-ea"/>
                <a:cs typeface="+mn-cs"/>
              </a:rPr>
              <a:t> qu'il est supplanté par des systèmes plus modernes</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5</a:t>
            </a:fld>
            <a:endParaRPr lang="fr-FR"/>
          </a:p>
        </p:txBody>
      </p:sp>
    </p:spTree>
    <p:extLst>
      <p:ext uri="{BB962C8B-B14F-4D97-AF65-F5344CB8AC3E}">
        <p14:creationId xmlns:p14="http://schemas.microsoft.com/office/powerpoint/2010/main" xmlns="" val="13197525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smtClean="0">
                <a:solidFill>
                  <a:schemeClr val="tx1"/>
                </a:solidFill>
                <a:latin typeface="+mn-lt"/>
                <a:ea typeface="+mn-ea"/>
                <a:cs typeface="+mn-cs"/>
              </a:rPr>
              <a:t>Il existe plusieurs raisons pour lesquelles on doit conserver une application ancienne ou </a:t>
            </a:r>
            <a:r>
              <a:rPr lang="fr-FR" sz="1200" b="0" i="0" u="none" strike="noStrike" kern="1200" baseline="0" dirty="0" err="1" smtClean="0">
                <a:solidFill>
                  <a:schemeClr val="tx1"/>
                </a:solidFill>
                <a:latin typeface="+mn-lt"/>
                <a:ea typeface="+mn-ea"/>
                <a:cs typeface="+mn-cs"/>
              </a:rPr>
              <a:t>legacy</a:t>
            </a:r>
            <a:r>
              <a:rPr lang="fr-FR" sz="1200" b="0" i="0" u="none" strike="noStrike" kern="1200" baseline="0" dirty="0" smtClean="0">
                <a:solidFill>
                  <a:schemeClr val="tx1"/>
                </a:solidFill>
                <a:latin typeface="+mn-lt"/>
                <a:ea typeface="+mn-ea"/>
                <a:cs typeface="+mn-cs"/>
              </a:rPr>
              <a:t>. </a:t>
            </a:r>
          </a:p>
          <a:p>
            <a:r>
              <a:rPr lang="fr-FR" sz="1200" b="0" i="0" u="none" strike="noStrike" kern="1200" baseline="0" dirty="0" smtClean="0">
                <a:solidFill>
                  <a:schemeClr val="tx1"/>
                </a:solidFill>
                <a:latin typeface="+mn-lt"/>
                <a:ea typeface="+mn-ea"/>
                <a:cs typeface="+mn-cs"/>
              </a:rPr>
              <a:t>Il peut être difficile à gérer et coûteux à remplacer, en particulier si les </a:t>
            </a:r>
          </a:p>
          <a:p>
            <a:r>
              <a:rPr lang="fr-FR" sz="1200" b="0" i="0" u="none" strike="noStrike" kern="1200" baseline="0" dirty="0" smtClean="0">
                <a:solidFill>
                  <a:schemeClr val="tx1"/>
                </a:solidFill>
                <a:latin typeface="+mn-lt"/>
                <a:ea typeface="+mn-ea"/>
                <a:cs typeface="+mn-cs"/>
              </a:rPr>
              <a:t>risques opérationnels peuvent être trop élevés, </a:t>
            </a:r>
          </a:p>
          <a:p>
            <a:r>
              <a:rPr lang="fr-FR" sz="1200" b="0" i="0" u="none" strike="noStrike" kern="1200" baseline="0" dirty="0" smtClean="0">
                <a:solidFill>
                  <a:schemeClr val="tx1"/>
                </a:solidFill>
                <a:latin typeface="+mn-lt"/>
                <a:ea typeface="+mn-ea"/>
                <a:cs typeface="+mn-cs"/>
              </a:rPr>
              <a:t>surtout si des données vitales peuvent être perdues ou corrompues.</a:t>
            </a:r>
          </a:p>
          <a:p>
            <a:r>
              <a:rPr lang="fr-FR" sz="1200" b="0" i="0" u="none" strike="noStrike" kern="1200" baseline="0" dirty="0" smtClean="0">
                <a:solidFill>
                  <a:schemeClr val="tx1"/>
                </a:solidFill>
                <a:latin typeface="+mn-lt"/>
                <a:ea typeface="+mn-ea"/>
                <a:cs typeface="+mn-cs"/>
              </a:rPr>
              <a:t>la transformation de ces applications en services web, peut nous éviter les coûts de leur réingénierie et les risques qui peuvent se poser,</a:t>
            </a:r>
          </a:p>
          <a:p>
            <a:r>
              <a:rPr lang="fr-FR" sz="1200" b="0" i="0" u="none" strike="noStrike" kern="1200" baseline="0" dirty="0" smtClean="0">
                <a:solidFill>
                  <a:schemeClr val="tx1"/>
                </a:solidFill>
                <a:latin typeface="+mn-lt"/>
                <a:ea typeface="+mn-ea"/>
                <a:cs typeface="+mn-cs"/>
              </a:rPr>
              <a:t>en plus l’utilisateur n’a plus besoins de les installer, il suffit qu’il dispose d’un navigateur web pour qu’il utilise ces applications</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6</a:t>
            </a:fld>
            <a:endParaRPr lang="fr-FR"/>
          </a:p>
        </p:txBody>
      </p:sp>
    </p:spTree>
    <p:extLst>
      <p:ext uri="{BB962C8B-B14F-4D97-AF65-F5344CB8AC3E}">
        <p14:creationId xmlns:p14="http://schemas.microsoft.com/office/powerpoint/2010/main" xmlns="" val="15143665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dirty="0" smtClean="0"/>
              <a:t>L’objectif de notre contribution est d’offrir une solution qui permet de transformer des applications obsolètes « </a:t>
            </a:r>
            <a:r>
              <a:rPr lang="fr-FR" dirty="0" err="1" smtClean="0"/>
              <a:t>legacy</a:t>
            </a:r>
            <a:r>
              <a:rPr lang="fr-FR" dirty="0" smtClean="0"/>
              <a:t> » développé en JAVA en service web « </a:t>
            </a:r>
            <a:r>
              <a:rPr lang="fr-FR" dirty="0" err="1" smtClean="0"/>
              <a:t>SaaS</a:t>
            </a:r>
            <a:r>
              <a:rPr lang="fr-FR" dirty="0" smtClean="0"/>
              <a:t> » et les rendre accessible via le navigateur web afin de les intégrer dans un Cloud standardisé « FIWARE »</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7</a:t>
            </a:fld>
            <a:endParaRPr lang="fr-FR"/>
          </a:p>
        </p:txBody>
      </p:sp>
    </p:spTree>
    <p:extLst>
      <p:ext uri="{BB962C8B-B14F-4D97-AF65-F5344CB8AC3E}">
        <p14:creationId xmlns:p14="http://schemas.microsoft.com/office/powerpoint/2010/main" xmlns="" val="36576801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dirty="0" smtClean="0"/>
              <a:t>Le Cloud </a:t>
            </a:r>
            <a:r>
              <a:rPr lang="fr-FR" dirty="0" err="1" smtClean="0"/>
              <a:t>Computing</a:t>
            </a:r>
            <a:r>
              <a:rPr lang="fr-FR" dirty="0" smtClean="0"/>
              <a:t> est un modèle informatique pratique pour établir un accès facile et à la demande, par le réseau, à un réservoir partagé de ressources informatiques configurables</a:t>
            </a:r>
          </a:p>
          <a:p>
            <a:r>
              <a:rPr lang="fr-FR" dirty="0" smtClean="0"/>
              <a:t>(le but) (Afin) de pouvoir utiliser des ressources informatiques sans les posséder.</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9</a:t>
            </a:fld>
            <a:endParaRPr lang="fr-FR"/>
          </a:p>
        </p:txBody>
      </p:sp>
    </p:spTree>
    <p:extLst>
      <p:ext uri="{BB962C8B-B14F-4D97-AF65-F5344CB8AC3E}">
        <p14:creationId xmlns:p14="http://schemas.microsoft.com/office/powerpoint/2010/main" xmlns="" val="14849457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dirty="0" err="1" smtClean="0">
                <a:latin typeface="+mn-lt"/>
                <a:cs typeface="Calibri"/>
              </a:rPr>
              <a:t>IaaS</a:t>
            </a:r>
            <a:r>
              <a:rPr lang="fr-FR" sz="1200" dirty="0" smtClean="0">
                <a:latin typeface="+mn-lt"/>
                <a:cs typeface="Calibri"/>
              </a:rPr>
              <a:t> </a:t>
            </a:r>
            <a:r>
              <a:rPr lang="fr-FR" sz="1200" spc="-10" dirty="0" smtClean="0">
                <a:latin typeface="+mn-lt"/>
                <a:cs typeface="Calibri"/>
              </a:rPr>
              <a:t>(Infrastructure </a:t>
            </a:r>
            <a:r>
              <a:rPr lang="fr-FR" sz="1200" dirty="0" smtClean="0">
                <a:latin typeface="+mn-lt"/>
                <a:cs typeface="Calibri"/>
              </a:rPr>
              <a:t>as a  Service) : </a:t>
            </a:r>
            <a:r>
              <a:rPr lang="fr-FR" sz="1200" spc="-5" dirty="0" smtClean="0">
                <a:latin typeface="+mn-lt"/>
                <a:cs typeface="Calibri"/>
              </a:rPr>
              <a:t>Un </a:t>
            </a:r>
            <a:r>
              <a:rPr lang="fr-FR" sz="1200" spc="-15" dirty="0" smtClean="0">
                <a:latin typeface="+mn-lt"/>
                <a:cs typeface="Calibri"/>
              </a:rPr>
              <a:t>prestataire </a:t>
            </a:r>
            <a:r>
              <a:rPr lang="fr-FR" sz="1200" spc="-10" dirty="0" smtClean="0">
                <a:latin typeface="+mn-lt"/>
                <a:cs typeface="Calibri"/>
              </a:rPr>
              <a:t>vous fournit </a:t>
            </a:r>
            <a:r>
              <a:rPr lang="fr-FR" sz="1200" dirty="0" smtClean="0">
                <a:latin typeface="+mn-lt"/>
                <a:cs typeface="Calibri"/>
              </a:rPr>
              <a:t>un </a:t>
            </a:r>
            <a:r>
              <a:rPr lang="fr-FR" sz="1200" spc="-5" dirty="0" smtClean="0">
                <a:latin typeface="+mn-lt"/>
                <a:cs typeface="Calibri"/>
              </a:rPr>
              <a:t>accès </a:t>
            </a:r>
            <a:r>
              <a:rPr lang="fr-FR" sz="1200" dirty="0" smtClean="0">
                <a:latin typeface="+mn-lt"/>
                <a:cs typeface="Calibri"/>
              </a:rPr>
              <a:t>à </a:t>
            </a:r>
            <a:r>
              <a:rPr lang="fr-FR" sz="1200" spc="-10" dirty="0" smtClean="0">
                <a:latin typeface="+mn-lt"/>
                <a:cs typeface="Calibri"/>
              </a:rPr>
              <a:t>tout </a:t>
            </a:r>
            <a:r>
              <a:rPr lang="fr-FR" sz="1200" spc="-5" dirty="0" smtClean="0">
                <a:latin typeface="+mn-lt"/>
                <a:cs typeface="Calibri"/>
              </a:rPr>
              <a:t>ou partie  </a:t>
            </a:r>
            <a:r>
              <a:rPr lang="fr-FR" sz="1200" dirty="0" smtClean="0">
                <a:latin typeface="+mn-lt"/>
                <a:cs typeface="Calibri"/>
              </a:rPr>
              <a:t>de </a:t>
            </a:r>
            <a:r>
              <a:rPr lang="fr-FR" sz="1200" spc="-5" dirty="0" smtClean="0">
                <a:latin typeface="+mn-lt"/>
                <a:cs typeface="Calibri"/>
              </a:rPr>
              <a:t>son </a:t>
            </a:r>
            <a:r>
              <a:rPr lang="fr-FR" sz="1200" spc="-10" dirty="0" smtClean="0">
                <a:latin typeface="+mn-lt"/>
                <a:cs typeface="Calibri"/>
              </a:rPr>
              <a:t>infrastructure</a:t>
            </a:r>
            <a:r>
              <a:rPr lang="fr-FR" sz="1200" spc="-40" dirty="0" smtClean="0">
                <a:latin typeface="+mn-lt"/>
                <a:cs typeface="Calibri"/>
              </a:rPr>
              <a:t> </a:t>
            </a:r>
            <a:r>
              <a:rPr lang="fr-FR" sz="1200" spc="-5" dirty="0" smtClean="0">
                <a:latin typeface="+mn-lt"/>
                <a:cs typeface="Calibri"/>
              </a:rPr>
              <a:t>technique</a:t>
            </a:r>
          </a:p>
          <a:p>
            <a:r>
              <a:rPr lang="fr-FR" sz="1200" spc="-5" dirty="0" smtClean="0">
                <a:latin typeface="+mn-lt"/>
                <a:cs typeface="Calibri"/>
              </a:rPr>
              <a:t>Le modèle de services «Infrastructure en tant que service» (</a:t>
            </a:r>
            <a:r>
              <a:rPr lang="fr-FR" sz="1200" spc="-5" dirty="0" err="1" smtClean="0">
                <a:latin typeface="+mn-lt"/>
                <a:cs typeface="Calibri"/>
              </a:rPr>
              <a:t>IaaS</a:t>
            </a:r>
            <a:r>
              <a:rPr lang="fr-FR" sz="1200" spc="-5" dirty="0" smtClean="0">
                <a:latin typeface="+mn-lt"/>
                <a:cs typeface="Calibri"/>
              </a:rPr>
              <a:t>) est situé juste au-dessous du précédent (</a:t>
            </a:r>
            <a:r>
              <a:rPr lang="fr-FR" sz="1200" spc="-5" dirty="0" err="1" smtClean="0">
                <a:latin typeface="+mn-lt"/>
                <a:cs typeface="Calibri"/>
              </a:rPr>
              <a:t>PaaS</a:t>
            </a:r>
            <a:r>
              <a:rPr lang="fr-FR" sz="1200" spc="-5" dirty="0" smtClean="0">
                <a:latin typeface="+mn-lt"/>
                <a:cs typeface="Calibri"/>
              </a:rPr>
              <a:t>), puisqu’il permet de créer un pool de ressources virtuelles en divisant les ressources physiques à l’aide des technologies de virtualisation.</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spc="-45" dirty="0" err="1" smtClean="0">
                <a:latin typeface="+mn-lt"/>
                <a:cs typeface="Calibri"/>
              </a:rPr>
              <a:t>P</a:t>
            </a:r>
            <a:r>
              <a:rPr lang="fr-FR" sz="1200" dirty="0" err="1" smtClean="0">
                <a:latin typeface="+mn-lt"/>
                <a:cs typeface="Calibri"/>
              </a:rPr>
              <a:t>aaS</a:t>
            </a:r>
            <a:r>
              <a:rPr lang="fr-FR" sz="1200" baseline="0" dirty="0" smtClean="0">
                <a:latin typeface="+mn-lt"/>
                <a:cs typeface="Calibri"/>
              </a:rPr>
              <a:t> </a:t>
            </a:r>
            <a:r>
              <a:rPr lang="fr-FR" sz="1200" spc="-10" dirty="0" smtClean="0">
                <a:latin typeface="+mn-lt"/>
                <a:cs typeface="Calibri"/>
              </a:rPr>
              <a:t>(</a:t>
            </a:r>
            <a:r>
              <a:rPr lang="fr-FR" sz="1200" spc="-10" dirty="0" err="1" smtClean="0">
                <a:latin typeface="+mn-lt"/>
                <a:cs typeface="Calibri"/>
              </a:rPr>
              <a:t>P</a:t>
            </a:r>
            <a:r>
              <a:rPr lang="fr-FR" sz="1200" spc="-5" dirty="0" err="1" smtClean="0">
                <a:latin typeface="+mn-lt"/>
                <a:cs typeface="Calibri"/>
              </a:rPr>
              <a:t>l</a:t>
            </a:r>
            <a:r>
              <a:rPr lang="fr-FR" sz="1200" spc="-15" dirty="0" err="1" smtClean="0">
                <a:latin typeface="+mn-lt"/>
                <a:cs typeface="Calibri"/>
              </a:rPr>
              <a:t>a</a:t>
            </a:r>
            <a:r>
              <a:rPr lang="fr-FR" sz="1200" spc="-30" dirty="0" err="1" smtClean="0">
                <a:latin typeface="+mn-lt"/>
                <a:cs typeface="Calibri"/>
              </a:rPr>
              <a:t>t</a:t>
            </a:r>
            <a:r>
              <a:rPr lang="fr-FR" sz="1200" spc="-10" dirty="0" err="1" smtClean="0">
                <a:latin typeface="+mn-lt"/>
                <a:cs typeface="Calibri"/>
              </a:rPr>
              <a:t>e</a:t>
            </a:r>
            <a:r>
              <a:rPr lang="fr-FR" sz="1200" spc="-35" dirty="0" err="1" smtClean="0">
                <a:latin typeface="+mn-lt"/>
                <a:cs typeface="Calibri"/>
              </a:rPr>
              <a:t>f</a:t>
            </a:r>
            <a:r>
              <a:rPr lang="fr-FR" sz="1200" spc="-5" dirty="0" err="1" smtClean="0">
                <a:latin typeface="+mn-lt"/>
                <a:cs typeface="Calibri"/>
              </a:rPr>
              <a:t>orm</a:t>
            </a:r>
            <a:r>
              <a:rPr lang="fr-FR" sz="1200" spc="-5" dirty="0" smtClean="0">
                <a:latin typeface="+mn-lt"/>
                <a:cs typeface="Calibri"/>
              </a:rPr>
              <a:t> as </a:t>
            </a:r>
            <a:r>
              <a:rPr lang="fr-FR" sz="1200" dirty="0" smtClean="0">
                <a:latin typeface="+mn-lt"/>
                <a:cs typeface="Calibri"/>
              </a:rPr>
              <a:t>Service)</a:t>
            </a:r>
            <a:r>
              <a:rPr lang="fr-FR" sz="1200" baseline="0" dirty="0" smtClean="0">
                <a:latin typeface="+mn-lt"/>
                <a:cs typeface="Calibri"/>
              </a:rPr>
              <a:t> </a:t>
            </a:r>
            <a:r>
              <a:rPr lang="fr-FR" sz="1200" dirty="0" smtClean="0">
                <a:latin typeface="+mn-lt"/>
                <a:cs typeface="Calibri"/>
              </a:rPr>
              <a:t>:un ac</a:t>
            </a:r>
            <a:r>
              <a:rPr lang="fr-FR" sz="1200" spc="-10" dirty="0" smtClean="0">
                <a:latin typeface="+mn-lt"/>
                <a:cs typeface="Calibri"/>
              </a:rPr>
              <a:t>c</a:t>
            </a:r>
            <a:r>
              <a:rPr lang="fr-FR" sz="1200" dirty="0" smtClean="0">
                <a:latin typeface="+mn-lt"/>
                <a:cs typeface="Calibri"/>
              </a:rPr>
              <a:t>ès à </a:t>
            </a:r>
            <a:r>
              <a:rPr lang="fr-FR" sz="1200" spc="-10" dirty="0" smtClean="0">
                <a:latin typeface="+mn-lt"/>
                <a:cs typeface="Calibri"/>
              </a:rPr>
              <a:t>l’infrastructure + </a:t>
            </a:r>
            <a:r>
              <a:rPr lang="fr-FR" sz="1200" dirty="0" smtClean="0">
                <a:latin typeface="+mn-lt"/>
                <a:cs typeface="Calibri"/>
              </a:rPr>
              <a:t>ac</a:t>
            </a:r>
            <a:r>
              <a:rPr lang="fr-FR" sz="1200" spc="-10" dirty="0" smtClean="0">
                <a:latin typeface="+mn-lt"/>
                <a:cs typeface="Calibri"/>
              </a:rPr>
              <a:t>c</a:t>
            </a:r>
            <a:r>
              <a:rPr lang="fr-FR" sz="1200" dirty="0" smtClean="0">
                <a:latin typeface="+mn-lt"/>
                <a:cs typeface="Calibri"/>
              </a:rPr>
              <a:t>ès à </a:t>
            </a:r>
            <a:r>
              <a:rPr lang="fr-FR" sz="1200" spc="-5" dirty="0" smtClean="0">
                <a:latin typeface="+mn-lt"/>
                <a:cs typeface="Calibri"/>
              </a:rPr>
              <a:t>u</a:t>
            </a:r>
            <a:r>
              <a:rPr lang="fr-FR" sz="1200" spc="10" dirty="0" smtClean="0">
                <a:latin typeface="+mn-lt"/>
                <a:cs typeface="Calibri"/>
              </a:rPr>
              <a:t>n</a:t>
            </a:r>
            <a:r>
              <a:rPr lang="fr-FR" sz="1200" dirty="0" smtClean="0">
                <a:latin typeface="+mn-lt"/>
                <a:cs typeface="Calibri"/>
              </a:rPr>
              <a:t>e </a:t>
            </a:r>
            <a:r>
              <a:rPr lang="fr-FR" sz="1200" spc="-10" dirty="0" smtClean="0">
                <a:latin typeface="+mn-lt"/>
                <a:cs typeface="Calibri"/>
              </a:rPr>
              <a:t>plate-forme </a:t>
            </a:r>
            <a:r>
              <a:rPr lang="fr-FR" sz="1200" dirty="0" smtClean="0">
                <a:latin typeface="+mn-lt"/>
                <a:cs typeface="Calibri"/>
              </a:rPr>
              <a:t>de </a:t>
            </a:r>
            <a:r>
              <a:rPr lang="fr-FR" sz="1200" spc="-5" dirty="0" smtClean="0">
                <a:latin typeface="+mn-lt"/>
                <a:cs typeface="Calibri"/>
              </a:rPr>
              <a:t>développement ,</a:t>
            </a:r>
          </a:p>
          <a:p>
            <a:pPr marL="0" marR="0" indent="0" algn="l" defTabSz="914400" rtl="0" eaLnBrk="1" fontAlgn="auto" latinLnBrk="0" hangingPunct="1">
              <a:lnSpc>
                <a:spcPct val="100000"/>
              </a:lnSpc>
              <a:spcBef>
                <a:spcPts val="0"/>
              </a:spcBef>
              <a:spcAft>
                <a:spcPts val="0"/>
              </a:spcAft>
              <a:buClrTx/>
              <a:buSzTx/>
              <a:buFontTx/>
              <a:buNone/>
              <a:tabLst/>
              <a:defRPr/>
            </a:pPr>
            <a:r>
              <a:rPr lang="fr-FR" sz="1200" b="0" i="0" u="none" strike="noStrike" kern="1200" baseline="0" dirty="0" smtClean="0">
                <a:solidFill>
                  <a:schemeClr val="tx1"/>
                </a:solidFill>
                <a:latin typeface="+mn-lt"/>
                <a:ea typeface="+mn-ea"/>
                <a:cs typeface="+mn-cs"/>
              </a:rPr>
              <a:t>Le modèle de services «plateforme en tant que service» (</a:t>
            </a:r>
            <a:r>
              <a:rPr lang="fr-FR" sz="1200" b="0" i="0" u="none" strike="noStrike" kern="1200" baseline="0" dirty="0" err="1" smtClean="0">
                <a:solidFill>
                  <a:schemeClr val="tx1"/>
                </a:solidFill>
                <a:latin typeface="+mn-lt"/>
                <a:ea typeface="+mn-ea"/>
                <a:cs typeface="+mn-cs"/>
              </a:rPr>
              <a:t>PaaS</a:t>
            </a:r>
            <a:r>
              <a:rPr lang="fr-FR" sz="1200" b="0" i="0" u="none" strike="noStrike" kern="1200" baseline="0" dirty="0" smtClean="0">
                <a:solidFill>
                  <a:schemeClr val="tx1"/>
                </a:solidFill>
                <a:latin typeface="+mn-lt"/>
                <a:ea typeface="+mn-ea"/>
                <a:cs typeface="+mn-cs"/>
              </a:rPr>
              <a:t>) est situé juste au-dessous du précédent (</a:t>
            </a:r>
            <a:r>
              <a:rPr lang="fr-FR" sz="1200" b="0" i="0" u="none" strike="noStrike" kern="1200" baseline="0" dirty="0" err="1" smtClean="0">
                <a:solidFill>
                  <a:schemeClr val="tx1"/>
                </a:solidFill>
                <a:latin typeface="+mn-lt"/>
                <a:ea typeface="+mn-ea"/>
                <a:cs typeface="+mn-cs"/>
              </a:rPr>
              <a:t>SaaS</a:t>
            </a:r>
            <a:r>
              <a:rPr lang="fr-FR" sz="1200" b="0" i="0" u="none" strike="noStrike" kern="1200" baseline="0" dirty="0" smtClean="0">
                <a:solidFill>
                  <a:schemeClr val="tx1"/>
                </a:solidFill>
                <a:latin typeface="+mn-lt"/>
                <a:ea typeface="+mn-ea"/>
                <a:cs typeface="+mn-cs"/>
              </a:rPr>
              <a:t>), puisqu’il permet de fournir aux développeurs (CSU) des ressources pour les environnements d’exécution, les cadres de développement de logiciels et le soutien du système d’exploitation</a:t>
            </a:r>
            <a:endParaRPr lang="fr-FR" sz="1200" dirty="0" smtClean="0">
              <a:latin typeface="+mn-lt"/>
              <a:cs typeface="Calibri"/>
            </a:endParaRP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err="1" smtClean="0">
                <a:latin typeface="+mn-lt"/>
                <a:cs typeface="Calibri"/>
              </a:rPr>
              <a:t>SaaS</a:t>
            </a:r>
            <a:r>
              <a:rPr lang="fr-FR" sz="1200" dirty="0" smtClean="0">
                <a:latin typeface="+mn-lt"/>
                <a:cs typeface="Calibri"/>
              </a:rPr>
              <a:t> </a:t>
            </a:r>
            <a:r>
              <a:rPr lang="fr-FR" sz="1200" spc="-10" dirty="0" smtClean="0">
                <a:latin typeface="+mn-lt"/>
                <a:cs typeface="Calibri"/>
              </a:rPr>
              <a:t>(Software </a:t>
            </a:r>
            <a:r>
              <a:rPr lang="fr-FR" sz="1200" dirty="0" smtClean="0">
                <a:latin typeface="+mn-lt"/>
                <a:cs typeface="Calibri"/>
              </a:rPr>
              <a:t>as a </a:t>
            </a:r>
            <a:r>
              <a:rPr lang="fr-FR" sz="1200" spc="-5" dirty="0" smtClean="0">
                <a:latin typeface="+mn-lt"/>
                <a:cs typeface="Calibri"/>
              </a:rPr>
              <a:t>Service)</a:t>
            </a:r>
            <a:r>
              <a:rPr lang="fr-FR" sz="1200" spc="270" dirty="0" smtClean="0">
                <a:latin typeface="+mn-lt"/>
                <a:cs typeface="Calibri"/>
              </a:rPr>
              <a:t> </a:t>
            </a:r>
            <a:r>
              <a:rPr lang="fr-FR" sz="1200" dirty="0" smtClean="0">
                <a:latin typeface="+mn-lt"/>
                <a:cs typeface="Calibri"/>
              </a:rPr>
              <a:t>:</a:t>
            </a:r>
            <a:r>
              <a:rPr lang="fr-FR" sz="1200" baseline="0" dirty="0" smtClean="0">
                <a:latin typeface="+mn-lt"/>
                <a:cs typeface="Calibri"/>
              </a:rPr>
              <a:t> </a:t>
            </a:r>
            <a:r>
              <a:rPr lang="fr-FR" sz="1200" spc="-25" dirty="0" smtClean="0">
                <a:latin typeface="+mn-lt"/>
                <a:cs typeface="Calibri"/>
              </a:rPr>
              <a:t>l’accès </a:t>
            </a:r>
            <a:r>
              <a:rPr lang="fr-FR" sz="1200" dirty="0" smtClean="0">
                <a:latin typeface="+mn-lt"/>
                <a:cs typeface="Calibri"/>
              </a:rPr>
              <a:t>à un logiciel </a:t>
            </a:r>
            <a:r>
              <a:rPr lang="fr-FR" sz="1200" spc="-5" dirty="0" smtClean="0">
                <a:latin typeface="+mn-lt"/>
                <a:cs typeface="Calibri"/>
              </a:rPr>
              <a:t>sous </a:t>
            </a:r>
            <a:r>
              <a:rPr lang="fr-FR" sz="1200" spc="-15" dirty="0" smtClean="0">
                <a:latin typeface="+mn-lt"/>
                <a:cs typeface="Calibri"/>
              </a:rPr>
              <a:t>forme  </a:t>
            </a:r>
            <a:r>
              <a:rPr lang="fr-FR" sz="1200" dirty="0" smtClean="0">
                <a:latin typeface="+mn-lt"/>
                <a:cs typeface="Calibri"/>
              </a:rPr>
              <a:t>de</a:t>
            </a:r>
            <a:r>
              <a:rPr lang="fr-FR" sz="1200" spc="-95" dirty="0" smtClean="0">
                <a:latin typeface="+mn-lt"/>
                <a:cs typeface="Calibri"/>
              </a:rPr>
              <a:t> </a:t>
            </a:r>
            <a:r>
              <a:rPr lang="fr-FR" sz="1200" dirty="0" smtClean="0">
                <a:latin typeface="+mn-lt"/>
                <a:cs typeface="Calibri"/>
              </a:rPr>
              <a:t>service. Le modèle de services «logiciel en tant que service» (</a:t>
            </a:r>
            <a:r>
              <a:rPr lang="fr-FR" sz="1200" dirty="0" err="1" smtClean="0">
                <a:latin typeface="+mn-lt"/>
                <a:cs typeface="Calibri"/>
              </a:rPr>
              <a:t>SaaS</a:t>
            </a:r>
            <a:r>
              <a:rPr lang="fr-FR" sz="1200" dirty="0" smtClean="0">
                <a:latin typeface="+mn-lt"/>
                <a:cs typeface="Calibri"/>
              </a:rPr>
              <a:t>) permet de fournir des applications à la demande sur Internet.</a:t>
            </a:r>
          </a:p>
          <a:p>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10</a:t>
            </a:fld>
            <a:endParaRPr lang="fr-FR"/>
          </a:p>
        </p:txBody>
      </p:sp>
    </p:spTree>
    <p:extLst>
      <p:ext uri="{BB962C8B-B14F-4D97-AF65-F5344CB8AC3E}">
        <p14:creationId xmlns:p14="http://schemas.microsoft.com/office/powerpoint/2010/main" xmlns="" val="34813184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pPr marL="12700" marR="1275715" indent="363855" algn="just">
              <a:lnSpc>
                <a:spcPct val="100000"/>
              </a:lnSpc>
              <a:spcBef>
                <a:spcPts val="2225"/>
              </a:spcBef>
            </a:pPr>
            <a:r>
              <a:rPr lang="fr-FR" sz="1200" dirty="0" smtClean="0">
                <a:latin typeface="+mn-lt"/>
                <a:cs typeface="Calibri"/>
              </a:rPr>
              <a:t>Une </a:t>
            </a:r>
            <a:r>
              <a:rPr lang="fr-FR" sz="1200" spc="-5" dirty="0" smtClean="0">
                <a:latin typeface="+mn-lt"/>
                <a:cs typeface="Calibri"/>
              </a:rPr>
              <a:t>technologie </a:t>
            </a:r>
            <a:r>
              <a:rPr lang="fr-FR" sz="1200" dirty="0" smtClean="0">
                <a:latin typeface="+mn-lt"/>
                <a:cs typeface="Calibri"/>
              </a:rPr>
              <a:t>qui </a:t>
            </a:r>
            <a:r>
              <a:rPr lang="fr-FR" sz="1200" spc="-5" dirty="0" smtClean="0">
                <a:latin typeface="+mn-lt"/>
                <a:cs typeface="Calibri"/>
              </a:rPr>
              <a:t>permet </a:t>
            </a:r>
            <a:r>
              <a:rPr lang="fr-FR" sz="1200" dirty="0" smtClean="0">
                <a:latin typeface="+mn-lt"/>
                <a:cs typeface="Calibri"/>
              </a:rPr>
              <a:t>une </a:t>
            </a:r>
            <a:r>
              <a:rPr lang="fr-FR" sz="1200" spc="-10" dirty="0" smtClean="0">
                <a:latin typeface="+mn-lt"/>
                <a:cs typeface="Calibri"/>
              </a:rPr>
              <a:t>gestion </a:t>
            </a:r>
            <a:r>
              <a:rPr lang="fr-FR" sz="1200" spc="-5" dirty="0" smtClean="0">
                <a:latin typeface="+mn-lt"/>
                <a:cs typeface="Calibri"/>
              </a:rPr>
              <a:t>optimisée </a:t>
            </a:r>
            <a:r>
              <a:rPr lang="fr-FR" sz="1200" dirty="0" smtClean="0">
                <a:latin typeface="+mn-lt"/>
                <a:cs typeface="Calibri"/>
              </a:rPr>
              <a:t>des </a:t>
            </a:r>
            <a:r>
              <a:rPr lang="fr-FR" sz="1200" spc="-10" dirty="0" smtClean="0">
                <a:latin typeface="+mn-lt"/>
                <a:cs typeface="Calibri"/>
              </a:rPr>
              <a:t>ressources matérielles </a:t>
            </a:r>
            <a:r>
              <a:rPr lang="fr-FR" sz="1200" dirty="0" smtClean="0">
                <a:latin typeface="+mn-lt"/>
                <a:cs typeface="Calibri"/>
              </a:rPr>
              <a:t>en </a:t>
            </a:r>
            <a:r>
              <a:rPr lang="fr-FR" sz="1200" spc="-5" dirty="0" smtClean="0">
                <a:latin typeface="+mn-lt"/>
                <a:cs typeface="Calibri"/>
              </a:rPr>
              <a:t>disposant </a:t>
            </a:r>
            <a:r>
              <a:rPr lang="fr-FR" sz="1200" dirty="0" smtClean="0">
                <a:latin typeface="+mn-lt"/>
                <a:cs typeface="Calibri"/>
              </a:rPr>
              <a:t>de </a:t>
            </a:r>
            <a:r>
              <a:rPr lang="fr-FR" sz="1200" spc="-5" dirty="0" smtClean="0">
                <a:latin typeface="+mn-lt"/>
                <a:cs typeface="Calibri"/>
              </a:rPr>
              <a:t>plusieurs </a:t>
            </a:r>
            <a:r>
              <a:rPr lang="fr-FR" sz="1200" dirty="0" smtClean="0">
                <a:latin typeface="+mn-lt"/>
                <a:cs typeface="Calibri"/>
              </a:rPr>
              <a:t>machines </a:t>
            </a:r>
            <a:r>
              <a:rPr lang="fr-FR" sz="1200" spc="-5" dirty="0" smtClean="0">
                <a:latin typeface="+mn-lt"/>
                <a:cs typeface="Calibri"/>
              </a:rPr>
              <a:t>virtuelles  sur </a:t>
            </a:r>
            <a:r>
              <a:rPr lang="fr-FR" sz="1200" dirty="0" smtClean="0">
                <a:latin typeface="+mn-lt"/>
                <a:cs typeface="Calibri"/>
              </a:rPr>
              <a:t>une machine</a:t>
            </a:r>
            <a:r>
              <a:rPr lang="fr-FR" sz="1200" spc="-50" dirty="0" smtClean="0">
                <a:latin typeface="+mn-lt"/>
                <a:cs typeface="Calibri"/>
              </a:rPr>
              <a:t> </a:t>
            </a:r>
            <a:r>
              <a:rPr lang="fr-FR" sz="1200" spc="-10" dirty="0" smtClean="0">
                <a:latin typeface="+mn-lt"/>
                <a:cs typeface="Calibri"/>
              </a:rPr>
              <a:t>physique.</a:t>
            </a:r>
            <a:endParaRPr lang="fr-FR" sz="1200" dirty="0" smtClean="0">
              <a:latin typeface="+mn-lt"/>
              <a:cs typeface="Calibri"/>
            </a:endParaRPr>
          </a:p>
          <a:p>
            <a:pPr marL="12700" marR="1203325" indent="363855" algn="just">
              <a:lnSpc>
                <a:spcPct val="100000"/>
              </a:lnSpc>
              <a:spcBef>
                <a:spcPts val="1485"/>
              </a:spcBef>
            </a:pPr>
            <a:r>
              <a:rPr lang="fr-FR" sz="1200" spc="-5" dirty="0" smtClean="0">
                <a:latin typeface="+mn-lt"/>
                <a:cs typeface="Calibri"/>
              </a:rPr>
              <a:t>Un serveur </a:t>
            </a:r>
            <a:r>
              <a:rPr lang="fr-FR" sz="1200" spc="-10" dirty="0" smtClean="0">
                <a:latin typeface="+mn-lt"/>
                <a:cs typeface="Calibri"/>
              </a:rPr>
              <a:t>tournant </a:t>
            </a:r>
            <a:r>
              <a:rPr lang="fr-FR" sz="1200" dirty="0" smtClean="0">
                <a:latin typeface="+mn-lt"/>
                <a:cs typeface="Calibri"/>
              </a:rPr>
              <a:t>à </a:t>
            </a:r>
            <a:r>
              <a:rPr lang="fr-FR" sz="1200" spc="-5" dirty="0" smtClean="0">
                <a:latin typeface="+mn-lt"/>
                <a:cs typeface="Calibri"/>
              </a:rPr>
              <a:t>90% </a:t>
            </a:r>
            <a:r>
              <a:rPr lang="fr-FR" sz="1200" dirty="0" smtClean="0">
                <a:latin typeface="+mn-lt"/>
                <a:cs typeface="Calibri"/>
              </a:rPr>
              <a:t>de ses </a:t>
            </a:r>
            <a:r>
              <a:rPr lang="fr-FR" sz="1200" spc="-10" dirty="0" smtClean="0">
                <a:latin typeface="+mn-lt"/>
                <a:cs typeface="Calibri"/>
              </a:rPr>
              <a:t>capacités </a:t>
            </a:r>
            <a:r>
              <a:rPr lang="fr-FR" sz="1200" dirty="0" smtClean="0">
                <a:latin typeface="+mn-lt"/>
                <a:cs typeface="Calibri"/>
              </a:rPr>
              <a:t>ne </a:t>
            </a:r>
            <a:r>
              <a:rPr lang="fr-FR" sz="1200" spc="-5" dirty="0" smtClean="0">
                <a:latin typeface="+mn-lt"/>
                <a:cs typeface="Calibri"/>
              </a:rPr>
              <a:t>consomme pas beaucoup plus </a:t>
            </a:r>
            <a:r>
              <a:rPr lang="fr-FR" sz="1200" spc="-20" dirty="0" smtClean="0">
                <a:latin typeface="+mn-lt"/>
                <a:cs typeface="Calibri"/>
              </a:rPr>
              <a:t>d’énergie </a:t>
            </a:r>
            <a:r>
              <a:rPr lang="fr-FR" sz="1200" spc="-10" dirty="0" smtClean="0">
                <a:latin typeface="+mn-lt"/>
                <a:cs typeface="Calibri"/>
              </a:rPr>
              <a:t>qu’un </a:t>
            </a:r>
            <a:r>
              <a:rPr lang="fr-FR" sz="1200" spc="-5" dirty="0" smtClean="0">
                <a:latin typeface="+mn-lt"/>
                <a:cs typeface="Calibri"/>
              </a:rPr>
              <a:t>serveur </a:t>
            </a:r>
            <a:r>
              <a:rPr lang="fr-FR" sz="1200" spc="-10" dirty="0" smtClean="0">
                <a:latin typeface="+mn-lt"/>
                <a:cs typeface="Calibri"/>
              </a:rPr>
              <a:t>tournant </a:t>
            </a:r>
            <a:r>
              <a:rPr lang="fr-FR" sz="1200" dirty="0" smtClean="0">
                <a:latin typeface="+mn-lt"/>
                <a:cs typeface="Calibri"/>
              </a:rPr>
              <a:t>à </a:t>
            </a:r>
            <a:r>
              <a:rPr lang="fr-FR" sz="1200" spc="-5" dirty="0" smtClean="0">
                <a:latin typeface="+mn-lt"/>
                <a:cs typeface="Calibri"/>
              </a:rPr>
              <a:t>10% </a:t>
            </a:r>
            <a:r>
              <a:rPr lang="fr-FR" sz="1200" dirty="0" smtClean="0">
                <a:latin typeface="+mn-lt"/>
                <a:cs typeface="Calibri"/>
              </a:rPr>
              <a:t>de ses  </a:t>
            </a:r>
            <a:r>
              <a:rPr lang="fr-FR" sz="1200" spc="-10" dirty="0" smtClean="0">
                <a:latin typeface="+mn-lt"/>
                <a:cs typeface="Calibri"/>
              </a:rPr>
              <a:t>capacités</a:t>
            </a:r>
            <a:endParaRPr lang="fr-FR" sz="1200" dirty="0" smtClean="0">
              <a:latin typeface="+mn-lt"/>
              <a:cs typeface="Calibri"/>
            </a:endParaRPr>
          </a:p>
          <a:p>
            <a:pPr marL="0" marR="0" indent="0" algn="l" defTabSz="914400" rtl="0" eaLnBrk="1" fontAlgn="auto" latinLnBrk="0" hangingPunct="1">
              <a:lnSpc>
                <a:spcPct val="100000"/>
              </a:lnSpc>
              <a:spcBef>
                <a:spcPts val="0"/>
              </a:spcBef>
              <a:spcAft>
                <a:spcPts val="0"/>
              </a:spcAft>
              <a:buClrTx/>
              <a:buSzTx/>
              <a:buFontTx/>
              <a:buNone/>
              <a:tabLst/>
              <a:defRPr/>
            </a:pPr>
            <a:r>
              <a:rPr lang="fr-FR" sz="1200" dirty="0" smtClean="0">
                <a:latin typeface="+mn-lt"/>
                <a:cs typeface="Calibri"/>
              </a:rPr>
              <a:t>Ce </a:t>
            </a:r>
            <a:r>
              <a:rPr lang="fr-FR" sz="1200" spc="-5" dirty="0" smtClean="0">
                <a:latin typeface="+mn-lt"/>
                <a:cs typeface="Calibri"/>
              </a:rPr>
              <a:t>pri</a:t>
            </a:r>
            <a:r>
              <a:rPr lang="fr-FR" sz="1200" spc="10" dirty="0" smtClean="0">
                <a:latin typeface="+mn-lt"/>
                <a:cs typeface="Calibri"/>
              </a:rPr>
              <a:t>n</a:t>
            </a:r>
            <a:r>
              <a:rPr lang="fr-FR" sz="1200" spc="-10" dirty="0" smtClean="0">
                <a:latin typeface="+mn-lt"/>
                <a:cs typeface="Calibri"/>
              </a:rPr>
              <a:t>c</a:t>
            </a:r>
            <a:r>
              <a:rPr lang="fr-FR" sz="1200" spc="-5" dirty="0" smtClean="0">
                <a:latin typeface="+mn-lt"/>
                <a:cs typeface="Calibri"/>
              </a:rPr>
              <a:t>ip</a:t>
            </a:r>
            <a:r>
              <a:rPr lang="fr-FR" sz="1200" dirty="0" smtClean="0">
                <a:latin typeface="+mn-lt"/>
                <a:cs typeface="Calibri"/>
              </a:rPr>
              <a:t>e </a:t>
            </a:r>
            <a:r>
              <a:rPr lang="fr-FR" sz="1200" spc="-5" dirty="0" smtClean="0">
                <a:latin typeface="+mn-lt"/>
                <a:cs typeface="Calibri"/>
              </a:rPr>
              <a:t>p</a:t>
            </a:r>
            <a:r>
              <a:rPr lang="fr-FR" sz="1200" spc="15" dirty="0" smtClean="0">
                <a:latin typeface="+mn-lt"/>
                <a:cs typeface="Calibri"/>
              </a:rPr>
              <a:t>e</a:t>
            </a:r>
            <a:r>
              <a:rPr lang="fr-FR" sz="1200" dirty="0" smtClean="0">
                <a:latin typeface="+mn-lt"/>
                <a:cs typeface="Calibri"/>
              </a:rPr>
              <a:t>rm</a:t>
            </a:r>
            <a:r>
              <a:rPr lang="fr-FR" sz="1200" spc="-15" dirty="0" smtClean="0">
                <a:latin typeface="+mn-lt"/>
                <a:cs typeface="Calibri"/>
              </a:rPr>
              <a:t>e</a:t>
            </a:r>
            <a:r>
              <a:rPr lang="fr-FR" sz="1200" dirty="0" smtClean="0">
                <a:latin typeface="+mn-lt"/>
                <a:cs typeface="Calibri"/>
              </a:rPr>
              <a:t>t au</a:t>
            </a:r>
            <a:r>
              <a:rPr lang="fr-FR" sz="1200" spc="5" dirty="0" smtClean="0">
                <a:latin typeface="+mn-lt"/>
                <a:cs typeface="Calibri"/>
              </a:rPr>
              <a:t>s</a:t>
            </a:r>
            <a:r>
              <a:rPr lang="fr-FR" sz="1200" spc="-5" dirty="0" smtClean="0">
                <a:latin typeface="+mn-lt"/>
                <a:cs typeface="Calibri"/>
              </a:rPr>
              <a:t>s</a:t>
            </a:r>
            <a:r>
              <a:rPr lang="fr-FR" sz="1200" dirty="0" smtClean="0">
                <a:latin typeface="+mn-lt"/>
                <a:cs typeface="Calibri"/>
              </a:rPr>
              <a:t>i </a:t>
            </a:r>
            <a:r>
              <a:rPr lang="fr-FR" sz="1200" spc="-5" dirty="0" smtClean="0">
                <a:latin typeface="+mn-lt"/>
                <a:cs typeface="Calibri"/>
              </a:rPr>
              <a:t>d</a:t>
            </a:r>
            <a:r>
              <a:rPr lang="fr-FR" sz="1200" spc="-135" dirty="0" smtClean="0">
                <a:latin typeface="+mn-lt"/>
                <a:cs typeface="Calibri"/>
              </a:rPr>
              <a:t>’</a:t>
            </a:r>
            <a:r>
              <a:rPr lang="fr-FR" sz="1200" dirty="0" smtClean="0">
                <a:latin typeface="+mn-lt"/>
                <a:cs typeface="Calibri"/>
              </a:rPr>
              <a:t>êt</a:t>
            </a:r>
            <a:r>
              <a:rPr lang="fr-FR" sz="1200" spc="-30" dirty="0" smtClean="0">
                <a:latin typeface="+mn-lt"/>
                <a:cs typeface="Calibri"/>
              </a:rPr>
              <a:t>r</a:t>
            </a:r>
            <a:r>
              <a:rPr lang="fr-FR" sz="1200" dirty="0" smtClean="0">
                <a:latin typeface="+mn-lt"/>
                <a:cs typeface="Calibri"/>
              </a:rPr>
              <a:t>e </a:t>
            </a:r>
            <a:r>
              <a:rPr lang="fr-FR" sz="1200" spc="-5" dirty="0" smtClean="0">
                <a:latin typeface="+mn-lt"/>
                <a:cs typeface="Calibri"/>
              </a:rPr>
              <a:t>plus </a:t>
            </a:r>
            <a:r>
              <a:rPr lang="fr-FR" sz="1200" spc="-10" dirty="0" smtClean="0">
                <a:latin typeface="+mn-lt"/>
                <a:cs typeface="Calibri"/>
              </a:rPr>
              <a:t>flexible </a:t>
            </a:r>
            <a:r>
              <a:rPr lang="fr-FR" sz="1200" spc="-5" dirty="0" smtClean="0">
                <a:latin typeface="+mn-lt"/>
                <a:cs typeface="Calibri"/>
              </a:rPr>
              <a:t>dans </a:t>
            </a:r>
            <a:r>
              <a:rPr lang="fr-FR" sz="1200" spc="-20" dirty="0" smtClean="0">
                <a:latin typeface="+mn-lt"/>
                <a:cs typeface="Calibri"/>
              </a:rPr>
              <a:t>l’allocation </a:t>
            </a:r>
            <a:r>
              <a:rPr lang="fr-FR" sz="1200" dirty="0" smtClean="0">
                <a:latin typeface="+mn-lt"/>
                <a:cs typeface="Calibri"/>
              </a:rPr>
              <a:t>des</a:t>
            </a:r>
            <a:r>
              <a:rPr lang="fr-FR" sz="1200" spc="90" dirty="0" smtClean="0">
                <a:latin typeface="+mn-lt"/>
                <a:cs typeface="Calibri"/>
              </a:rPr>
              <a:t> </a:t>
            </a:r>
            <a:r>
              <a:rPr lang="fr-FR" sz="1200" spc="-10" dirty="0" smtClean="0">
                <a:latin typeface="+mn-lt"/>
                <a:cs typeface="Calibri"/>
              </a:rPr>
              <a:t>ressources.</a:t>
            </a:r>
            <a:endParaRPr lang="fr-FR" sz="1200" dirty="0" smtClean="0">
              <a:latin typeface="+mn-lt"/>
              <a:cs typeface="Calibri"/>
            </a:endParaRPr>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12</a:t>
            </a:fld>
            <a:endParaRPr lang="fr-FR"/>
          </a:p>
        </p:txBody>
      </p:sp>
    </p:spTree>
    <p:extLst>
      <p:ext uri="{BB962C8B-B14F-4D97-AF65-F5344CB8AC3E}">
        <p14:creationId xmlns:p14="http://schemas.microsoft.com/office/powerpoint/2010/main" xmlns="" val="34290776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smtClean="0">
                <a:solidFill>
                  <a:schemeClr val="tx1"/>
                </a:solidFill>
                <a:latin typeface="+mn-lt"/>
                <a:ea typeface="+mn-ea"/>
                <a:cs typeface="+mn-cs"/>
              </a:rPr>
              <a:t>Notre proposition est basée sur l’architecture de l’écosystème FIWARE, pour cela nous allons d’abord commencer par une petite présentation.</a:t>
            </a:r>
          </a:p>
          <a:p>
            <a:r>
              <a:rPr lang="fr-FR" sz="1200" b="0" i="0" u="none" strike="noStrike" kern="1200" baseline="0" dirty="0" smtClean="0">
                <a:solidFill>
                  <a:schemeClr val="tx1"/>
                </a:solidFill>
                <a:latin typeface="+mn-lt"/>
                <a:ea typeface="+mn-ea"/>
                <a:cs typeface="+mn-cs"/>
              </a:rPr>
              <a:t>FIWARE est une plate-forme middleware, dirigée par l'Union européenne, pour le développement et le déploiement des applications pour Internet de Future. La spécification API de FIWARE est ouverte et libre, où la participation des utilisateurs et des développeurs est essentielle pour que cette plateforme devienne une solution standard et réutilisable.</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15</a:t>
            </a:fld>
            <a:endParaRPr lang="fr-FR"/>
          </a:p>
        </p:txBody>
      </p:sp>
    </p:spTree>
    <p:extLst>
      <p:ext uri="{BB962C8B-B14F-4D97-AF65-F5344CB8AC3E}">
        <p14:creationId xmlns:p14="http://schemas.microsoft.com/office/powerpoint/2010/main" xmlns="" val="14203792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sz="1200" b="0" i="0" u="none" strike="noStrike" kern="1200" baseline="0" dirty="0" smtClean="0">
                <a:solidFill>
                  <a:schemeClr val="tx1"/>
                </a:solidFill>
                <a:latin typeface="+mn-lt"/>
                <a:ea typeface="+mn-ea"/>
                <a:cs typeface="+mn-cs"/>
              </a:rPr>
              <a:t>Notre proposition est basée sur l’architecture de l’écosystème FIWARE, pour cela nous allons d’abord commencer par une petite présentation.</a:t>
            </a:r>
          </a:p>
          <a:p>
            <a:r>
              <a:rPr lang="fr-FR" sz="1200" b="0" i="0" u="none" strike="noStrike" kern="1200" baseline="0" dirty="0" smtClean="0">
                <a:solidFill>
                  <a:schemeClr val="tx1"/>
                </a:solidFill>
                <a:latin typeface="+mn-lt"/>
                <a:ea typeface="+mn-ea"/>
                <a:cs typeface="+mn-cs"/>
              </a:rPr>
              <a:t>FIWARE est une plate-forme middleware, dirigée par l'Union européenne, pour le développement et le déploiement des applications pour Internet de Future. La spécification API de FIWARE est ouverte et libre, où la participation des utilisateurs et des développeurs est essentielle pour que cette plateforme devienne une solution standard et réutilisable.</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16</a:t>
            </a:fld>
            <a:endParaRPr lang="fr-FR"/>
          </a:p>
        </p:txBody>
      </p:sp>
    </p:spTree>
    <p:extLst>
      <p:ext uri="{BB962C8B-B14F-4D97-AF65-F5344CB8AC3E}">
        <p14:creationId xmlns:p14="http://schemas.microsoft.com/office/powerpoint/2010/main" xmlns="" val="14544338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en-US" dirty="0" smtClean="0"/>
              <a:t>All of the features known as Generic Enablers or GEs for short have packaged as </a:t>
            </a:r>
            <a:r>
              <a:rPr lang="en-US" dirty="0" err="1" smtClean="0"/>
              <a:t>Docker</a:t>
            </a:r>
            <a:r>
              <a:rPr lang="en-US" dirty="0" smtClean="0"/>
              <a:t> containers.</a:t>
            </a:r>
          </a:p>
          <a:p>
            <a:r>
              <a:rPr lang="en-US" dirty="0" smtClean="0"/>
              <a:t>These FIWARE containers can be leveraged to compose your own FIWARE based services.</a:t>
            </a:r>
          </a:p>
          <a:p>
            <a:r>
              <a:rPr lang="en-US" dirty="0" smtClean="0"/>
              <a:t>You can develop and deploy your services on the FIWARE Cloud.</a:t>
            </a:r>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17</a:t>
            </a:fld>
            <a:endParaRPr lang="fr-FR"/>
          </a:p>
        </p:txBody>
      </p:sp>
    </p:spTree>
    <p:extLst>
      <p:ext uri="{BB962C8B-B14F-4D97-AF65-F5344CB8AC3E}">
        <p14:creationId xmlns:p14="http://schemas.microsoft.com/office/powerpoint/2010/main" xmlns="" val="378808445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18</a:t>
            </a:fld>
            <a:endParaRPr lang="fr-FR"/>
          </a:p>
        </p:txBody>
      </p:sp>
    </p:spTree>
    <p:extLst>
      <p:ext uri="{BB962C8B-B14F-4D97-AF65-F5344CB8AC3E}">
        <p14:creationId xmlns:p14="http://schemas.microsoft.com/office/powerpoint/2010/main" xmlns="" val="39632073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381000" y="685800"/>
            <a:ext cx="6096000" cy="3429000"/>
          </a:xfrm>
        </p:spPr>
      </p:sp>
      <p:sp>
        <p:nvSpPr>
          <p:cNvPr id="3" name="Espace réservé des commentaires 2"/>
          <p:cNvSpPr>
            <a:spLocks noGrp="1"/>
          </p:cNvSpPr>
          <p:nvPr>
            <p:ph type="body" idx="1"/>
          </p:nvPr>
        </p:nvSpPr>
        <p:spPr/>
        <p:txBody>
          <a:bodyPr/>
          <a:lstStyle/>
          <a:p>
            <a:r>
              <a:rPr lang="fr-FR" dirty="0" smtClean="0"/>
              <a:t>Ce travail peut être complété sur le plan implémentation par l’ajout du support de nouvelles applications écrites en d’autre langage de programmation.</a:t>
            </a:r>
          </a:p>
          <a:p>
            <a:r>
              <a:rPr lang="fr-FR" dirty="0" smtClean="0"/>
              <a:t>Pour le côté conceptuel, pour plus de performance l’architecture peut être améliorée en divisant le projet </a:t>
            </a:r>
            <a:r>
              <a:rPr lang="fr-FR" dirty="0" err="1" smtClean="0"/>
              <a:t>Webswing</a:t>
            </a:r>
            <a:r>
              <a:rPr lang="fr-FR" dirty="0" smtClean="0"/>
              <a:t> en plusieurs micro-services (considéré chaque module du projet comme un service).</a:t>
            </a:r>
            <a:endParaRPr lang="fr-FR" dirty="0"/>
          </a:p>
        </p:txBody>
      </p:sp>
      <p:sp>
        <p:nvSpPr>
          <p:cNvPr id="4" name="Espace réservé du numéro de diapositive 3"/>
          <p:cNvSpPr>
            <a:spLocks noGrp="1"/>
          </p:cNvSpPr>
          <p:nvPr>
            <p:ph type="sldNum" sz="quarter" idx="10"/>
          </p:nvPr>
        </p:nvSpPr>
        <p:spPr/>
        <p:txBody>
          <a:bodyPr/>
          <a:lstStyle/>
          <a:p>
            <a:fld id="{2101F6EB-9E6A-4C0D-B326-6BD7C74A0994}" type="slidenum">
              <a:rPr lang="fr-FR" smtClean="0"/>
              <a:pPr/>
              <a:t>31</a:t>
            </a:fld>
            <a:endParaRPr lang="fr-FR"/>
          </a:p>
        </p:txBody>
      </p:sp>
    </p:spTree>
    <p:extLst>
      <p:ext uri="{BB962C8B-B14F-4D97-AF65-F5344CB8AC3E}">
        <p14:creationId xmlns:p14="http://schemas.microsoft.com/office/powerpoint/2010/main" xmlns="" val="18273145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bg>
      <p:bgRef idx="1003">
        <a:schemeClr val="bg1"/>
      </p:bgRef>
    </p:bg>
    <p:spTree>
      <p:nvGrpSpPr>
        <p:cNvPr id="1" name=""/>
        <p:cNvGrpSpPr/>
        <p:nvPr/>
      </p:nvGrpSpPr>
      <p:grpSpPr>
        <a:xfrm>
          <a:off x="0" y="0"/>
          <a:ext cx="0" cy="0"/>
          <a:chOff x="0" y="0"/>
          <a:chExt cx="0" cy="0"/>
        </a:xfrm>
      </p:grpSpPr>
      <p:sp>
        <p:nvSpPr>
          <p:cNvPr id="12" name="Rectangle 11"/>
          <p:cNvSpPr/>
          <p:nvPr/>
        </p:nvSpPr>
        <p:spPr>
          <a:xfrm>
            <a:off x="0" y="0"/>
            <a:ext cx="9144000" cy="51435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3" name="Rectangle à coins arrondis 12"/>
          <p:cNvSpPr/>
          <p:nvPr/>
        </p:nvSpPr>
        <p:spPr>
          <a:xfrm>
            <a:off x="65313" y="52317"/>
            <a:ext cx="9013372" cy="501915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9" name="Sous-titre 8"/>
          <p:cNvSpPr>
            <a:spLocks noGrp="1"/>
          </p:cNvSpPr>
          <p:nvPr>
            <p:ph type="subTitle" idx="1"/>
          </p:nvPr>
        </p:nvSpPr>
        <p:spPr>
          <a:xfrm>
            <a:off x="1295400" y="2400300"/>
            <a:ext cx="6400800" cy="1200150"/>
          </a:xfrm>
        </p:spPr>
        <p:txBody>
          <a:bodyPr/>
          <a:lstStyle>
            <a:lvl1pPr marL="0" indent="0" algn="ctr">
              <a:buNone/>
              <a:defRPr sz="2600">
                <a:solidFill>
                  <a:schemeClr val="tx2"/>
                </a:solidFill>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smtClean="0"/>
              <a:t>Cliquez pour modifier le style des sous-titres du masque</a:t>
            </a:r>
            <a:endParaRPr kumimoji="0" lang="en-US"/>
          </a:p>
        </p:txBody>
      </p:sp>
      <p:sp>
        <p:nvSpPr>
          <p:cNvPr id="28" name="Espace réservé de la date 27"/>
          <p:cNvSpPr>
            <a:spLocks noGrp="1"/>
          </p:cNvSpPr>
          <p:nvPr>
            <p:ph type="dt" sz="half" idx="10"/>
          </p:nvPr>
        </p:nvSpPr>
        <p:spPr/>
        <p:txBody>
          <a:bodyPr/>
          <a:lstStyle/>
          <a:p>
            <a:fld id="{6901DD82-D536-43B8-86D9-932D8FF0AAD5}" type="datetimeFigureOut">
              <a:rPr lang="fr-FR" smtClean="0"/>
              <a:t>24/06/2018</a:t>
            </a:fld>
            <a:endParaRPr lang="fr-FR"/>
          </a:p>
        </p:txBody>
      </p:sp>
      <p:sp>
        <p:nvSpPr>
          <p:cNvPr id="17" name="Espace réservé du pied de page 16"/>
          <p:cNvSpPr>
            <a:spLocks noGrp="1"/>
          </p:cNvSpPr>
          <p:nvPr>
            <p:ph type="ftr" sz="quarter" idx="11"/>
          </p:nvPr>
        </p:nvSpPr>
        <p:spPr/>
        <p:txBody>
          <a:bodyPr/>
          <a:lstStyle/>
          <a:p>
            <a:endParaRPr lang="fr-BE"/>
          </a:p>
        </p:txBody>
      </p:sp>
      <p:sp>
        <p:nvSpPr>
          <p:cNvPr id="29" name="Espace réservé du numéro de diapositive 28"/>
          <p:cNvSpPr>
            <a:spLocks noGrp="1"/>
          </p:cNvSpPr>
          <p:nvPr>
            <p:ph type="sldNum" sz="quarter" idx="12"/>
          </p:nvPr>
        </p:nvSpPr>
        <p:spPr/>
        <p:txBody>
          <a:bodyPr lIns="0" tIns="0" rIns="0" bIns="0">
            <a:noAutofit/>
          </a:bodyPr>
          <a:lstStyle>
            <a:lvl1pPr>
              <a:defRPr sz="1400">
                <a:solidFill>
                  <a:srgbClr val="FFFFFF"/>
                </a:solidFill>
              </a:defRPr>
            </a:lvl1pPr>
          </a:lstStyle>
          <a:p>
            <a:fld id="{2F34291C-8D4B-4E25-8CF3-C704CF8D1F28}" type="slidenum">
              <a:rPr lang="fr-FR" smtClean="0"/>
              <a:t>‹N°›</a:t>
            </a:fld>
            <a:endParaRPr lang="fr-FR"/>
          </a:p>
        </p:txBody>
      </p:sp>
      <p:sp>
        <p:nvSpPr>
          <p:cNvPr id="7" name="Rectangle 6"/>
          <p:cNvSpPr/>
          <p:nvPr/>
        </p:nvSpPr>
        <p:spPr>
          <a:xfrm>
            <a:off x="62932" y="1086978"/>
            <a:ext cx="9021537" cy="1145512"/>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62932" y="1047540"/>
            <a:ext cx="9021537" cy="90435"/>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1" name="Rectangle 10"/>
          <p:cNvSpPr/>
          <p:nvPr/>
        </p:nvSpPr>
        <p:spPr>
          <a:xfrm>
            <a:off x="62932" y="2232487"/>
            <a:ext cx="9021537" cy="82899"/>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Titre 7"/>
          <p:cNvSpPr>
            <a:spLocks noGrp="1"/>
          </p:cNvSpPr>
          <p:nvPr>
            <p:ph type="ctrTitle"/>
          </p:nvPr>
        </p:nvSpPr>
        <p:spPr>
          <a:xfrm>
            <a:off x="457200" y="1129448"/>
            <a:ext cx="8229600" cy="1102519"/>
          </a:xfrm>
        </p:spPr>
        <p:txBody>
          <a:bodyPr anchor="ctr"/>
          <a:lstStyle>
            <a:lvl1pPr algn="ctr">
              <a:defRPr lang="en-US" dirty="0">
                <a:solidFill>
                  <a:srgbClr val="FFFFFF"/>
                </a:solidFill>
              </a:defRPr>
            </a:lvl1pPr>
          </a:lstStyle>
          <a:p>
            <a:r>
              <a:rPr kumimoji="0" lang="fr-FR" smtClean="0"/>
              <a:t>Cliquez pour modifier le style du titre</a:t>
            </a:r>
            <a:endParaRPr kumimoji="0" lang="en-US"/>
          </a:p>
        </p:txBody>
      </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kumimoji="0" lang="fr-FR" smtClean="0"/>
              <a:t>Cliquez pour modifier le style du titre</a:t>
            </a:r>
            <a:endParaRPr kumimoji="0" lang="en-US"/>
          </a:p>
        </p:txBody>
      </p:sp>
      <p:sp>
        <p:nvSpPr>
          <p:cNvPr id="4" name="Espace réservé de la date 3"/>
          <p:cNvSpPr>
            <a:spLocks noGrp="1"/>
          </p:cNvSpPr>
          <p:nvPr>
            <p:ph type="dt" sz="half" idx="10"/>
          </p:nvPr>
        </p:nvSpPr>
        <p:spPr/>
        <p:txBody>
          <a:bodyPr/>
          <a:lstStyle/>
          <a:p>
            <a:fld id="{6901DD82-D536-43B8-86D9-932D8FF0AAD5}" type="datetimeFigureOut">
              <a:rPr lang="fr-FR" smtClean="0"/>
              <a:t>24/06/2018</a:t>
            </a:fld>
            <a:endParaRPr lang="fr-FR"/>
          </a:p>
        </p:txBody>
      </p:sp>
      <p:sp>
        <p:nvSpPr>
          <p:cNvPr id="5" name="Espace réservé du pied de page 4"/>
          <p:cNvSpPr>
            <a:spLocks noGrp="1"/>
          </p:cNvSpPr>
          <p:nvPr>
            <p:ph type="ftr" sz="quarter" idx="11"/>
          </p:nvPr>
        </p:nvSpPr>
        <p:spPr/>
        <p:txBody>
          <a:bodyPr/>
          <a:lstStyle/>
          <a:p>
            <a:endParaRPr lang="fr-BE"/>
          </a:p>
        </p:txBody>
      </p:sp>
      <p:sp>
        <p:nvSpPr>
          <p:cNvPr id="6" name="Espace réservé du numéro de diapositive 5"/>
          <p:cNvSpPr>
            <a:spLocks noGrp="1"/>
          </p:cNvSpPr>
          <p:nvPr>
            <p:ph type="sldNum" sz="quarter" idx="12"/>
          </p:nvPr>
        </p:nvSpPr>
        <p:spPr/>
        <p:txBody>
          <a:bodyPr/>
          <a:lstStyle/>
          <a:p>
            <a:fld id="{CF4668DC-857F-487D-BFFA-8C0CA5037977}" type="slidenum">
              <a:rPr lang="fr-BE" smtClean="0"/>
              <a:pPr/>
              <a:t>‹N°›</a:t>
            </a:fld>
            <a:endParaRPr lang="fr-BE"/>
          </a:p>
        </p:txBody>
      </p:sp>
      <p:sp>
        <p:nvSpPr>
          <p:cNvPr id="8" name="Espace réservé du contenu 7"/>
          <p:cNvSpPr>
            <a:spLocks noGrp="1"/>
          </p:cNvSpPr>
          <p:nvPr>
            <p:ph sz="quarter" idx="1"/>
          </p:nvPr>
        </p:nvSpPr>
        <p:spPr>
          <a:xfrm>
            <a:off x="914400" y="1085850"/>
            <a:ext cx="7772400" cy="3429000"/>
          </a:xfrm>
        </p:spPr>
        <p:txBody>
          <a:bodyPr vert="horz"/>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bg>
      <p:bgRef idx="1003">
        <a:schemeClr val="bg1"/>
      </p:bgRef>
    </p:bg>
    <p:spTree>
      <p:nvGrpSpPr>
        <p:cNvPr id="1" name=""/>
        <p:cNvGrpSpPr/>
        <p:nvPr/>
      </p:nvGrpSpPr>
      <p:grpSpPr>
        <a:xfrm>
          <a:off x="0" y="0"/>
          <a:ext cx="0" cy="0"/>
          <a:chOff x="0" y="0"/>
          <a:chExt cx="0" cy="0"/>
        </a:xfrm>
      </p:grpSpPr>
      <p:sp>
        <p:nvSpPr>
          <p:cNvPr id="11" name="Rectangle 10"/>
          <p:cNvSpPr/>
          <p:nvPr/>
        </p:nvSpPr>
        <p:spPr>
          <a:xfrm>
            <a:off x="0" y="0"/>
            <a:ext cx="9144000" cy="51435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10" name="Rectangle à coins arrondis 9"/>
          <p:cNvSpPr/>
          <p:nvPr/>
        </p:nvSpPr>
        <p:spPr>
          <a:xfrm>
            <a:off x="65313" y="52317"/>
            <a:ext cx="9013372" cy="5019151"/>
          </a:xfrm>
          <a:prstGeom prst="roundRect">
            <a:avLst>
              <a:gd name="adj" fmla="val 4929"/>
            </a:avLst>
          </a:prstGeom>
          <a:ln w="6350" cap="sq" cmpd="sng" algn="ctr">
            <a:solidFill>
              <a:schemeClr val="tx1">
                <a:alpha val="100000"/>
              </a:schemeClr>
            </a:solidFill>
            <a:prstDash val="solid"/>
          </a:ln>
          <a:effectLst/>
        </p:spPr>
        <p:style>
          <a:lnRef idx="3">
            <a:schemeClr val="lt1"/>
          </a:lnRef>
          <a:fillRef idx="1003">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re 1"/>
          <p:cNvSpPr>
            <a:spLocks noGrp="1"/>
          </p:cNvSpPr>
          <p:nvPr>
            <p:ph type="title"/>
          </p:nvPr>
        </p:nvSpPr>
        <p:spPr>
          <a:xfrm>
            <a:off x="722313" y="714376"/>
            <a:ext cx="7772400" cy="1021556"/>
          </a:xfrm>
        </p:spPr>
        <p:txBody>
          <a:bodyPr anchor="b" anchorCtr="0"/>
          <a:lstStyle>
            <a:lvl1pPr algn="l">
              <a:buNone/>
              <a:defRPr sz="4000" b="0" cap="none"/>
            </a:lvl1pPr>
          </a:lstStyle>
          <a:p>
            <a:r>
              <a:rPr kumimoji="0" lang="fr-FR" smtClean="0"/>
              <a:t>Cliquez pour modifier le style du titre</a:t>
            </a:r>
            <a:endParaRPr kumimoji="0" lang="en-US"/>
          </a:p>
        </p:txBody>
      </p:sp>
      <p:sp>
        <p:nvSpPr>
          <p:cNvPr id="3" name="Espace réservé du texte 2"/>
          <p:cNvSpPr>
            <a:spLocks noGrp="1"/>
          </p:cNvSpPr>
          <p:nvPr>
            <p:ph type="body" idx="1"/>
          </p:nvPr>
        </p:nvSpPr>
        <p:spPr>
          <a:xfrm>
            <a:off x="722313" y="1910953"/>
            <a:ext cx="7772400" cy="1003697"/>
          </a:xfrm>
        </p:spPr>
        <p:txBody>
          <a:bodyPr anchor="t" anchorCtr="0"/>
          <a:lstStyle>
            <a:lvl1pPr marL="0" indent="0">
              <a:buNone/>
              <a:defRPr sz="24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fr-FR" smtClean="0"/>
              <a:t>Cliquez pour modifier les styles du texte du masque</a:t>
            </a:r>
          </a:p>
        </p:txBody>
      </p:sp>
      <p:sp>
        <p:nvSpPr>
          <p:cNvPr id="4" name="Espace réservé de la date 3"/>
          <p:cNvSpPr>
            <a:spLocks noGrp="1"/>
          </p:cNvSpPr>
          <p:nvPr>
            <p:ph type="dt" sz="half" idx="10"/>
          </p:nvPr>
        </p:nvSpPr>
        <p:spPr/>
        <p:txBody>
          <a:bodyPr/>
          <a:lstStyle/>
          <a:p>
            <a:fld id="{6901DD82-D536-43B8-86D9-932D8FF0AAD5}" type="datetimeFigureOut">
              <a:rPr lang="fr-FR" smtClean="0"/>
              <a:t>24/06/2018</a:t>
            </a:fld>
            <a:endParaRPr lang="fr-FR"/>
          </a:p>
        </p:txBody>
      </p:sp>
      <p:sp>
        <p:nvSpPr>
          <p:cNvPr id="5" name="Espace réservé du pied de page 4"/>
          <p:cNvSpPr>
            <a:spLocks noGrp="1"/>
          </p:cNvSpPr>
          <p:nvPr>
            <p:ph type="ftr" sz="quarter" idx="11"/>
          </p:nvPr>
        </p:nvSpPr>
        <p:spPr>
          <a:xfrm>
            <a:off x="800100" y="4629150"/>
            <a:ext cx="4000500" cy="342900"/>
          </a:xfrm>
        </p:spPr>
        <p:txBody>
          <a:bodyPr/>
          <a:lstStyle/>
          <a:p>
            <a:endParaRPr lang="fr-BE"/>
          </a:p>
        </p:txBody>
      </p:sp>
      <p:sp>
        <p:nvSpPr>
          <p:cNvPr id="7" name="Rectangle 6"/>
          <p:cNvSpPr/>
          <p:nvPr/>
        </p:nvSpPr>
        <p:spPr>
          <a:xfrm flipV="1">
            <a:off x="69413" y="1782623"/>
            <a:ext cx="9013515" cy="6858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69147" y="1756107"/>
            <a:ext cx="9013781" cy="3428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Rectangle 8"/>
          <p:cNvSpPr/>
          <p:nvPr/>
        </p:nvSpPr>
        <p:spPr>
          <a:xfrm>
            <a:off x="68307" y="1851660"/>
            <a:ext cx="9014621" cy="34290"/>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6" name="Espace réservé du numéro de diapositive 5"/>
          <p:cNvSpPr>
            <a:spLocks noGrp="1"/>
          </p:cNvSpPr>
          <p:nvPr>
            <p:ph type="sldNum" sz="quarter" idx="12"/>
          </p:nvPr>
        </p:nvSpPr>
        <p:spPr>
          <a:xfrm>
            <a:off x="146304" y="4656582"/>
            <a:ext cx="457200" cy="342900"/>
          </a:xfrm>
        </p:spPr>
        <p:txBody>
          <a:bodyPr/>
          <a:lstStyle/>
          <a:p>
            <a:fld id="{2F34291C-8D4B-4E25-8CF3-C704CF8D1F28}" type="slidenum">
              <a:rPr lang="fr-FR" smtClean="0"/>
              <a:t>‹N°›</a:t>
            </a:fld>
            <a:endParaRPr lang="fr-FR"/>
          </a:p>
        </p:txBody>
      </p:sp>
    </p:spTree>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kumimoji="0" lang="fr-FR" smtClean="0"/>
              <a:t>Cliquez pour modifier le style du titre</a:t>
            </a:r>
            <a:endParaRPr kumimoji="0" lang="en-US"/>
          </a:p>
        </p:txBody>
      </p:sp>
      <p:sp>
        <p:nvSpPr>
          <p:cNvPr id="5" name="Espace réservé de la date 4"/>
          <p:cNvSpPr>
            <a:spLocks noGrp="1"/>
          </p:cNvSpPr>
          <p:nvPr>
            <p:ph type="dt" sz="half" idx="10"/>
          </p:nvPr>
        </p:nvSpPr>
        <p:spPr/>
        <p:txBody>
          <a:bodyPr/>
          <a:lstStyle/>
          <a:p>
            <a:fld id="{6901DD82-D536-43B8-86D9-932D8FF0AAD5}" type="datetimeFigureOut">
              <a:rPr lang="fr-FR" smtClean="0"/>
              <a:t>24/06/2018</a:t>
            </a:fld>
            <a:endParaRPr lang="fr-FR"/>
          </a:p>
        </p:txBody>
      </p:sp>
      <p:sp>
        <p:nvSpPr>
          <p:cNvPr id="6" name="Espace réservé du pied de page 5"/>
          <p:cNvSpPr>
            <a:spLocks noGrp="1"/>
          </p:cNvSpPr>
          <p:nvPr>
            <p:ph type="ftr" sz="quarter" idx="11"/>
          </p:nvPr>
        </p:nvSpPr>
        <p:spPr/>
        <p:txBody>
          <a:bodyPr/>
          <a:lstStyle/>
          <a:p>
            <a:endParaRPr lang="fr-BE"/>
          </a:p>
        </p:txBody>
      </p:sp>
      <p:sp>
        <p:nvSpPr>
          <p:cNvPr id="7" name="Espace réservé du numéro de diapositive 6"/>
          <p:cNvSpPr>
            <a:spLocks noGrp="1"/>
          </p:cNvSpPr>
          <p:nvPr>
            <p:ph type="sldNum" sz="quarter" idx="12"/>
          </p:nvPr>
        </p:nvSpPr>
        <p:spPr/>
        <p:txBody>
          <a:bodyPr/>
          <a:lstStyle/>
          <a:p>
            <a:fld id="{CF4668DC-857F-487D-BFFA-8C0CA5037977}" type="slidenum">
              <a:rPr lang="fr-BE" smtClean="0"/>
              <a:pPr/>
              <a:t>‹N°›</a:t>
            </a:fld>
            <a:endParaRPr lang="fr-BE"/>
          </a:p>
        </p:txBody>
      </p:sp>
      <p:sp>
        <p:nvSpPr>
          <p:cNvPr id="9" name="Espace réservé du contenu 8"/>
          <p:cNvSpPr>
            <a:spLocks noGrp="1"/>
          </p:cNvSpPr>
          <p:nvPr>
            <p:ph sz="quarter" idx="1"/>
          </p:nvPr>
        </p:nvSpPr>
        <p:spPr>
          <a:xfrm>
            <a:off x="914400" y="1085850"/>
            <a:ext cx="3749040" cy="3429000"/>
          </a:xfrm>
        </p:spPr>
        <p:txBody>
          <a:bodyPr vert="horz"/>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11" name="Espace réservé du contenu 10"/>
          <p:cNvSpPr>
            <a:spLocks noGrp="1"/>
          </p:cNvSpPr>
          <p:nvPr>
            <p:ph sz="quarter" idx="2"/>
          </p:nvPr>
        </p:nvSpPr>
        <p:spPr>
          <a:xfrm>
            <a:off x="4933950" y="1085850"/>
            <a:ext cx="3749040" cy="3429000"/>
          </a:xfrm>
        </p:spPr>
        <p:txBody>
          <a:bodyPr vert="horz"/>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914400" y="204788"/>
            <a:ext cx="7772400" cy="857250"/>
          </a:xfrm>
        </p:spPr>
        <p:txBody>
          <a:bodyPr anchor="b" anchorCtr="0"/>
          <a:lstStyle>
            <a:lvl1pPr>
              <a:defRPr/>
            </a:lvl1pPr>
          </a:lstStyle>
          <a:p>
            <a:r>
              <a:rPr kumimoji="0" lang="fr-FR" smtClean="0"/>
              <a:t>Cliquez pour modifier le style du titre</a:t>
            </a:r>
            <a:endParaRPr kumimoji="0" lang="en-US"/>
          </a:p>
        </p:txBody>
      </p:sp>
      <p:sp>
        <p:nvSpPr>
          <p:cNvPr id="3" name="Espace réservé du texte 2"/>
          <p:cNvSpPr>
            <a:spLocks noGrp="1"/>
          </p:cNvSpPr>
          <p:nvPr>
            <p:ph type="body" idx="1"/>
          </p:nvPr>
        </p:nvSpPr>
        <p:spPr>
          <a:xfrm>
            <a:off x="914400" y="1085850"/>
            <a:ext cx="3733800" cy="5715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fr-FR" smtClean="0"/>
              <a:t>Cliquez pour modifier les styles du texte du masque</a:t>
            </a:r>
          </a:p>
        </p:txBody>
      </p:sp>
      <p:sp>
        <p:nvSpPr>
          <p:cNvPr id="4" name="Espace réservé du texte 3"/>
          <p:cNvSpPr>
            <a:spLocks noGrp="1"/>
          </p:cNvSpPr>
          <p:nvPr>
            <p:ph type="body" sz="half" idx="3"/>
          </p:nvPr>
        </p:nvSpPr>
        <p:spPr>
          <a:xfrm>
            <a:off x="4953000" y="1085850"/>
            <a:ext cx="3733800" cy="571500"/>
          </a:xfrm>
          <a:noFill/>
          <a:ln w="12700" cap="sq" cmpd="sng" algn="ctr">
            <a:noFill/>
            <a:prstDash val="solid"/>
          </a:ln>
        </p:spPr>
        <p:txBody>
          <a:bodyPr lIns="91440" anchor="b" anchorCtr="0">
            <a:noAutofit/>
          </a:bodyPr>
          <a:lstStyle>
            <a:lvl1pPr marL="0" indent="0">
              <a:buNone/>
              <a:defRPr sz="2400" b="1">
                <a:solidFill>
                  <a:schemeClr val="accent1"/>
                </a:solidFill>
                <a:latin typeface="+mj-lt"/>
                <a:ea typeface="+mj-ea"/>
                <a:cs typeface="+mj-cs"/>
              </a:defRPr>
            </a:lvl1pPr>
            <a:lvl2pPr>
              <a:buNone/>
              <a:defRPr sz="2000" b="1"/>
            </a:lvl2pPr>
            <a:lvl3pPr>
              <a:buNone/>
              <a:defRPr sz="1800" b="1"/>
            </a:lvl3pPr>
            <a:lvl4pPr>
              <a:buNone/>
              <a:defRPr sz="1600" b="1"/>
            </a:lvl4pPr>
            <a:lvl5pPr>
              <a:buNone/>
              <a:defRPr sz="1600" b="1"/>
            </a:lvl5pPr>
          </a:lstStyle>
          <a:p>
            <a:pPr lvl="0" eaLnBrk="1" latinLnBrk="0" hangingPunct="1"/>
            <a:r>
              <a:rPr kumimoji="0" lang="fr-FR" smtClean="0"/>
              <a:t>Cliquez pour modifier les styles du texte du masque</a:t>
            </a:r>
          </a:p>
        </p:txBody>
      </p:sp>
      <p:sp>
        <p:nvSpPr>
          <p:cNvPr id="7" name="Espace réservé de la date 6"/>
          <p:cNvSpPr>
            <a:spLocks noGrp="1"/>
          </p:cNvSpPr>
          <p:nvPr>
            <p:ph type="dt" sz="half" idx="10"/>
          </p:nvPr>
        </p:nvSpPr>
        <p:spPr/>
        <p:txBody>
          <a:bodyPr/>
          <a:lstStyle/>
          <a:p>
            <a:fld id="{6901DD82-D536-43B8-86D9-932D8FF0AAD5}" type="datetimeFigureOut">
              <a:rPr lang="fr-FR" smtClean="0"/>
              <a:t>24/06/2018</a:t>
            </a:fld>
            <a:endParaRPr lang="fr-FR"/>
          </a:p>
        </p:txBody>
      </p:sp>
      <p:sp>
        <p:nvSpPr>
          <p:cNvPr id="8" name="Espace réservé du pied de page 7"/>
          <p:cNvSpPr>
            <a:spLocks noGrp="1"/>
          </p:cNvSpPr>
          <p:nvPr>
            <p:ph type="ftr" sz="quarter" idx="11"/>
          </p:nvPr>
        </p:nvSpPr>
        <p:spPr/>
        <p:txBody>
          <a:bodyPr/>
          <a:lstStyle/>
          <a:p>
            <a:endParaRPr lang="fr-BE"/>
          </a:p>
        </p:txBody>
      </p:sp>
      <p:sp>
        <p:nvSpPr>
          <p:cNvPr id="9" name="Espace réservé du numéro de diapositive 8"/>
          <p:cNvSpPr>
            <a:spLocks noGrp="1"/>
          </p:cNvSpPr>
          <p:nvPr>
            <p:ph type="sldNum" sz="quarter" idx="12"/>
          </p:nvPr>
        </p:nvSpPr>
        <p:spPr/>
        <p:txBody>
          <a:bodyPr/>
          <a:lstStyle/>
          <a:p>
            <a:fld id="{CF4668DC-857F-487D-BFFA-8C0CA5037977}" type="slidenum">
              <a:rPr lang="fr-BE" smtClean="0"/>
              <a:pPr/>
              <a:t>‹N°›</a:t>
            </a:fld>
            <a:endParaRPr lang="fr-BE"/>
          </a:p>
        </p:txBody>
      </p:sp>
      <p:sp>
        <p:nvSpPr>
          <p:cNvPr id="11" name="Espace réservé du contenu 10"/>
          <p:cNvSpPr>
            <a:spLocks noGrp="1"/>
          </p:cNvSpPr>
          <p:nvPr>
            <p:ph sz="half" idx="2"/>
          </p:nvPr>
        </p:nvSpPr>
        <p:spPr>
          <a:xfrm>
            <a:off x="914400" y="1685925"/>
            <a:ext cx="3733800" cy="2914650"/>
          </a:xfrm>
        </p:spPr>
        <p:txBody>
          <a:bodyPr vert="horz"/>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13" name="Espace réservé du contenu 12"/>
          <p:cNvSpPr>
            <a:spLocks noGrp="1"/>
          </p:cNvSpPr>
          <p:nvPr>
            <p:ph sz="half" idx="4"/>
          </p:nvPr>
        </p:nvSpPr>
        <p:spPr>
          <a:xfrm>
            <a:off x="4953000" y="1685925"/>
            <a:ext cx="3733800" cy="2914650"/>
          </a:xfrm>
        </p:spPr>
        <p:txBody>
          <a:bodyPr vert="horz"/>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kumimoji="0" lang="fr-FR" smtClean="0"/>
              <a:t>Cliquez pour modifier le style du titre</a:t>
            </a:r>
            <a:endParaRPr kumimoji="0" lang="en-US"/>
          </a:p>
        </p:txBody>
      </p:sp>
      <p:sp>
        <p:nvSpPr>
          <p:cNvPr id="3" name="Espace réservé de la date 2"/>
          <p:cNvSpPr>
            <a:spLocks noGrp="1"/>
          </p:cNvSpPr>
          <p:nvPr>
            <p:ph type="dt" sz="half" idx="10"/>
          </p:nvPr>
        </p:nvSpPr>
        <p:spPr/>
        <p:txBody>
          <a:bodyPr/>
          <a:lstStyle/>
          <a:p>
            <a:fld id="{6901DD82-D536-43B8-86D9-932D8FF0AAD5}" type="datetimeFigureOut">
              <a:rPr lang="fr-FR" smtClean="0"/>
              <a:t>24/06/2018</a:t>
            </a:fld>
            <a:endParaRPr lang="fr-FR"/>
          </a:p>
        </p:txBody>
      </p:sp>
      <p:sp>
        <p:nvSpPr>
          <p:cNvPr id="4" name="Espace réservé du pied de page 3"/>
          <p:cNvSpPr>
            <a:spLocks noGrp="1"/>
          </p:cNvSpPr>
          <p:nvPr>
            <p:ph type="ftr" sz="quarter" idx="11"/>
          </p:nvPr>
        </p:nvSpPr>
        <p:spPr/>
        <p:txBody>
          <a:bodyPr/>
          <a:lstStyle/>
          <a:p>
            <a:endParaRPr lang="fr-BE"/>
          </a:p>
        </p:txBody>
      </p:sp>
      <p:sp>
        <p:nvSpPr>
          <p:cNvPr id="5" name="Espace réservé du numéro de diapositive 4"/>
          <p:cNvSpPr>
            <a:spLocks noGrp="1"/>
          </p:cNvSpPr>
          <p:nvPr>
            <p:ph type="sldNum" sz="quarter" idx="12"/>
          </p:nvPr>
        </p:nvSpPr>
        <p:spPr/>
        <p:txBody>
          <a:bodyPr/>
          <a:lstStyle/>
          <a:p>
            <a:fld id="{CF4668DC-857F-487D-BFFA-8C0CA5037977}" type="slidenum">
              <a:rPr lang="fr-BE" smtClean="0"/>
              <a:pPr/>
              <a:t>‹N°›</a:t>
            </a:fld>
            <a:endParaRPr lang="fr-B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6901DD82-D536-43B8-86D9-932D8FF0AAD5}" type="datetimeFigureOut">
              <a:rPr lang="fr-FR" smtClean="0"/>
              <a:t>24/06/2018</a:t>
            </a:fld>
            <a:endParaRPr lang="fr-FR"/>
          </a:p>
        </p:txBody>
      </p:sp>
      <p:sp>
        <p:nvSpPr>
          <p:cNvPr id="3" name="Espace réservé du pied de page 2"/>
          <p:cNvSpPr>
            <a:spLocks noGrp="1"/>
          </p:cNvSpPr>
          <p:nvPr>
            <p:ph type="ftr" sz="quarter" idx="11"/>
          </p:nvPr>
        </p:nvSpPr>
        <p:spPr/>
        <p:txBody>
          <a:bodyPr/>
          <a:lstStyle/>
          <a:p>
            <a:endParaRPr lang="fr-BE"/>
          </a:p>
        </p:txBody>
      </p:sp>
      <p:sp>
        <p:nvSpPr>
          <p:cNvPr id="4" name="Espace réservé du numéro de diapositive 3"/>
          <p:cNvSpPr>
            <a:spLocks noGrp="1"/>
          </p:cNvSpPr>
          <p:nvPr>
            <p:ph type="sldNum" sz="quarter" idx="12"/>
          </p:nvPr>
        </p:nvSpPr>
        <p:spPr/>
        <p:txBody>
          <a:bodyPr/>
          <a:lstStyle/>
          <a:p>
            <a:fld id="{CF4668DC-857F-487D-BFFA-8C0CA5037977}" type="slidenum">
              <a:rPr lang="fr-BE" smtClean="0"/>
              <a:pPr/>
              <a:t>‹N°›</a:t>
            </a:fld>
            <a:endParaRPr lang="fr-B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8" name="Rectangle 7"/>
          <p:cNvSpPr/>
          <p:nvPr/>
        </p:nvSpPr>
        <p:spPr>
          <a:xfrm>
            <a:off x="0" y="0"/>
            <a:ext cx="9144000" cy="5143500"/>
          </a:xfrm>
          <a:prstGeom prst="rect">
            <a:avLst/>
          </a:prstGeom>
          <a:solidFill>
            <a:srgbClr val="FFFFFF"/>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useBgFill="1">
        <p:nvSpPr>
          <p:cNvPr id="9" name="Rectangle à coins arrondis 8"/>
          <p:cNvSpPr/>
          <p:nvPr/>
        </p:nvSpPr>
        <p:spPr>
          <a:xfrm>
            <a:off x="64008" y="52316"/>
            <a:ext cx="9013372" cy="5020056"/>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 name="Titre 1"/>
          <p:cNvSpPr>
            <a:spLocks noGrp="1"/>
          </p:cNvSpPr>
          <p:nvPr>
            <p:ph type="title"/>
          </p:nvPr>
        </p:nvSpPr>
        <p:spPr>
          <a:xfrm>
            <a:off x="914400" y="204788"/>
            <a:ext cx="7772400" cy="857250"/>
          </a:xfrm>
        </p:spPr>
        <p:txBody>
          <a:bodyPr anchor="b" anchorCtr="0"/>
          <a:lstStyle>
            <a:lvl1pPr algn="l">
              <a:buNone/>
              <a:defRPr sz="4000" b="0"/>
            </a:lvl1pPr>
          </a:lstStyle>
          <a:p>
            <a:r>
              <a:rPr kumimoji="0" lang="fr-FR" smtClean="0"/>
              <a:t>Cliquez pour modifier le style du titre</a:t>
            </a:r>
            <a:endParaRPr kumimoji="0" lang="en-US"/>
          </a:p>
        </p:txBody>
      </p:sp>
      <p:sp>
        <p:nvSpPr>
          <p:cNvPr id="3" name="Espace réservé du texte 2"/>
          <p:cNvSpPr>
            <a:spLocks noGrp="1"/>
          </p:cNvSpPr>
          <p:nvPr>
            <p:ph type="body" idx="2"/>
          </p:nvPr>
        </p:nvSpPr>
        <p:spPr>
          <a:xfrm>
            <a:off x="914400" y="1200150"/>
            <a:ext cx="1905000" cy="3371850"/>
          </a:xfrm>
        </p:spPr>
        <p:txBody>
          <a:bodyPr/>
          <a:lstStyle>
            <a:lvl1pPr marL="0" indent="0">
              <a:buNone/>
              <a:defRPr sz="1800"/>
            </a:lvl1pPr>
            <a:lvl2pPr>
              <a:buNone/>
              <a:defRPr sz="1200"/>
            </a:lvl2pPr>
            <a:lvl3pPr>
              <a:buNone/>
              <a:defRPr sz="1000"/>
            </a:lvl3pPr>
            <a:lvl4pPr>
              <a:buNone/>
              <a:defRPr sz="900"/>
            </a:lvl4pPr>
            <a:lvl5pPr>
              <a:buNone/>
              <a:defRPr sz="900"/>
            </a:lvl5pPr>
          </a:lstStyle>
          <a:p>
            <a:pPr lvl="0" eaLnBrk="1" latinLnBrk="0" hangingPunct="1"/>
            <a:r>
              <a:rPr kumimoji="0" lang="fr-FR" smtClean="0"/>
              <a:t>Cliquez pour modifier les styles du texte du masque</a:t>
            </a:r>
          </a:p>
        </p:txBody>
      </p:sp>
      <p:sp>
        <p:nvSpPr>
          <p:cNvPr id="5" name="Espace réservé de la date 4"/>
          <p:cNvSpPr>
            <a:spLocks noGrp="1"/>
          </p:cNvSpPr>
          <p:nvPr>
            <p:ph type="dt" sz="half" idx="10"/>
          </p:nvPr>
        </p:nvSpPr>
        <p:spPr/>
        <p:txBody>
          <a:bodyPr/>
          <a:lstStyle/>
          <a:p>
            <a:fld id="{6901DD82-D536-43B8-86D9-932D8FF0AAD5}" type="datetimeFigureOut">
              <a:rPr lang="fr-FR" smtClean="0"/>
              <a:t>24/06/2018</a:t>
            </a:fld>
            <a:endParaRPr lang="fr-FR"/>
          </a:p>
        </p:txBody>
      </p:sp>
      <p:sp>
        <p:nvSpPr>
          <p:cNvPr id="6" name="Espace réservé du pied de page 5"/>
          <p:cNvSpPr>
            <a:spLocks noGrp="1"/>
          </p:cNvSpPr>
          <p:nvPr>
            <p:ph type="ftr" sz="quarter" idx="11"/>
          </p:nvPr>
        </p:nvSpPr>
        <p:spPr/>
        <p:txBody>
          <a:bodyPr/>
          <a:lstStyle/>
          <a:p>
            <a:endParaRPr lang="fr-BE"/>
          </a:p>
        </p:txBody>
      </p:sp>
      <p:sp>
        <p:nvSpPr>
          <p:cNvPr id="7" name="Espace réservé du numéro de diapositive 6"/>
          <p:cNvSpPr>
            <a:spLocks noGrp="1"/>
          </p:cNvSpPr>
          <p:nvPr>
            <p:ph type="sldNum" sz="quarter" idx="12"/>
          </p:nvPr>
        </p:nvSpPr>
        <p:spPr/>
        <p:txBody>
          <a:bodyPr/>
          <a:lstStyle/>
          <a:p>
            <a:fld id="{CF4668DC-857F-487D-BFFA-8C0CA5037977}" type="slidenum">
              <a:rPr lang="fr-BE" smtClean="0"/>
              <a:pPr/>
              <a:t>‹N°›</a:t>
            </a:fld>
            <a:endParaRPr lang="fr-BE"/>
          </a:p>
        </p:txBody>
      </p:sp>
      <p:sp>
        <p:nvSpPr>
          <p:cNvPr id="11" name="Espace réservé du contenu 10"/>
          <p:cNvSpPr>
            <a:spLocks noGrp="1"/>
          </p:cNvSpPr>
          <p:nvPr>
            <p:ph sz="quarter" idx="1"/>
          </p:nvPr>
        </p:nvSpPr>
        <p:spPr>
          <a:xfrm>
            <a:off x="2971800" y="1200150"/>
            <a:ext cx="5715000" cy="3371850"/>
          </a:xfrm>
        </p:spPr>
        <p:txBody>
          <a:bodyPr vert="horz"/>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914400" y="3675413"/>
            <a:ext cx="7315200" cy="391716"/>
          </a:xfrm>
        </p:spPr>
        <p:txBody>
          <a:bodyPr anchor="ctr">
            <a:noAutofit/>
          </a:bodyPr>
          <a:lstStyle>
            <a:lvl1pPr algn="l">
              <a:buNone/>
              <a:defRPr sz="2800" b="0"/>
            </a:lvl1pPr>
          </a:lstStyle>
          <a:p>
            <a:r>
              <a:rPr kumimoji="0" lang="fr-FR" smtClean="0"/>
              <a:t>Cliquez pour modifier le style du titre</a:t>
            </a:r>
            <a:endParaRPr kumimoji="0" lang="en-US"/>
          </a:p>
        </p:txBody>
      </p:sp>
      <p:sp>
        <p:nvSpPr>
          <p:cNvPr id="4" name="Espace réservé du texte 3"/>
          <p:cNvSpPr>
            <a:spLocks noGrp="1"/>
          </p:cNvSpPr>
          <p:nvPr>
            <p:ph type="body" sz="half" idx="2"/>
          </p:nvPr>
        </p:nvSpPr>
        <p:spPr>
          <a:xfrm>
            <a:off x="914400" y="4084369"/>
            <a:ext cx="7315200" cy="514350"/>
          </a:xfrm>
        </p:spPr>
        <p:txBody>
          <a:bodyPr/>
          <a:lstStyle>
            <a:lvl1pPr marL="0" indent="0">
              <a:buFontTx/>
              <a:buNone/>
              <a:defRPr sz="1600"/>
            </a:lvl1pPr>
            <a:lvl2pPr>
              <a:defRPr sz="1200"/>
            </a:lvl2pPr>
            <a:lvl3pPr>
              <a:defRPr sz="1000"/>
            </a:lvl3pPr>
            <a:lvl4pPr>
              <a:defRPr sz="900"/>
            </a:lvl4pPr>
            <a:lvl5pPr>
              <a:defRPr sz="900"/>
            </a:lvl5pPr>
          </a:lstStyle>
          <a:p>
            <a:pPr lvl="0" eaLnBrk="1" latinLnBrk="0" hangingPunct="1"/>
            <a:r>
              <a:rPr kumimoji="0" lang="fr-FR" smtClean="0"/>
              <a:t>Cliquez pour modifier les styles du texte du masque</a:t>
            </a:r>
          </a:p>
        </p:txBody>
      </p:sp>
      <p:sp>
        <p:nvSpPr>
          <p:cNvPr id="5" name="Espace réservé de la date 4"/>
          <p:cNvSpPr>
            <a:spLocks noGrp="1"/>
          </p:cNvSpPr>
          <p:nvPr>
            <p:ph type="dt" sz="half" idx="10"/>
          </p:nvPr>
        </p:nvSpPr>
        <p:spPr/>
        <p:txBody>
          <a:bodyPr/>
          <a:lstStyle/>
          <a:p>
            <a:fld id="{6901DD82-D536-43B8-86D9-932D8FF0AAD5}" type="datetimeFigureOut">
              <a:rPr lang="fr-FR" smtClean="0"/>
              <a:t>24/06/2018</a:t>
            </a:fld>
            <a:endParaRPr lang="fr-FR"/>
          </a:p>
        </p:txBody>
      </p:sp>
      <p:sp>
        <p:nvSpPr>
          <p:cNvPr id="6" name="Espace réservé du pied de page 5"/>
          <p:cNvSpPr>
            <a:spLocks noGrp="1"/>
          </p:cNvSpPr>
          <p:nvPr>
            <p:ph type="ftr" sz="quarter" idx="11"/>
          </p:nvPr>
        </p:nvSpPr>
        <p:spPr>
          <a:xfrm>
            <a:off x="914400" y="4629150"/>
            <a:ext cx="3886200" cy="342900"/>
          </a:xfrm>
        </p:spPr>
        <p:txBody>
          <a:bodyPr/>
          <a:lstStyle/>
          <a:p>
            <a:endParaRPr lang="fr-BE"/>
          </a:p>
        </p:txBody>
      </p:sp>
      <p:sp>
        <p:nvSpPr>
          <p:cNvPr id="7" name="Espace réservé du numéro de diapositive 6"/>
          <p:cNvSpPr>
            <a:spLocks noGrp="1"/>
          </p:cNvSpPr>
          <p:nvPr>
            <p:ph type="sldNum" sz="quarter" idx="12"/>
          </p:nvPr>
        </p:nvSpPr>
        <p:spPr>
          <a:xfrm>
            <a:off x="146304" y="4656582"/>
            <a:ext cx="457200" cy="342900"/>
          </a:xfrm>
        </p:spPr>
        <p:txBody>
          <a:bodyPr/>
          <a:lstStyle/>
          <a:p>
            <a:fld id="{CF4668DC-857F-487D-BFFA-8C0CA5037977}" type="slidenum">
              <a:rPr lang="fr-BE" smtClean="0"/>
              <a:pPr/>
              <a:t>‹N°›</a:t>
            </a:fld>
            <a:endParaRPr lang="fr-BE"/>
          </a:p>
        </p:txBody>
      </p:sp>
      <p:sp>
        <p:nvSpPr>
          <p:cNvPr id="11" name="Rectangle 10"/>
          <p:cNvSpPr/>
          <p:nvPr/>
        </p:nvSpPr>
        <p:spPr>
          <a:xfrm flipV="1">
            <a:off x="68307" y="3512666"/>
            <a:ext cx="9006840" cy="68580"/>
          </a:xfrm>
          <a:prstGeom prst="rect">
            <a:avLst/>
          </a:prstGeom>
          <a:solidFill>
            <a:schemeClr val="accent1">
              <a:alpha val="10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Rectangle 11"/>
          <p:cNvSpPr/>
          <p:nvPr/>
        </p:nvSpPr>
        <p:spPr>
          <a:xfrm>
            <a:off x="68509" y="3487856"/>
            <a:ext cx="9006639" cy="34289"/>
          </a:xfrm>
          <a:prstGeom prst="rect">
            <a:avLst/>
          </a:prstGeom>
          <a:solidFill>
            <a:schemeClr val="accent1">
              <a:tint val="60000"/>
            </a:schemeClr>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3" name="Rectangle 12"/>
          <p:cNvSpPr/>
          <p:nvPr/>
        </p:nvSpPr>
        <p:spPr>
          <a:xfrm>
            <a:off x="68511" y="3579919"/>
            <a:ext cx="9006637" cy="36605"/>
          </a:xfrm>
          <a:prstGeom prst="rect">
            <a:avLst/>
          </a:prstGeom>
          <a:solidFill>
            <a:schemeClr val="accent5"/>
          </a:solidFill>
          <a:ln w="19050" cap="sq"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 name="Espace réservé pour une image  2"/>
          <p:cNvSpPr>
            <a:spLocks noGrp="1"/>
          </p:cNvSpPr>
          <p:nvPr>
            <p:ph type="pic" idx="1"/>
          </p:nvPr>
        </p:nvSpPr>
        <p:spPr>
          <a:xfrm>
            <a:off x="68309" y="50007"/>
            <a:ext cx="9001873" cy="3436144"/>
          </a:xfrm>
          <a:prstGeom prst="round2SameRect">
            <a:avLst>
              <a:gd name="adj1" fmla="val 7101"/>
              <a:gd name="adj2" fmla="val 0"/>
            </a:avLst>
          </a:prstGeom>
          <a:solidFill>
            <a:schemeClr val="bg2"/>
          </a:solidFill>
          <a:ln w="6350">
            <a:solidFill>
              <a:schemeClr val="tx1"/>
            </a:solidFill>
          </a:ln>
        </p:spPr>
        <p:txBody>
          <a:bodyPr/>
          <a:lstStyle>
            <a:lvl1pPr marL="0" indent="0">
              <a:buNone/>
              <a:defRPr sz="3200"/>
            </a:lvl1pPr>
          </a:lstStyle>
          <a:p>
            <a:r>
              <a:rPr kumimoji="0" lang="fr-FR" smtClean="0"/>
              <a:t>Cliquez sur l'icône pour ajouter une image</a:t>
            </a:r>
            <a:endParaRPr kumimoji="0"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kumimoji="0" lang="fr-FR" smtClean="0"/>
              <a:t>Cliquez pour modifier le style du titre</a:t>
            </a:r>
            <a:endParaRPr kumimoji="0" lang="en-US"/>
          </a:p>
        </p:txBody>
      </p:sp>
      <p:sp>
        <p:nvSpPr>
          <p:cNvPr id="3" name="Espace réservé du texte vertical 2"/>
          <p:cNvSpPr>
            <a:spLocks noGrp="1"/>
          </p:cNvSpPr>
          <p:nvPr>
            <p:ph type="body" orient="vert" idx="1"/>
          </p:nvPr>
        </p:nvSpPr>
        <p:spPr/>
        <p:txBody>
          <a:bodyPr vert="eaVer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4" name="Espace réservé de la date 3"/>
          <p:cNvSpPr>
            <a:spLocks noGrp="1"/>
          </p:cNvSpPr>
          <p:nvPr>
            <p:ph type="dt" sz="half" idx="10"/>
          </p:nvPr>
        </p:nvSpPr>
        <p:spPr/>
        <p:txBody>
          <a:bodyPr/>
          <a:lstStyle/>
          <a:p>
            <a:fld id="{6901DD82-D536-43B8-86D9-932D8FF0AAD5}" type="datetimeFigureOut">
              <a:rPr lang="fr-FR" smtClean="0"/>
              <a:t>24/06/2018</a:t>
            </a:fld>
            <a:endParaRPr lang="fr-FR"/>
          </a:p>
        </p:txBody>
      </p:sp>
      <p:sp>
        <p:nvSpPr>
          <p:cNvPr id="5" name="Espace réservé du pied de page 4"/>
          <p:cNvSpPr>
            <a:spLocks noGrp="1"/>
          </p:cNvSpPr>
          <p:nvPr>
            <p:ph type="ftr" sz="quarter" idx="11"/>
          </p:nvPr>
        </p:nvSpPr>
        <p:spPr/>
        <p:txBody>
          <a:bodyPr/>
          <a:lstStyle/>
          <a:p>
            <a:endParaRPr lang="fr-BE"/>
          </a:p>
        </p:txBody>
      </p:sp>
      <p:sp>
        <p:nvSpPr>
          <p:cNvPr id="6" name="Espace réservé du numéro de diapositive 5"/>
          <p:cNvSpPr>
            <a:spLocks noGrp="1"/>
          </p:cNvSpPr>
          <p:nvPr>
            <p:ph type="sldNum" sz="quarter" idx="12"/>
          </p:nvPr>
        </p:nvSpPr>
        <p:spPr/>
        <p:txBody>
          <a:bodyPr/>
          <a:lstStyle/>
          <a:p>
            <a:fld id="{CF4668DC-857F-487D-BFFA-8C0CA5037977}" type="slidenum">
              <a:rPr lang="fr-BE" smtClean="0"/>
              <a:pPr/>
              <a:t>‹N°›</a:t>
            </a:fld>
            <a:endParaRPr lang="fr-B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05981"/>
            <a:ext cx="2011680" cy="4388644"/>
          </a:xfrm>
        </p:spPr>
        <p:txBody>
          <a:bodyPr vert="eaVert"/>
          <a:lstStyle/>
          <a:p>
            <a:r>
              <a:rPr kumimoji="0" lang="fr-FR" smtClean="0"/>
              <a:t>Cliquez pour modifier le style du titre</a:t>
            </a:r>
            <a:endParaRPr kumimoji="0" lang="en-US"/>
          </a:p>
        </p:txBody>
      </p:sp>
      <p:sp>
        <p:nvSpPr>
          <p:cNvPr id="3" name="Espace réservé du texte vertical 2"/>
          <p:cNvSpPr>
            <a:spLocks noGrp="1"/>
          </p:cNvSpPr>
          <p:nvPr>
            <p:ph type="body" orient="vert" idx="1"/>
          </p:nvPr>
        </p:nvSpPr>
        <p:spPr>
          <a:xfrm>
            <a:off x="914400" y="205980"/>
            <a:ext cx="5562600" cy="4388644"/>
          </a:xfrm>
        </p:spPr>
        <p:txBody>
          <a:bodyPr vert="eaVert"/>
          <a:lstStyle/>
          <a:p>
            <a:pPr lvl="0" eaLnBrk="1" latinLnBrk="0" hangingPunct="1"/>
            <a:r>
              <a:rPr lang="fr-FR" smtClean="0"/>
              <a:t>Cliquez pour modifier les styles du texte du masque</a:t>
            </a:r>
          </a:p>
          <a:p>
            <a:pPr lvl="1" eaLnBrk="1" latinLnBrk="0" hangingPunct="1"/>
            <a:r>
              <a:rPr lang="fr-FR" smtClean="0"/>
              <a:t>Deuxième niveau</a:t>
            </a:r>
          </a:p>
          <a:p>
            <a:pPr lvl="2" eaLnBrk="1" latinLnBrk="0" hangingPunct="1"/>
            <a:r>
              <a:rPr lang="fr-FR" smtClean="0"/>
              <a:t>Troisième niveau</a:t>
            </a:r>
          </a:p>
          <a:p>
            <a:pPr lvl="3" eaLnBrk="1" latinLnBrk="0" hangingPunct="1"/>
            <a:r>
              <a:rPr lang="fr-FR" smtClean="0"/>
              <a:t>Quatrième niveau</a:t>
            </a:r>
          </a:p>
          <a:p>
            <a:pPr lvl="4" eaLnBrk="1" latinLnBrk="0" hangingPunct="1"/>
            <a:r>
              <a:rPr lang="fr-FR" smtClean="0"/>
              <a:t>Cinquième niveau</a:t>
            </a:r>
            <a:endParaRPr kumimoji="0" lang="en-US"/>
          </a:p>
        </p:txBody>
      </p:sp>
      <p:sp>
        <p:nvSpPr>
          <p:cNvPr id="4" name="Espace réservé de la date 3"/>
          <p:cNvSpPr>
            <a:spLocks noGrp="1"/>
          </p:cNvSpPr>
          <p:nvPr>
            <p:ph type="dt" sz="half" idx="10"/>
          </p:nvPr>
        </p:nvSpPr>
        <p:spPr/>
        <p:txBody>
          <a:bodyPr/>
          <a:lstStyle/>
          <a:p>
            <a:fld id="{6901DD82-D536-43B8-86D9-932D8FF0AAD5}" type="datetimeFigureOut">
              <a:rPr lang="fr-FR" smtClean="0"/>
              <a:t>24/06/2018</a:t>
            </a:fld>
            <a:endParaRPr lang="fr-FR"/>
          </a:p>
        </p:txBody>
      </p:sp>
      <p:sp>
        <p:nvSpPr>
          <p:cNvPr id="5" name="Espace réservé du pied de page 4"/>
          <p:cNvSpPr>
            <a:spLocks noGrp="1"/>
          </p:cNvSpPr>
          <p:nvPr>
            <p:ph type="ftr" sz="quarter" idx="11"/>
          </p:nvPr>
        </p:nvSpPr>
        <p:spPr/>
        <p:txBody>
          <a:bodyPr/>
          <a:lstStyle/>
          <a:p>
            <a:endParaRPr lang="fr-BE"/>
          </a:p>
        </p:txBody>
      </p:sp>
      <p:sp>
        <p:nvSpPr>
          <p:cNvPr id="6" name="Espace réservé du numéro de diapositive 5"/>
          <p:cNvSpPr>
            <a:spLocks noGrp="1"/>
          </p:cNvSpPr>
          <p:nvPr>
            <p:ph type="sldNum" sz="quarter" idx="12"/>
          </p:nvPr>
        </p:nvSpPr>
        <p:spPr/>
        <p:txBody>
          <a:bodyPr/>
          <a:lstStyle/>
          <a:p>
            <a:fld id="{CF4668DC-857F-487D-BFFA-8C0CA5037977}" type="slidenum">
              <a:rPr lang="fr-BE" smtClean="0"/>
              <a:pPr/>
              <a:t>‹N°›</a:t>
            </a:fld>
            <a:endParaRPr lang="fr-BE"/>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Rectangle 8"/>
          <p:cNvSpPr/>
          <p:nvPr/>
        </p:nvSpPr>
        <p:spPr>
          <a:xfrm>
            <a:off x="0" y="0"/>
            <a:ext cx="9144000" cy="5143500"/>
          </a:xfrm>
          <a:prstGeom prst="rect">
            <a:avLst/>
          </a:prstGeom>
          <a:solidFill>
            <a:srgbClr val="FFFFFF"/>
          </a:solidFill>
          <a:ln w="12700" cap="flat" cmpd="sng" algn="ctr">
            <a:noFill/>
            <a:prstDash val="solid"/>
          </a:ln>
        </p:spPr>
        <p:style>
          <a:lnRef idx="2">
            <a:schemeClr val="accent1"/>
          </a:lnRef>
          <a:fillRef idx="1">
            <a:schemeClr val="accent1"/>
          </a:fillRef>
          <a:effectRef idx="0">
            <a:schemeClr val="accent1"/>
          </a:effectRef>
          <a:fontRef idx="minor">
            <a:schemeClr val="lt1"/>
          </a:fontRef>
        </p:style>
        <p:txBody>
          <a:bodyPr rtlCol="0" anchor="ctr"/>
          <a:lstStyle/>
          <a:p>
            <a:pPr algn="ctr" eaLnBrk="1" latinLnBrk="0" hangingPunct="1"/>
            <a:endParaRPr kumimoji="0" lang="en-US"/>
          </a:p>
        </p:txBody>
      </p:sp>
      <p:sp useBgFill="1">
        <p:nvSpPr>
          <p:cNvPr id="8" name="Rectangle à coins arrondis 7"/>
          <p:cNvSpPr/>
          <p:nvPr/>
        </p:nvSpPr>
        <p:spPr>
          <a:xfrm>
            <a:off x="64008" y="52316"/>
            <a:ext cx="9013372" cy="5020056"/>
          </a:xfrm>
          <a:prstGeom prst="roundRect">
            <a:avLst>
              <a:gd name="adj" fmla="val 4929"/>
            </a:avLst>
          </a:prstGeom>
          <a:ln w="6350" cap="sq" cmpd="sng" algn="ctr">
            <a:solidFill>
              <a:schemeClr val="tx1">
                <a:alpha val="100000"/>
              </a:schemeClr>
            </a:solidFill>
            <a:prstDash val="solid"/>
          </a:ln>
          <a:effectLst/>
        </p:spPr>
        <p:style>
          <a:lnRef idx="3">
            <a:schemeClr val="lt1"/>
          </a:lnRef>
          <a:fillRef idx="1001">
            <a:schemeClr val="lt1"/>
          </a:fillRef>
          <a:effectRef idx="1">
            <a:schemeClr val="accent1"/>
          </a:effectRef>
          <a:fontRef idx="minor">
            <a:schemeClr val="lt1"/>
          </a:fontRef>
        </p:style>
        <p:txBody>
          <a:bodyPr anchor="ctr"/>
          <a:lstStyle/>
          <a:p>
            <a:pPr algn="ctr" eaLnBrk="1" latinLnBrk="0" hangingPunct="1"/>
            <a:endParaRPr kumimoji="0" lang="en-US"/>
          </a:p>
        </p:txBody>
      </p:sp>
      <p:sp>
        <p:nvSpPr>
          <p:cNvPr id="22" name="Espace réservé du titre 21"/>
          <p:cNvSpPr>
            <a:spLocks noGrp="1"/>
          </p:cNvSpPr>
          <p:nvPr>
            <p:ph type="title"/>
          </p:nvPr>
        </p:nvSpPr>
        <p:spPr>
          <a:xfrm>
            <a:off x="914400" y="205979"/>
            <a:ext cx="7772400" cy="857250"/>
          </a:xfrm>
          <a:prstGeom prst="rect">
            <a:avLst/>
          </a:prstGeom>
        </p:spPr>
        <p:txBody>
          <a:bodyPr bIns="91440" anchor="b" anchorCtr="0">
            <a:normAutofit/>
          </a:bodyPr>
          <a:lstStyle/>
          <a:p>
            <a:r>
              <a:rPr kumimoji="0" lang="fr-FR" smtClean="0"/>
              <a:t>Cliquez pour modifier le style du titre</a:t>
            </a:r>
            <a:endParaRPr kumimoji="0" lang="en-US"/>
          </a:p>
        </p:txBody>
      </p:sp>
      <p:sp>
        <p:nvSpPr>
          <p:cNvPr id="13" name="Espace réservé du texte 12"/>
          <p:cNvSpPr>
            <a:spLocks noGrp="1"/>
          </p:cNvSpPr>
          <p:nvPr>
            <p:ph type="body" idx="1"/>
          </p:nvPr>
        </p:nvSpPr>
        <p:spPr>
          <a:xfrm>
            <a:off x="914400" y="1085850"/>
            <a:ext cx="7772400" cy="3429000"/>
          </a:xfrm>
          <a:prstGeom prst="rect">
            <a:avLst/>
          </a:prstGeom>
        </p:spPr>
        <p:txBody>
          <a:bodyPr>
            <a:normAutofit/>
          </a:bodyPr>
          <a:lstStyle/>
          <a:p>
            <a:pPr lvl="0" eaLnBrk="1" latinLnBrk="0" hangingPunct="1"/>
            <a:r>
              <a:rPr kumimoji="0" lang="fr-FR" smtClean="0"/>
              <a:t>Cliquez pour modifier les styles du texte du masque</a:t>
            </a:r>
          </a:p>
          <a:p>
            <a:pPr lvl="1" eaLnBrk="1" latinLnBrk="0" hangingPunct="1"/>
            <a:r>
              <a:rPr kumimoji="0" lang="fr-FR" smtClean="0"/>
              <a:t>Deuxième niveau</a:t>
            </a:r>
          </a:p>
          <a:p>
            <a:pPr lvl="2" eaLnBrk="1" latinLnBrk="0" hangingPunct="1"/>
            <a:r>
              <a:rPr kumimoji="0" lang="fr-FR" smtClean="0"/>
              <a:t>Troisième niveau</a:t>
            </a:r>
          </a:p>
          <a:p>
            <a:pPr lvl="3" eaLnBrk="1" latinLnBrk="0" hangingPunct="1"/>
            <a:r>
              <a:rPr kumimoji="0" lang="fr-FR" smtClean="0"/>
              <a:t>Quatrième niveau</a:t>
            </a:r>
          </a:p>
          <a:p>
            <a:pPr lvl="4" eaLnBrk="1" latinLnBrk="0" hangingPunct="1"/>
            <a:r>
              <a:rPr kumimoji="0" lang="fr-FR" smtClean="0"/>
              <a:t>Cinquième niveau</a:t>
            </a:r>
            <a:endParaRPr kumimoji="0" lang="en-US"/>
          </a:p>
        </p:txBody>
      </p:sp>
      <p:sp>
        <p:nvSpPr>
          <p:cNvPr id="14" name="Espace réservé de la date 13"/>
          <p:cNvSpPr>
            <a:spLocks noGrp="1"/>
          </p:cNvSpPr>
          <p:nvPr>
            <p:ph type="dt" sz="half" idx="2"/>
          </p:nvPr>
        </p:nvSpPr>
        <p:spPr>
          <a:xfrm>
            <a:off x="6172200" y="4643437"/>
            <a:ext cx="2476500" cy="357188"/>
          </a:xfrm>
          <a:prstGeom prst="rect">
            <a:avLst/>
          </a:prstGeom>
        </p:spPr>
        <p:txBody>
          <a:bodyPr anchor="ctr" anchorCtr="0"/>
          <a:lstStyle>
            <a:lvl1pPr algn="r" eaLnBrk="1" latinLnBrk="0" hangingPunct="1">
              <a:defRPr kumimoji="0" sz="1400">
                <a:solidFill>
                  <a:schemeClr val="tx2"/>
                </a:solidFill>
              </a:defRPr>
            </a:lvl1pPr>
          </a:lstStyle>
          <a:p>
            <a:fld id="{6901DD82-D536-43B8-86D9-932D8FF0AAD5}" type="datetimeFigureOut">
              <a:rPr lang="fr-FR" smtClean="0"/>
              <a:t>24/06/2018</a:t>
            </a:fld>
            <a:endParaRPr lang="fr-FR"/>
          </a:p>
        </p:txBody>
      </p:sp>
      <p:sp>
        <p:nvSpPr>
          <p:cNvPr id="3" name="Espace réservé du pied de page 2"/>
          <p:cNvSpPr>
            <a:spLocks noGrp="1"/>
          </p:cNvSpPr>
          <p:nvPr>
            <p:ph type="ftr" sz="quarter" idx="3"/>
          </p:nvPr>
        </p:nvSpPr>
        <p:spPr>
          <a:xfrm>
            <a:off x="914400" y="4629150"/>
            <a:ext cx="3962400" cy="342900"/>
          </a:xfrm>
          <a:prstGeom prst="rect">
            <a:avLst/>
          </a:prstGeom>
        </p:spPr>
        <p:txBody>
          <a:bodyPr anchor="ctr" anchorCtr="0"/>
          <a:lstStyle>
            <a:lvl1pPr eaLnBrk="1" latinLnBrk="0" hangingPunct="1">
              <a:defRPr kumimoji="0" sz="1400">
                <a:solidFill>
                  <a:schemeClr val="tx2"/>
                </a:solidFill>
              </a:defRPr>
            </a:lvl1pPr>
          </a:lstStyle>
          <a:p>
            <a:endParaRPr lang="fr-BE" dirty="0"/>
          </a:p>
        </p:txBody>
      </p:sp>
      <p:sp>
        <p:nvSpPr>
          <p:cNvPr id="23" name="Espace réservé du numéro de diapositive 22"/>
          <p:cNvSpPr>
            <a:spLocks noGrp="1"/>
          </p:cNvSpPr>
          <p:nvPr>
            <p:ph type="sldNum" sz="quarter" idx="4"/>
          </p:nvPr>
        </p:nvSpPr>
        <p:spPr>
          <a:xfrm>
            <a:off x="146304" y="4657725"/>
            <a:ext cx="457200" cy="342900"/>
          </a:xfrm>
          <a:prstGeom prst="ellipse">
            <a:avLst/>
          </a:prstGeom>
          <a:solidFill>
            <a:schemeClr val="accent1"/>
          </a:solidFill>
        </p:spPr>
        <p:txBody>
          <a:bodyPr wrap="none" lIns="0" tIns="0" rIns="0" bIns="0" anchor="ctr" anchorCtr="1">
            <a:noAutofit/>
          </a:bodyPr>
          <a:lstStyle>
            <a:lvl1pPr algn="ctr" eaLnBrk="1" latinLnBrk="0" hangingPunct="1">
              <a:defRPr kumimoji="0" sz="1400">
                <a:solidFill>
                  <a:srgbClr val="FFFFFF"/>
                </a:solidFill>
                <a:latin typeface="+mj-lt"/>
                <a:ea typeface="+mj-ea"/>
                <a:cs typeface="+mj-cs"/>
              </a:defRPr>
            </a:lvl1pPr>
          </a:lstStyle>
          <a:p>
            <a:fld id="{CF4668DC-857F-487D-BFFA-8C0CA5037977}" type="slidenum">
              <a:rPr lang="fr-BE" smtClean="0"/>
              <a:pPr/>
              <a:t>‹N°›</a:t>
            </a:fld>
            <a:endParaRPr lang="fr-BE" dirty="0"/>
          </a:p>
        </p:txBody>
      </p:sp>
    </p:spTree>
  </p:cSld>
  <p:clrMap bg1="lt1" tx1="dk1" bg2="lt2" tx2="dk2" accent1="accent1" accent2="accent2" accent3="accent3" accent4="accent4" accent5="accent5" accent6="accent6" hlink="hlink" folHlink="folHlink"/>
  <p:sldLayoutIdLst>
    <p:sldLayoutId id="2147484178" r:id="rId1"/>
    <p:sldLayoutId id="2147484179" r:id="rId2"/>
    <p:sldLayoutId id="2147484180" r:id="rId3"/>
    <p:sldLayoutId id="2147484181" r:id="rId4"/>
    <p:sldLayoutId id="2147484182" r:id="rId5"/>
    <p:sldLayoutId id="2147484183" r:id="rId6"/>
    <p:sldLayoutId id="2147484184" r:id="rId7"/>
    <p:sldLayoutId id="2147484185" r:id="rId8"/>
    <p:sldLayoutId id="2147484186" r:id="rId9"/>
    <p:sldLayoutId id="2147484187" r:id="rId10"/>
    <p:sldLayoutId id="2147484188" r:id="rId11"/>
  </p:sldLayoutIdLst>
  <p:hf hdr="0" ftr="0" dt="0"/>
  <p:txStyles>
    <p:titleStyle>
      <a:lvl1pPr algn="l" rtl="0" eaLnBrk="1" latinLnBrk="0" hangingPunct="1">
        <a:spcBef>
          <a:spcPct val="0"/>
        </a:spcBef>
        <a:buNone/>
        <a:defRPr kumimoji="0" sz="4000" kern="1200">
          <a:solidFill>
            <a:schemeClr val="tx2"/>
          </a:solidFill>
          <a:latin typeface="+mj-lt"/>
          <a:ea typeface="+mj-ea"/>
          <a:cs typeface="+mj-cs"/>
        </a:defRPr>
      </a:lvl1pPr>
    </p:titleStyle>
    <p:bodyStyle>
      <a:lvl1pPr marL="274320" indent="-274320" algn="l" rtl="0" eaLnBrk="1" latinLnBrk="0" hangingPunct="1">
        <a:spcBef>
          <a:spcPts val="580"/>
        </a:spcBef>
        <a:buClr>
          <a:schemeClr val="accent1"/>
        </a:buClr>
        <a:buSzPct val="85000"/>
        <a:buFont typeface="Wingdings 2"/>
        <a:buChar char=""/>
        <a:defRPr kumimoji="0" sz="2600" kern="1200">
          <a:solidFill>
            <a:schemeClr val="tx1"/>
          </a:solidFill>
          <a:latin typeface="+mn-lt"/>
          <a:ea typeface="+mn-ea"/>
          <a:cs typeface="+mn-cs"/>
        </a:defRPr>
      </a:lvl1pPr>
      <a:lvl2pPr marL="548640" indent="-228600" algn="l" rtl="0" eaLnBrk="1" latinLnBrk="0" hangingPunct="1">
        <a:spcBef>
          <a:spcPts val="370"/>
        </a:spcBef>
        <a:buClr>
          <a:schemeClr val="accent2"/>
        </a:buClr>
        <a:buSzPct val="85000"/>
        <a:buFont typeface="Wingdings 2"/>
        <a:buChar char=""/>
        <a:defRPr kumimoji="0" sz="2400" kern="1200">
          <a:solidFill>
            <a:schemeClr val="tx1"/>
          </a:solidFill>
          <a:latin typeface="+mn-lt"/>
          <a:ea typeface="+mn-ea"/>
          <a:cs typeface="+mn-cs"/>
        </a:defRPr>
      </a:lvl2pPr>
      <a:lvl3pPr marL="822960" indent="-228600" algn="l" rtl="0" eaLnBrk="1" latinLnBrk="0" hangingPunct="1">
        <a:spcBef>
          <a:spcPts val="370"/>
        </a:spcBef>
        <a:buClr>
          <a:schemeClr val="accent1">
            <a:tint val="60000"/>
          </a:schemeClr>
        </a:buClr>
        <a:buSzPct val="85000"/>
        <a:buFont typeface="Wingdings 2"/>
        <a:buChar char=""/>
        <a:defRPr kumimoji="0" sz="2000" kern="1200">
          <a:solidFill>
            <a:schemeClr val="tx1"/>
          </a:solidFill>
          <a:latin typeface="+mn-lt"/>
          <a:ea typeface="+mn-ea"/>
          <a:cs typeface="+mn-cs"/>
        </a:defRPr>
      </a:lvl3pPr>
      <a:lvl4pPr marL="1097280" indent="-228600" algn="l" rtl="0" eaLnBrk="1" latinLnBrk="0" hangingPunct="1">
        <a:spcBef>
          <a:spcPts val="370"/>
        </a:spcBef>
        <a:buClr>
          <a:schemeClr val="accent3"/>
        </a:buClr>
        <a:buSzPct val="80000"/>
        <a:buFont typeface="Wingdings 2"/>
        <a:buChar char=""/>
        <a:defRPr kumimoji="0" sz="2000" kern="1200">
          <a:solidFill>
            <a:schemeClr val="tx1"/>
          </a:solidFill>
          <a:latin typeface="+mn-lt"/>
          <a:ea typeface="+mn-ea"/>
          <a:cs typeface="+mn-cs"/>
        </a:defRPr>
      </a:lvl4pPr>
      <a:lvl5pPr marL="1371600" indent="-228600" algn="l" rtl="0" eaLnBrk="1" latinLnBrk="0" hangingPunct="1">
        <a:spcBef>
          <a:spcPts val="370"/>
        </a:spcBef>
        <a:buClr>
          <a:schemeClr val="accent3"/>
        </a:buClr>
        <a:buFontTx/>
        <a:buChar char="o"/>
        <a:defRPr kumimoji="0" sz="2000" kern="1200">
          <a:solidFill>
            <a:schemeClr val="tx1"/>
          </a:solidFill>
          <a:latin typeface="+mn-lt"/>
          <a:ea typeface="+mn-ea"/>
          <a:cs typeface="+mn-cs"/>
        </a:defRPr>
      </a:lvl5pPr>
      <a:lvl6pPr marL="1645920" indent="-228600" algn="l" rtl="0" eaLnBrk="1" latinLnBrk="0" hangingPunct="1">
        <a:spcBef>
          <a:spcPts val="370"/>
        </a:spcBef>
        <a:buClr>
          <a:schemeClr val="accent3"/>
        </a:buClr>
        <a:buChar char="•"/>
        <a:defRPr kumimoji="0" sz="1800" kern="1200" baseline="0">
          <a:solidFill>
            <a:schemeClr val="tx1"/>
          </a:solidFill>
          <a:latin typeface="+mn-lt"/>
          <a:ea typeface="+mn-ea"/>
          <a:cs typeface="+mn-cs"/>
        </a:defRPr>
      </a:lvl6pPr>
      <a:lvl7pPr marL="1920240" indent="-228600" algn="l" rtl="0" eaLnBrk="1" latinLnBrk="0" hangingPunct="1">
        <a:spcBef>
          <a:spcPts val="370"/>
        </a:spcBef>
        <a:buClr>
          <a:schemeClr val="accent2"/>
        </a:buClr>
        <a:buChar char="•"/>
        <a:defRPr kumimoji="0" sz="1800" kern="1200">
          <a:solidFill>
            <a:schemeClr val="tx1"/>
          </a:solidFill>
          <a:latin typeface="+mn-lt"/>
          <a:ea typeface="+mn-ea"/>
          <a:cs typeface="+mn-cs"/>
        </a:defRPr>
      </a:lvl7pPr>
      <a:lvl8pPr marL="2194560" indent="-228600" algn="l" rtl="0" eaLnBrk="1" latinLnBrk="0" hangingPunct="1">
        <a:spcBef>
          <a:spcPts val="370"/>
        </a:spcBef>
        <a:buClr>
          <a:schemeClr val="accent1">
            <a:tint val="60000"/>
          </a:schemeClr>
        </a:buClr>
        <a:buChar char="•"/>
        <a:defRPr kumimoji="0" sz="1800" kern="1200">
          <a:solidFill>
            <a:schemeClr val="tx1"/>
          </a:solidFill>
          <a:latin typeface="+mn-lt"/>
          <a:ea typeface="+mn-ea"/>
          <a:cs typeface="+mn-cs"/>
        </a:defRPr>
      </a:lvl8pPr>
      <a:lvl9pPr marL="2468880" indent="-228600" algn="l" rtl="0" eaLnBrk="1" latinLnBrk="0" hangingPunct="1">
        <a:spcBef>
          <a:spcPts val="370"/>
        </a:spcBef>
        <a:buClr>
          <a:schemeClr val="accent2">
            <a:tint val="60000"/>
          </a:schemeClr>
        </a:buClr>
        <a:buChar char="•"/>
        <a:defRPr kumimoji="0" sz="1800" kern="120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jpeg"/><Relationship Id="rId10" Type="http://schemas.openxmlformats.org/officeDocument/2006/relationships/image" Target="../media/image14.png"/><Relationship Id="rId4" Type="http://schemas.openxmlformats.org/officeDocument/2006/relationships/image" Target="../media/image8.jpeg"/><Relationship Id="rId9"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6.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7" Type="http://schemas.openxmlformats.org/officeDocument/2006/relationships/image" Target="../media/image22.jpeg"/><Relationship Id="rId2" Type="http://schemas.openxmlformats.org/officeDocument/2006/relationships/image" Target="../media/image17.jpe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2" Type="http://schemas.openxmlformats.org/officeDocument/2006/relationships/image" Target="../media/image35.wmf"/><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9.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p:cNvSpPr>
            <a:spLocks noGrp="1"/>
          </p:cNvSpPr>
          <p:nvPr>
            <p:ph type="subTitle" idx="1"/>
          </p:nvPr>
        </p:nvSpPr>
        <p:spPr/>
        <p:txBody>
          <a:bodyPr/>
          <a:lstStyle/>
          <a:p>
            <a:endParaRPr lang="fr-FR"/>
          </a:p>
        </p:txBody>
      </p:sp>
      <p:sp>
        <p:nvSpPr>
          <p:cNvPr id="2" name="Titre 1"/>
          <p:cNvSpPr>
            <a:spLocks noGrp="1"/>
          </p:cNvSpPr>
          <p:nvPr>
            <p:ph type="ctrTitle"/>
          </p:nvPr>
        </p:nvSpPr>
        <p:spPr/>
        <p:txBody>
          <a:bodyPr/>
          <a:lstStyle/>
          <a:p>
            <a:endParaRPr lang="fr-FR" dirty="0"/>
          </a:p>
        </p:txBody>
      </p:sp>
    </p:spTree>
    <p:extLst>
      <p:ext uri="{BB962C8B-B14F-4D97-AF65-F5344CB8AC3E}">
        <p14:creationId xmlns:p14="http://schemas.microsoft.com/office/powerpoint/2010/main" xmlns="" val="298391801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p:txBody>
          <a:bodyPr/>
          <a:lstStyle/>
          <a:p>
            <a:r>
              <a:rPr lang="fr-FR" dirty="0" smtClean="0"/>
              <a:t>Plan</a:t>
            </a:r>
            <a:endParaRPr lang="fr-FR" dirty="0"/>
          </a:p>
        </p:txBody>
      </p:sp>
      <p:sp>
        <p:nvSpPr>
          <p:cNvPr id="2" name="Espace réservé du contenu 1"/>
          <p:cNvSpPr>
            <a:spLocks noGrp="1"/>
          </p:cNvSpPr>
          <p:nvPr>
            <p:ph sz="quarter" idx="1"/>
          </p:nvPr>
        </p:nvSpPr>
        <p:spPr/>
        <p:txBody>
          <a:bodyPr/>
          <a:lstStyle/>
          <a:p>
            <a:endParaRPr lang="fr-FR"/>
          </a:p>
        </p:txBody>
      </p:sp>
    </p:spTree>
    <p:extLst>
      <p:ext uri="{BB962C8B-B14F-4D97-AF65-F5344CB8AC3E}">
        <p14:creationId xmlns:p14="http://schemas.microsoft.com/office/powerpoint/2010/main" xmlns="" val="3084389893"/>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Introduction</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a:t>
            </a:fld>
            <a:endParaRPr lang="fr-BE"/>
          </a:p>
        </p:txBody>
      </p:sp>
      <p:sp>
        <p:nvSpPr>
          <p:cNvPr id="2" name="Espace réservé du contenu 1"/>
          <p:cNvSpPr>
            <a:spLocks noGrp="1"/>
          </p:cNvSpPr>
          <p:nvPr>
            <p:ph sz="quarter" idx="1"/>
          </p:nvPr>
        </p:nvSpPr>
        <p:spPr/>
        <p:txBody>
          <a:bodyPr>
            <a:normAutofit/>
          </a:bodyPr>
          <a:lstStyle/>
          <a:p>
            <a:r>
              <a:rPr lang="fr-FR" dirty="0" smtClean="0"/>
              <a:t>Les </a:t>
            </a:r>
            <a:r>
              <a:rPr lang="fr-FR" dirty="0"/>
              <a:t>ressources terrestres sont </a:t>
            </a:r>
            <a:r>
              <a:rPr lang="fr-FR" dirty="0" smtClean="0"/>
              <a:t>limitées,</a:t>
            </a:r>
          </a:p>
          <a:p>
            <a:pPr marL="0" indent="0">
              <a:buNone/>
            </a:pPr>
            <a:endParaRPr lang="fr-FR" dirty="0" smtClean="0"/>
          </a:p>
          <a:p>
            <a:r>
              <a:rPr lang="fr-FR" dirty="0" smtClean="0"/>
              <a:t>Augmentation </a:t>
            </a:r>
            <a:r>
              <a:rPr lang="fr-FR" dirty="0"/>
              <a:t>de la </a:t>
            </a:r>
            <a:r>
              <a:rPr lang="fr-FR" dirty="0" smtClean="0"/>
              <a:t>population,</a:t>
            </a:r>
            <a:endParaRPr lang="fr-FR" dirty="0"/>
          </a:p>
          <a:p>
            <a:pPr marL="0" indent="0">
              <a:buNone/>
            </a:pPr>
            <a:endParaRPr lang="fr-FR" dirty="0" smtClean="0"/>
          </a:p>
          <a:p>
            <a:r>
              <a:rPr lang="fr-FR" dirty="0" smtClean="0"/>
              <a:t>Le </a:t>
            </a:r>
            <a:r>
              <a:rPr lang="fr-FR" dirty="0"/>
              <a:t>besoin de villes intelligentes augmente de jour en </a:t>
            </a:r>
            <a:r>
              <a:rPr lang="fr-FR" dirty="0" smtClean="0"/>
              <a:t>jour.</a:t>
            </a:r>
          </a:p>
        </p:txBody>
      </p:sp>
    </p:spTree>
    <p:extLst>
      <p:ext uri="{BB962C8B-B14F-4D97-AF65-F5344CB8AC3E}">
        <p14:creationId xmlns:p14="http://schemas.microsoft.com/office/powerpoint/2010/main" xmlns="" val="355870877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Smart City</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4</a:t>
            </a:fld>
            <a:endParaRPr lang="fr-BE"/>
          </a:p>
        </p:txBody>
      </p:sp>
      <p:sp>
        <p:nvSpPr>
          <p:cNvPr id="2" name="Espace réservé du contenu 1"/>
          <p:cNvSpPr>
            <a:spLocks noGrp="1"/>
          </p:cNvSpPr>
          <p:nvPr>
            <p:ph sz="quarter" idx="1"/>
          </p:nvPr>
        </p:nvSpPr>
        <p:spPr/>
        <p:txBody>
          <a:bodyPr/>
          <a:lstStyle/>
          <a:p>
            <a:endParaRPr lang="fr-FR" dirty="0"/>
          </a:p>
        </p:txBody>
      </p:sp>
      <p:pic>
        <p:nvPicPr>
          <p:cNvPr id="8194" name="Picture 2"/>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2606635" y="1059990"/>
            <a:ext cx="3909585" cy="3672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xmlns="" val="3746837056"/>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Problématique</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5</a:t>
            </a:fld>
            <a:endParaRPr lang="fr-BE"/>
          </a:p>
        </p:txBody>
      </p:sp>
      <p:sp>
        <p:nvSpPr>
          <p:cNvPr id="2" name="Espace réservé du contenu 1"/>
          <p:cNvSpPr>
            <a:spLocks noGrp="1"/>
          </p:cNvSpPr>
          <p:nvPr>
            <p:ph sz="quarter" idx="1"/>
          </p:nvPr>
        </p:nvSpPr>
        <p:spPr/>
        <p:txBody>
          <a:bodyPr>
            <a:normAutofit/>
          </a:bodyPr>
          <a:lstStyle/>
          <a:p>
            <a:r>
              <a:rPr lang="fr-FR" dirty="0" smtClean="0"/>
              <a:t>Des </a:t>
            </a:r>
            <a:r>
              <a:rPr lang="fr-FR" dirty="0"/>
              <a:t>applications </a:t>
            </a:r>
            <a:r>
              <a:rPr lang="fr-FR" dirty="0" smtClean="0"/>
              <a:t>sont </a:t>
            </a:r>
            <a:r>
              <a:rPr lang="fr-FR" dirty="0"/>
              <a:t>devenues obsolètes « </a:t>
            </a:r>
            <a:r>
              <a:rPr lang="fr-FR" dirty="0" err="1"/>
              <a:t>legacy</a:t>
            </a:r>
            <a:r>
              <a:rPr lang="fr-FR" dirty="0"/>
              <a:t> </a:t>
            </a:r>
            <a:r>
              <a:rPr lang="fr-FR" dirty="0" smtClean="0"/>
              <a:t>»,</a:t>
            </a:r>
          </a:p>
          <a:p>
            <a:pPr marL="0" indent="0">
              <a:buNone/>
            </a:pPr>
            <a:endParaRPr lang="fr-FR" dirty="0" smtClean="0"/>
          </a:p>
          <a:p>
            <a:r>
              <a:rPr lang="fr-FR" dirty="0" smtClean="0"/>
              <a:t>Ces applications continuent </a:t>
            </a:r>
            <a:r>
              <a:rPr lang="fr-FR" dirty="0"/>
              <a:t>d'être utilisé dans les </a:t>
            </a:r>
            <a:r>
              <a:rPr lang="fr-FR" dirty="0" smtClean="0"/>
              <a:t>organisations,</a:t>
            </a:r>
          </a:p>
          <a:p>
            <a:pPr marL="0" indent="0">
              <a:buNone/>
            </a:pPr>
            <a:endParaRPr lang="fr-FR" dirty="0" smtClean="0"/>
          </a:p>
          <a:p>
            <a:r>
              <a:rPr lang="fr-FR" dirty="0" smtClean="0"/>
              <a:t>Difficilement </a:t>
            </a:r>
            <a:r>
              <a:rPr lang="fr-FR" dirty="0"/>
              <a:t>remplaçables sans engendrer des projets coûteux et </a:t>
            </a:r>
            <a:r>
              <a:rPr lang="fr-FR" dirty="0" smtClean="0"/>
              <a:t>risqués.</a:t>
            </a:r>
            <a:endParaRPr lang="fr-FR" dirty="0"/>
          </a:p>
        </p:txBody>
      </p:sp>
    </p:spTree>
    <p:extLst>
      <p:ext uri="{BB962C8B-B14F-4D97-AF65-F5344CB8AC3E}">
        <p14:creationId xmlns:p14="http://schemas.microsoft.com/office/powerpoint/2010/main" xmlns="" val="102484312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Motivation</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6</a:t>
            </a:fld>
            <a:endParaRPr lang="fr-BE"/>
          </a:p>
        </p:txBody>
      </p:sp>
      <p:sp>
        <p:nvSpPr>
          <p:cNvPr id="2" name="Espace réservé du contenu 1"/>
          <p:cNvSpPr>
            <a:spLocks noGrp="1"/>
          </p:cNvSpPr>
          <p:nvPr>
            <p:ph sz="quarter" idx="1"/>
          </p:nvPr>
        </p:nvSpPr>
        <p:spPr/>
        <p:txBody>
          <a:bodyPr>
            <a:normAutofit/>
          </a:bodyPr>
          <a:lstStyle/>
          <a:p>
            <a:r>
              <a:rPr lang="fr-FR" dirty="0" smtClean="0"/>
              <a:t>Plusieurs </a:t>
            </a:r>
            <a:r>
              <a:rPr lang="fr-FR" dirty="0"/>
              <a:t>raisons pour lesquelles on doit conserver une application </a:t>
            </a:r>
            <a:r>
              <a:rPr lang="fr-FR" dirty="0" err="1" smtClean="0"/>
              <a:t>legacy</a:t>
            </a:r>
            <a:r>
              <a:rPr lang="fr-FR" dirty="0" smtClean="0"/>
              <a:t>.</a:t>
            </a:r>
          </a:p>
          <a:p>
            <a:pPr marL="0" indent="0">
              <a:buNone/>
            </a:pPr>
            <a:endParaRPr lang="fr-FR" dirty="0" smtClean="0"/>
          </a:p>
          <a:p>
            <a:r>
              <a:rPr lang="fr-FR" dirty="0" smtClean="0"/>
              <a:t>Peut </a:t>
            </a:r>
            <a:r>
              <a:rPr lang="fr-FR" dirty="0"/>
              <a:t>nous éviter les coûts de leur </a:t>
            </a:r>
            <a:r>
              <a:rPr lang="fr-FR" dirty="0" smtClean="0"/>
              <a:t>réingénierie,</a:t>
            </a:r>
          </a:p>
          <a:p>
            <a:pPr marL="0" indent="0">
              <a:buNone/>
            </a:pPr>
            <a:endParaRPr lang="fr-FR" dirty="0" smtClean="0"/>
          </a:p>
          <a:p>
            <a:r>
              <a:rPr lang="fr-FR" dirty="0" smtClean="0"/>
              <a:t>Il </a:t>
            </a:r>
            <a:r>
              <a:rPr lang="fr-FR" dirty="0"/>
              <a:t>suffit </a:t>
            </a:r>
            <a:r>
              <a:rPr lang="fr-FR" dirty="0" smtClean="0"/>
              <a:t>de disposer </a:t>
            </a:r>
            <a:r>
              <a:rPr lang="fr-FR" dirty="0"/>
              <a:t>d’un navigateur web </a:t>
            </a:r>
            <a:r>
              <a:rPr lang="fr-FR" dirty="0" smtClean="0"/>
              <a:t>pour utiliser </a:t>
            </a:r>
            <a:r>
              <a:rPr lang="fr-FR" dirty="0"/>
              <a:t>ces </a:t>
            </a:r>
            <a:r>
              <a:rPr lang="fr-FR" dirty="0" smtClean="0"/>
              <a:t>applications</a:t>
            </a:r>
            <a:endParaRPr lang="fr-FR" dirty="0"/>
          </a:p>
        </p:txBody>
      </p:sp>
    </p:spTree>
    <p:extLst>
      <p:ext uri="{BB962C8B-B14F-4D97-AF65-F5344CB8AC3E}">
        <p14:creationId xmlns:p14="http://schemas.microsoft.com/office/powerpoint/2010/main" xmlns="" val="31852610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Objectif</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7</a:t>
            </a:fld>
            <a:endParaRPr lang="fr-BE"/>
          </a:p>
        </p:txBody>
      </p:sp>
      <p:sp>
        <p:nvSpPr>
          <p:cNvPr id="2" name="Espace réservé du contenu 1"/>
          <p:cNvSpPr>
            <a:spLocks noGrp="1"/>
          </p:cNvSpPr>
          <p:nvPr>
            <p:ph sz="quarter" idx="1"/>
          </p:nvPr>
        </p:nvSpPr>
        <p:spPr/>
        <p:txBody>
          <a:bodyPr>
            <a:normAutofit/>
          </a:bodyPr>
          <a:lstStyle/>
          <a:p>
            <a:r>
              <a:rPr lang="fr-FR" dirty="0" smtClean="0"/>
              <a:t>Offrir </a:t>
            </a:r>
            <a:r>
              <a:rPr lang="fr-FR" dirty="0"/>
              <a:t>une solution qui permet de transformer des applications obsolètes « </a:t>
            </a:r>
            <a:r>
              <a:rPr lang="fr-FR" dirty="0" err="1"/>
              <a:t>legacy</a:t>
            </a:r>
            <a:r>
              <a:rPr lang="fr-FR" dirty="0"/>
              <a:t> » développé en JAVA en service web « </a:t>
            </a:r>
            <a:r>
              <a:rPr lang="fr-FR" dirty="0" err="1"/>
              <a:t>SaaS</a:t>
            </a:r>
            <a:r>
              <a:rPr lang="fr-FR" dirty="0"/>
              <a:t> » </a:t>
            </a:r>
            <a:endParaRPr lang="fr-FR" dirty="0" smtClean="0"/>
          </a:p>
          <a:p>
            <a:pPr marL="0" indent="0">
              <a:buNone/>
            </a:pPr>
            <a:endParaRPr lang="fr-FR" dirty="0" smtClean="0"/>
          </a:p>
          <a:p>
            <a:r>
              <a:rPr lang="fr-FR" dirty="0" smtClean="0"/>
              <a:t>Les </a:t>
            </a:r>
            <a:r>
              <a:rPr lang="fr-FR" dirty="0"/>
              <a:t>rendre accessible via le navigateur </a:t>
            </a:r>
            <a:r>
              <a:rPr lang="fr-FR" dirty="0" smtClean="0"/>
              <a:t>web,</a:t>
            </a:r>
          </a:p>
          <a:p>
            <a:pPr marL="0" indent="0">
              <a:buNone/>
            </a:pPr>
            <a:endParaRPr lang="fr-FR" dirty="0" smtClean="0"/>
          </a:p>
          <a:p>
            <a:r>
              <a:rPr lang="fr-FR" dirty="0" smtClean="0"/>
              <a:t>Les </a:t>
            </a:r>
            <a:r>
              <a:rPr lang="fr-FR" dirty="0"/>
              <a:t>intégrer dans un Cloud standardisé « FIWARE </a:t>
            </a:r>
            <a:r>
              <a:rPr lang="fr-FR" dirty="0" smtClean="0"/>
              <a:t>».</a:t>
            </a:r>
            <a:endParaRPr lang="fr-FR" dirty="0"/>
          </a:p>
        </p:txBody>
      </p:sp>
    </p:spTree>
    <p:extLst>
      <p:ext uri="{BB962C8B-B14F-4D97-AF65-F5344CB8AC3E}">
        <p14:creationId xmlns:p14="http://schemas.microsoft.com/office/powerpoint/2010/main" xmlns="" val="38381587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Cloud </a:t>
            </a:r>
            <a:r>
              <a:rPr lang="fr-FR" dirty="0" err="1" smtClean="0"/>
              <a:t>Computing</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8</a:t>
            </a:fld>
            <a:endParaRPr lang="fr-BE"/>
          </a:p>
        </p:txBody>
      </p:sp>
      <p:sp>
        <p:nvSpPr>
          <p:cNvPr id="2" name="Espace réservé du contenu 1"/>
          <p:cNvSpPr>
            <a:spLocks noGrp="1"/>
          </p:cNvSpPr>
          <p:nvPr>
            <p:ph sz="quarter" idx="1"/>
          </p:nvPr>
        </p:nvSpPr>
        <p:spPr/>
        <p:txBody>
          <a:bodyPr/>
          <a:lstStyle/>
          <a:p>
            <a:endParaRPr lang="fr-FR" dirty="0"/>
          </a:p>
        </p:txBody>
      </p:sp>
    </p:spTree>
    <p:extLst>
      <p:ext uri="{BB962C8B-B14F-4D97-AF65-F5344CB8AC3E}">
        <p14:creationId xmlns:p14="http://schemas.microsoft.com/office/powerpoint/2010/main" xmlns="" val="46485731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Cloud </a:t>
            </a:r>
            <a:r>
              <a:rPr lang="fr-FR" dirty="0" err="1" smtClean="0"/>
              <a:t>Computing</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9</a:t>
            </a:fld>
            <a:endParaRPr lang="fr-BE"/>
          </a:p>
        </p:txBody>
      </p:sp>
      <p:sp>
        <p:nvSpPr>
          <p:cNvPr id="2" name="Espace réservé du contenu 1"/>
          <p:cNvSpPr>
            <a:spLocks noGrp="1"/>
          </p:cNvSpPr>
          <p:nvPr>
            <p:ph sz="quarter" idx="1"/>
          </p:nvPr>
        </p:nvSpPr>
        <p:spPr/>
        <p:txBody>
          <a:bodyPr>
            <a:normAutofit/>
          </a:bodyPr>
          <a:lstStyle/>
          <a:p>
            <a:r>
              <a:rPr lang="fr-FR" dirty="0" smtClean="0"/>
              <a:t>La définition formulée par le </a:t>
            </a:r>
            <a:r>
              <a:rPr lang="fr-FR" dirty="0"/>
              <a:t>NIST (</a:t>
            </a:r>
            <a:r>
              <a:rPr lang="fr-FR" dirty="0" smtClean="0"/>
              <a:t>National </a:t>
            </a:r>
            <a:r>
              <a:rPr lang="en-US" dirty="0"/>
              <a:t>Institute </a:t>
            </a:r>
            <a:r>
              <a:rPr lang="en-US" dirty="0" smtClean="0"/>
              <a:t>of Standards </a:t>
            </a:r>
            <a:r>
              <a:rPr lang="en-US" dirty="0"/>
              <a:t>and </a:t>
            </a:r>
            <a:r>
              <a:rPr lang="en-US" dirty="0" smtClean="0"/>
              <a:t>Technology):</a:t>
            </a:r>
          </a:p>
          <a:p>
            <a:pPr marL="0" indent="0">
              <a:buNone/>
            </a:pPr>
            <a:endParaRPr lang="fr-FR" dirty="0" smtClean="0"/>
          </a:p>
          <a:p>
            <a:pPr marL="0" indent="0">
              <a:buNone/>
            </a:pPr>
            <a:r>
              <a:rPr lang="fr-FR" dirty="0" smtClean="0"/>
              <a:t>« Le </a:t>
            </a:r>
            <a:r>
              <a:rPr lang="fr-FR" dirty="0"/>
              <a:t>Cloud </a:t>
            </a:r>
            <a:r>
              <a:rPr lang="fr-FR" dirty="0" err="1" smtClean="0"/>
              <a:t>Computing</a:t>
            </a:r>
            <a:r>
              <a:rPr lang="fr-FR" dirty="0" smtClean="0"/>
              <a:t> </a:t>
            </a:r>
            <a:r>
              <a:rPr lang="fr-FR" dirty="0"/>
              <a:t>est un modèle qui permet </a:t>
            </a:r>
            <a:r>
              <a:rPr lang="fr-FR" dirty="0" smtClean="0"/>
              <a:t>un accès omniprésent</a:t>
            </a:r>
            <a:r>
              <a:rPr lang="fr-FR" dirty="0"/>
              <a:t>, pratique et à la demande </a:t>
            </a:r>
            <a:r>
              <a:rPr lang="fr-FR" dirty="0" smtClean="0"/>
              <a:t>par </a:t>
            </a:r>
            <a:r>
              <a:rPr lang="fr-FR" dirty="0"/>
              <a:t>un </a:t>
            </a:r>
            <a:r>
              <a:rPr lang="fr-FR" dirty="0" smtClean="0"/>
              <a:t>réseau </a:t>
            </a:r>
            <a:r>
              <a:rPr lang="fr-FR" dirty="0"/>
              <a:t>partagé </a:t>
            </a:r>
            <a:r>
              <a:rPr lang="fr-FR" dirty="0" smtClean="0"/>
              <a:t> à </a:t>
            </a:r>
            <a:r>
              <a:rPr lang="fr-FR" dirty="0"/>
              <a:t>un ensemble de ressources </a:t>
            </a:r>
            <a:r>
              <a:rPr lang="fr-FR" dirty="0" smtClean="0"/>
              <a:t>informatiques configurables</a:t>
            </a:r>
            <a:r>
              <a:rPr lang="fr-FR" dirty="0"/>
              <a:t>. </a:t>
            </a:r>
            <a:r>
              <a:rPr lang="fr-FR" dirty="0" smtClean="0"/>
              <a:t>Ce </a:t>
            </a:r>
            <a:r>
              <a:rPr lang="fr-FR" dirty="0"/>
              <a:t>modèle est composé de 3 modèles </a:t>
            </a:r>
            <a:r>
              <a:rPr lang="fr-FR" dirty="0" smtClean="0"/>
              <a:t>de services et </a:t>
            </a:r>
            <a:r>
              <a:rPr lang="fr-FR" dirty="0"/>
              <a:t>de 4 modèles de déploiement</a:t>
            </a:r>
            <a:r>
              <a:rPr lang="fr-FR" dirty="0" smtClean="0"/>
              <a:t>. »</a:t>
            </a:r>
            <a:endParaRPr lang="fr-FR" dirty="0"/>
          </a:p>
        </p:txBody>
      </p:sp>
    </p:spTree>
    <p:extLst>
      <p:ext uri="{BB962C8B-B14F-4D97-AF65-F5344CB8AC3E}">
        <p14:creationId xmlns:p14="http://schemas.microsoft.com/office/powerpoint/2010/main" xmlns="" val="181116509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Modèles de service</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10</a:t>
            </a:fld>
            <a:endParaRPr lang="fr-BE"/>
          </a:p>
        </p:txBody>
      </p:sp>
      <p:sp>
        <p:nvSpPr>
          <p:cNvPr id="2" name="Espace réservé du contenu 1"/>
          <p:cNvSpPr>
            <a:spLocks noGrp="1"/>
          </p:cNvSpPr>
          <p:nvPr>
            <p:ph sz="quarter" idx="1"/>
          </p:nvPr>
        </p:nvSpPr>
        <p:spPr/>
        <p:txBody>
          <a:bodyPr/>
          <a:lstStyle/>
          <a:p>
            <a:endParaRPr lang="fr-FR" dirty="0"/>
          </a:p>
        </p:txBody>
      </p:sp>
      <p:pic>
        <p:nvPicPr>
          <p:cNvPr id="1027" name="Picture 3"/>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47605" y="2163814"/>
            <a:ext cx="9000000" cy="1686253"/>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028" name="Picture 4"/>
          <p:cNvPicPr>
            <a:picLocks noChangeAspect="1" noChangeArrowheads="1"/>
          </p:cNvPicPr>
          <p:nvPr/>
        </p:nvPicPr>
        <p:blipFill>
          <a:blip r:embed="rId4">
            <a:extLst>
              <a:ext uri="{28A0092B-C50C-407E-A947-70E740481C1C}">
                <a14:useLocalDpi xmlns:a14="http://schemas.microsoft.com/office/drawing/2010/main" xmlns="" val="0"/>
              </a:ext>
            </a:extLst>
          </a:blip>
          <a:srcRect/>
          <a:stretch>
            <a:fillRect/>
          </a:stretch>
        </p:blipFill>
        <p:spPr bwMode="auto">
          <a:xfrm>
            <a:off x="73004" y="2190813"/>
            <a:ext cx="9000000" cy="163225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pic>
        <p:nvPicPr>
          <p:cNvPr id="1029" name="Picture 5"/>
          <p:cNvPicPr>
            <a:picLocks noChangeAspect="1" noChangeArrowheads="1"/>
          </p:cNvPicPr>
          <p:nvPr/>
        </p:nvPicPr>
        <p:blipFill>
          <a:blip r:embed="rId5">
            <a:extLst>
              <a:ext uri="{28A0092B-C50C-407E-A947-70E740481C1C}">
                <a14:useLocalDpi xmlns:a14="http://schemas.microsoft.com/office/drawing/2010/main" xmlns="" val="0"/>
              </a:ext>
            </a:extLst>
          </a:blip>
          <a:srcRect/>
          <a:stretch>
            <a:fillRect/>
          </a:stretch>
        </p:blipFill>
        <p:spPr bwMode="auto">
          <a:xfrm>
            <a:off x="34925" y="2222814"/>
            <a:ext cx="9000000" cy="1568248"/>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xmlns="" val="2001337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9"/>
                                        </p:tgtEl>
                                        <p:attrNameLst>
                                          <p:attrName>style.visibility</p:attrName>
                                        </p:attrNameLst>
                                      </p:cBhvr>
                                      <p:to>
                                        <p:strVal val="visible"/>
                                      </p:to>
                                    </p:set>
                                    <p:animEffect transition="in" filter="fade">
                                      <p:cBhvr>
                                        <p:cTn id="7" dur="500"/>
                                        <p:tgtEl>
                                          <p:spTgt spid="10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nodeType="clickEffect">
                                  <p:stCondLst>
                                    <p:cond delay="0"/>
                                  </p:stCondLst>
                                  <p:childTnLst>
                                    <p:animEffect transition="out" filter="fade">
                                      <p:cBhvr>
                                        <p:cTn id="11" dur="500"/>
                                        <p:tgtEl>
                                          <p:spTgt spid="1029"/>
                                        </p:tgtEl>
                                      </p:cBhvr>
                                    </p:animEffect>
                                    <p:set>
                                      <p:cBhvr>
                                        <p:cTn id="12" dur="1" fill="hold">
                                          <p:stCondLst>
                                            <p:cond delay="499"/>
                                          </p:stCondLst>
                                        </p:cTn>
                                        <p:tgtEl>
                                          <p:spTgt spid="1029"/>
                                        </p:tgtEl>
                                        <p:attrNameLst>
                                          <p:attrName>style.visibility</p:attrName>
                                        </p:attrNameLst>
                                      </p:cBhvr>
                                      <p:to>
                                        <p:strVal val="hidden"/>
                                      </p:to>
                                    </p:set>
                                  </p:childTnLst>
                                </p:cTn>
                              </p:par>
                              <p:par>
                                <p:cTn id="13" presetID="10" presetClass="entr" presetSubtype="0" fill="hold" nodeType="withEffect">
                                  <p:stCondLst>
                                    <p:cond delay="0"/>
                                  </p:stCondLst>
                                  <p:childTnLst>
                                    <p:set>
                                      <p:cBhvr>
                                        <p:cTn id="14" dur="1" fill="hold">
                                          <p:stCondLst>
                                            <p:cond delay="0"/>
                                          </p:stCondLst>
                                        </p:cTn>
                                        <p:tgtEl>
                                          <p:spTgt spid="1028"/>
                                        </p:tgtEl>
                                        <p:attrNameLst>
                                          <p:attrName>style.visibility</p:attrName>
                                        </p:attrNameLst>
                                      </p:cBhvr>
                                      <p:to>
                                        <p:strVal val="visible"/>
                                      </p:to>
                                    </p:set>
                                    <p:animEffect transition="in" filter="fade">
                                      <p:cBhvr>
                                        <p:cTn id="15" dur="500"/>
                                        <p:tgtEl>
                                          <p:spTgt spid="102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xit" presetSubtype="0" fill="hold" nodeType="clickEffect">
                                  <p:stCondLst>
                                    <p:cond delay="0"/>
                                  </p:stCondLst>
                                  <p:childTnLst>
                                    <p:animEffect transition="out" filter="fade">
                                      <p:cBhvr>
                                        <p:cTn id="19" dur="500"/>
                                        <p:tgtEl>
                                          <p:spTgt spid="1028"/>
                                        </p:tgtEl>
                                      </p:cBhvr>
                                    </p:animEffect>
                                    <p:set>
                                      <p:cBhvr>
                                        <p:cTn id="20" dur="1" fill="hold">
                                          <p:stCondLst>
                                            <p:cond delay="499"/>
                                          </p:stCondLst>
                                        </p:cTn>
                                        <p:tgtEl>
                                          <p:spTgt spid="1028"/>
                                        </p:tgtEl>
                                        <p:attrNameLst>
                                          <p:attrName>style.visibility</p:attrName>
                                        </p:attrNameLst>
                                      </p:cBhvr>
                                      <p:to>
                                        <p:strVal val="hidden"/>
                                      </p:to>
                                    </p:set>
                                  </p:childTnLst>
                                </p:cTn>
                              </p:par>
                              <p:par>
                                <p:cTn id="21" presetID="10" presetClass="entr" presetSubtype="0" fill="hold" nodeType="withEffect">
                                  <p:stCondLst>
                                    <p:cond delay="0"/>
                                  </p:stCondLst>
                                  <p:childTnLst>
                                    <p:set>
                                      <p:cBhvr>
                                        <p:cTn id="22" dur="1" fill="hold">
                                          <p:stCondLst>
                                            <p:cond delay="0"/>
                                          </p:stCondLst>
                                        </p:cTn>
                                        <p:tgtEl>
                                          <p:spTgt spid="1027"/>
                                        </p:tgtEl>
                                        <p:attrNameLst>
                                          <p:attrName>style.visibility</p:attrName>
                                        </p:attrNameLst>
                                      </p:cBhvr>
                                      <p:to>
                                        <p:strVal val="visible"/>
                                      </p:to>
                                    </p:set>
                                    <p:animEffect transition="in" filter="fade">
                                      <p:cBhvr>
                                        <p:cTn id="23" dur="500"/>
                                        <p:tgtEl>
                                          <p:spTgt spid="10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Modèles de déploiement</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11</a:t>
            </a:fld>
            <a:endParaRPr lang="fr-BE"/>
          </a:p>
        </p:txBody>
      </p:sp>
      <p:sp>
        <p:nvSpPr>
          <p:cNvPr id="48" name="object 2"/>
          <p:cNvSpPr/>
          <p:nvPr/>
        </p:nvSpPr>
        <p:spPr>
          <a:xfrm>
            <a:off x="1428754" y="3131107"/>
            <a:ext cx="3571875" cy="1904364"/>
          </a:xfrm>
          <a:prstGeom prst="rect">
            <a:avLst/>
          </a:prstGeom>
          <a:blipFill>
            <a:blip r:embed="rId2" cstate="print"/>
            <a:stretch>
              <a:fillRect/>
            </a:stretch>
          </a:blipFill>
        </p:spPr>
        <p:txBody>
          <a:bodyPr wrap="square" lIns="0" tIns="0" rIns="0" bIns="0" rtlCol="0"/>
          <a:lstStyle/>
          <a:p>
            <a:endParaRPr/>
          </a:p>
        </p:txBody>
      </p:sp>
      <p:sp>
        <p:nvSpPr>
          <p:cNvPr id="49" name="object 3"/>
          <p:cNvSpPr/>
          <p:nvPr/>
        </p:nvSpPr>
        <p:spPr>
          <a:xfrm>
            <a:off x="385572" y="2961132"/>
            <a:ext cx="4158996" cy="266700"/>
          </a:xfrm>
          <a:prstGeom prst="rect">
            <a:avLst/>
          </a:prstGeom>
          <a:blipFill>
            <a:blip r:embed="rId3" cstate="print"/>
            <a:stretch>
              <a:fillRect/>
            </a:stretch>
          </a:blipFill>
        </p:spPr>
        <p:txBody>
          <a:bodyPr wrap="square" lIns="0" tIns="0" rIns="0" bIns="0" rtlCol="0"/>
          <a:lstStyle/>
          <a:p>
            <a:endParaRPr/>
          </a:p>
        </p:txBody>
      </p:sp>
      <p:sp>
        <p:nvSpPr>
          <p:cNvPr id="50" name="object 4"/>
          <p:cNvSpPr/>
          <p:nvPr/>
        </p:nvSpPr>
        <p:spPr>
          <a:xfrm>
            <a:off x="428599" y="3000377"/>
            <a:ext cx="4072254" cy="142875"/>
          </a:xfrm>
          <a:custGeom>
            <a:avLst/>
            <a:gdLst/>
            <a:ahLst/>
            <a:cxnLst/>
            <a:rect l="l" t="t" r="r" b="b"/>
            <a:pathLst>
              <a:path w="4072254" h="142875">
                <a:moveTo>
                  <a:pt x="4071899" y="0"/>
                </a:moveTo>
                <a:lnTo>
                  <a:pt x="0" y="142875"/>
                </a:lnTo>
              </a:path>
            </a:pathLst>
          </a:custGeom>
          <a:ln w="38100">
            <a:solidFill>
              <a:srgbClr val="4F81BC"/>
            </a:solidFill>
          </a:ln>
        </p:spPr>
        <p:txBody>
          <a:bodyPr wrap="square" lIns="0" tIns="0" rIns="0" bIns="0" rtlCol="0"/>
          <a:lstStyle/>
          <a:p>
            <a:endParaRPr/>
          </a:p>
        </p:txBody>
      </p:sp>
      <p:sp>
        <p:nvSpPr>
          <p:cNvPr id="51" name="object 5"/>
          <p:cNvSpPr/>
          <p:nvPr/>
        </p:nvSpPr>
        <p:spPr>
          <a:xfrm>
            <a:off x="4786376" y="1500250"/>
            <a:ext cx="4286250" cy="1714500"/>
          </a:xfrm>
          <a:prstGeom prst="rect">
            <a:avLst/>
          </a:prstGeom>
          <a:blipFill>
            <a:blip r:embed="rId4" cstate="print"/>
            <a:stretch>
              <a:fillRect/>
            </a:stretch>
          </a:blipFill>
        </p:spPr>
        <p:txBody>
          <a:bodyPr wrap="square" lIns="0" tIns="0" rIns="0" bIns="0" rtlCol="0"/>
          <a:lstStyle/>
          <a:p>
            <a:endParaRPr/>
          </a:p>
        </p:txBody>
      </p:sp>
      <p:sp>
        <p:nvSpPr>
          <p:cNvPr id="52" name="object 6"/>
          <p:cNvSpPr/>
          <p:nvPr/>
        </p:nvSpPr>
        <p:spPr>
          <a:xfrm>
            <a:off x="5072126" y="3214642"/>
            <a:ext cx="3929126" cy="1928857"/>
          </a:xfrm>
          <a:prstGeom prst="rect">
            <a:avLst/>
          </a:prstGeom>
          <a:blipFill>
            <a:blip r:embed="rId5" cstate="print"/>
            <a:stretch>
              <a:fillRect/>
            </a:stretch>
          </a:blipFill>
        </p:spPr>
        <p:txBody>
          <a:bodyPr wrap="square" lIns="0" tIns="0" rIns="0" bIns="0" rtlCol="0"/>
          <a:lstStyle/>
          <a:p>
            <a:endParaRPr/>
          </a:p>
        </p:txBody>
      </p:sp>
      <p:sp>
        <p:nvSpPr>
          <p:cNvPr id="53" name="object 7"/>
          <p:cNvSpPr/>
          <p:nvPr/>
        </p:nvSpPr>
        <p:spPr>
          <a:xfrm>
            <a:off x="285728" y="1071625"/>
            <a:ext cx="4357751" cy="1832864"/>
          </a:xfrm>
          <a:prstGeom prst="rect">
            <a:avLst/>
          </a:prstGeom>
          <a:blipFill>
            <a:blip r:embed="rId6" cstate="print"/>
            <a:stretch>
              <a:fillRect/>
            </a:stretch>
          </a:blipFill>
        </p:spPr>
        <p:txBody>
          <a:bodyPr wrap="square" lIns="0" tIns="0" rIns="0" bIns="0" rtlCol="0"/>
          <a:lstStyle/>
          <a:p>
            <a:endParaRPr/>
          </a:p>
        </p:txBody>
      </p:sp>
      <p:sp>
        <p:nvSpPr>
          <p:cNvPr id="56" name="object 11"/>
          <p:cNvSpPr txBox="1"/>
          <p:nvPr/>
        </p:nvSpPr>
        <p:spPr>
          <a:xfrm>
            <a:off x="2091944" y="2662429"/>
            <a:ext cx="601980" cy="276999"/>
          </a:xfrm>
          <a:prstGeom prst="rect">
            <a:avLst/>
          </a:prstGeom>
        </p:spPr>
        <p:txBody>
          <a:bodyPr vert="horz" wrap="square" lIns="0" tIns="0" rIns="0" bIns="0" rtlCol="0">
            <a:spAutoFit/>
          </a:bodyPr>
          <a:lstStyle/>
          <a:p>
            <a:pPr marL="12700">
              <a:lnSpc>
                <a:spcPct val="100000"/>
              </a:lnSpc>
            </a:pPr>
            <a:r>
              <a:rPr sz="1800" b="1" spc="-5" dirty="0">
                <a:latin typeface="Calibri"/>
                <a:cs typeface="Calibri"/>
              </a:rPr>
              <a:t>P</a:t>
            </a:r>
            <a:r>
              <a:rPr sz="1800" b="1" spc="5" dirty="0">
                <a:latin typeface="Calibri"/>
                <a:cs typeface="Calibri"/>
              </a:rPr>
              <a:t>u</a:t>
            </a:r>
            <a:r>
              <a:rPr sz="1800" b="1" dirty="0">
                <a:latin typeface="Calibri"/>
                <a:cs typeface="Calibri"/>
              </a:rPr>
              <a:t>blic</a:t>
            </a:r>
            <a:endParaRPr sz="1800" dirty="0">
              <a:latin typeface="Calibri"/>
              <a:cs typeface="Calibri"/>
            </a:endParaRPr>
          </a:p>
        </p:txBody>
      </p:sp>
      <p:sp>
        <p:nvSpPr>
          <p:cNvPr id="57" name="object 12"/>
          <p:cNvSpPr txBox="1"/>
          <p:nvPr/>
        </p:nvSpPr>
        <p:spPr>
          <a:xfrm>
            <a:off x="6712077" y="2888871"/>
            <a:ext cx="506730" cy="276999"/>
          </a:xfrm>
          <a:prstGeom prst="rect">
            <a:avLst/>
          </a:prstGeom>
        </p:spPr>
        <p:txBody>
          <a:bodyPr vert="horz" wrap="square" lIns="0" tIns="0" rIns="0" bIns="0" rtlCol="0">
            <a:spAutoFit/>
          </a:bodyPr>
          <a:lstStyle/>
          <a:p>
            <a:pPr marL="12700">
              <a:lnSpc>
                <a:spcPct val="100000"/>
              </a:lnSpc>
            </a:pPr>
            <a:r>
              <a:rPr sz="1800" b="1" spc="-10" dirty="0">
                <a:latin typeface="Calibri"/>
                <a:cs typeface="Calibri"/>
              </a:rPr>
              <a:t>Privé</a:t>
            </a:r>
            <a:endParaRPr sz="1800">
              <a:latin typeface="Calibri"/>
              <a:cs typeface="Calibri"/>
            </a:endParaRPr>
          </a:p>
        </p:txBody>
      </p:sp>
      <p:sp>
        <p:nvSpPr>
          <p:cNvPr id="58" name="object 13"/>
          <p:cNvSpPr/>
          <p:nvPr/>
        </p:nvSpPr>
        <p:spPr>
          <a:xfrm>
            <a:off x="4297682" y="1543811"/>
            <a:ext cx="905255" cy="1816608"/>
          </a:xfrm>
          <a:prstGeom prst="rect">
            <a:avLst/>
          </a:prstGeom>
          <a:blipFill>
            <a:blip r:embed="rId7" cstate="print"/>
            <a:stretch>
              <a:fillRect/>
            </a:stretch>
          </a:blipFill>
        </p:spPr>
        <p:txBody>
          <a:bodyPr wrap="square" lIns="0" tIns="0" rIns="0" bIns="0" rtlCol="0"/>
          <a:lstStyle/>
          <a:p>
            <a:endParaRPr/>
          </a:p>
        </p:txBody>
      </p:sp>
      <p:sp>
        <p:nvSpPr>
          <p:cNvPr id="59" name="object 14"/>
          <p:cNvSpPr/>
          <p:nvPr/>
        </p:nvSpPr>
        <p:spPr>
          <a:xfrm>
            <a:off x="4357623" y="1571625"/>
            <a:ext cx="786130" cy="1714500"/>
          </a:xfrm>
          <a:custGeom>
            <a:avLst/>
            <a:gdLst/>
            <a:ahLst/>
            <a:cxnLst/>
            <a:rect l="l" t="t" r="r" b="b"/>
            <a:pathLst>
              <a:path w="786129" h="1714500">
                <a:moveTo>
                  <a:pt x="785876" y="0"/>
                </a:moveTo>
                <a:lnTo>
                  <a:pt x="0" y="1714500"/>
                </a:lnTo>
              </a:path>
            </a:pathLst>
          </a:custGeom>
          <a:ln w="38100">
            <a:solidFill>
              <a:srgbClr val="4F81BC"/>
            </a:solidFill>
          </a:ln>
        </p:spPr>
        <p:txBody>
          <a:bodyPr wrap="square" lIns="0" tIns="0" rIns="0" bIns="0" rtlCol="0"/>
          <a:lstStyle/>
          <a:p>
            <a:endParaRPr/>
          </a:p>
        </p:txBody>
      </p:sp>
      <p:sp>
        <p:nvSpPr>
          <p:cNvPr id="60" name="object 15"/>
          <p:cNvSpPr/>
          <p:nvPr/>
        </p:nvSpPr>
        <p:spPr>
          <a:xfrm>
            <a:off x="4314444" y="3176016"/>
            <a:ext cx="1444752" cy="195072"/>
          </a:xfrm>
          <a:prstGeom prst="rect">
            <a:avLst/>
          </a:prstGeom>
          <a:blipFill>
            <a:blip r:embed="rId8" cstate="print"/>
            <a:stretch>
              <a:fillRect/>
            </a:stretch>
          </a:blipFill>
        </p:spPr>
        <p:txBody>
          <a:bodyPr wrap="square" lIns="0" tIns="0" rIns="0" bIns="0" rtlCol="0"/>
          <a:lstStyle/>
          <a:p>
            <a:endParaRPr/>
          </a:p>
        </p:txBody>
      </p:sp>
      <p:sp>
        <p:nvSpPr>
          <p:cNvPr id="61" name="object 16"/>
          <p:cNvSpPr/>
          <p:nvPr/>
        </p:nvSpPr>
        <p:spPr>
          <a:xfrm>
            <a:off x="4357623" y="3214753"/>
            <a:ext cx="1357630" cy="71755"/>
          </a:xfrm>
          <a:custGeom>
            <a:avLst/>
            <a:gdLst/>
            <a:ahLst/>
            <a:cxnLst/>
            <a:rect l="l" t="t" r="r" b="b"/>
            <a:pathLst>
              <a:path w="1357629" h="71754">
                <a:moveTo>
                  <a:pt x="1357376" y="0"/>
                </a:moveTo>
                <a:lnTo>
                  <a:pt x="0" y="71374"/>
                </a:lnTo>
              </a:path>
            </a:pathLst>
          </a:custGeom>
          <a:ln w="38100">
            <a:solidFill>
              <a:srgbClr val="4F81BC"/>
            </a:solidFill>
          </a:ln>
        </p:spPr>
        <p:txBody>
          <a:bodyPr wrap="square" lIns="0" tIns="0" rIns="0" bIns="0" rtlCol="0"/>
          <a:lstStyle/>
          <a:p>
            <a:endParaRPr/>
          </a:p>
        </p:txBody>
      </p:sp>
      <p:sp>
        <p:nvSpPr>
          <p:cNvPr id="62" name="object 17"/>
          <p:cNvSpPr/>
          <p:nvPr/>
        </p:nvSpPr>
        <p:spPr>
          <a:xfrm>
            <a:off x="5600700" y="3032760"/>
            <a:ext cx="3543300" cy="266700"/>
          </a:xfrm>
          <a:prstGeom prst="rect">
            <a:avLst/>
          </a:prstGeom>
          <a:blipFill>
            <a:blip r:embed="rId9" cstate="print"/>
            <a:stretch>
              <a:fillRect/>
            </a:stretch>
          </a:blipFill>
        </p:spPr>
        <p:txBody>
          <a:bodyPr wrap="square" lIns="0" tIns="0" rIns="0" bIns="0" rtlCol="0"/>
          <a:lstStyle/>
          <a:p>
            <a:endParaRPr/>
          </a:p>
        </p:txBody>
      </p:sp>
      <p:sp>
        <p:nvSpPr>
          <p:cNvPr id="63" name="object 18"/>
          <p:cNvSpPr/>
          <p:nvPr/>
        </p:nvSpPr>
        <p:spPr>
          <a:xfrm>
            <a:off x="5643626" y="3071876"/>
            <a:ext cx="3500754" cy="142875"/>
          </a:xfrm>
          <a:custGeom>
            <a:avLst/>
            <a:gdLst/>
            <a:ahLst/>
            <a:cxnLst/>
            <a:rect l="l" t="t" r="r" b="b"/>
            <a:pathLst>
              <a:path w="3500754" h="142875">
                <a:moveTo>
                  <a:pt x="3500374" y="0"/>
                </a:moveTo>
                <a:lnTo>
                  <a:pt x="0" y="142875"/>
                </a:lnTo>
              </a:path>
            </a:pathLst>
          </a:custGeom>
          <a:ln w="38100">
            <a:solidFill>
              <a:srgbClr val="4F81BC"/>
            </a:solidFill>
          </a:ln>
        </p:spPr>
        <p:txBody>
          <a:bodyPr wrap="square" lIns="0" tIns="0" rIns="0" bIns="0" rtlCol="0"/>
          <a:lstStyle/>
          <a:p>
            <a:endParaRPr/>
          </a:p>
        </p:txBody>
      </p:sp>
      <p:sp>
        <p:nvSpPr>
          <p:cNvPr id="64" name="object 19"/>
          <p:cNvSpPr/>
          <p:nvPr/>
        </p:nvSpPr>
        <p:spPr>
          <a:xfrm>
            <a:off x="4797556" y="3186683"/>
            <a:ext cx="905255" cy="1816608"/>
          </a:xfrm>
          <a:prstGeom prst="rect">
            <a:avLst/>
          </a:prstGeom>
          <a:blipFill>
            <a:blip r:embed="rId10" cstate="print"/>
            <a:stretch>
              <a:fillRect/>
            </a:stretch>
          </a:blipFill>
        </p:spPr>
        <p:txBody>
          <a:bodyPr wrap="square" lIns="0" tIns="0" rIns="0" bIns="0" rtlCol="0"/>
          <a:lstStyle/>
          <a:p>
            <a:endParaRPr/>
          </a:p>
        </p:txBody>
      </p:sp>
      <p:sp>
        <p:nvSpPr>
          <p:cNvPr id="65" name="object 20"/>
          <p:cNvSpPr/>
          <p:nvPr/>
        </p:nvSpPr>
        <p:spPr>
          <a:xfrm>
            <a:off x="4857750" y="3214751"/>
            <a:ext cx="786130" cy="1714500"/>
          </a:xfrm>
          <a:custGeom>
            <a:avLst/>
            <a:gdLst/>
            <a:ahLst/>
            <a:cxnLst/>
            <a:rect l="l" t="t" r="r" b="b"/>
            <a:pathLst>
              <a:path w="786129" h="1714500">
                <a:moveTo>
                  <a:pt x="785876" y="0"/>
                </a:moveTo>
                <a:lnTo>
                  <a:pt x="0" y="1714449"/>
                </a:lnTo>
              </a:path>
            </a:pathLst>
          </a:custGeom>
          <a:ln w="38100">
            <a:solidFill>
              <a:srgbClr val="4F81BC"/>
            </a:solidFill>
          </a:ln>
        </p:spPr>
        <p:txBody>
          <a:bodyPr wrap="square" lIns="0" tIns="0" rIns="0" bIns="0" rtlCol="0"/>
          <a:lstStyle/>
          <a:p>
            <a:endParaRPr/>
          </a:p>
        </p:txBody>
      </p:sp>
      <p:sp>
        <p:nvSpPr>
          <p:cNvPr id="66" name="object 21"/>
          <p:cNvSpPr txBox="1"/>
          <p:nvPr/>
        </p:nvSpPr>
        <p:spPr>
          <a:xfrm>
            <a:off x="2505836" y="4778985"/>
            <a:ext cx="1562735" cy="230832"/>
          </a:xfrm>
          <a:prstGeom prst="rect">
            <a:avLst/>
          </a:prstGeom>
        </p:spPr>
        <p:txBody>
          <a:bodyPr vert="horz" wrap="square" lIns="0" tIns="0" rIns="0" bIns="0" rtlCol="0">
            <a:spAutoFit/>
          </a:bodyPr>
          <a:lstStyle/>
          <a:p>
            <a:pPr marL="12700">
              <a:lnSpc>
                <a:spcPts val="1810"/>
              </a:lnSpc>
            </a:pPr>
            <a:r>
              <a:rPr sz="1800" b="1" spc="-10" dirty="0">
                <a:latin typeface="Calibri"/>
                <a:cs typeface="Calibri"/>
              </a:rPr>
              <a:t>C</a:t>
            </a:r>
            <a:r>
              <a:rPr sz="1800" b="1" dirty="0">
                <a:latin typeface="Calibri"/>
                <a:cs typeface="Calibri"/>
              </a:rPr>
              <a:t>ommunau</a:t>
            </a:r>
            <a:r>
              <a:rPr sz="1800" b="1" spc="-25" dirty="0">
                <a:latin typeface="Calibri"/>
                <a:cs typeface="Calibri"/>
              </a:rPr>
              <a:t>t</a:t>
            </a:r>
            <a:r>
              <a:rPr sz="1800" b="1" dirty="0">
                <a:latin typeface="Calibri"/>
                <a:cs typeface="Calibri"/>
              </a:rPr>
              <a:t>ai</a:t>
            </a:r>
            <a:r>
              <a:rPr sz="1800" b="1" spc="-30" dirty="0">
                <a:latin typeface="Calibri"/>
                <a:cs typeface="Calibri"/>
              </a:rPr>
              <a:t>r</a:t>
            </a:r>
            <a:r>
              <a:rPr sz="1800" b="1" dirty="0">
                <a:latin typeface="Calibri"/>
                <a:cs typeface="Calibri"/>
              </a:rPr>
              <a:t>e</a:t>
            </a:r>
            <a:endParaRPr sz="1800">
              <a:latin typeface="Calibri"/>
              <a:cs typeface="Calibri"/>
            </a:endParaRPr>
          </a:p>
        </p:txBody>
      </p:sp>
      <p:sp>
        <p:nvSpPr>
          <p:cNvPr id="67" name="object 22"/>
          <p:cNvSpPr txBox="1"/>
          <p:nvPr/>
        </p:nvSpPr>
        <p:spPr>
          <a:xfrm>
            <a:off x="6648072" y="4787747"/>
            <a:ext cx="776605" cy="230832"/>
          </a:xfrm>
          <a:prstGeom prst="rect">
            <a:avLst/>
          </a:prstGeom>
        </p:spPr>
        <p:txBody>
          <a:bodyPr vert="horz" wrap="square" lIns="0" tIns="0" rIns="0" bIns="0" rtlCol="0">
            <a:spAutoFit/>
          </a:bodyPr>
          <a:lstStyle/>
          <a:p>
            <a:pPr marL="12700">
              <a:lnSpc>
                <a:spcPts val="1810"/>
              </a:lnSpc>
            </a:pPr>
            <a:r>
              <a:rPr sz="1800" b="1" spc="-5" dirty="0">
                <a:latin typeface="Calibri"/>
                <a:cs typeface="Calibri"/>
              </a:rPr>
              <a:t>Hybride</a:t>
            </a:r>
            <a:endParaRPr sz="1800" dirty="0">
              <a:latin typeface="Calibri"/>
              <a:cs typeface="Calibri"/>
            </a:endParaRPr>
          </a:p>
        </p:txBody>
      </p:sp>
    </p:spTree>
    <p:extLst>
      <p:ext uri="{BB962C8B-B14F-4D97-AF65-F5344CB8AC3E}">
        <p14:creationId xmlns:p14="http://schemas.microsoft.com/office/powerpoint/2010/main" xmlns="" val="1658722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1000"/>
                                        <p:tgtEl>
                                          <p:spTgt spid="56"/>
                                        </p:tgtEl>
                                      </p:cBhvr>
                                    </p:animEffect>
                                    <p:anim calcmode="lin" valueType="num">
                                      <p:cBhvr>
                                        <p:cTn id="8" dur="1000" fill="hold"/>
                                        <p:tgtEl>
                                          <p:spTgt spid="56"/>
                                        </p:tgtEl>
                                        <p:attrNameLst>
                                          <p:attrName>ppt_x</p:attrName>
                                        </p:attrNameLst>
                                      </p:cBhvr>
                                      <p:tavLst>
                                        <p:tav tm="0">
                                          <p:val>
                                            <p:strVal val="#ppt_x"/>
                                          </p:val>
                                        </p:tav>
                                        <p:tav tm="100000">
                                          <p:val>
                                            <p:strVal val="#ppt_x"/>
                                          </p:val>
                                        </p:tav>
                                      </p:tavLst>
                                    </p:anim>
                                    <p:anim calcmode="lin" valueType="num">
                                      <p:cBhvr>
                                        <p:cTn id="9" dur="1000" fill="hold"/>
                                        <p:tgtEl>
                                          <p:spTgt spid="56"/>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3"/>
                                        </p:tgtEl>
                                        <p:attrNameLst>
                                          <p:attrName>style.visibility</p:attrName>
                                        </p:attrNameLst>
                                      </p:cBhvr>
                                      <p:to>
                                        <p:strVal val="visible"/>
                                      </p:to>
                                    </p:set>
                                    <p:animEffect transition="in" filter="fade">
                                      <p:cBhvr>
                                        <p:cTn id="12" dur="1000"/>
                                        <p:tgtEl>
                                          <p:spTgt spid="53"/>
                                        </p:tgtEl>
                                      </p:cBhvr>
                                    </p:animEffect>
                                    <p:anim calcmode="lin" valueType="num">
                                      <p:cBhvr>
                                        <p:cTn id="13" dur="1000" fill="hold"/>
                                        <p:tgtEl>
                                          <p:spTgt spid="53"/>
                                        </p:tgtEl>
                                        <p:attrNameLst>
                                          <p:attrName>ppt_x</p:attrName>
                                        </p:attrNameLst>
                                      </p:cBhvr>
                                      <p:tavLst>
                                        <p:tav tm="0">
                                          <p:val>
                                            <p:strVal val="#ppt_x"/>
                                          </p:val>
                                        </p:tav>
                                        <p:tav tm="100000">
                                          <p:val>
                                            <p:strVal val="#ppt_x"/>
                                          </p:val>
                                        </p:tav>
                                      </p:tavLst>
                                    </p:anim>
                                    <p:anim calcmode="lin" valueType="num">
                                      <p:cBhvr>
                                        <p:cTn id="14" dur="10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anim calcmode="lin" valueType="num">
                                      <p:cBhvr>
                                        <p:cTn id="20" dur="1000" fill="hold"/>
                                        <p:tgtEl>
                                          <p:spTgt spid="51"/>
                                        </p:tgtEl>
                                        <p:attrNameLst>
                                          <p:attrName>ppt_x</p:attrName>
                                        </p:attrNameLst>
                                      </p:cBhvr>
                                      <p:tavLst>
                                        <p:tav tm="0">
                                          <p:val>
                                            <p:strVal val="#ppt_x"/>
                                          </p:val>
                                        </p:tav>
                                        <p:tav tm="100000">
                                          <p:val>
                                            <p:strVal val="#ppt_x"/>
                                          </p:val>
                                        </p:tav>
                                      </p:tavLst>
                                    </p:anim>
                                    <p:anim calcmode="lin" valueType="num">
                                      <p:cBhvr>
                                        <p:cTn id="21" dur="1000" fill="hold"/>
                                        <p:tgtEl>
                                          <p:spTgt spid="51"/>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57"/>
                                        </p:tgtEl>
                                        <p:attrNameLst>
                                          <p:attrName>style.visibility</p:attrName>
                                        </p:attrNameLst>
                                      </p:cBhvr>
                                      <p:to>
                                        <p:strVal val="visible"/>
                                      </p:to>
                                    </p:set>
                                    <p:animEffect transition="in" filter="fade">
                                      <p:cBhvr>
                                        <p:cTn id="24" dur="1000"/>
                                        <p:tgtEl>
                                          <p:spTgt spid="57"/>
                                        </p:tgtEl>
                                      </p:cBhvr>
                                    </p:animEffect>
                                    <p:anim calcmode="lin" valueType="num">
                                      <p:cBhvr>
                                        <p:cTn id="25" dur="1000" fill="hold"/>
                                        <p:tgtEl>
                                          <p:spTgt spid="57"/>
                                        </p:tgtEl>
                                        <p:attrNameLst>
                                          <p:attrName>ppt_x</p:attrName>
                                        </p:attrNameLst>
                                      </p:cBhvr>
                                      <p:tavLst>
                                        <p:tav tm="0">
                                          <p:val>
                                            <p:strVal val="#ppt_x"/>
                                          </p:val>
                                        </p:tav>
                                        <p:tav tm="100000">
                                          <p:val>
                                            <p:strVal val="#ppt_x"/>
                                          </p:val>
                                        </p:tav>
                                      </p:tavLst>
                                    </p:anim>
                                    <p:anim calcmode="lin" valueType="num">
                                      <p:cBhvr>
                                        <p:cTn id="26" dur="10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1000"/>
                                        <p:tgtEl>
                                          <p:spTgt spid="48"/>
                                        </p:tgtEl>
                                      </p:cBhvr>
                                    </p:animEffect>
                                    <p:anim calcmode="lin" valueType="num">
                                      <p:cBhvr>
                                        <p:cTn id="32" dur="1000" fill="hold"/>
                                        <p:tgtEl>
                                          <p:spTgt spid="48"/>
                                        </p:tgtEl>
                                        <p:attrNameLst>
                                          <p:attrName>ppt_x</p:attrName>
                                        </p:attrNameLst>
                                      </p:cBhvr>
                                      <p:tavLst>
                                        <p:tav tm="0">
                                          <p:val>
                                            <p:strVal val="#ppt_x"/>
                                          </p:val>
                                        </p:tav>
                                        <p:tav tm="100000">
                                          <p:val>
                                            <p:strVal val="#ppt_x"/>
                                          </p:val>
                                        </p:tav>
                                      </p:tavLst>
                                    </p:anim>
                                    <p:anim calcmode="lin" valueType="num">
                                      <p:cBhvr>
                                        <p:cTn id="33" dur="1000" fill="hold"/>
                                        <p:tgtEl>
                                          <p:spTgt spid="48"/>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66"/>
                                        </p:tgtEl>
                                        <p:attrNameLst>
                                          <p:attrName>style.visibility</p:attrName>
                                        </p:attrNameLst>
                                      </p:cBhvr>
                                      <p:to>
                                        <p:strVal val="visible"/>
                                      </p:to>
                                    </p:set>
                                    <p:animEffect transition="in" filter="fade">
                                      <p:cBhvr>
                                        <p:cTn id="36" dur="1000"/>
                                        <p:tgtEl>
                                          <p:spTgt spid="66"/>
                                        </p:tgtEl>
                                      </p:cBhvr>
                                    </p:animEffect>
                                    <p:anim calcmode="lin" valueType="num">
                                      <p:cBhvr>
                                        <p:cTn id="37" dur="1000" fill="hold"/>
                                        <p:tgtEl>
                                          <p:spTgt spid="66"/>
                                        </p:tgtEl>
                                        <p:attrNameLst>
                                          <p:attrName>ppt_x</p:attrName>
                                        </p:attrNameLst>
                                      </p:cBhvr>
                                      <p:tavLst>
                                        <p:tav tm="0">
                                          <p:val>
                                            <p:strVal val="#ppt_x"/>
                                          </p:val>
                                        </p:tav>
                                        <p:tav tm="100000">
                                          <p:val>
                                            <p:strVal val="#ppt_x"/>
                                          </p:val>
                                        </p:tav>
                                      </p:tavLst>
                                    </p:anim>
                                    <p:anim calcmode="lin" valueType="num">
                                      <p:cBhvr>
                                        <p:cTn id="38" dur="1000" fill="hold"/>
                                        <p:tgtEl>
                                          <p:spTgt spid="66"/>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grpId="0" nodeType="clickEffect">
                                  <p:stCondLst>
                                    <p:cond delay="0"/>
                                  </p:stCondLst>
                                  <p:childTnLst>
                                    <p:set>
                                      <p:cBhvr>
                                        <p:cTn id="42" dur="1" fill="hold">
                                          <p:stCondLst>
                                            <p:cond delay="0"/>
                                          </p:stCondLst>
                                        </p:cTn>
                                        <p:tgtEl>
                                          <p:spTgt spid="52"/>
                                        </p:tgtEl>
                                        <p:attrNameLst>
                                          <p:attrName>style.visibility</p:attrName>
                                        </p:attrNameLst>
                                      </p:cBhvr>
                                      <p:to>
                                        <p:strVal val="visible"/>
                                      </p:to>
                                    </p:set>
                                    <p:animEffect transition="in" filter="fade">
                                      <p:cBhvr>
                                        <p:cTn id="43" dur="1000"/>
                                        <p:tgtEl>
                                          <p:spTgt spid="52"/>
                                        </p:tgtEl>
                                      </p:cBhvr>
                                    </p:animEffect>
                                    <p:anim calcmode="lin" valueType="num">
                                      <p:cBhvr>
                                        <p:cTn id="44" dur="1000" fill="hold"/>
                                        <p:tgtEl>
                                          <p:spTgt spid="52"/>
                                        </p:tgtEl>
                                        <p:attrNameLst>
                                          <p:attrName>ppt_x</p:attrName>
                                        </p:attrNameLst>
                                      </p:cBhvr>
                                      <p:tavLst>
                                        <p:tav tm="0">
                                          <p:val>
                                            <p:strVal val="#ppt_x"/>
                                          </p:val>
                                        </p:tav>
                                        <p:tav tm="100000">
                                          <p:val>
                                            <p:strVal val="#ppt_x"/>
                                          </p:val>
                                        </p:tav>
                                      </p:tavLst>
                                    </p:anim>
                                    <p:anim calcmode="lin" valueType="num">
                                      <p:cBhvr>
                                        <p:cTn id="45" dur="1000" fill="hold"/>
                                        <p:tgtEl>
                                          <p:spTgt spid="52"/>
                                        </p:tgtEl>
                                        <p:attrNameLst>
                                          <p:attrName>ppt_y</p:attrName>
                                        </p:attrNameLst>
                                      </p:cBhvr>
                                      <p:tavLst>
                                        <p:tav tm="0">
                                          <p:val>
                                            <p:strVal val="#ppt_y+.1"/>
                                          </p:val>
                                        </p:tav>
                                        <p:tav tm="100000">
                                          <p:val>
                                            <p:strVal val="#ppt_y"/>
                                          </p:val>
                                        </p:tav>
                                      </p:tavLst>
                                    </p:anim>
                                  </p:childTnLst>
                                </p:cTn>
                              </p:par>
                              <p:par>
                                <p:cTn id="46" presetID="42" presetClass="entr" presetSubtype="0" fill="hold" grpId="0" nodeType="withEffect">
                                  <p:stCondLst>
                                    <p:cond delay="0"/>
                                  </p:stCondLst>
                                  <p:childTnLst>
                                    <p:set>
                                      <p:cBhvr>
                                        <p:cTn id="47" dur="1" fill="hold">
                                          <p:stCondLst>
                                            <p:cond delay="0"/>
                                          </p:stCondLst>
                                        </p:cTn>
                                        <p:tgtEl>
                                          <p:spTgt spid="67"/>
                                        </p:tgtEl>
                                        <p:attrNameLst>
                                          <p:attrName>style.visibility</p:attrName>
                                        </p:attrNameLst>
                                      </p:cBhvr>
                                      <p:to>
                                        <p:strVal val="visible"/>
                                      </p:to>
                                    </p:set>
                                    <p:animEffect transition="in" filter="fade">
                                      <p:cBhvr>
                                        <p:cTn id="48" dur="1000"/>
                                        <p:tgtEl>
                                          <p:spTgt spid="67"/>
                                        </p:tgtEl>
                                      </p:cBhvr>
                                    </p:animEffect>
                                    <p:anim calcmode="lin" valueType="num">
                                      <p:cBhvr>
                                        <p:cTn id="49" dur="1000" fill="hold"/>
                                        <p:tgtEl>
                                          <p:spTgt spid="67"/>
                                        </p:tgtEl>
                                        <p:attrNameLst>
                                          <p:attrName>ppt_x</p:attrName>
                                        </p:attrNameLst>
                                      </p:cBhvr>
                                      <p:tavLst>
                                        <p:tav tm="0">
                                          <p:val>
                                            <p:strVal val="#ppt_x"/>
                                          </p:val>
                                        </p:tav>
                                        <p:tav tm="100000">
                                          <p:val>
                                            <p:strVal val="#ppt_x"/>
                                          </p:val>
                                        </p:tav>
                                      </p:tavLst>
                                    </p:anim>
                                    <p:anim calcmode="lin" valueType="num">
                                      <p:cBhvr>
                                        <p:cTn id="50" dur="1000" fill="hold"/>
                                        <p:tgtEl>
                                          <p:spTgt spid="6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51" grpId="0" animBg="1"/>
      <p:bldP spid="52" grpId="0" animBg="1"/>
      <p:bldP spid="53" grpId="0" animBg="1"/>
      <p:bldP spid="56" grpId="0"/>
      <p:bldP spid="57" grpId="0"/>
      <p:bldP spid="66" grpId="0"/>
      <p:bldP spid="67"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La virtualisation</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12</a:t>
            </a:fld>
            <a:endParaRPr lang="fr-BE"/>
          </a:p>
        </p:txBody>
      </p:sp>
      <p:sp>
        <p:nvSpPr>
          <p:cNvPr id="23" name="object 4"/>
          <p:cNvSpPr/>
          <p:nvPr/>
        </p:nvSpPr>
        <p:spPr>
          <a:xfrm>
            <a:off x="755576" y="1873858"/>
            <a:ext cx="3771900" cy="2786126"/>
          </a:xfrm>
          <a:prstGeom prst="rect">
            <a:avLst/>
          </a:prstGeom>
          <a:blipFill>
            <a:blip r:embed="rId3" cstate="print"/>
            <a:stretch>
              <a:fillRect/>
            </a:stretch>
          </a:blipFill>
        </p:spPr>
        <p:txBody>
          <a:bodyPr wrap="square" lIns="0" tIns="0" rIns="0" bIns="0" rtlCol="0"/>
          <a:lstStyle/>
          <a:p>
            <a:endParaRPr/>
          </a:p>
        </p:txBody>
      </p:sp>
      <p:sp>
        <p:nvSpPr>
          <p:cNvPr id="24" name="object 2"/>
          <p:cNvSpPr/>
          <p:nvPr/>
        </p:nvSpPr>
        <p:spPr>
          <a:xfrm>
            <a:off x="4786380" y="1571637"/>
            <a:ext cx="4143375" cy="3429000"/>
          </a:xfrm>
          <a:prstGeom prst="rect">
            <a:avLst/>
          </a:prstGeom>
          <a:blipFill>
            <a:blip r:embed="rId4"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xmlns="" val="376882861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a:t>Les domaines de la virtualisation</a:t>
            </a: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13</a:t>
            </a:fld>
            <a:endParaRPr lang="fr-BE"/>
          </a:p>
        </p:txBody>
      </p:sp>
      <p:sp>
        <p:nvSpPr>
          <p:cNvPr id="2" name="Espace réservé du contenu 1"/>
          <p:cNvSpPr>
            <a:spLocks noGrp="1"/>
          </p:cNvSpPr>
          <p:nvPr>
            <p:ph sz="quarter" idx="1"/>
          </p:nvPr>
        </p:nvSpPr>
        <p:spPr/>
        <p:txBody>
          <a:bodyPr>
            <a:normAutofit/>
          </a:bodyPr>
          <a:lstStyle/>
          <a:p>
            <a:r>
              <a:rPr lang="fr-FR" dirty="0"/>
              <a:t>La virtualisation </a:t>
            </a:r>
            <a:r>
              <a:rPr lang="fr-FR" dirty="0" smtClean="0"/>
              <a:t>d’applications,</a:t>
            </a:r>
          </a:p>
          <a:p>
            <a:pPr marL="0" indent="0">
              <a:buNone/>
            </a:pPr>
            <a:endParaRPr lang="fr-FR" dirty="0" smtClean="0"/>
          </a:p>
          <a:p>
            <a:r>
              <a:rPr lang="fr-FR" dirty="0"/>
              <a:t>La virtualisation de </a:t>
            </a:r>
            <a:r>
              <a:rPr lang="fr-FR" dirty="0" smtClean="0"/>
              <a:t>réseaux,</a:t>
            </a:r>
          </a:p>
          <a:p>
            <a:pPr marL="0" indent="0">
              <a:buNone/>
            </a:pPr>
            <a:endParaRPr lang="fr-FR" dirty="0" smtClean="0"/>
          </a:p>
          <a:p>
            <a:r>
              <a:rPr lang="fr-FR" dirty="0" smtClean="0"/>
              <a:t>La </a:t>
            </a:r>
            <a:r>
              <a:rPr lang="fr-FR" dirty="0"/>
              <a:t>virtualisation de </a:t>
            </a:r>
            <a:r>
              <a:rPr lang="fr-FR" dirty="0" smtClean="0"/>
              <a:t>stockage,</a:t>
            </a:r>
          </a:p>
          <a:p>
            <a:pPr marL="0" indent="0">
              <a:buNone/>
            </a:pPr>
            <a:endParaRPr lang="fr-FR" dirty="0" smtClean="0"/>
          </a:p>
          <a:p>
            <a:r>
              <a:rPr lang="fr-FR" dirty="0" smtClean="0"/>
              <a:t>La </a:t>
            </a:r>
            <a:r>
              <a:rPr lang="fr-FR" dirty="0"/>
              <a:t>virtualisation de serveurs</a:t>
            </a:r>
          </a:p>
        </p:txBody>
      </p:sp>
    </p:spTree>
    <p:extLst>
      <p:ext uri="{BB962C8B-B14F-4D97-AF65-F5344CB8AC3E}">
        <p14:creationId xmlns:p14="http://schemas.microsoft.com/office/powerpoint/2010/main" xmlns="" val="221301081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a:t>Avantages du Cloud</a:t>
            </a: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14</a:t>
            </a:fld>
            <a:endParaRPr lang="fr-BE"/>
          </a:p>
        </p:txBody>
      </p:sp>
      <p:sp>
        <p:nvSpPr>
          <p:cNvPr id="2" name="Espace réservé du contenu 1"/>
          <p:cNvSpPr>
            <a:spLocks noGrp="1"/>
          </p:cNvSpPr>
          <p:nvPr>
            <p:ph sz="quarter" idx="1"/>
          </p:nvPr>
        </p:nvSpPr>
        <p:spPr>
          <a:xfrm>
            <a:off x="300488" y="1203598"/>
            <a:ext cx="3839464" cy="3096344"/>
          </a:xfrm>
        </p:spPr>
        <p:txBody>
          <a:bodyPr>
            <a:normAutofit fontScale="85000" lnSpcReduction="20000"/>
          </a:bodyPr>
          <a:lstStyle/>
          <a:p>
            <a:r>
              <a:rPr lang="fr-FR" dirty="0"/>
              <a:t>Flexibilité</a:t>
            </a:r>
            <a:r>
              <a:rPr lang="fr-FR" dirty="0" smtClean="0"/>
              <a:t>,</a:t>
            </a:r>
          </a:p>
          <a:p>
            <a:pPr marL="0" indent="0">
              <a:buNone/>
            </a:pPr>
            <a:endParaRPr lang="fr-FR" dirty="0"/>
          </a:p>
          <a:p>
            <a:r>
              <a:rPr lang="fr-FR" dirty="0"/>
              <a:t>Mises  à  jour logicielles automatiques,</a:t>
            </a:r>
          </a:p>
          <a:p>
            <a:pPr marL="0" indent="0">
              <a:buNone/>
            </a:pPr>
            <a:endParaRPr lang="fr-FR" dirty="0" smtClean="0"/>
          </a:p>
          <a:p>
            <a:r>
              <a:rPr lang="fr-FR" dirty="0" smtClean="0"/>
              <a:t>Mobile</a:t>
            </a:r>
            <a:endParaRPr lang="fr-FR" dirty="0"/>
          </a:p>
          <a:p>
            <a:pPr marL="0" indent="0">
              <a:buNone/>
            </a:pPr>
            <a:endParaRPr lang="fr-FR" dirty="0" smtClean="0"/>
          </a:p>
          <a:p>
            <a:r>
              <a:rPr lang="fr-FR" dirty="0" smtClean="0"/>
              <a:t>Absence </a:t>
            </a:r>
            <a:r>
              <a:rPr lang="fr-FR" dirty="0"/>
              <a:t>de frais d'investissement</a:t>
            </a:r>
            <a:r>
              <a:rPr lang="fr-FR" dirty="0" smtClean="0"/>
              <a:t>.</a:t>
            </a:r>
            <a:endParaRPr lang="fr-FR" dirty="0"/>
          </a:p>
        </p:txBody>
      </p:sp>
      <p:sp>
        <p:nvSpPr>
          <p:cNvPr id="5" name="object 2"/>
          <p:cNvSpPr/>
          <p:nvPr/>
        </p:nvSpPr>
        <p:spPr>
          <a:xfrm>
            <a:off x="3937334" y="2427734"/>
            <a:ext cx="1238250" cy="1238250"/>
          </a:xfrm>
          <a:prstGeom prst="rect">
            <a:avLst/>
          </a:prstGeom>
          <a:blipFill>
            <a:blip r:embed="rId2" cstate="print"/>
            <a:stretch>
              <a:fillRect/>
            </a:stretch>
          </a:blipFill>
        </p:spPr>
        <p:txBody>
          <a:bodyPr wrap="square" lIns="0" tIns="0" rIns="0" bIns="0" rtlCol="0"/>
          <a:lstStyle/>
          <a:p>
            <a:endParaRPr/>
          </a:p>
        </p:txBody>
      </p:sp>
      <p:sp>
        <p:nvSpPr>
          <p:cNvPr id="6" name="object 7"/>
          <p:cNvSpPr/>
          <p:nvPr/>
        </p:nvSpPr>
        <p:spPr>
          <a:xfrm>
            <a:off x="4585907" y="940462"/>
            <a:ext cx="1007110" cy="559663"/>
          </a:xfrm>
          <a:prstGeom prst="rect">
            <a:avLst/>
          </a:prstGeom>
          <a:blipFill>
            <a:blip r:embed="rId3" cstate="print"/>
            <a:stretch>
              <a:fillRect/>
            </a:stretch>
          </a:blipFill>
        </p:spPr>
        <p:txBody>
          <a:bodyPr wrap="square" lIns="0" tIns="0" rIns="0" bIns="0" rtlCol="0"/>
          <a:lstStyle/>
          <a:p>
            <a:endParaRPr/>
          </a:p>
        </p:txBody>
      </p:sp>
      <p:sp>
        <p:nvSpPr>
          <p:cNvPr id="7" name="object 8"/>
          <p:cNvSpPr/>
          <p:nvPr/>
        </p:nvSpPr>
        <p:spPr>
          <a:xfrm>
            <a:off x="3874964" y="1505203"/>
            <a:ext cx="1285875" cy="857250"/>
          </a:xfrm>
          <a:prstGeom prst="rect">
            <a:avLst/>
          </a:prstGeom>
          <a:blipFill>
            <a:blip r:embed="rId4" cstate="print"/>
            <a:stretch>
              <a:fillRect/>
            </a:stretch>
          </a:blipFill>
        </p:spPr>
        <p:txBody>
          <a:bodyPr wrap="square" lIns="0" tIns="0" rIns="0" bIns="0" rtlCol="0"/>
          <a:lstStyle/>
          <a:p>
            <a:endParaRPr/>
          </a:p>
        </p:txBody>
      </p:sp>
      <p:sp>
        <p:nvSpPr>
          <p:cNvPr id="8" name="object 9"/>
          <p:cNvSpPr/>
          <p:nvPr/>
        </p:nvSpPr>
        <p:spPr>
          <a:xfrm>
            <a:off x="5431985" y="1912875"/>
            <a:ext cx="100965" cy="107314"/>
          </a:xfrm>
          <a:custGeom>
            <a:avLst/>
            <a:gdLst/>
            <a:ahLst/>
            <a:cxnLst/>
            <a:rect l="l" t="t" r="r" b="b"/>
            <a:pathLst>
              <a:path w="100964" h="107314">
                <a:moveTo>
                  <a:pt x="100837" y="0"/>
                </a:moveTo>
                <a:lnTo>
                  <a:pt x="0" y="0"/>
                </a:lnTo>
                <a:lnTo>
                  <a:pt x="0" y="107061"/>
                </a:lnTo>
                <a:lnTo>
                  <a:pt x="100837" y="107061"/>
                </a:lnTo>
                <a:lnTo>
                  <a:pt x="100837" y="0"/>
                </a:lnTo>
                <a:close/>
              </a:path>
            </a:pathLst>
          </a:custGeom>
          <a:solidFill>
            <a:srgbClr val="B1C1DB"/>
          </a:solidFill>
        </p:spPr>
        <p:txBody>
          <a:bodyPr wrap="square" lIns="0" tIns="0" rIns="0" bIns="0" rtlCol="0"/>
          <a:lstStyle/>
          <a:p>
            <a:endParaRPr/>
          </a:p>
        </p:txBody>
      </p:sp>
      <p:sp>
        <p:nvSpPr>
          <p:cNvPr id="9" name="object 10"/>
          <p:cNvSpPr/>
          <p:nvPr/>
        </p:nvSpPr>
        <p:spPr>
          <a:xfrm>
            <a:off x="5298635" y="1812035"/>
            <a:ext cx="367665" cy="100965"/>
          </a:xfrm>
          <a:custGeom>
            <a:avLst/>
            <a:gdLst/>
            <a:ahLst/>
            <a:cxnLst/>
            <a:rect l="l" t="t" r="r" b="b"/>
            <a:pathLst>
              <a:path w="367664" h="100964">
                <a:moveTo>
                  <a:pt x="367538" y="0"/>
                </a:moveTo>
                <a:lnTo>
                  <a:pt x="0" y="0"/>
                </a:lnTo>
                <a:lnTo>
                  <a:pt x="0" y="100837"/>
                </a:lnTo>
                <a:lnTo>
                  <a:pt x="367538" y="100837"/>
                </a:lnTo>
                <a:lnTo>
                  <a:pt x="367538" y="0"/>
                </a:lnTo>
                <a:close/>
              </a:path>
            </a:pathLst>
          </a:custGeom>
          <a:solidFill>
            <a:srgbClr val="B1C1DB"/>
          </a:solidFill>
        </p:spPr>
        <p:txBody>
          <a:bodyPr wrap="square" lIns="0" tIns="0" rIns="0" bIns="0" rtlCol="0"/>
          <a:lstStyle/>
          <a:p>
            <a:endParaRPr/>
          </a:p>
        </p:txBody>
      </p:sp>
      <p:sp>
        <p:nvSpPr>
          <p:cNvPr id="10" name="object 11"/>
          <p:cNvSpPr/>
          <p:nvPr/>
        </p:nvSpPr>
        <p:spPr>
          <a:xfrm>
            <a:off x="5431985" y="1704975"/>
            <a:ext cx="100965" cy="107314"/>
          </a:xfrm>
          <a:custGeom>
            <a:avLst/>
            <a:gdLst/>
            <a:ahLst/>
            <a:cxnLst/>
            <a:rect l="l" t="t" r="r" b="b"/>
            <a:pathLst>
              <a:path w="100964" h="107314">
                <a:moveTo>
                  <a:pt x="100837" y="0"/>
                </a:moveTo>
                <a:lnTo>
                  <a:pt x="0" y="0"/>
                </a:lnTo>
                <a:lnTo>
                  <a:pt x="0" y="107061"/>
                </a:lnTo>
                <a:lnTo>
                  <a:pt x="100837" y="107061"/>
                </a:lnTo>
                <a:lnTo>
                  <a:pt x="100837" y="0"/>
                </a:lnTo>
                <a:close/>
              </a:path>
            </a:pathLst>
          </a:custGeom>
          <a:solidFill>
            <a:srgbClr val="B1C1DB"/>
          </a:solidFill>
        </p:spPr>
        <p:txBody>
          <a:bodyPr wrap="square" lIns="0" tIns="0" rIns="0" bIns="0" rtlCol="0"/>
          <a:lstStyle/>
          <a:p>
            <a:endParaRPr/>
          </a:p>
        </p:txBody>
      </p:sp>
      <p:sp>
        <p:nvSpPr>
          <p:cNvPr id="11" name="object 12"/>
          <p:cNvSpPr/>
          <p:nvPr/>
        </p:nvSpPr>
        <p:spPr>
          <a:xfrm>
            <a:off x="5875339" y="1500214"/>
            <a:ext cx="1000125" cy="1076617"/>
          </a:xfrm>
          <a:prstGeom prst="rect">
            <a:avLst/>
          </a:prstGeom>
          <a:blipFill>
            <a:blip r:embed="rId5" cstate="print"/>
            <a:stretch>
              <a:fillRect/>
            </a:stretch>
          </a:blipFill>
        </p:spPr>
        <p:txBody>
          <a:bodyPr wrap="square" lIns="0" tIns="0" rIns="0" bIns="0" rtlCol="0"/>
          <a:lstStyle/>
          <a:p>
            <a:endParaRPr/>
          </a:p>
        </p:txBody>
      </p:sp>
      <p:sp>
        <p:nvSpPr>
          <p:cNvPr id="12" name="object 15"/>
          <p:cNvSpPr/>
          <p:nvPr/>
        </p:nvSpPr>
        <p:spPr>
          <a:xfrm>
            <a:off x="7446963" y="1321066"/>
            <a:ext cx="982446" cy="982446"/>
          </a:xfrm>
          <a:prstGeom prst="rect">
            <a:avLst/>
          </a:prstGeom>
          <a:blipFill>
            <a:blip r:embed="rId6" cstate="print"/>
            <a:stretch>
              <a:fillRect/>
            </a:stretch>
          </a:blipFill>
        </p:spPr>
        <p:txBody>
          <a:bodyPr wrap="square" lIns="0" tIns="0" rIns="0" bIns="0" rtlCol="0"/>
          <a:lstStyle/>
          <a:p>
            <a:endParaRPr/>
          </a:p>
        </p:txBody>
      </p:sp>
      <p:sp>
        <p:nvSpPr>
          <p:cNvPr id="14" name="object 19"/>
          <p:cNvSpPr/>
          <p:nvPr/>
        </p:nvSpPr>
        <p:spPr>
          <a:xfrm>
            <a:off x="7446966" y="2428915"/>
            <a:ext cx="1661541" cy="1239481"/>
          </a:xfrm>
          <a:prstGeom prst="rect">
            <a:avLst/>
          </a:prstGeom>
          <a:blipFill>
            <a:blip r:embed="rId7"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xmlns="" val="3148888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2">
                                            <p:txEl>
                                              <p:pRg st="0" end="0"/>
                                            </p:txEl>
                                          </p:spTgt>
                                        </p:tgtEl>
                                        <p:attrNameLst>
                                          <p:attrName>style.visibility</p:attrName>
                                        </p:attrNameLst>
                                      </p:cBhvr>
                                      <p:to>
                                        <p:strVal val="visible"/>
                                      </p:to>
                                    </p:set>
                                    <p:animEffect transition="in" filter="fade">
                                      <p:cBhvr>
                                        <p:cTn id="12" dur="1000"/>
                                        <p:tgtEl>
                                          <p:spTgt spid="2">
                                            <p:txEl>
                                              <p:pRg st="0" end="0"/>
                                            </p:txEl>
                                          </p:spTgt>
                                        </p:tgtEl>
                                      </p:cBhvr>
                                    </p:animEffect>
                                    <p:anim calcmode="lin" valueType="num">
                                      <p:cBhvr>
                                        <p:cTn id="13"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2">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anim calcmode="lin" valueType="num">
                                      <p:cBhvr>
                                        <p:cTn id="18" dur="1000" fill="hold"/>
                                        <p:tgtEl>
                                          <p:spTgt spid="8"/>
                                        </p:tgtEl>
                                        <p:attrNameLst>
                                          <p:attrName>ppt_x</p:attrName>
                                        </p:attrNameLst>
                                      </p:cBhvr>
                                      <p:tavLst>
                                        <p:tav tm="0">
                                          <p:val>
                                            <p:strVal val="#ppt_x"/>
                                          </p:val>
                                        </p:tav>
                                        <p:tav tm="100000">
                                          <p:val>
                                            <p:strVal val="#ppt_x"/>
                                          </p:val>
                                        </p:tav>
                                      </p:tavLst>
                                    </p:anim>
                                    <p:anim calcmode="lin" valueType="num">
                                      <p:cBhvr>
                                        <p:cTn id="19" dur="1000" fill="hold"/>
                                        <p:tgtEl>
                                          <p:spTgt spid="8"/>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anim calcmode="lin" valueType="num">
                                      <p:cBhvr>
                                        <p:cTn id="23" dur="1000" fill="hold"/>
                                        <p:tgtEl>
                                          <p:spTgt spid="9"/>
                                        </p:tgtEl>
                                        <p:attrNameLst>
                                          <p:attrName>ppt_x</p:attrName>
                                        </p:attrNameLst>
                                      </p:cBhvr>
                                      <p:tavLst>
                                        <p:tav tm="0">
                                          <p:val>
                                            <p:strVal val="#ppt_x"/>
                                          </p:val>
                                        </p:tav>
                                        <p:tav tm="100000">
                                          <p:val>
                                            <p:strVal val="#ppt_x"/>
                                          </p:val>
                                        </p:tav>
                                      </p:tavLst>
                                    </p:anim>
                                    <p:anim calcmode="lin" valueType="num">
                                      <p:cBhvr>
                                        <p:cTn id="24" dur="1000" fill="hold"/>
                                        <p:tgtEl>
                                          <p:spTgt spid="9"/>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1000"/>
                                        <p:tgtEl>
                                          <p:spTgt spid="10"/>
                                        </p:tgtEl>
                                      </p:cBhvr>
                                    </p:animEffect>
                                    <p:anim calcmode="lin" valueType="num">
                                      <p:cBhvr>
                                        <p:cTn id="28" dur="1000" fill="hold"/>
                                        <p:tgtEl>
                                          <p:spTgt spid="10"/>
                                        </p:tgtEl>
                                        <p:attrNameLst>
                                          <p:attrName>ppt_x</p:attrName>
                                        </p:attrNameLst>
                                      </p:cBhvr>
                                      <p:tavLst>
                                        <p:tav tm="0">
                                          <p:val>
                                            <p:strVal val="#ppt_x"/>
                                          </p:val>
                                        </p:tav>
                                        <p:tav tm="100000">
                                          <p:val>
                                            <p:strVal val="#ppt_x"/>
                                          </p:val>
                                        </p:tav>
                                      </p:tavLst>
                                    </p:anim>
                                    <p:anim calcmode="lin" valueType="num">
                                      <p:cBhvr>
                                        <p:cTn id="29" dur="1000" fill="hold"/>
                                        <p:tgtEl>
                                          <p:spTgt spid="10"/>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1000"/>
                                        <p:tgtEl>
                                          <p:spTgt spid="11"/>
                                        </p:tgtEl>
                                      </p:cBhvr>
                                    </p:animEffect>
                                    <p:anim calcmode="lin" valueType="num">
                                      <p:cBhvr>
                                        <p:cTn id="33" dur="1000" fill="hold"/>
                                        <p:tgtEl>
                                          <p:spTgt spid="11"/>
                                        </p:tgtEl>
                                        <p:attrNameLst>
                                          <p:attrName>ppt_x</p:attrName>
                                        </p:attrNameLst>
                                      </p:cBhvr>
                                      <p:tavLst>
                                        <p:tav tm="0">
                                          <p:val>
                                            <p:strVal val="#ppt_x"/>
                                          </p:val>
                                        </p:tav>
                                        <p:tav tm="100000">
                                          <p:val>
                                            <p:strVal val="#ppt_x"/>
                                          </p:val>
                                        </p:tav>
                                      </p:tavLst>
                                    </p:anim>
                                    <p:anim calcmode="lin" valueType="num">
                                      <p:cBhvr>
                                        <p:cTn id="3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37" presetID="42"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1000"/>
                                        <p:tgtEl>
                                          <p:spTgt spid="12"/>
                                        </p:tgtEl>
                                      </p:cBhvr>
                                    </p:animEffect>
                                    <p:anim calcmode="lin" valueType="num">
                                      <p:cBhvr>
                                        <p:cTn id="40" dur="1000" fill="hold"/>
                                        <p:tgtEl>
                                          <p:spTgt spid="12"/>
                                        </p:tgtEl>
                                        <p:attrNameLst>
                                          <p:attrName>ppt_x</p:attrName>
                                        </p:attrNameLst>
                                      </p:cBhvr>
                                      <p:tavLst>
                                        <p:tav tm="0">
                                          <p:val>
                                            <p:strVal val="#ppt_x"/>
                                          </p:val>
                                        </p:tav>
                                        <p:tav tm="100000">
                                          <p:val>
                                            <p:strVal val="#ppt_x"/>
                                          </p:val>
                                        </p:tav>
                                      </p:tavLst>
                                    </p:anim>
                                    <p:anim calcmode="lin" valueType="num">
                                      <p:cBhvr>
                                        <p:cTn id="41" dur="1000" fill="hold"/>
                                        <p:tgtEl>
                                          <p:spTgt spid="12"/>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fade">
                                      <p:cBhvr>
                                        <p:cTn id="44" dur="1000"/>
                                        <p:tgtEl>
                                          <p:spTgt spid="2">
                                            <p:txEl>
                                              <p:pRg st="2" end="2"/>
                                            </p:txEl>
                                          </p:spTgt>
                                        </p:tgtEl>
                                      </p:cBhvr>
                                    </p:animEffect>
                                    <p:anim calcmode="lin" valueType="num">
                                      <p:cBhvr>
                                        <p:cTn id="45"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46"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grpId="0"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1000"/>
                                        <p:tgtEl>
                                          <p:spTgt spid="14"/>
                                        </p:tgtEl>
                                      </p:cBhvr>
                                    </p:animEffect>
                                    <p:anim calcmode="lin" valueType="num">
                                      <p:cBhvr>
                                        <p:cTn id="52" dur="1000" fill="hold"/>
                                        <p:tgtEl>
                                          <p:spTgt spid="14"/>
                                        </p:tgtEl>
                                        <p:attrNameLst>
                                          <p:attrName>ppt_x</p:attrName>
                                        </p:attrNameLst>
                                      </p:cBhvr>
                                      <p:tavLst>
                                        <p:tav tm="0">
                                          <p:val>
                                            <p:strVal val="#ppt_x"/>
                                          </p:val>
                                        </p:tav>
                                        <p:tav tm="100000">
                                          <p:val>
                                            <p:strVal val="#ppt_x"/>
                                          </p:val>
                                        </p:tav>
                                      </p:tavLst>
                                    </p:anim>
                                    <p:anim calcmode="lin" valueType="num">
                                      <p:cBhvr>
                                        <p:cTn id="53" dur="1000" fill="hold"/>
                                        <p:tgtEl>
                                          <p:spTgt spid="14"/>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2">
                                            <p:txEl>
                                              <p:pRg st="4" end="4"/>
                                            </p:txEl>
                                          </p:spTgt>
                                        </p:tgtEl>
                                        <p:attrNameLst>
                                          <p:attrName>style.visibility</p:attrName>
                                        </p:attrNameLst>
                                      </p:cBhvr>
                                      <p:to>
                                        <p:strVal val="visible"/>
                                      </p:to>
                                    </p:set>
                                    <p:animEffect transition="in" filter="fade">
                                      <p:cBhvr>
                                        <p:cTn id="56" dur="1000"/>
                                        <p:tgtEl>
                                          <p:spTgt spid="2">
                                            <p:txEl>
                                              <p:pRg st="4" end="4"/>
                                            </p:txEl>
                                          </p:spTgt>
                                        </p:tgtEl>
                                      </p:cBhvr>
                                    </p:animEffect>
                                    <p:anim calcmode="lin" valueType="num">
                                      <p:cBhvr>
                                        <p:cTn id="57"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58"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5"/>
                                        </p:tgtEl>
                                        <p:attrNameLst>
                                          <p:attrName>style.visibility</p:attrName>
                                        </p:attrNameLst>
                                      </p:cBhvr>
                                      <p:to>
                                        <p:strVal val="visible"/>
                                      </p:to>
                                    </p:set>
                                    <p:animEffect transition="in" filter="fade">
                                      <p:cBhvr>
                                        <p:cTn id="63" dur="1000"/>
                                        <p:tgtEl>
                                          <p:spTgt spid="5"/>
                                        </p:tgtEl>
                                      </p:cBhvr>
                                    </p:animEffect>
                                    <p:anim calcmode="lin" valueType="num">
                                      <p:cBhvr>
                                        <p:cTn id="64" dur="1000" fill="hold"/>
                                        <p:tgtEl>
                                          <p:spTgt spid="5"/>
                                        </p:tgtEl>
                                        <p:attrNameLst>
                                          <p:attrName>ppt_x</p:attrName>
                                        </p:attrNameLst>
                                      </p:cBhvr>
                                      <p:tavLst>
                                        <p:tav tm="0">
                                          <p:val>
                                            <p:strVal val="#ppt_x"/>
                                          </p:val>
                                        </p:tav>
                                        <p:tav tm="100000">
                                          <p:val>
                                            <p:strVal val="#ppt_x"/>
                                          </p:val>
                                        </p:tav>
                                      </p:tavLst>
                                    </p:anim>
                                    <p:anim calcmode="lin" valueType="num">
                                      <p:cBhvr>
                                        <p:cTn id="65" dur="1000" fill="hold"/>
                                        <p:tgtEl>
                                          <p:spTgt spid="5"/>
                                        </p:tgtEl>
                                        <p:attrNameLst>
                                          <p:attrName>ppt_y</p:attrName>
                                        </p:attrNameLst>
                                      </p:cBhvr>
                                      <p:tavLst>
                                        <p:tav tm="0">
                                          <p:val>
                                            <p:strVal val="#ppt_y+.1"/>
                                          </p:val>
                                        </p:tav>
                                        <p:tav tm="100000">
                                          <p:val>
                                            <p:strVal val="#ppt_y"/>
                                          </p:val>
                                        </p:tav>
                                      </p:tavLst>
                                    </p:anim>
                                  </p:childTnLst>
                                </p:cTn>
                              </p:par>
                              <p:par>
                                <p:cTn id="66" presetID="42" presetClass="entr" presetSubtype="0" fill="hold" grpId="0" nodeType="withEffect">
                                  <p:stCondLst>
                                    <p:cond delay="0"/>
                                  </p:stCondLst>
                                  <p:childTnLst>
                                    <p:set>
                                      <p:cBhvr>
                                        <p:cTn id="67" dur="1" fill="hold">
                                          <p:stCondLst>
                                            <p:cond delay="0"/>
                                          </p:stCondLst>
                                        </p:cTn>
                                        <p:tgtEl>
                                          <p:spTgt spid="2">
                                            <p:txEl>
                                              <p:pRg st="6" end="6"/>
                                            </p:txEl>
                                          </p:spTgt>
                                        </p:tgtEl>
                                        <p:attrNameLst>
                                          <p:attrName>style.visibility</p:attrName>
                                        </p:attrNameLst>
                                      </p:cBhvr>
                                      <p:to>
                                        <p:strVal val="visible"/>
                                      </p:to>
                                    </p:set>
                                    <p:animEffect transition="in" filter="fade">
                                      <p:cBhvr>
                                        <p:cTn id="68" dur="1000"/>
                                        <p:tgtEl>
                                          <p:spTgt spid="2">
                                            <p:txEl>
                                              <p:pRg st="6" end="6"/>
                                            </p:txEl>
                                          </p:spTgt>
                                        </p:tgtEl>
                                      </p:cBhvr>
                                    </p:animEffect>
                                    <p:anim calcmode="lin" valueType="num">
                                      <p:cBhvr>
                                        <p:cTn id="69" dur="1000" fill="hold"/>
                                        <p:tgtEl>
                                          <p:spTgt spid="2">
                                            <p:txEl>
                                              <p:pRg st="6" end="6"/>
                                            </p:txEl>
                                          </p:spTgt>
                                        </p:tgtEl>
                                        <p:attrNameLst>
                                          <p:attrName>ppt_x</p:attrName>
                                        </p:attrNameLst>
                                      </p:cBhvr>
                                      <p:tavLst>
                                        <p:tav tm="0">
                                          <p:val>
                                            <p:strVal val="#ppt_x"/>
                                          </p:val>
                                        </p:tav>
                                        <p:tav tm="100000">
                                          <p:val>
                                            <p:strVal val="#ppt_x"/>
                                          </p:val>
                                        </p:tav>
                                      </p:tavLst>
                                    </p:anim>
                                    <p:anim calcmode="lin" valueType="num">
                                      <p:cBhvr>
                                        <p:cTn id="70" dur="1000" fill="hold"/>
                                        <p:tgtEl>
                                          <p:spTgt spid="2">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5" grpId="0" animBg="1"/>
      <p:bldP spid="7" grpId="0" animBg="1"/>
      <p:bldP spid="8" grpId="0" uiExpand="1" animBg="1"/>
      <p:bldP spid="9" grpId="0" uiExpand="1" animBg="1"/>
      <p:bldP spid="10" grpId="0" uiExpand="1" animBg="1"/>
      <p:bldP spid="11" grpId="0" uiExpand="1" animBg="1"/>
      <p:bldP spid="12" grpId="0" uiExpand="1" animBg="1"/>
      <p:bldP spid="1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FIWARE</a:t>
            </a:r>
            <a:endParaRPr lang="fr-FR" dirty="0"/>
          </a:p>
        </p:txBody>
      </p:sp>
      <p:sp>
        <p:nvSpPr>
          <p:cNvPr id="3" name="Espace réservé du texte 2"/>
          <p:cNvSpPr>
            <a:spLocks noGrp="1"/>
          </p:cNvSpPr>
          <p:nvPr>
            <p:ph type="body" idx="1"/>
          </p:nvPr>
        </p:nvSpPr>
        <p:spPr/>
        <p:txBody>
          <a:bodyPr/>
          <a:lstStyle/>
          <a:p>
            <a:endParaRPr lang="fr-FR"/>
          </a:p>
        </p:txBody>
      </p:sp>
      <p:sp>
        <p:nvSpPr>
          <p:cNvPr id="4" name="52 Elipse"/>
          <p:cNvSpPr/>
          <p:nvPr/>
        </p:nvSpPr>
        <p:spPr bwMode="auto">
          <a:xfrm rot="16200000">
            <a:off x="6396694" y="2568872"/>
            <a:ext cx="2198525" cy="1052154"/>
          </a:xfrm>
          <a:prstGeom prst="ellipse">
            <a:avLst/>
          </a:prstGeom>
          <a:solidFill>
            <a:schemeClr val="tx2">
              <a:alpha val="60000"/>
            </a:schemeClr>
          </a:solidFill>
          <a:ln w="9525" cap="flat" cmpd="sng" algn="ctr">
            <a:solidFill>
              <a:schemeClr val="bg2"/>
            </a:solidFill>
            <a:prstDash val="solid"/>
            <a:round/>
            <a:headEnd type="none" w="med" len="med"/>
            <a:tailEnd type="none" w="med" len="med"/>
          </a:ln>
          <a:effectLst/>
          <a:scene3d>
            <a:camera prst="orthographicFront"/>
            <a:lightRig rig="threePt" dir="t"/>
          </a:scene3d>
          <a:sp3d>
            <a:bevelT/>
          </a:sp3d>
        </p:spPr>
        <p:txBody>
          <a:bodyPr wrap="none" lIns="0" tIns="0" rIns="0" bIns="0" anchor="ctr"/>
          <a:lstStyle/>
          <a:p>
            <a:pPr algn="ctr">
              <a:defRPr/>
            </a:pPr>
            <a:endParaRPr lang="es-ES" sz="1050">
              <a:solidFill>
                <a:srgbClr val="123E51"/>
              </a:solidFill>
              <a:latin typeface="TheSansCorrespondence" pitchFamily="34" charset="0"/>
            </a:endParaRPr>
          </a:p>
        </p:txBody>
      </p:sp>
      <p:sp>
        <p:nvSpPr>
          <p:cNvPr id="5" name="29 Elipse"/>
          <p:cNvSpPr/>
          <p:nvPr/>
        </p:nvSpPr>
        <p:spPr bwMode="auto">
          <a:xfrm rot="19800000" flipH="1">
            <a:off x="6825905" y="2716349"/>
            <a:ext cx="2023491" cy="1143165"/>
          </a:xfrm>
          <a:prstGeom prst="ellipse">
            <a:avLst/>
          </a:prstGeom>
          <a:solidFill>
            <a:srgbClr val="99FFCC">
              <a:alpha val="60000"/>
            </a:srgbClr>
          </a:solidFill>
          <a:ln>
            <a:headEnd type="none" w="med" len="med"/>
            <a:tailEnd type="none" w="med" len="med"/>
          </a:ln>
        </p:spPr>
        <p:style>
          <a:lnRef idx="0">
            <a:schemeClr val="accent2"/>
          </a:lnRef>
          <a:fillRef idx="3">
            <a:schemeClr val="accent2"/>
          </a:fillRef>
          <a:effectRef idx="3">
            <a:schemeClr val="accent2"/>
          </a:effectRef>
          <a:fontRef idx="minor">
            <a:schemeClr val="lt1"/>
          </a:fontRef>
        </p:style>
        <p:txBody>
          <a:bodyPr wrap="none" lIns="0" tIns="0" rIns="0" bIns="0" anchor="ctr"/>
          <a:lstStyle/>
          <a:p>
            <a:pPr algn="ctr">
              <a:defRPr/>
            </a:pPr>
            <a:endParaRPr lang="es-ES" sz="1050">
              <a:solidFill>
                <a:srgbClr val="123E51"/>
              </a:solidFill>
              <a:latin typeface="TheSansCorrespondence" pitchFamily="34" charset="0"/>
            </a:endParaRPr>
          </a:p>
        </p:txBody>
      </p:sp>
      <p:sp>
        <p:nvSpPr>
          <p:cNvPr id="6" name="25 Elipse"/>
          <p:cNvSpPr/>
          <p:nvPr/>
        </p:nvSpPr>
        <p:spPr bwMode="auto">
          <a:xfrm rot="16200000">
            <a:off x="6396693" y="3402348"/>
            <a:ext cx="2198525" cy="1052154"/>
          </a:xfrm>
          <a:prstGeom prst="ellipse">
            <a:avLst/>
          </a:prstGeom>
          <a:solidFill>
            <a:srgbClr val="CCCCFF">
              <a:alpha val="60000"/>
            </a:srgbClr>
          </a:solidFill>
          <a:ln w="9525" cap="flat" cmpd="sng" algn="ctr">
            <a:solidFill>
              <a:schemeClr val="bg2"/>
            </a:solidFill>
            <a:prstDash val="solid"/>
            <a:round/>
            <a:headEnd type="none" w="med" len="med"/>
            <a:tailEnd type="none" w="med" len="med"/>
          </a:ln>
          <a:effectLst/>
          <a:scene3d>
            <a:camera prst="orthographicFront"/>
            <a:lightRig rig="threePt" dir="t"/>
          </a:scene3d>
          <a:sp3d>
            <a:bevelT/>
          </a:sp3d>
        </p:spPr>
        <p:txBody>
          <a:bodyPr wrap="none" lIns="0" tIns="0" rIns="0" bIns="0" anchor="ctr"/>
          <a:lstStyle/>
          <a:p>
            <a:pPr algn="ctr">
              <a:defRPr/>
            </a:pPr>
            <a:endParaRPr lang="es-ES" sz="1050">
              <a:solidFill>
                <a:srgbClr val="123E51"/>
              </a:solidFill>
              <a:latin typeface="TheSansCorrespondence" pitchFamily="34" charset="0"/>
            </a:endParaRPr>
          </a:p>
        </p:txBody>
      </p:sp>
      <p:sp>
        <p:nvSpPr>
          <p:cNvPr id="7" name="29 Elipse"/>
          <p:cNvSpPr/>
          <p:nvPr/>
        </p:nvSpPr>
        <p:spPr bwMode="auto">
          <a:xfrm rot="19800000" flipH="1">
            <a:off x="6139246" y="3142532"/>
            <a:ext cx="2023491" cy="1143165"/>
          </a:xfrm>
          <a:prstGeom prst="ellipse">
            <a:avLst/>
          </a:prstGeom>
          <a:solidFill>
            <a:srgbClr val="FFC000">
              <a:alpha val="60000"/>
            </a:srgbClr>
          </a:solidFill>
          <a:ln w="9525" cap="flat" cmpd="sng" algn="ctr">
            <a:solidFill>
              <a:schemeClr val="bg2"/>
            </a:solidFill>
            <a:prstDash val="solid"/>
            <a:round/>
            <a:headEnd type="none" w="med" len="med"/>
            <a:tailEnd type="none" w="med" len="med"/>
          </a:ln>
          <a:effectLst/>
          <a:scene3d>
            <a:camera prst="orthographicFront"/>
            <a:lightRig rig="threePt" dir="t"/>
          </a:scene3d>
          <a:sp3d>
            <a:bevelT/>
          </a:sp3d>
        </p:spPr>
        <p:txBody>
          <a:bodyPr wrap="none" lIns="0" tIns="0" rIns="0" bIns="0" anchor="ctr"/>
          <a:lstStyle/>
          <a:p>
            <a:pPr algn="ctr">
              <a:defRPr/>
            </a:pPr>
            <a:endParaRPr lang="es-ES" sz="1050">
              <a:solidFill>
                <a:srgbClr val="123E51"/>
              </a:solidFill>
              <a:latin typeface="TheSansCorrespondence" pitchFamily="34" charset="0"/>
            </a:endParaRPr>
          </a:p>
        </p:txBody>
      </p:sp>
      <p:sp>
        <p:nvSpPr>
          <p:cNvPr id="8" name="29 Elipse"/>
          <p:cNvSpPr/>
          <p:nvPr/>
        </p:nvSpPr>
        <p:spPr bwMode="auto">
          <a:xfrm rot="1800000">
            <a:off x="6139246" y="2725754"/>
            <a:ext cx="2023491" cy="1143165"/>
          </a:xfrm>
          <a:prstGeom prst="ellipse">
            <a:avLst/>
          </a:prstGeom>
          <a:solidFill>
            <a:srgbClr val="FFCCFF">
              <a:alpha val="60000"/>
            </a:srgbClr>
          </a:solidFill>
          <a:ln>
            <a:headEnd type="none" w="med" len="med"/>
            <a:tailEnd type="none" w="med" len="med"/>
          </a:ln>
          <a:scene3d>
            <a:camera prst="orthographicFront">
              <a:rot lat="0" lon="0" rev="0"/>
            </a:camera>
            <a:lightRig rig="threePt" dir="t">
              <a:rot lat="0" lon="0" rev="1200000"/>
            </a:lightRig>
          </a:scene3d>
          <a:sp3d>
            <a:bevelT w="63500" h="25400"/>
          </a:sp3d>
        </p:spPr>
        <p:style>
          <a:lnRef idx="0">
            <a:schemeClr val="accent2"/>
          </a:lnRef>
          <a:fillRef idx="3">
            <a:schemeClr val="accent2"/>
          </a:fillRef>
          <a:effectRef idx="3">
            <a:schemeClr val="accent2"/>
          </a:effectRef>
          <a:fontRef idx="minor">
            <a:schemeClr val="lt1"/>
          </a:fontRef>
        </p:style>
        <p:txBody>
          <a:bodyPr wrap="none" lIns="0" tIns="0" rIns="0" bIns="0" anchor="ctr"/>
          <a:lstStyle/>
          <a:p>
            <a:pPr algn="ctr" eaLnBrk="1" hangingPunct="1">
              <a:defRPr/>
            </a:pPr>
            <a:endParaRPr lang="es-ES" sz="1050">
              <a:solidFill>
                <a:srgbClr val="FFFFFF"/>
              </a:solidFill>
            </a:endParaRPr>
          </a:p>
        </p:txBody>
      </p:sp>
      <p:sp>
        <p:nvSpPr>
          <p:cNvPr id="9" name="29 Elipse"/>
          <p:cNvSpPr/>
          <p:nvPr/>
        </p:nvSpPr>
        <p:spPr bwMode="auto">
          <a:xfrm rot="1800000">
            <a:off x="6825905" y="3151943"/>
            <a:ext cx="2023491" cy="1143165"/>
          </a:xfrm>
          <a:prstGeom prst="ellipse">
            <a:avLst/>
          </a:prstGeom>
          <a:solidFill>
            <a:srgbClr val="FFFF99">
              <a:alpha val="60000"/>
            </a:srgbClr>
          </a:solidFill>
          <a:ln w="9525" cap="flat" cmpd="sng" algn="ctr">
            <a:solidFill>
              <a:schemeClr val="bg2"/>
            </a:solidFill>
            <a:prstDash val="solid"/>
            <a:round/>
            <a:headEnd type="none" w="med" len="med"/>
            <a:tailEnd type="none" w="med" len="med"/>
          </a:ln>
          <a:effectLst/>
          <a:scene3d>
            <a:camera prst="orthographicFront"/>
            <a:lightRig rig="threePt" dir="t"/>
          </a:scene3d>
          <a:sp3d>
            <a:bevelT/>
          </a:sp3d>
        </p:spPr>
        <p:txBody>
          <a:bodyPr wrap="none" lIns="0" tIns="0" rIns="0" bIns="0" anchor="ctr"/>
          <a:lstStyle/>
          <a:p>
            <a:pPr algn="ctr">
              <a:defRPr/>
            </a:pPr>
            <a:endParaRPr lang="es-ES" sz="1050">
              <a:solidFill>
                <a:srgbClr val="123E51"/>
              </a:solidFill>
              <a:latin typeface="TheSansCorrespondence" pitchFamily="34" charset="0"/>
            </a:endParaRPr>
          </a:p>
        </p:txBody>
      </p:sp>
      <p:sp>
        <p:nvSpPr>
          <p:cNvPr id="10" name="27 Elipse"/>
          <p:cNvSpPr>
            <a:spLocks noChangeAspect="1"/>
          </p:cNvSpPr>
          <p:nvPr/>
        </p:nvSpPr>
        <p:spPr bwMode="auto">
          <a:xfrm>
            <a:off x="6858927" y="2821475"/>
            <a:ext cx="1275012" cy="1351923"/>
          </a:xfrm>
          <a:prstGeom prst="ellipse">
            <a:avLst/>
          </a:prstGeom>
          <a:solidFill>
            <a:srgbClr val="4AB5CA"/>
          </a:solidFill>
          <a:ln>
            <a:headEnd type="none" w="med" len="med"/>
            <a:tailEnd type="none" w="med" len="med"/>
          </a:ln>
          <a:scene3d>
            <a:camera prst="orthographicFront">
              <a:rot lat="0" lon="0" rev="0"/>
            </a:camera>
            <a:lightRig rig="threePt" dir="t">
              <a:rot lat="0" lon="0" rev="1200000"/>
            </a:lightRig>
          </a:scene3d>
          <a:sp3d>
            <a:bevelT w="63500" h="25400" prst="softRound"/>
          </a:sp3d>
        </p:spPr>
        <p:style>
          <a:lnRef idx="0">
            <a:schemeClr val="accent2"/>
          </a:lnRef>
          <a:fillRef idx="3">
            <a:schemeClr val="accent2"/>
          </a:fillRef>
          <a:effectRef idx="3">
            <a:schemeClr val="accent2"/>
          </a:effectRef>
          <a:fontRef idx="minor">
            <a:schemeClr val="lt1"/>
          </a:fontRef>
        </p:style>
        <p:txBody>
          <a:bodyPr wrap="none" lIns="0" tIns="0" rIns="0" bIns="0" anchor="ctr"/>
          <a:lstStyle/>
          <a:p>
            <a:pPr algn="ctr">
              <a:defRPr/>
            </a:pPr>
            <a:endParaRPr lang="es-ES" sz="1050">
              <a:solidFill>
                <a:srgbClr val="123E51"/>
              </a:solidFill>
              <a:latin typeface="TheSansCorrespondence" pitchFamily="34" charset="0"/>
            </a:endParaRPr>
          </a:p>
        </p:txBody>
      </p:sp>
      <p:sp>
        <p:nvSpPr>
          <p:cNvPr id="11" name="35 CuadroTexto"/>
          <p:cNvSpPr txBox="1"/>
          <p:nvPr/>
        </p:nvSpPr>
        <p:spPr>
          <a:xfrm>
            <a:off x="7175695" y="4530366"/>
            <a:ext cx="651139" cy="253916"/>
          </a:xfrm>
          <a:prstGeom prst="rect">
            <a:avLst/>
          </a:prstGeom>
          <a:noFill/>
        </p:spPr>
        <p:txBody>
          <a:bodyPr wrap="none">
            <a:spAutoFit/>
          </a:bodyPr>
          <a:lstStyle/>
          <a:p>
            <a:pPr algn="ctr" eaLnBrk="1" hangingPunct="1">
              <a:defRPr/>
            </a:pPr>
            <a:r>
              <a:rPr lang="es-ES" sz="1050" dirty="0" err="1">
                <a:latin typeface="Arial" charset="0"/>
              </a:rPr>
              <a:t>eHealth</a:t>
            </a:r>
            <a:endParaRPr lang="es-ES" sz="1050" dirty="0">
              <a:latin typeface="Arial" charset="0"/>
            </a:endParaRPr>
          </a:p>
        </p:txBody>
      </p:sp>
      <p:sp>
        <p:nvSpPr>
          <p:cNvPr id="12" name="36 CuadroTexto"/>
          <p:cNvSpPr txBox="1"/>
          <p:nvPr/>
        </p:nvSpPr>
        <p:spPr>
          <a:xfrm>
            <a:off x="7026446" y="2274529"/>
            <a:ext cx="911383" cy="253916"/>
          </a:xfrm>
          <a:prstGeom prst="rect">
            <a:avLst/>
          </a:prstGeom>
          <a:noFill/>
        </p:spPr>
        <p:txBody>
          <a:bodyPr>
            <a:spAutoFit/>
          </a:bodyPr>
          <a:lstStyle/>
          <a:p>
            <a:pPr algn="ctr" eaLnBrk="1" hangingPunct="1">
              <a:defRPr/>
            </a:pPr>
            <a:r>
              <a:rPr lang="es-ES" sz="1050" dirty="0" err="1">
                <a:latin typeface="Arial" charset="0"/>
              </a:rPr>
              <a:t>tourism</a:t>
            </a:r>
            <a:endParaRPr lang="es-ES" sz="1050" dirty="0">
              <a:latin typeface="Arial" charset="0"/>
            </a:endParaRPr>
          </a:p>
        </p:txBody>
      </p:sp>
      <p:sp>
        <p:nvSpPr>
          <p:cNvPr id="13" name="37 CuadroTexto"/>
          <p:cNvSpPr txBox="1"/>
          <p:nvPr/>
        </p:nvSpPr>
        <p:spPr>
          <a:xfrm>
            <a:off x="6184925" y="2649181"/>
            <a:ext cx="911383" cy="577081"/>
          </a:xfrm>
          <a:prstGeom prst="rect">
            <a:avLst/>
          </a:prstGeom>
          <a:noFill/>
        </p:spPr>
        <p:txBody>
          <a:bodyPr>
            <a:spAutoFit/>
          </a:bodyPr>
          <a:lstStyle/>
          <a:p>
            <a:pPr algn="ctr" eaLnBrk="1" hangingPunct="1">
              <a:defRPr/>
            </a:pPr>
            <a:r>
              <a:rPr lang="es-ES" sz="1050" dirty="0" err="1">
                <a:latin typeface="Arial" charset="0"/>
              </a:rPr>
              <a:t>Transport</a:t>
            </a:r>
            <a:r>
              <a:rPr lang="es-ES" sz="1050" dirty="0">
                <a:latin typeface="Arial" charset="0"/>
              </a:rPr>
              <a:t>, </a:t>
            </a:r>
            <a:r>
              <a:rPr lang="es-ES" sz="1050" dirty="0" err="1">
                <a:latin typeface="Arial" charset="0"/>
              </a:rPr>
              <a:t>Mobility</a:t>
            </a:r>
            <a:r>
              <a:rPr lang="es-ES" sz="1050" dirty="0">
                <a:latin typeface="Arial" charset="0"/>
              </a:rPr>
              <a:t> and </a:t>
            </a:r>
            <a:r>
              <a:rPr lang="es-ES" sz="1050" dirty="0" err="1">
                <a:latin typeface="Arial" charset="0"/>
              </a:rPr>
              <a:t>Logistics</a:t>
            </a:r>
            <a:endParaRPr lang="es-ES" sz="1050" dirty="0">
              <a:latin typeface="Arial" charset="0"/>
            </a:endParaRPr>
          </a:p>
        </p:txBody>
      </p:sp>
      <p:sp>
        <p:nvSpPr>
          <p:cNvPr id="14" name="38 CuadroTexto"/>
          <p:cNvSpPr txBox="1"/>
          <p:nvPr/>
        </p:nvSpPr>
        <p:spPr>
          <a:xfrm>
            <a:off x="7713954" y="2714266"/>
            <a:ext cx="1108267" cy="253916"/>
          </a:xfrm>
          <a:prstGeom prst="rect">
            <a:avLst/>
          </a:prstGeom>
          <a:noFill/>
        </p:spPr>
        <p:txBody>
          <a:bodyPr>
            <a:spAutoFit/>
          </a:bodyPr>
          <a:lstStyle/>
          <a:p>
            <a:pPr algn="ctr" eaLnBrk="1" hangingPunct="1">
              <a:defRPr/>
            </a:pPr>
            <a:r>
              <a:rPr lang="es-ES" sz="1050" dirty="0">
                <a:latin typeface="Arial" charset="0"/>
              </a:rPr>
              <a:t>e-</a:t>
            </a:r>
            <a:r>
              <a:rPr lang="es-ES" sz="1050" dirty="0" err="1">
                <a:latin typeface="Arial" charset="0"/>
              </a:rPr>
              <a:t>government</a:t>
            </a:r>
            <a:endParaRPr lang="es-ES" sz="1050" dirty="0">
              <a:latin typeface="Arial" charset="0"/>
            </a:endParaRPr>
          </a:p>
        </p:txBody>
      </p:sp>
      <p:sp>
        <p:nvSpPr>
          <p:cNvPr id="15" name="39 CuadroTexto"/>
          <p:cNvSpPr txBox="1"/>
          <p:nvPr/>
        </p:nvSpPr>
        <p:spPr>
          <a:xfrm>
            <a:off x="6211918" y="3823930"/>
            <a:ext cx="911383" cy="415498"/>
          </a:xfrm>
          <a:prstGeom prst="rect">
            <a:avLst/>
          </a:prstGeom>
          <a:noFill/>
        </p:spPr>
        <p:txBody>
          <a:bodyPr>
            <a:spAutoFit/>
          </a:bodyPr>
          <a:lstStyle/>
          <a:p>
            <a:pPr algn="ctr" eaLnBrk="1" hangingPunct="1">
              <a:defRPr/>
            </a:pPr>
            <a:r>
              <a:rPr lang="es-ES" sz="1050" dirty="0" err="1">
                <a:latin typeface="Arial" charset="0"/>
              </a:rPr>
              <a:t>Smart</a:t>
            </a:r>
            <a:r>
              <a:rPr lang="es-ES" sz="1050" dirty="0">
                <a:latin typeface="Arial" charset="0"/>
              </a:rPr>
              <a:t> </a:t>
            </a:r>
            <a:r>
              <a:rPr lang="es-ES" sz="1050" dirty="0" err="1">
                <a:latin typeface="Arial" charset="0"/>
              </a:rPr>
              <a:t>Energy</a:t>
            </a:r>
            <a:r>
              <a:rPr lang="es-ES" sz="1050" dirty="0">
                <a:latin typeface="Arial" charset="0"/>
              </a:rPr>
              <a:t> </a:t>
            </a:r>
            <a:r>
              <a:rPr lang="es-ES" sz="1050" dirty="0" err="1">
                <a:latin typeface="Arial" charset="0"/>
              </a:rPr>
              <a:t>Grid</a:t>
            </a:r>
            <a:endParaRPr lang="es-ES" sz="1050" dirty="0">
              <a:latin typeface="Arial" charset="0"/>
            </a:endParaRPr>
          </a:p>
        </p:txBody>
      </p:sp>
      <p:sp>
        <p:nvSpPr>
          <p:cNvPr id="16" name="36 CuadroTexto"/>
          <p:cNvSpPr txBox="1"/>
          <p:nvPr/>
        </p:nvSpPr>
        <p:spPr>
          <a:xfrm>
            <a:off x="7802869" y="3873141"/>
            <a:ext cx="911383" cy="253916"/>
          </a:xfrm>
          <a:prstGeom prst="rect">
            <a:avLst/>
          </a:prstGeom>
          <a:noFill/>
        </p:spPr>
        <p:txBody>
          <a:bodyPr>
            <a:spAutoFit/>
          </a:bodyPr>
          <a:lstStyle/>
          <a:p>
            <a:pPr algn="ctr" eaLnBrk="1" hangingPunct="1">
              <a:defRPr/>
            </a:pPr>
            <a:r>
              <a:rPr lang="es-ES" sz="1050" dirty="0">
                <a:latin typeface="Arial" charset="0"/>
              </a:rPr>
              <a:t>…</a:t>
            </a:r>
          </a:p>
        </p:txBody>
      </p:sp>
      <p:pic>
        <p:nvPicPr>
          <p:cNvPr id="17" name="Picture 12"/>
          <p:cNvPicPr>
            <a:picLocks noChangeAspect="1"/>
          </p:cNvPicPr>
          <p:nvPr/>
        </p:nvPicPr>
        <p:blipFill>
          <a:blip r:embed="rId3" cstate="print">
            <a:extLst>
              <a:ext uri="{28A0092B-C50C-407E-A947-70E740481C1C}">
                <a14:useLocalDpi xmlns:a14="http://schemas.microsoft.com/office/drawing/2010/main" xmlns="" val="0"/>
              </a:ext>
            </a:extLst>
          </a:blip>
          <a:srcRect/>
          <a:stretch>
            <a:fillRect/>
          </a:stretch>
        </p:blipFill>
        <p:spPr bwMode="auto">
          <a:xfrm>
            <a:off x="467546" y="4831680"/>
            <a:ext cx="1082863" cy="2603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18" name="Picture 13"/>
          <p:cNvPicPr>
            <a:picLocks noChangeAspect="1"/>
          </p:cNvPicPr>
          <p:nvPr/>
        </p:nvPicPr>
        <p:blipFill>
          <a:blip r:embed="rId4">
            <a:extLst>
              <a:ext uri="{28A0092B-C50C-407E-A947-70E740481C1C}">
                <a14:useLocalDpi xmlns:a14="http://schemas.microsoft.com/office/drawing/2010/main" xmlns="" val="0"/>
              </a:ext>
            </a:extLst>
          </a:blip>
          <a:srcRect/>
          <a:stretch>
            <a:fillRect/>
          </a:stretch>
        </p:blipFill>
        <p:spPr bwMode="auto">
          <a:xfrm>
            <a:off x="7037557" y="3119082"/>
            <a:ext cx="917734" cy="75723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Tree>
    <p:extLst>
      <p:ext uri="{BB962C8B-B14F-4D97-AF65-F5344CB8AC3E}">
        <p14:creationId xmlns:p14="http://schemas.microsoft.com/office/powerpoint/2010/main" xmlns="" val="416832809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4 Rectángulo redondeado"/>
          <p:cNvSpPr>
            <a:spLocks noChangeArrowheads="1"/>
          </p:cNvSpPr>
          <p:nvPr/>
        </p:nvSpPr>
        <p:spPr bwMode="auto">
          <a:xfrm>
            <a:off x="1371600" y="3632111"/>
            <a:ext cx="7658100" cy="811849"/>
          </a:xfrm>
          <a:prstGeom prst="roundRect">
            <a:avLst>
              <a:gd name="adj" fmla="val 16667"/>
            </a:avLst>
          </a:prstGeom>
          <a:solidFill>
            <a:schemeClr val="tx2">
              <a:lumMod val="50000"/>
            </a:schemeClr>
          </a:solidFill>
          <a:ln>
            <a:headEnd/>
            <a:tailEnd/>
          </a:ln>
        </p:spPr>
        <p:style>
          <a:lnRef idx="3">
            <a:schemeClr val="lt1"/>
          </a:lnRef>
          <a:fillRef idx="1">
            <a:schemeClr val="accent4"/>
          </a:fillRef>
          <a:effectRef idx="1">
            <a:schemeClr val="accent4"/>
          </a:effectRef>
          <a:fontRef idx="minor">
            <a:schemeClr val="lt1"/>
          </a:fontRef>
        </p:style>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5" name="5 CuadroTexto"/>
          <p:cNvSpPr txBox="1">
            <a:spLocks noChangeArrowheads="1"/>
          </p:cNvSpPr>
          <p:nvPr/>
        </p:nvSpPr>
        <p:spPr bwMode="auto">
          <a:xfrm>
            <a:off x="0" y="3795886"/>
            <a:ext cx="129540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n-US" sz="2000" dirty="0" smtClean="0">
                <a:latin typeface="Arial" charset="0"/>
                <a:cs typeface="Arial" charset="0"/>
              </a:rPr>
              <a:t>FIWARE</a:t>
            </a:r>
            <a:endParaRPr lang="en-US" sz="2000" dirty="0">
              <a:latin typeface="Arial" charset="0"/>
              <a:cs typeface="Arial" charset="0"/>
            </a:endParaRPr>
          </a:p>
        </p:txBody>
      </p:sp>
      <p:grpSp>
        <p:nvGrpSpPr>
          <p:cNvPr id="6" name="Group 23"/>
          <p:cNvGrpSpPr/>
          <p:nvPr/>
        </p:nvGrpSpPr>
        <p:grpSpPr>
          <a:xfrm>
            <a:off x="2822744" y="3723878"/>
            <a:ext cx="6023442" cy="575160"/>
            <a:chOff x="2759244" y="5061949"/>
            <a:chExt cx="6023442" cy="902288"/>
          </a:xfrm>
        </p:grpSpPr>
        <p:sp>
          <p:nvSpPr>
            <p:cNvPr id="7" name="10 Rectángulo redondeado"/>
            <p:cNvSpPr>
              <a:spLocks noChangeArrowheads="1"/>
            </p:cNvSpPr>
            <p:nvPr/>
          </p:nvSpPr>
          <p:spPr bwMode="auto">
            <a:xfrm>
              <a:off x="3639376" y="50746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8" name="11 Rectángulo redondeado"/>
            <p:cNvSpPr>
              <a:spLocks noChangeArrowheads="1"/>
            </p:cNvSpPr>
            <p:nvPr/>
          </p:nvSpPr>
          <p:spPr bwMode="auto">
            <a:xfrm>
              <a:off x="4518184" y="5074649"/>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9" name="12 Rectángulo redondeado"/>
            <p:cNvSpPr>
              <a:spLocks noChangeArrowheads="1"/>
            </p:cNvSpPr>
            <p:nvPr/>
          </p:nvSpPr>
          <p:spPr bwMode="auto">
            <a:xfrm>
              <a:off x="5398316" y="50746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0" name="13 Rectángulo redondeado"/>
            <p:cNvSpPr>
              <a:spLocks noChangeArrowheads="1"/>
            </p:cNvSpPr>
            <p:nvPr/>
          </p:nvSpPr>
          <p:spPr bwMode="auto">
            <a:xfrm>
              <a:off x="3639376" y="55829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1" name="14 Rectángulo redondeado"/>
            <p:cNvSpPr>
              <a:spLocks noChangeArrowheads="1"/>
            </p:cNvSpPr>
            <p:nvPr/>
          </p:nvSpPr>
          <p:spPr bwMode="auto">
            <a:xfrm>
              <a:off x="4518184" y="5582985"/>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2" name="15 Rectángulo redondeado"/>
            <p:cNvSpPr>
              <a:spLocks noChangeArrowheads="1"/>
            </p:cNvSpPr>
            <p:nvPr/>
          </p:nvSpPr>
          <p:spPr bwMode="auto">
            <a:xfrm>
              <a:off x="5398316" y="55829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3" name="12 Rectángulo redondeado"/>
            <p:cNvSpPr>
              <a:spLocks noChangeArrowheads="1"/>
            </p:cNvSpPr>
            <p:nvPr/>
          </p:nvSpPr>
          <p:spPr bwMode="auto">
            <a:xfrm>
              <a:off x="8036067" y="50619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4" name="10 Rectángulo redondeado"/>
            <p:cNvSpPr>
              <a:spLocks noChangeArrowheads="1"/>
            </p:cNvSpPr>
            <p:nvPr/>
          </p:nvSpPr>
          <p:spPr bwMode="auto">
            <a:xfrm>
              <a:off x="6277124" y="50619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5" name="11 Rectángulo redondeado"/>
            <p:cNvSpPr>
              <a:spLocks noChangeArrowheads="1"/>
            </p:cNvSpPr>
            <p:nvPr/>
          </p:nvSpPr>
          <p:spPr bwMode="auto">
            <a:xfrm>
              <a:off x="7155932" y="5061949"/>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6" name="13 Rectángulo redondeado"/>
            <p:cNvSpPr>
              <a:spLocks noChangeArrowheads="1"/>
            </p:cNvSpPr>
            <p:nvPr/>
          </p:nvSpPr>
          <p:spPr bwMode="auto">
            <a:xfrm>
              <a:off x="6277124" y="55702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7" name="14 Rectángulo redondeado"/>
            <p:cNvSpPr>
              <a:spLocks noChangeArrowheads="1"/>
            </p:cNvSpPr>
            <p:nvPr/>
          </p:nvSpPr>
          <p:spPr bwMode="auto">
            <a:xfrm>
              <a:off x="7155932" y="5570285"/>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8" name="15 Rectángulo redondeado"/>
            <p:cNvSpPr>
              <a:spLocks noChangeArrowheads="1"/>
            </p:cNvSpPr>
            <p:nvPr/>
          </p:nvSpPr>
          <p:spPr bwMode="auto">
            <a:xfrm>
              <a:off x="8036067" y="55702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9" name="11 Rectángulo redondeado"/>
            <p:cNvSpPr>
              <a:spLocks noChangeArrowheads="1"/>
            </p:cNvSpPr>
            <p:nvPr/>
          </p:nvSpPr>
          <p:spPr bwMode="auto">
            <a:xfrm>
              <a:off x="2759244" y="5061949"/>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0" name="14 Rectángulo redondeado"/>
            <p:cNvSpPr>
              <a:spLocks noChangeArrowheads="1"/>
            </p:cNvSpPr>
            <p:nvPr/>
          </p:nvSpPr>
          <p:spPr bwMode="auto">
            <a:xfrm>
              <a:off x="2759244" y="5570285"/>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grpSp>
      <p:sp>
        <p:nvSpPr>
          <p:cNvPr id="21" name="TextBox 17"/>
          <p:cNvSpPr txBox="1"/>
          <p:nvPr/>
        </p:nvSpPr>
        <p:spPr>
          <a:xfrm>
            <a:off x="1621191" y="3858602"/>
            <a:ext cx="524503" cy="369332"/>
          </a:xfrm>
          <a:prstGeom prst="rect">
            <a:avLst/>
          </a:prstGeom>
          <a:noFill/>
        </p:spPr>
        <p:txBody>
          <a:bodyPr wrap="none" rtlCol="0">
            <a:spAutoFit/>
          </a:bodyPr>
          <a:lstStyle/>
          <a:p>
            <a:r>
              <a:rPr lang="en-US" sz="1800" dirty="0" smtClean="0">
                <a:solidFill>
                  <a:schemeClr val="bg1"/>
                </a:solidFill>
              </a:rPr>
              <a:t>GEs</a:t>
            </a:r>
            <a:endParaRPr lang="en-US" sz="1800" dirty="0">
              <a:solidFill>
                <a:schemeClr val="bg1"/>
              </a:solidFill>
            </a:endParaRPr>
          </a:p>
        </p:txBody>
      </p:sp>
      <p:sp>
        <p:nvSpPr>
          <p:cNvPr id="22" name="Left Brace 18"/>
          <p:cNvSpPr/>
          <p:nvPr/>
        </p:nvSpPr>
        <p:spPr bwMode="auto">
          <a:xfrm>
            <a:off x="2458492" y="3723880"/>
            <a:ext cx="241300" cy="599072"/>
          </a:xfrm>
          <a:prstGeom prst="leftBrace">
            <a:avLst/>
          </a:prstGeom>
          <a:noFill/>
          <a:ln w="28575" cap="flat" cmpd="sng" algn="ctr">
            <a:solidFill>
              <a:schemeClr val="bg2"/>
            </a:solidFill>
            <a:prstDash val="solid"/>
            <a:round/>
            <a:headEnd type="none" w="med" len="med"/>
            <a:tailEnd type="none" w="med" len="med"/>
          </a:ln>
          <a:effectLst/>
          <a:ex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200" b="1" i="0" u="none" strike="noStrike" cap="none" normalizeH="0" baseline="0" smtClean="0">
              <a:ln>
                <a:noFill/>
              </a:ln>
              <a:solidFill>
                <a:schemeClr val="tx1"/>
              </a:solidFill>
              <a:effectLst/>
              <a:latin typeface="TheSansCorrespondence" pitchFamily="34" charset="0"/>
            </a:endParaRPr>
          </a:p>
        </p:txBody>
      </p:sp>
      <p:grpSp>
        <p:nvGrpSpPr>
          <p:cNvPr id="23" name="Group 26"/>
          <p:cNvGrpSpPr/>
          <p:nvPr/>
        </p:nvGrpSpPr>
        <p:grpSpPr>
          <a:xfrm>
            <a:off x="1485900" y="3003798"/>
            <a:ext cx="2324100" cy="528504"/>
            <a:chOff x="1295400" y="3949700"/>
            <a:chExt cx="2463800" cy="829096"/>
          </a:xfrm>
        </p:grpSpPr>
        <p:sp>
          <p:nvSpPr>
            <p:cNvPr id="24" name="4 Rectángulo redondeado"/>
            <p:cNvSpPr>
              <a:spLocks noChangeArrowheads="1"/>
            </p:cNvSpPr>
            <p:nvPr/>
          </p:nvSpPr>
          <p:spPr bwMode="auto">
            <a:xfrm>
              <a:off x="1295400" y="3949700"/>
              <a:ext cx="2463800" cy="829096"/>
            </a:xfrm>
            <a:prstGeom prst="roundRect">
              <a:avLst>
                <a:gd name="adj" fmla="val 16667"/>
              </a:avLst>
            </a:prstGeom>
            <a:solidFill>
              <a:srgbClr val="FFE065"/>
            </a:solidFill>
            <a:ln>
              <a:headEnd/>
              <a:tailEnd/>
            </a:ln>
          </p:spPr>
          <p:style>
            <a:lnRef idx="3">
              <a:schemeClr val="lt1"/>
            </a:lnRef>
            <a:fillRef idx="1">
              <a:schemeClr val="accent4"/>
            </a:fillRef>
            <a:effectRef idx="1">
              <a:schemeClr val="accent4"/>
            </a:effectRef>
            <a:fontRef idx="minor">
              <a:schemeClr val="lt1"/>
            </a:fontRef>
          </p:style>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25" name="6 Rectángulo redondeado"/>
            <p:cNvSpPr>
              <a:spLocks noChangeArrowheads="1"/>
            </p:cNvSpPr>
            <p:nvPr/>
          </p:nvSpPr>
          <p:spPr bwMode="auto">
            <a:xfrm>
              <a:off x="1460500" y="4172612"/>
              <a:ext cx="638382" cy="381252"/>
            </a:xfrm>
            <a:prstGeom prst="roundRect">
              <a:avLst>
                <a:gd name="adj" fmla="val 16667"/>
              </a:avLst>
            </a:prstGeom>
            <a:gradFill flip="none" rotWithShape="1">
              <a:gsLst>
                <a:gs pos="0">
                  <a:schemeClr val="bg1"/>
                </a:gs>
                <a:gs pos="60000">
                  <a:srgbClr val="FF6600">
                    <a:alpha val="70000"/>
                  </a:srgbClr>
                </a:gs>
                <a:gs pos="100000">
                  <a:srgbClr val="FF66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6" name="8 Rectángulo redondeado"/>
            <p:cNvSpPr>
              <a:spLocks noChangeArrowheads="1"/>
            </p:cNvSpPr>
            <p:nvPr/>
          </p:nvSpPr>
          <p:spPr bwMode="auto">
            <a:xfrm>
              <a:off x="2207543" y="4172612"/>
              <a:ext cx="639514" cy="381252"/>
            </a:xfrm>
            <a:prstGeom prst="roundRect">
              <a:avLst>
                <a:gd name="adj" fmla="val 16667"/>
              </a:avLst>
            </a:prstGeom>
            <a:gradFill flip="none" rotWithShape="1">
              <a:gsLst>
                <a:gs pos="0">
                  <a:schemeClr val="bg1"/>
                </a:gs>
                <a:gs pos="60000">
                  <a:srgbClr val="FF6600">
                    <a:alpha val="70000"/>
                  </a:srgbClr>
                </a:gs>
                <a:gs pos="100000">
                  <a:srgbClr val="FF66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7" name="9 Rectángulo redondeado"/>
            <p:cNvSpPr>
              <a:spLocks noChangeArrowheads="1"/>
            </p:cNvSpPr>
            <p:nvPr/>
          </p:nvSpPr>
          <p:spPr bwMode="auto">
            <a:xfrm>
              <a:off x="2955718" y="4172612"/>
              <a:ext cx="638382" cy="381252"/>
            </a:xfrm>
            <a:prstGeom prst="roundRect">
              <a:avLst>
                <a:gd name="adj" fmla="val 16667"/>
              </a:avLst>
            </a:prstGeom>
            <a:gradFill flip="none" rotWithShape="1">
              <a:gsLst>
                <a:gs pos="0">
                  <a:schemeClr val="bg1"/>
                </a:gs>
                <a:gs pos="60000">
                  <a:srgbClr val="FF6600">
                    <a:alpha val="70000"/>
                  </a:srgbClr>
                </a:gs>
                <a:gs pos="100000">
                  <a:srgbClr val="FF66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grpSp>
      <p:grpSp>
        <p:nvGrpSpPr>
          <p:cNvPr id="28" name="Group 25"/>
          <p:cNvGrpSpPr/>
          <p:nvPr/>
        </p:nvGrpSpPr>
        <p:grpSpPr>
          <a:xfrm>
            <a:off x="4032250" y="3003798"/>
            <a:ext cx="2324100" cy="528504"/>
            <a:chOff x="3911600" y="3949700"/>
            <a:chExt cx="2463800" cy="829096"/>
          </a:xfrm>
        </p:grpSpPr>
        <p:sp>
          <p:nvSpPr>
            <p:cNvPr id="29" name="4 Rectángulo redondeado"/>
            <p:cNvSpPr>
              <a:spLocks noChangeArrowheads="1"/>
            </p:cNvSpPr>
            <p:nvPr/>
          </p:nvSpPr>
          <p:spPr bwMode="auto">
            <a:xfrm>
              <a:off x="3911600" y="3949700"/>
              <a:ext cx="2463800" cy="829096"/>
            </a:xfrm>
            <a:prstGeom prst="roundRect">
              <a:avLst>
                <a:gd name="adj" fmla="val 16667"/>
              </a:avLst>
            </a:prstGeom>
            <a:solidFill>
              <a:srgbClr val="436173"/>
            </a:solidFill>
            <a:ln>
              <a:headEnd/>
              <a:tailEnd/>
            </a:ln>
          </p:spPr>
          <p:style>
            <a:lnRef idx="3">
              <a:schemeClr val="lt1"/>
            </a:lnRef>
            <a:fillRef idx="1">
              <a:schemeClr val="accent4"/>
            </a:fillRef>
            <a:effectRef idx="1">
              <a:schemeClr val="accent4"/>
            </a:effectRef>
            <a:fontRef idx="minor">
              <a:schemeClr val="lt1"/>
            </a:fontRef>
          </p:style>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30" name="6 Rectángulo redondeado"/>
            <p:cNvSpPr>
              <a:spLocks noChangeArrowheads="1"/>
            </p:cNvSpPr>
            <p:nvPr/>
          </p:nvSpPr>
          <p:spPr bwMode="auto">
            <a:xfrm>
              <a:off x="4076700" y="4172612"/>
              <a:ext cx="638382" cy="381252"/>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1" name="8 Rectángulo redondeado"/>
            <p:cNvSpPr>
              <a:spLocks noChangeArrowheads="1"/>
            </p:cNvSpPr>
            <p:nvPr/>
          </p:nvSpPr>
          <p:spPr bwMode="auto">
            <a:xfrm>
              <a:off x="4823743" y="4172612"/>
              <a:ext cx="639514" cy="381252"/>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2" name="9 Rectángulo redondeado"/>
            <p:cNvSpPr>
              <a:spLocks noChangeArrowheads="1"/>
            </p:cNvSpPr>
            <p:nvPr/>
          </p:nvSpPr>
          <p:spPr bwMode="auto">
            <a:xfrm>
              <a:off x="5571918" y="4172612"/>
              <a:ext cx="638382" cy="381252"/>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grpSp>
      <p:grpSp>
        <p:nvGrpSpPr>
          <p:cNvPr id="33" name="Group 22"/>
          <p:cNvGrpSpPr/>
          <p:nvPr/>
        </p:nvGrpSpPr>
        <p:grpSpPr>
          <a:xfrm>
            <a:off x="6578600" y="3003798"/>
            <a:ext cx="2324100" cy="528504"/>
            <a:chOff x="6515100" y="3949700"/>
            <a:chExt cx="2463800" cy="829096"/>
          </a:xfrm>
        </p:grpSpPr>
        <p:sp>
          <p:nvSpPr>
            <p:cNvPr id="34" name="4 Rectángulo redondeado"/>
            <p:cNvSpPr>
              <a:spLocks noChangeArrowheads="1"/>
            </p:cNvSpPr>
            <p:nvPr/>
          </p:nvSpPr>
          <p:spPr bwMode="auto">
            <a:xfrm>
              <a:off x="6515100" y="3949700"/>
              <a:ext cx="2463800" cy="829096"/>
            </a:xfrm>
            <a:prstGeom prst="roundRect">
              <a:avLst>
                <a:gd name="adj" fmla="val 16667"/>
              </a:avLst>
            </a:prstGeom>
            <a:solidFill>
              <a:srgbClr val="60731C"/>
            </a:solidFill>
            <a:ln>
              <a:headEnd/>
              <a:tailEnd/>
            </a:ln>
          </p:spPr>
          <p:style>
            <a:lnRef idx="3">
              <a:schemeClr val="lt1"/>
            </a:lnRef>
            <a:fillRef idx="1">
              <a:schemeClr val="accent4"/>
            </a:fillRef>
            <a:effectRef idx="1">
              <a:schemeClr val="accent4"/>
            </a:effectRef>
            <a:fontRef idx="minor">
              <a:schemeClr val="lt1"/>
            </a:fontRef>
          </p:style>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35" name="6 Rectángulo redondeado"/>
            <p:cNvSpPr>
              <a:spLocks noChangeArrowheads="1"/>
            </p:cNvSpPr>
            <p:nvPr/>
          </p:nvSpPr>
          <p:spPr bwMode="auto">
            <a:xfrm>
              <a:off x="6680200" y="4172612"/>
              <a:ext cx="638382" cy="381252"/>
            </a:xfrm>
            <a:prstGeom prst="roundRect">
              <a:avLst>
                <a:gd name="adj" fmla="val 16667"/>
              </a:avLst>
            </a:prstGeom>
            <a:gradFill flip="none" rotWithShape="1">
              <a:gsLst>
                <a:gs pos="0">
                  <a:schemeClr val="bg1"/>
                </a:gs>
                <a:gs pos="60000">
                  <a:srgbClr val="008000">
                    <a:alpha val="70000"/>
                  </a:srgbClr>
                </a:gs>
                <a:gs pos="100000">
                  <a:srgbClr val="0080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36" name="8 Rectángulo redondeado"/>
            <p:cNvSpPr>
              <a:spLocks noChangeArrowheads="1"/>
            </p:cNvSpPr>
            <p:nvPr/>
          </p:nvSpPr>
          <p:spPr bwMode="auto">
            <a:xfrm>
              <a:off x="7427243" y="4172612"/>
              <a:ext cx="639514" cy="381252"/>
            </a:xfrm>
            <a:prstGeom prst="roundRect">
              <a:avLst>
                <a:gd name="adj" fmla="val 16667"/>
              </a:avLst>
            </a:prstGeom>
            <a:gradFill flip="none" rotWithShape="1">
              <a:gsLst>
                <a:gs pos="0">
                  <a:schemeClr val="bg1"/>
                </a:gs>
                <a:gs pos="60000">
                  <a:srgbClr val="008000">
                    <a:alpha val="70000"/>
                  </a:srgbClr>
                </a:gs>
                <a:gs pos="100000">
                  <a:srgbClr val="0080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7" name="9 Rectángulo redondeado"/>
            <p:cNvSpPr>
              <a:spLocks noChangeArrowheads="1"/>
            </p:cNvSpPr>
            <p:nvPr/>
          </p:nvSpPr>
          <p:spPr bwMode="auto">
            <a:xfrm>
              <a:off x="8175418" y="4172612"/>
              <a:ext cx="638382" cy="381252"/>
            </a:xfrm>
            <a:prstGeom prst="roundRect">
              <a:avLst>
                <a:gd name="adj" fmla="val 16667"/>
              </a:avLst>
            </a:prstGeom>
            <a:gradFill flip="none" rotWithShape="1">
              <a:gsLst>
                <a:gs pos="0">
                  <a:schemeClr val="bg1"/>
                </a:gs>
                <a:gs pos="60000">
                  <a:srgbClr val="008000">
                    <a:alpha val="70000"/>
                  </a:srgbClr>
                </a:gs>
                <a:gs pos="100000">
                  <a:srgbClr val="0080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grpSp>
      <p:grpSp>
        <p:nvGrpSpPr>
          <p:cNvPr id="38" name="Group 44"/>
          <p:cNvGrpSpPr/>
          <p:nvPr/>
        </p:nvGrpSpPr>
        <p:grpSpPr>
          <a:xfrm>
            <a:off x="3975898" y="1203598"/>
            <a:ext cx="2347913" cy="1368152"/>
            <a:chOff x="6172200" y="1816101"/>
            <a:chExt cx="2449513" cy="1790700"/>
          </a:xfrm>
        </p:grpSpPr>
        <p:sp>
          <p:nvSpPr>
            <p:cNvPr id="39" name="Rounded Rectangle 45"/>
            <p:cNvSpPr/>
            <p:nvPr/>
          </p:nvSpPr>
          <p:spPr bwMode="auto">
            <a:xfrm>
              <a:off x="6542088" y="18161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40" name="Rounded Rectangle 46"/>
            <p:cNvSpPr/>
            <p:nvPr/>
          </p:nvSpPr>
          <p:spPr bwMode="auto">
            <a:xfrm>
              <a:off x="6357938" y="19304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41" name="Rounded Rectangle 51"/>
            <p:cNvSpPr/>
            <p:nvPr/>
          </p:nvSpPr>
          <p:spPr bwMode="auto">
            <a:xfrm>
              <a:off x="6173788" y="20447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42" name="TextBox 54"/>
            <p:cNvSpPr txBox="1"/>
            <p:nvPr/>
          </p:nvSpPr>
          <p:spPr>
            <a:xfrm>
              <a:off x="6172200" y="2057400"/>
              <a:ext cx="2070100" cy="845948"/>
            </a:xfrm>
            <a:prstGeom prst="rect">
              <a:avLst/>
            </a:prstGeom>
            <a:noFill/>
          </p:spPr>
          <p:txBody>
            <a:bodyPr wrap="square" rtlCol="0">
              <a:spAutoFit/>
            </a:bodyPr>
            <a:lstStyle/>
            <a:p>
              <a:pPr algn="ctr"/>
              <a:r>
                <a:rPr lang="en-US" sz="1800" dirty="0" smtClean="0"/>
                <a:t>SMART City</a:t>
              </a:r>
              <a:br>
                <a:rPr lang="en-US" sz="1800" dirty="0" smtClean="0"/>
              </a:br>
              <a:r>
                <a:rPr lang="en-US" sz="1800" dirty="0" smtClean="0"/>
                <a:t>Apps</a:t>
              </a:r>
              <a:endParaRPr lang="en-US" sz="1800" dirty="0"/>
            </a:p>
          </p:txBody>
        </p:sp>
      </p:grpSp>
      <p:pic>
        <p:nvPicPr>
          <p:cNvPr id="43" name="Picture 103" descr="ciudad_nodos.png"/>
          <p:cNvPicPr>
            <a:picLocks noChangeAspect="1"/>
          </p:cNvPicPr>
          <p:nvPr/>
        </p:nvPicPr>
        <p:blipFill>
          <a:blip r:embed="rId3" cstate="email">
            <a:extLst>
              <a:ext uri="{28A0092B-C50C-407E-A947-70E740481C1C}">
                <a14:useLocalDpi xmlns:a14="http://schemas.microsoft.com/office/drawing/2010/main" xmlns="" val="0"/>
              </a:ext>
            </a:extLst>
          </a:blip>
          <a:srcRect/>
          <a:stretch>
            <a:fillRect/>
          </a:stretch>
        </p:blipFill>
        <p:spPr bwMode="auto">
          <a:xfrm>
            <a:off x="4103934" y="1719769"/>
            <a:ext cx="1234362" cy="52805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44" name="Picture 104"/>
          <p:cNvPicPr>
            <a:picLocks noChangeAspect="1"/>
          </p:cNvPicPr>
          <p:nvPr/>
        </p:nvPicPr>
        <p:blipFill>
          <a:blip r:embed="rId4" cstate="email">
            <a:extLst>
              <a:ext uri="{28A0092B-C50C-407E-A947-70E740481C1C}">
                <a14:useLocalDpi xmlns:a14="http://schemas.microsoft.com/office/drawing/2010/main" xmlns="" val="0"/>
              </a:ext>
            </a:extLst>
          </a:blip>
          <a:srcRect/>
          <a:stretch>
            <a:fillRect/>
          </a:stretch>
        </p:blipFill>
        <p:spPr bwMode="auto">
          <a:xfrm>
            <a:off x="4706742" y="2096197"/>
            <a:ext cx="1133943" cy="41417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45" name="Group 2"/>
          <p:cNvGrpSpPr/>
          <p:nvPr/>
        </p:nvGrpSpPr>
        <p:grpSpPr>
          <a:xfrm>
            <a:off x="6580191" y="1203598"/>
            <a:ext cx="2347913" cy="1368152"/>
            <a:chOff x="6172200" y="1816101"/>
            <a:chExt cx="2449513" cy="1790700"/>
          </a:xfrm>
        </p:grpSpPr>
        <p:sp>
          <p:nvSpPr>
            <p:cNvPr id="46" name="Rounded Rectangle 42"/>
            <p:cNvSpPr/>
            <p:nvPr/>
          </p:nvSpPr>
          <p:spPr bwMode="auto">
            <a:xfrm>
              <a:off x="6542088" y="18161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47" name="Rounded Rectangle 41"/>
            <p:cNvSpPr/>
            <p:nvPr/>
          </p:nvSpPr>
          <p:spPr bwMode="auto">
            <a:xfrm>
              <a:off x="6357938" y="19304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48" name="Rounded Rectangle 83"/>
            <p:cNvSpPr/>
            <p:nvPr/>
          </p:nvSpPr>
          <p:spPr bwMode="auto">
            <a:xfrm>
              <a:off x="6173788" y="20447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49" name="TextBox 1"/>
            <p:cNvSpPr txBox="1"/>
            <p:nvPr/>
          </p:nvSpPr>
          <p:spPr>
            <a:xfrm>
              <a:off x="6172200" y="2057400"/>
              <a:ext cx="2070100" cy="483399"/>
            </a:xfrm>
            <a:prstGeom prst="rect">
              <a:avLst/>
            </a:prstGeom>
            <a:noFill/>
          </p:spPr>
          <p:txBody>
            <a:bodyPr wrap="square" rtlCol="0">
              <a:spAutoFit/>
            </a:bodyPr>
            <a:lstStyle/>
            <a:p>
              <a:pPr algn="ctr"/>
              <a:r>
                <a:rPr lang="en-US" sz="1800" dirty="0" smtClean="0"/>
                <a:t>SMART Factory Apps</a:t>
              </a:r>
              <a:endParaRPr lang="en-US" sz="1800" dirty="0"/>
            </a:p>
          </p:txBody>
        </p:sp>
      </p:grpSp>
      <p:grpSp>
        <p:nvGrpSpPr>
          <p:cNvPr id="50" name="Group 84"/>
          <p:cNvGrpSpPr>
            <a:grpSpLocks noChangeAspect="1"/>
          </p:cNvGrpSpPr>
          <p:nvPr/>
        </p:nvGrpSpPr>
        <p:grpSpPr>
          <a:xfrm>
            <a:off x="6745664" y="1821705"/>
            <a:ext cx="1698550" cy="688663"/>
            <a:chOff x="6200775" y="1651000"/>
            <a:chExt cx="2235200" cy="1409700"/>
          </a:xfrm>
        </p:grpSpPr>
        <p:pic>
          <p:nvPicPr>
            <p:cNvPr id="51" name="Picture 106" descr="smart-business-solutions.jpg"/>
            <p:cNvPicPr>
              <a:picLocks noChangeAspect="1"/>
            </p:cNvPicPr>
            <p:nvPr/>
          </p:nvPicPr>
          <p:blipFill>
            <a:blip r:embed="rId5" cstate="email">
              <a:extLst>
                <a:ext uri="{28A0092B-C50C-407E-A947-70E740481C1C}">
                  <a14:useLocalDpi xmlns:a14="http://schemas.microsoft.com/office/drawing/2010/main" xmlns="" val="0"/>
                </a:ext>
              </a:extLst>
            </a:blip>
            <a:srcRect/>
            <a:stretch>
              <a:fillRect/>
            </a:stretch>
          </p:blipFill>
          <p:spPr bwMode="auto">
            <a:xfrm>
              <a:off x="6200775" y="1651000"/>
              <a:ext cx="1476375" cy="10668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pic>
          <p:nvPicPr>
            <p:cNvPr id="52" name="Picture 105" descr="field_workforce_4802168.jpg"/>
            <p:cNvPicPr>
              <a:picLocks noChangeAspect="1"/>
            </p:cNvPicPr>
            <p:nvPr/>
          </p:nvPicPr>
          <p:blipFill>
            <a:blip r:embed="rId6" cstate="email">
              <a:extLst>
                <a:ext uri="{28A0092B-C50C-407E-A947-70E740481C1C}">
                  <a14:useLocalDpi xmlns:a14="http://schemas.microsoft.com/office/drawing/2010/main" xmlns="" val="0"/>
                </a:ext>
              </a:extLst>
            </a:blip>
            <a:srcRect/>
            <a:stretch>
              <a:fillRect/>
            </a:stretch>
          </p:blipFill>
          <p:spPr bwMode="auto">
            <a:xfrm>
              <a:off x="7242175" y="2268538"/>
              <a:ext cx="1193800" cy="79216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grpSp>
        <p:nvGrpSpPr>
          <p:cNvPr id="53" name="Group 55"/>
          <p:cNvGrpSpPr/>
          <p:nvPr/>
        </p:nvGrpSpPr>
        <p:grpSpPr>
          <a:xfrm>
            <a:off x="1371604" y="1203598"/>
            <a:ext cx="2347913" cy="1368152"/>
            <a:chOff x="6172200" y="1816101"/>
            <a:chExt cx="2449513" cy="1790700"/>
          </a:xfrm>
        </p:grpSpPr>
        <p:sp>
          <p:nvSpPr>
            <p:cNvPr id="54" name="Rounded Rectangle 57"/>
            <p:cNvSpPr/>
            <p:nvPr/>
          </p:nvSpPr>
          <p:spPr bwMode="auto">
            <a:xfrm>
              <a:off x="6542088" y="18161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55" name="Rounded Rectangle 58"/>
            <p:cNvSpPr/>
            <p:nvPr/>
          </p:nvSpPr>
          <p:spPr bwMode="auto">
            <a:xfrm>
              <a:off x="6357938" y="19304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56" name="Rounded Rectangle 59"/>
            <p:cNvSpPr/>
            <p:nvPr/>
          </p:nvSpPr>
          <p:spPr bwMode="auto">
            <a:xfrm>
              <a:off x="6173788" y="2044701"/>
              <a:ext cx="2079625" cy="1562100"/>
            </a:xfrm>
            <a:prstGeom prst="roundRect">
              <a:avLst>
                <a:gd name="adj" fmla="val 9350"/>
              </a:avLst>
            </a:prstGeom>
            <a:ln>
              <a:solidFill>
                <a:srgbClr val="9DA0A4"/>
              </a:solidFill>
              <a:headEnd type="none" w="med" len="med"/>
              <a:tailEnd type="none" w="med" len="med"/>
            </a:ln>
            <a:extLst/>
          </p:spPr>
          <p:style>
            <a:lnRef idx="0">
              <a:schemeClr val="accent3"/>
            </a:lnRef>
            <a:fillRef idx="3">
              <a:schemeClr val="accent3"/>
            </a:fillRef>
            <a:effectRef idx="3">
              <a:schemeClr val="accent3"/>
            </a:effectRef>
            <a:fontRef idx="minor">
              <a:schemeClr val="lt1"/>
            </a:fontRef>
          </p:style>
          <p:txBody>
            <a:bodyPr wrap="none" lIns="0" tIns="0" rIns="0" bIns="0" anchor="ctr"/>
            <a:lstStyle/>
            <a:p>
              <a:pPr algn="ctr" eaLnBrk="0" hangingPunct="0">
                <a:defRPr/>
              </a:pPr>
              <a:endParaRPr lang="en-US">
                <a:solidFill>
                  <a:schemeClr val="tx1"/>
                </a:solidFill>
                <a:latin typeface="TheSansCorrespondence" pitchFamily="34" charset="0"/>
              </a:endParaRPr>
            </a:p>
          </p:txBody>
        </p:sp>
        <p:sp>
          <p:nvSpPr>
            <p:cNvPr id="57" name="TextBox 60"/>
            <p:cNvSpPr txBox="1"/>
            <p:nvPr/>
          </p:nvSpPr>
          <p:spPr>
            <a:xfrm>
              <a:off x="6172200" y="2057400"/>
              <a:ext cx="2070100" cy="845948"/>
            </a:xfrm>
            <a:prstGeom prst="rect">
              <a:avLst/>
            </a:prstGeom>
            <a:noFill/>
          </p:spPr>
          <p:txBody>
            <a:bodyPr wrap="square" rtlCol="0">
              <a:spAutoFit/>
            </a:bodyPr>
            <a:lstStyle/>
            <a:p>
              <a:pPr algn="ctr"/>
              <a:r>
                <a:rPr lang="en-US" sz="1800" dirty="0" smtClean="0"/>
                <a:t>SMART </a:t>
              </a:r>
              <a:r>
                <a:rPr lang="en-US" sz="1800" dirty="0" err="1" smtClean="0"/>
                <a:t>Agrifood</a:t>
              </a:r>
              <a:r>
                <a:rPr lang="en-US" sz="1800" dirty="0" smtClean="0"/>
                <a:t> Apps</a:t>
              </a:r>
              <a:endParaRPr lang="en-US" sz="1800" dirty="0"/>
            </a:p>
          </p:txBody>
        </p:sp>
      </p:grpSp>
      <p:pic>
        <p:nvPicPr>
          <p:cNvPr id="58" name="Picture 7"/>
          <p:cNvPicPr>
            <a:picLocks noChangeAspect="1"/>
          </p:cNvPicPr>
          <p:nvPr/>
        </p:nvPicPr>
        <p:blipFill>
          <a:blip r:embed="rId7"/>
          <a:stretch>
            <a:fillRect/>
          </a:stretch>
        </p:blipFill>
        <p:spPr>
          <a:xfrm>
            <a:off x="1473855" y="1688646"/>
            <a:ext cx="1285494" cy="516497"/>
          </a:xfrm>
          <a:prstGeom prst="rect">
            <a:avLst/>
          </a:prstGeom>
        </p:spPr>
      </p:pic>
      <p:pic>
        <p:nvPicPr>
          <p:cNvPr id="59" name="Picture 5"/>
          <p:cNvPicPr>
            <a:picLocks noChangeAspect="1"/>
          </p:cNvPicPr>
          <p:nvPr/>
        </p:nvPicPr>
        <p:blipFill>
          <a:blip r:embed="rId8" cstate="print"/>
          <a:stretch>
            <a:fillRect/>
          </a:stretch>
        </p:blipFill>
        <p:spPr>
          <a:xfrm>
            <a:off x="2073449" y="2067676"/>
            <a:ext cx="1185005" cy="430415"/>
          </a:xfrm>
          <a:prstGeom prst="rect">
            <a:avLst/>
          </a:prstGeom>
        </p:spPr>
      </p:pic>
      <p:sp>
        <p:nvSpPr>
          <p:cNvPr id="60" name="5 CuadroTexto"/>
          <p:cNvSpPr txBox="1">
            <a:spLocks noChangeArrowheads="1"/>
          </p:cNvSpPr>
          <p:nvPr/>
        </p:nvSpPr>
        <p:spPr bwMode="auto">
          <a:xfrm>
            <a:off x="0" y="2564201"/>
            <a:ext cx="1295400" cy="10156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n-US" sz="2000" dirty="0" smtClean="0">
                <a:latin typeface="Arial" charset="0"/>
                <a:cs typeface="Arial" charset="0"/>
              </a:rPr>
              <a:t>Domain specific enablers</a:t>
            </a:r>
            <a:endParaRPr lang="en-US" sz="2000" dirty="0">
              <a:latin typeface="Arial" charset="0"/>
              <a:cs typeface="Arial" charset="0"/>
            </a:endParaRPr>
          </a:p>
        </p:txBody>
      </p:sp>
      <p:sp>
        <p:nvSpPr>
          <p:cNvPr id="61" name="Freeform 95"/>
          <p:cNvSpPr/>
          <p:nvPr/>
        </p:nvSpPr>
        <p:spPr>
          <a:xfrm>
            <a:off x="1295400" y="2974073"/>
            <a:ext cx="7797800" cy="1541895"/>
          </a:xfrm>
          <a:custGeom>
            <a:avLst/>
            <a:gdLst>
              <a:gd name="connsiteX0" fmla="*/ 2682906 w 7906010"/>
              <a:gd name="connsiteY0" fmla="*/ 0 h 2554137"/>
              <a:gd name="connsiteX1" fmla="*/ 2668635 w 7906010"/>
              <a:gd name="connsiteY1" fmla="*/ 1141514 h 2554137"/>
              <a:gd name="connsiteX2" fmla="*/ 0 w 7906010"/>
              <a:gd name="connsiteY2" fmla="*/ 1141514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68635 w 7906010"/>
              <a:gd name="connsiteY1" fmla="*/ 1070169 h 2554137"/>
              <a:gd name="connsiteX2" fmla="*/ 0 w 7906010"/>
              <a:gd name="connsiteY2" fmla="*/ 1141514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68635 w 7906010"/>
              <a:gd name="connsiteY1" fmla="*/ 1070169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711447 w 7906010"/>
              <a:gd name="connsiteY1" fmla="*/ 1041632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97176 w 7906010"/>
              <a:gd name="connsiteY1" fmla="*/ 1070169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711447 w 7906010"/>
              <a:gd name="connsiteY1" fmla="*/ 1041632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82905 w 7906010"/>
              <a:gd name="connsiteY1" fmla="*/ 1070169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711447 w 7906010"/>
              <a:gd name="connsiteY1" fmla="*/ 1041632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82905 w 7906010"/>
              <a:gd name="connsiteY1" fmla="*/ 1055901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112976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82905 w 7906010"/>
              <a:gd name="connsiteY1" fmla="*/ 1055901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041632 h 2554137"/>
              <a:gd name="connsiteX6" fmla="*/ 5251646 w 7906010"/>
              <a:gd name="connsiteY6" fmla="*/ 1070169 h 2554137"/>
              <a:gd name="connsiteX7" fmla="*/ 5251646 w 7906010"/>
              <a:gd name="connsiteY7" fmla="*/ 0 h 2554137"/>
              <a:gd name="connsiteX8" fmla="*/ 2682906 w 7906010"/>
              <a:gd name="connsiteY8" fmla="*/ 0 h 2554137"/>
              <a:gd name="connsiteX0" fmla="*/ 2682906 w 7906010"/>
              <a:gd name="connsiteY0" fmla="*/ 0 h 2554137"/>
              <a:gd name="connsiteX1" fmla="*/ 2682905 w 7906010"/>
              <a:gd name="connsiteY1" fmla="*/ 1055901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041632 h 2554137"/>
              <a:gd name="connsiteX6" fmla="*/ 5294458 w 7906010"/>
              <a:gd name="connsiteY6" fmla="*/ 1041632 h 2554137"/>
              <a:gd name="connsiteX7" fmla="*/ 5251646 w 7906010"/>
              <a:gd name="connsiteY7" fmla="*/ 0 h 2554137"/>
              <a:gd name="connsiteX8" fmla="*/ 2682906 w 7906010"/>
              <a:gd name="connsiteY8" fmla="*/ 0 h 2554137"/>
              <a:gd name="connsiteX0" fmla="*/ 2682906 w 7906010"/>
              <a:gd name="connsiteY0" fmla="*/ 0 h 2554137"/>
              <a:gd name="connsiteX1" fmla="*/ 2682905 w 7906010"/>
              <a:gd name="connsiteY1" fmla="*/ 1055901 h 2554137"/>
              <a:gd name="connsiteX2" fmla="*/ 0 w 7906010"/>
              <a:gd name="connsiteY2" fmla="*/ 1055900 h 2554137"/>
              <a:gd name="connsiteX3" fmla="*/ 0 w 7906010"/>
              <a:gd name="connsiteY3" fmla="*/ 2539868 h 2554137"/>
              <a:gd name="connsiteX4" fmla="*/ 7906010 w 7906010"/>
              <a:gd name="connsiteY4" fmla="*/ 2554137 h 2554137"/>
              <a:gd name="connsiteX5" fmla="*/ 7906010 w 7906010"/>
              <a:gd name="connsiteY5" fmla="*/ 1041632 h 2554137"/>
              <a:gd name="connsiteX6" fmla="*/ 5294458 w 7906010"/>
              <a:gd name="connsiteY6" fmla="*/ 1041632 h 2554137"/>
              <a:gd name="connsiteX7" fmla="*/ 5294458 w 7906010"/>
              <a:gd name="connsiteY7" fmla="*/ 0 h 2554137"/>
              <a:gd name="connsiteX8" fmla="*/ 2682906 w 7906010"/>
              <a:gd name="connsiteY8" fmla="*/ 0 h 2554137"/>
              <a:gd name="connsiteX0" fmla="*/ 2682906 w 7977364"/>
              <a:gd name="connsiteY0" fmla="*/ 0 h 2554137"/>
              <a:gd name="connsiteX1" fmla="*/ 2682905 w 7977364"/>
              <a:gd name="connsiteY1" fmla="*/ 1055901 h 2554137"/>
              <a:gd name="connsiteX2" fmla="*/ 0 w 7977364"/>
              <a:gd name="connsiteY2" fmla="*/ 1055900 h 2554137"/>
              <a:gd name="connsiteX3" fmla="*/ 0 w 7977364"/>
              <a:gd name="connsiteY3" fmla="*/ 2539868 h 2554137"/>
              <a:gd name="connsiteX4" fmla="*/ 7906010 w 7977364"/>
              <a:gd name="connsiteY4" fmla="*/ 2554137 h 2554137"/>
              <a:gd name="connsiteX5" fmla="*/ 7977364 w 7977364"/>
              <a:gd name="connsiteY5" fmla="*/ 1041632 h 2554137"/>
              <a:gd name="connsiteX6" fmla="*/ 5294458 w 7977364"/>
              <a:gd name="connsiteY6" fmla="*/ 1041632 h 2554137"/>
              <a:gd name="connsiteX7" fmla="*/ 5294458 w 7977364"/>
              <a:gd name="connsiteY7" fmla="*/ 0 h 2554137"/>
              <a:gd name="connsiteX8" fmla="*/ 2682906 w 7977364"/>
              <a:gd name="connsiteY8" fmla="*/ 0 h 2554137"/>
              <a:gd name="connsiteX0" fmla="*/ 2682906 w 7991635"/>
              <a:gd name="connsiteY0" fmla="*/ 0 h 2554137"/>
              <a:gd name="connsiteX1" fmla="*/ 2682905 w 7991635"/>
              <a:gd name="connsiteY1" fmla="*/ 1055901 h 2554137"/>
              <a:gd name="connsiteX2" fmla="*/ 0 w 7991635"/>
              <a:gd name="connsiteY2" fmla="*/ 1055900 h 2554137"/>
              <a:gd name="connsiteX3" fmla="*/ 0 w 7991635"/>
              <a:gd name="connsiteY3" fmla="*/ 2539868 h 2554137"/>
              <a:gd name="connsiteX4" fmla="*/ 7991635 w 7991635"/>
              <a:gd name="connsiteY4" fmla="*/ 2554137 h 2554137"/>
              <a:gd name="connsiteX5" fmla="*/ 7977364 w 7991635"/>
              <a:gd name="connsiteY5" fmla="*/ 1041632 h 2554137"/>
              <a:gd name="connsiteX6" fmla="*/ 5294458 w 7991635"/>
              <a:gd name="connsiteY6" fmla="*/ 1041632 h 2554137"/>
              <a:gd name="connsiteX7" fmla="*/ 5294458 w 7991635"/>
              <a:gd name="connsiteY7" fmla="*/ 0 h 2554137"/>
              <a:gd name="connsiteX8" fmla="*/ 2682906 w 7991635"/>
              <a:gd name="connsiteY8" fmla="*/ 0 h 2554137"/>
              <a:gd name="connsiteX0" fmla="*/ 2682906 w 7977364"/>
              <a:gd name="connsiteY0" fmla="*/ 0 h 2554137"/>
              <a:gd name="connsiteX1" fmla="*/ 2682905 w 7977364"/>
              <a:gd name="connsiteY1" fmla="*/ 1055901 h 2554137"/>
              <a:gd name="connsiteX2" fmla="*/ 0 w 7977364"/>
              <a:gd name="connsiteY2" fmla="*/ 1055900 h 2554137"/>
              <a:gd name="connsiteX3" fmla="*/ 0 w 7977364"/>
              <a:gd name="connsiteY3" fmla="*/ 2539868 h 2554137"/>
              <a:gd name="connsiteX4" fmla="*/ 7963094 w 7977364"/>
              <a:gd name="connsiteY4" fmla="*/ 2554137 h 2554137"/>
              <a:gd name="connsiteX5" fmla="*/ 7977364 w 7977364"/>
              <a:gd name="connsiteY5" fmla="*/ 1041632 h 2554137"/>
              <a:gd name="connsiteX6" fmla="*/ 5294458 w 7977364"/>
              <a:gd name="connsiteY6" fmla="*/ 1041632 h 2554137"/>
              <a:gd name="connsiteX7" fmla="*/ 5294458 w 7977364"/>
              <a:gd name="connsiteY7" fmla="*/ 0 h 2554137"/>
              <a:gd name="connsiteX8" fmla="*/ 2682906 w 7977364"/>
              <a:gd name="connsiteY8" fmla="*/ 0 h 2554137"/>
              <a:gd name="connsiteX0" fmla="*/ 2682906 w 7963094"/>
              <a:gd name="connsiteY0" fmla="*/ 0 h 2554137"/>
              <a:gd name="connsiteX1" fmla="*/ 2682905 w 7963094"/>
              <a:gd name="connsiteY1" fmla="*/ 1055901 h 2554137"/>
              <a:gd name="connsiteX2" fmla="*/ 0 w 7963094"/>
              <a:gd name="connsiteY2" fmla="*/ 1055900 h 2554137"/>
              <a:gd name="connsiteX3" fmla="*/ 0 w 7963094"/>
              <a:gd name="connsiteY3" fmla="*/ 2539868 h 2554137"/>
              <a:gd name="connsiteX4" fmla="*/ 7963094 w 7963094"/>
              <a:gd name="connsiteY4" fmla="*/ 2554137 h 2554137"/>
              <a:gd name="connsiteX5" fmla="*/ 7963094 w 7963094"/>
              <a:gd name="connsiteY5" fmla="*/ 1041632 h 2554137"/>
              <a:gd name="connsiteX6" fmla="*/ 5294458 w 7963094"/>
              <a:gd name="connsiteY6" fmla="*/ 1041632 h 2554137"/>
              <a:gd name="connsiteX7" fmla="*/ 5294458 w 7963094"/>
              <a:gd name="connsiteY7" fmla="*/ 0 h 2554137"/>
              <a:gd name="connsiteX8" fmla="*/ 2682906 w 7963094"/>
              <a:gd name="connsiteY8" fmla="*/ 0 h 25541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963094" h="2554137">
                <a:moveTo>
                  <a:pt x="2682906" y="0"/>
                </a:moveTo>
                <a:cubicBezTo>
                  <a:pt x="2682906" y="356723"/>
                  <a:pt x="2682905" y="699178"/>
                  <a:pt x="2682905" y="1055901"/>
                </a:cubicBezTo>
                <a:lnTo>
                  <a:pt x="0" y="1055900"/>
                </a:lnTo>
                <a:lnTo>
                  <a:pt x="0" y="2539868"/>
                </a:lnTo>
                <a:lnTo>
                  <a:pt x="7963094" y="2554137"/>
                </a:lnTo>
                <a:lnTo>
                  <a:pt x="7963094" y="1041632"/>
                </a:lnTo>
                <a:lnTo>
                  <a:pt x="5294458" y="1041632"/>
                </a:lnTo>
                <a:lnTo>
                  <a:pt x="5294458" y="0"/>
                </a:lnTo>
                <a:lnTo>
                  <a:pt x="2682906" y="0"/>
                </a:lnTo>
                <a:close/>
              </a:path>
            </a:pathLst>
          </a:custGeom>
          <a:noFill/>
          <a:ln w="28575" cmpd="sng">
            <a:solidFill>
              <a:schemeClr val="accent1">
                <a:lumMod val="75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2" name="Up-Down Arrow 28"/>
          <p:cNvSpPr/>
          <p:nvPr/>
        </p:nvSpPr>
        <p:spPr bwMode="auto">
          <a:xfrm>
            <a:off x="4883150" y="2715766"/>
            <a:ext cx="622300" cy="218580"/>
          </a:xfrm>
          <a:prstGeom prst="upDownArrow">
            <a:avLst>
              <a:gd name="adj1" fmla="val 31538"/>
              <a:gd name="adj2" fmla="val 41111"/>
            </a:avLst>
          </a:prstGeom>
          <a:solidFill>
            <a:schemeClr val="accent1"/>
          </a:solidFill>
          <a:ln w="9525" cap="flat" cmpd="sng" algn="ctr">
            <a:solidFill>
              <a:schemeClr val="bg2"/>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200" b="1" i="0" u="none" strike="noStrike" cap="none" normalizeH="0" baseline="0" smtClean="0">
              <a:ln>
                <a:noFill/>
              </a:ln>
              <a:solidFill>
                <a:schemeClr val="tx1"/>
              </a:solidFill>
              <a:effectLst/>
              <a:latin typeface="TheSansCorrespondence" pitchFamily="34" charset="0"/>
            </a:endParaRPr>
          </a:p>
        </p:txBody>
      </p:sp>
      <p:sp>
        <p:nvSpPr>
          <p:cNvPr id="63" name="Titre 3"/>
          <p:cNvSpPr>
            <a:spLocks noGrp="1"/>
          </p:cNvSpPr>
          <p:nvPr>
            <p:ph type="title"/>
          </p:nvPr>
        </p:nvSpPr>
        <p:spPr/>
        <p:txBody>
          <a:bodyPr/>
          <a:lstStyle/>
          <a:p>
            <a:r>
              <a:rPr lang="fr-FR" dirty="0" smtClean="0"/>
              <a:t>Architecture du FIWARE</a:t>
            </a:r>
            <a:endParaRPr lang="fr-FR" dirty="0"/>
          </a:p>
        </p:txBody>
      </p:sp>
      <p:sp>
        <p:nvSpPr>
          <p:cNvPr id="2" name="Espace réservé du numéro de diapositive 1"/>
          <p:cNvSpPr>
            <a:spLocks noGrp="1"/>
          </p:cNvSpPr>
          <p:nvPr>
            <p:ph type="sldNum" sz="quarter" idx="12"/>
          </p:nvPr>
        </p:nvSpPr>
        <p:spPr/>
        <p:txBody>
          <a:bodyPr/>
          <a:lstStyle/>
          <a:p>
            <a:fld id="{CF4668DC-857F-487D-BFFA-8C0CA5037977}" type="slidenum">
              <a:rPr lang="fr-BE" smtClean="0"/>
              <a:pPr/>
              <a:t>16</a:t>
            </a:fld>
            <a:endParaRPr lang="fr-BE"/>
          </a:p>
        </p:txBody>
      </p:sp>
    </p:spTree>
    <p:extLst>
      <p:ext uri="{BB962C8B-B14F-4D97-AF65-F5344CB8AC3E}">
        <p14:creationId xmlns:p14="http://schemas.microsoft.com/office/powerpoint/2010/main" xmlns="" val="22021145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p:txBody>
          <a:bodyPr/>
          <a:lstStyle/>
          <a:p>
            <a:r>
              <a:rPr lang="fr-FR" dirty="0" smtClean="0"/>
              <a:t>FIWARE </a:t>
            </a:r>
            <a:r>
              <a:rPr lang="fr-FR" dirty="0" err="1" smtClean="0"/>
              <a:t>chapters</a:t>
            </a:r>
            <a:endParaRPr lang="fr-FR" dirty="0"/>
          </a:p>
        </p:txBody>
      </p:sp>
      <p:sp>
        <p:nvSpPr>
          <p:cNvPr id="2" name="Espace réservé du numéro de diapositive 1"/>
          <p:cNvSpPr>
            <a:spLocks noGrp="1"/>
          </p:cNvSpPr>
          <p:nvPr>
            <p:ph type="sldNum" sz="quarter" idx="12"/>
          </p:nvPr>
        </p:nvSpPr>
        <p:spPr/>
        <p:txBody>
          <a:bodyPr/>
          <a:lstStyle/>
          <a:p>
            <a:fld id="{CF4668DC-857F-487D-BFFA-8C0CA5037977}" type="slidenum">
              <a:rPr lang="fr-BE" smtClean="0"/>
              <a:pPr/>
              <a:t>17</a:t>
            </a:fld>
            <a:endParaRPr lang="fr-BE"/>
          </a:p>
        </p:txBody>
      </p:sp>
      <p:pic>
        <p:nvPicPr>
          <p:cNvPr id="8" name="Picture 2" descr="http://image.slidesharecdn.com/introductiontofi-wareopenecosystemv2-140917043753-phpapp02/95/introduction-to-fiware-open-ecosystem-7-638.jpg?cb=1410988881"/>
          <p:cNvPicPr>
            <a:picLocks noChangeAspect="1" noChangeArrowheads="1"/>
          </p:cNvPicPr>
          <p:nvPr/>
        </p:nvPicPr>
        <p:blipFill>
          <a:blip r:embed="rId3">
            <a:extLst>
              <a:ext uri="{28A0092B-C50C-407E-A947-70E740481C1C}">
                <a14:useLocalDpi xmlns:a14="http://schemas.microsoft.com/office/drawing/2010/main" xmlns="" val="0"/>
              </a:ext>
            </a:extLst>
          </a:blip>
          <a:srcRect/>
          <a:stretch>
            <a:fillRect/>
          </a:stretch>
        </p:blipFill>
        <p:spPr bwMode="auto">
          <a:xfrm>
            <a:off x="1713380" y="1059998"/>
            <a:ext cx="4874844" cy="3744000"/>
          </a:xfrm>
          <a:prstGeom prst="rect">
            <a:avLst/>
          </a:prstGeom>
          <a:noFill/>
          <a:extLst>
            <a:ext uri="{909E8E84-426E-40DD-AFC4-6F175D3DCCD1}">
              <a14:hiddenFill xmlns:a14="http://schemas.microsoft.com/office/drawing/2010/main" xmlns="">
                <a:solidFill>
                  <a:srgbClr val="FFFFFF"/>
                </a:solidFill>
              </a14:hiddenFill>
            </a:ext>
          </a:extLst>
        </p:spPr>
      </p:pic>
      <p:sp>
        <p:nvSpPr>
          <p:cNvPr id="9" name="Oval 2"/>
          <p:cNvSpPr/>
          <p:nvPr/>
        </p:nvSpPr>
        <p:spPr>
          <a:xfrm>
            <a:off x="1547664" y="1563694"/>
            <a:ext cx="5256584" cy="50400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Brace 3"/>
          <p:cNvSpPr/>
          <p:nvPr/>
        </p:nvSpPr>
        <p:spPr>
          <a:xfrm>
            <a:off x="6516216" y="1995686"/>
            <a:ext cx="397164" cy="2556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pic>
        <p:nvPicPr>
          <p:cNvPr id="11" name="Picture 4" descr="http://zdnet3.cbsistatic.com/hub/i/r/2014/09/05/b2ed410c-34ce-11e4-9e6a-00505685119a/resize/770x578/81583c71a5c81228c9e563440d0132e2/docker-logo.png"/>
          <p:cNvPicPr>
            <a:picLocks noChangeAspect="1" noChangeArrowheads="1"/>
          </p:cNvPicPr>
          <p:nvPr/>
        </p:nvPicPr>
        <p:blipFill>
          <a:blip r:embed="rId4" cstate="print">
            <a:extLst>
              <a:ext uri="{28A0092B-C50C-407E-A947-70E740481C1C}">
                <a14:useLocalDpi xmlns:a14="http://schemas.microsoft.com/office/drawing/2010/main" xmlns="" val="0"/>
              </a:ext>
            </a:extLst>
          </a:blip>
          <a:srcRect/>
          <a:stretch>
            <a:fillRect/>
          </a:stretch>
        </p:blipFill>
        <p:spPr bwMode="auto">
          <a:xfrm>
            <a:off x="7020272" y="2824909"/>
            <a:ext cx="1262206" cy="826963"/>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xmlns="" val="3682317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heel(1)">
                                      <p:cBhvr>
                                        <p:cTn id="7"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p:txBody>
          <a:bodyPr/>
          <a:lstStyle/>
          <a:p>
            <a:r>
              <a:rPr lang="fr-FR" dirty="0" smtClean="0"/>
              <a:t>Cloud </a:t>
            </a:r>
            <a:r>
              <a:rPr lang="fr-FR" dirty="0" err="1" smtClean="0"/>
              <a:t>Hosting</a:t>
            </a:r>
            <a:endParaRPr lang="fr-FR" dirty="0"/>
          </a:p>
        </p:txBody>
      </p:sp>
      <p:sp>
        <p:nvSpPr>
          <p:cNvPr id="4" name="Espace réservé du numéro de diapositive 3"/>
          <p:cNvSpPr>
            <a:spLocks noGrp="1"/>
          </p:cNvSpPr>
          <p:nvPr>
            <p:ph type="sldNum" sz="quarter" idx="12"/>
          </p:nvPr>
        </p:nvSpPr>
        <p:spPr/>
        <p:txBody>
          <a:bodyPr/>
          <a:lstStyle/>
          <a:p>
            <a:fld id="{CF4668DC-857F-487D-BFFA-8C0CA5037977}" type="slidenum">
              <a:rPr lang="fr-BE" smtClean="0"/>
              <a:pPr/>
              <a:t>18</a:t>
            </a:fld>
            <a:endParaRPr lang="fr-BE"/>
          </a:p>
        </p:txBody>
      </p:sp>
      <p:pic>
        <p:nvPicPr>
          <p:cNvPr id="21" name="Imagen 3"/>
          <p:cNvPicPr>
            <a:picLocks noChangeAspect="1"/>
          </p:cNvPicPr>
          <p:nvPr/>
        </p:nvPicPr>
        <p:blipFill>
          <a:blip r:embed="rId3"/>
          <a:stretch>
            <a:fillRect/>
          </a:stretch>
        </p:blipFill>
        <p:spPr>
          <a:xfrm>
            <a:off x="635569" y="2499744"/>
            <a:ext cx="5096619" cy="2112235"/>
          </a:xfrm>
          <a:prstGeom prst="rect">
            <a:avLst/>
          </a:prstGeom>
        </p:spPr>
      </p:pic>
      <p:grpSp>
        <p:nvGrpSpPr>
          <p:cNvPr id="22" name="Agrupar 16"/>
          <p:cNvGrpSpPr/>
          <p:nvPr/>
        </p:nvGrpSpPr>
        <p:grpSpPr>
          <a:xfrm>
            <a:off x="443545" y="2691763"/>
            <a:ext cx="1248139" cy="864096"/>
            <a:chOff x="3861048" y="987574"/>
            <a:chExt cx="936104" cy="648072"/>
          </a:xfrm>
        </p:grpSpPr>
        <p:sp>
          <p:nvSpPr>
            <p:cNvPr id="23" name="Rectángulo redondeado 14"/>
            <p:cNvSpPr/>
            <p:nvPr/>
          </p:nvSpPr>
          <p:spPr>
            <a:xfrm>
              <a:off x="3861048" y="987574"/>
              <a:ext cx="936104" cy="648072"/>
            </a:xfrm>
            <a:prstGeom prst="roundRect">
              <a:avLst/>
            </a:prstGeom>
            <a:ln w="12700" cmpd="sng"/>
          </p:spPr>
          <p:style>
            <a:lnRef idx="2">
              <a:schemeClr val="dk1"/>
            </a:lnRef>
            <a:fillRef idx="1">
              <a:schemeClr val="lt1"/>
            </a:fillRef>
            <a:effectRef idx="0">
              <a:schemeClr val="dk1"/>
            </a:effectRef>
            <a:fontRef idx="minor">
              <a:schemeClr val="dk1"/>
            </a:fontRef>
          </p:style>
          <p:txBody>
            <a:bodyPr rtlCol="0" anchor="ctr"/>
            <a:lstStyle/>
            <a:p>
              <a:pPr algn="ctr" fontAlgn="auto">
                <a:spcBef>
                  <a:spcPts val="0"/>
                </a:spcBef>
                <a:spcAft>
                  <a:spcPts val="0"/>
                </a:spcAft>
              </a:pPr>
              <a:endParaRPr lang="en-GB" sz="1400" b="0" dirty="0">
                <a:solidFill>
                  <a:prstClr val="black"/>
                </a:solidFill>
              </a:endParaRPr>
            </a:p>
            <a:p>
              <a:pPr algn="ctr" fontAlgn="auto">
                <a:spcBef>
                  <a:spcPts val="0"/>
                </a:spcBef>
                <a:spcAft>
                  <a:spcPts val="0"/>
                </a:spcAft>
              </a:pPr>
              <a:r>
                <a:rPr lang="en-GB" sz="1400" b="0" dirty="0">
                  <a:solidFill>
                    <a:prstClr val="black"/>
                  </a:solidFill>
                </a:rPr>
                <a:t>Cloud Portal</a:t>
              </a:r>
            </a:p>
          </p:txBody>
        </p:sp>
        <p:pic>
          <p:nvPicPr>
            <p:cNvPr id="24" name="9 Imagen"/>
            <p:cNvPicPr>
              <a:picLocks noChangeAspect="1"/>
            </p:cNvPicPr>
            <p:nvPr/>
          </p:nvPicPr>
          <p:blipFill rotWithShape="1">
            <a:blip r:embed="rId4" cstate="print">
              <a:extLst>
                <a:ext uri="{28A0092B-C50C-407E-A947-70E740481C1C}">
                  <a14:useLocalDpi xmlns:a14="http://schemas.microsoft.com/office/drawing/2010/main" xmlns="" val="0"/>
                </a:ext>
              </a:extLst>
            </a:blip>
            <a:srcRect b="32281"/>
            <a:stretch/>
          </p:blipFill>
          <p:spPr>
            <a:xfrm>
              <a:off x="3933056" y="1078908"/>
              <a:ext cx="710556" cy="196698"/>
            </a:xfrm>
            <a:prstGeom prst="rect">
              <a:avLst/>
            </a:prstGeom>
          </p:spPr>
        </p:pic>
      </p:grpSp>
      <p:grpSp>
        <p:nvGrpSpPr>
          <p:cNvPr id="25" name="Agrupar 17"/>
          <p:cNvGrpSpPr/>
          <p:nvPr/>
        </p:nvGrpSpPr>
        <p:grpSpPr>
          <a:xfrm>
            <a:off x="5916153" y="2595752"/>
            <a:ext cx="1248139" cy="864096"/>
            <a:chOff x="3861048" y="987574"/>
            <a:chExt cx="936104" cy="648072"/>
          </a:xfrm>
        </p:grpSpPr>
        <p:sp>
          <p:nvSpPr>
            <p:cNvPr id="26" name="Rectángulo redondeado 18"/>
            <p:cNvSpPr/>
            <p:nvPr/>
          </p:nvSpPr>
          <p:spPr>
            <a:xfrm>
              <a:off x="3861048" y="987574"/>
              <a:ext cx="936104" cy="648072"/>
            </a:xfrm>
            <a:prstGeom prst="roundRect">
              <a:avLst/>
            </a:prstGeom>
            <a:ln w="12700" cmpd="sng"/>
          </p:spPr>
          <p:style>
            <a:lnRef idx="2">
              <a:schemeClr val="dk1"/>
            </a:lnRef>
            <a:fillRef idx="1">
              <a:schemeClr val="lt1"/>
            </a:fillRef>
            <a:effectRef idx="0">
              <a:schemeClr val="dk1"/>
            </a:effectRef>
            <a:fontRef idx="minor">
              <a:schemeClr val="dk1"/>
            </a:fontRef>
          </p:style>
          <p:txBody>
            <a:bodyPr rtlCol="0" anchor="ctr"/>
            <a:lstStyle/>
            <a:p>
              <a:pPr algn="ctr" fontAlgn="auto">
                <a:spcBef>
                  <a:spcPts val="0"/>
                </a:spcBef>
                <a:spcAft>
                  <a:spcPts val="0"/>
                </a:spcAft>
              </a:pPr>
              <a:endParaRPr lang="en-GB" sz="1400" b="0" dirty="0">
                <a:solidFill>
                  <a:prstClr val="black"/>
                </a:solidFill>
              </a:endParaRPr>
            </a:p>
            <a:p>
              <a:pPr algn="ctr" fontAlgn="auto">
                <a:spcBef>
                  <a:spcPts val="0"/>
                </a:spcBef>
                <a:spcAft>
                  <a:spcPts val="0"/>
                </a:spcAft>
              </a:pPr>
              <a:r>
                <a:rPr lang="en-GB" sz="1400" b="0" dirty="0" err="1">
                  <a:solidFill>
                    <a:prstClr val="black"/>
                  </a:solidFill>
                </a:rPr>
                <a:t>PaaS</a:t>
              </a:r>
              <a:endParaRPr lang="en-GB" sz="1400" b="0" dirty="0">
                <a:solidFill>
                  <a:prstClr val="black"/>
                </a:solidFill>
              </a:endParaRPr>
            </a:p>
          </p:txBody>
        </p:sp>
        <p:pic>
          <p:nvPicPr>
            <p:cNvPr id="27" name="9 Imagen"/>
            <p:cNvPicPr>
              <a:picLocks noChangeAspect="1"/>
            </p:cNvPicPr>
            <p:nvPr/>
          </p:nvPicPr>
          <p:blipFill rotWithShape="1">
            <a:blip r:embed="rId4" cstate="print">
              <a:extLst>
                <a:ext uri="{28A0092B-C50C-407E-A947-70E740481C1C}">
                  <a14:useLocalDpi xmlns:a14="http://schemas.microsoft.com/office/drawing/2010/main" xmlns="" val="0"/>
                </a:ext>
              </a:extLst>
            </a:blip>
            <a:srcRect b="32281"/>
            <a:stretch/>
          </p:blipFill>
          <p:spPr>
            <a:xfrm>
              <a:off x="3933056" y="1078908"/>
              <a:ext cx="710556" cy="196698"/>
            </a:xfrm>
            <a:prstGeom prst="rect">
              <a:avLst/>
            </a:prstGeom>
          </p:spPr>
        </p:pic>
      </p:grpSp>
      <p:grpSp>
        <p:nvGrpSpPr>
          <p:cNvPr id="28" name="Agrupar 20"/>
          <p:cNvGrpSpPr/>
          <p:nvPr/>
        </p:nvGrpSpPr>
        <p:grpSpPr>
          <a:xfrm>
            <a:off x="5916153" y="3651870"/>
            <a:ext cx="1248139" cy="864096"/>
            <a:chOff x="3861048" y="987574"/>
            <a:chExt cx="936104" cy="648072"/>
          </a:xfrm>
        </p:grpSpPr>
        <p:sp>
          <p:nvSpPr>
            <p:cNvPr id="29" name="Rectángulo redondeado 21"/>
            <p:cNvSpPr/>
            <p:nvPr/>
          </p:nvSpPr>
          <p:spPr>
            <a:xfrm>
              <a:off x="3861048" y="987574"/>
              <a:ext cx="936104" cy="648072"/>
            </a:xfrm>
            <a:prstGeom prst="roundRect">
              <a:avLst/>
            </a:prstGeom>
            <a:ln w="12700" cmpd="sng"/>
          </p:spPr>
          <p:style>
            <a:lnRef idx="2">
              <a:schemeClr val="dk1"/>
            </a:lnRef>
            <a:fillRef idx="1">
              <a:schemeClr val="lt1"/>
            </a:fillRef>
            <a:effectRef idx="0">
              <a:schemeClr val="dk1"/>
            </a:effectRef>
            <a:fontRef idx="minor">
              <a:schemeClr val="dk1"/>
            </a:fontRef>
          </p:style>
          <p:txBody>
            <a:bodyPr rtlCol="0" anchor="ctr"/>
            <a:lstStyle/>
            <a:p>
              <a:pPr algn="ctr" fontAlgn="auto">
                <a:spcBef>
                  <a:spcPts val="0"/>
                </a:spcBef>
                <a:spcAft>
                  <a:spcPts val="0"/>
                </a:spcAft>
              </a:pPr>
              <a:endParaRPr lang="en-GB" sz="1400" b="0" dirty="0">
                <a:solidFill>
                  <a:prstClr val="black"/>
                </a:solidFill>
              </a:endParaRPr>
            </a:p>
            <a:p>
              <a:pPr algn="ctr" fontAlgn="auto">
                <a:spcBef>
                  <a:spcPts val="0"/>
                </a:spcBef>
                <a:spcAft>
                  <a:spcPts val="0"/>
                </a:spcAft>
              </a:pPr>
              <a:r>
                <a:rPr lang="en-GB" sz="1400" b="0" dirty="0">
                  <a:solidFill>
                    <a:prstClr val="black"/>
                  </a:solidFill>
                </a:rPr>
                <a:t>SDC</a:t>
              </a:r>
            </a:p>
          </p:txBody>
        </p:sp>
        <p:pic>
          <p:nvPicPr>
            <p:cNvPr id="30" name="9 Imagen"/>
            <p:cNvPicPr>
              <a:picLocks noChangeAspect="1"/>
            </p:cNvPicPr>
            <p:nvPr/>
          </p:nvPicPr>
          <p:blipFill rotWithShape="1">
            <a:blip r:embed="rId4" cstate="print">
              <a:extLst>
                <a:ext uri="{28A0092B-C50C-407E-A947-70E740481C1C}">
                  <a14:useLocalDpi xmlns:a14="http://schemas.microsoft.com/office/drawing/2010/main" xmlns="" val="0"/>
                </a:ext>
              </a:extLst>
            </a:blip>
            <a:srcRect b="32281"/>
            <a:stretch/>
          </p:blipFill>
          <p:spPr>
            <a:xfrm>
              <a:off x="3933056" y="1078908"/>
              <a:ext cx="710556" cy="196698"/>
            </a:xfrm>
            <a:prstGeom prst="rect">
              <a:avLst/>
            </a:prstGeom>
          </p:spPr>
        </p:pic>
      </p:grpSp>
      <p:grpSp>
        <p:nvGrpSpPr>
          <p:cNvPr id="31" name="Agrupar 23"/>
          <p:cNvGrpSpPr/>
          <p:nvPr/>
        </p:nvGrpSpPr>
        <p:grpSpPr>
          <a:xfrm>
            <a:off x="7356313" y="3651870"/>
            <a:ext cx="1248139" cy="864096"/>
            <a:chOff x="3861048" y="987574"/>
            <a:chExt cx="936104" cy="648072"/>
          </a:xfrm>
        </p:grpSpPr>
        <p:sp>
          <p:nvSpPr>
            <p:cNvPr id="32" name="Rectángulo redondeado 24"/>
            <p:cNvSpPr/>
            <p:nvPr/>
          </p:nvSpPr>
          <p:spPr>
            <a:xfrm>
              <a:off x="3861048" y="987574"/>
              <a:ext cx="936104" cy="648072"/>
            </a:xfrm>
            <a:prstGeom prst="roundRect">
              <a:avLst/>
            </a:prstGeom>
            <a:ln w="12700" cmpd="sng"/>
          </p:spPr>
          <p:style>
            <a:lnRef idx="2">
              <a:schemeClr val="dk1"/>
            </a:lnRef>
            <a:fillRef idx="1">
              <a:schemeClr val="lt1"/>
            </a:fillRef>
            <a:effectRef idx="0">
              <a:schemeClr val="dk1"/>
            </a:effectRef>
            <a:fontRef idx="minor">
              <a:schemeClr val="dk1"/>
            </a:fontRef>
          </p:style>
          <p:txBody>
            <a:bodyPr rtlCol="0" anchor="ctr"/>
            <a:lstStyle/>
            <a:p>
              <a:pPr algn="ctr" fontAlgn="auto">
                <a:spcBef>
                  <a:spcPts val="0"/>
                </a:spcBef>
                <a:spcAft>
                  <a:spcPts val="0"/>
                </a:spcAft>
              </a:pPr>
              <a:endParaRPr lang="en-GB" sz="1400" b="0" dirty="0">
                <a:solidFill>
                  <a:prstClr val="black"/>
                </a:solidFill>
              </a:endParaRPr>
            </a:p>
            <a:p>
              <a:pPr algn="ctr" fontAlgn="auto">
                <a:spcBef>
                  <a:spcPts val="0"/>
                </a:spcBef>
                <a:spcAft>
                  <a:spcPts val="0"/>
                </a:spcAft>
              </a:pPr>
              <a:r>
                <a:rPr lang="en-GB" sz="1400" b="0" dirty="0" err="1" smtClean="0">
                  <a:solidFill>
                    <a:prstClr val="black"/>
                  </a:solidFill>
                </a:rPr>
                <a:t>Docker</a:t>
              </a:r>
              <a:endParaRPr lang="en-GB" sz="1400" b="0" dirty="0">
                <a:solidFill>
                  <a:prstClr val="black"/>
                </a:solidFill>
              </a:endParaRPr>
            </a:p>
          </p:txBody>
        </p:sp>
        <p:pic>
          <p:nvPicPr>
            <p:cNvPr id="33" name="9 Imagen"/>
            <p:cNvPicPr>
              <a:picLocks noChangeAspect="1"/>
            </p:cNvPicPr>
            <p:nvPr/>
          </p:nvPicPr>
          <p:blipFill rotWithShape="1">
            <a:blip r:embed="rId4" cstate="print">
              <a:extLst>
                <a:ext uri="{28A0092B-C50C-407E-A947-70E740481C1C}">
                  <a14:useLocalDpi xmlns:a14="http://schemas.microsoft.com/office/drawing/2010/main" xmlns="" val="0"/>
                </a:ext>
              </a:extLst>
            </a:blip>
            <a:srcRect b="32281"/>
            <a:stretch/>
          </p:blipFill>
          <p:spPr>
            <a:xfrm>
              <a:off x="3933056" y="1078908"/>
              <a:ext cx="710556" cy="196698"/>
            </a:xfrm>
            <a:prstGeom prst="rect">
              <a:avLst/>
            </a:prstGeom>
          </p:spPr>
        </p:pic>
      </p:grpSp>
      <p:grpSp>
        <p:nvGrpSpPr>
          <p:cNvPr id="34" name="Agrupar 26"/>
          <p:cNvGrpSpPr/>
          <p:nvPr/>
        </p:nvGrpSpPr>
        <p:grpSpPr>
          <a:xfrm>
            <a:off x="7356313" y="2595752"/>
            <a:ext cx="1248139" cy="864096"/>
            <a:chOff x="3861048" y="987574"/>
            <a:chExt cx="936104" cy="648072"/>
          </a:xfrm>
        </p:grpSpPr>
        <p:sp>
          <p:nvSpPr>
            <p:cNvPr id="35" name="Rectángulo redondeado 27"/>
            <p:cNvSpPr/>
            <p:nvPr/>
          </p:nvSpPr>
          <p:spPr>
            <a:xfrm>
              <a:off x="3861048" y="987574"/>
              <a:ext cx="936104" cy="648072"/>
            </a:xfrm>
            <a:prstGeom prst="roundRect">
              <a:avLst/>
            </a:prstGeom>
            <a:ln w="12700" cmpd="sng"/>
          </p:spPr>
          <p:style>
            <a:lnRef idx="2">
              <a:schemeClr val="dk1"/>
            </a:lnRef>
            <a:fillRef idx="1">
              <a:schemeClr val="lt1"/>
            </a:fillRef>
            <a:effectRef idx="0">
              <a:schemeClr val="dk1"/>
            </a:effectRef>
            <a:fontRef idx="minor">
              <a:schemeClr val="dk1"/>
            </a:fontRef>
          </p:style>
          <p:txBody>
            <a:bodyPr rtlCol="0" anchor="ctr"/>
            <a:lstStyle/>
            <a:p>
              <a:pPr algn="ctr" fontAlgn="auto">
                <a:spcBef>
                  <a:spcPts val="0"/>
                </a:spcBef>
                <a:spcAft>
                  <a:spcPts val="0"/>
                </a:spcAft>
              </a:pPr>
              <a:endParaRPr lang="en-GB" sz="1400" b="0" dirty="0">
                <a:solidFill>
                  <a:prstClr val="black"/>
                </a:solidFill>
              </a:endParaRPr>
            </a:p>
            <a:p>
              <a:pPr algn="ctr" fontAlgn="auto">
                <a:spcBef>
                  <a:spcPts val="0"/>
                </a:spcBef>
                <a:spcAft>
                  <a:spcPts val="0"/>
                </a:spcAft>
              </a:pPr>
              <a:r>
                <a:rPr lang="en-GB" sz="1400" b="0" dirty="0">
                  <a:solidFill>
                    <a:prstClr val="black"/>
                  </a:solidFill>
                </a:rPr>
                <a:t>Account</a:t>
              </a:r>
            </a:p>
          </p:txBody>
        </p:sp>
        <p:pic>
          <p:nvPicPr>
            <p:cNvPr id="36" name="9 Imagen"/>
            <p:cNvPicPr>
              <a:picLocks noChangeAspect="1"/>
            </p:cNvPicPr>
            <p:nvPr/>
          </p:nvPicPr>
          <p:blipFill rotWithShape="1">
            <a:blip r:embed="rId4" cstate="print">
              <a:extLst>
                <a:ext uri="{28A0092B-C50C-407E-A947-70E740481C1C}">
                  <a14:useLocalDpi xmlns:a14="http://schemas.microsoft.com/office/drawing/2010/main" xmlns="" val="0"/>
                </a:ext>
              </a:extLst>
            </a:blip>
            <a:srcRect b="32281"/>
            <a:stretch/>
          </p:blipFill>
          <p:spPr>
            <a:xfrm>
              <a:off x="3933056" y="1078908"/>
              <a:ext cx="710556" cy="196698"/>
            </a:xfrm>
            <a:prstGeom prst="rect">
              <a:avLst/>
            </a:prstGeom>
          </p:spPr>
        </p:pic>
      </p:grpSp>
    </p:spTree>
    <p:extLst>
      <p:ext uri="{BB962C8B-B14F-4D97-AF65-F5344CB8AC3E}">
        <p14:creationId xmlns:p14="http://schemas.microsoft.com/office/powerpoint/2010/main" xmlns="" val="111422659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19</a:t>
            </a:fld>
            <a:endParaRPr lang="fr-BE"/>
          </a:p>
        </p:txBody>
      </p:sp>
      <p:sp>
        <p:nvSpPr>
          <p:cNvPr id="4" name="31 Rectángulo redondeado"/>
          <p:cNvSpPr>
            <a:spLocks noChangeArrowheads="1"/>
          </p:cNvSpPr>
          <p:nvPr/>
        </p:nvSpPr>
        <p:spPr bwMode="auto">
          <a:xfrm>
            <a:off x="6051983" y="1275606"/>
            <a:ext cx="2688793" cy="718840"/>
          </a:xfrm>
          <a:prstGeom prst="roundRect">
            <a:avLst>
              <a:gd name="adj" fmla="val 16667"/>
            </a:avLst>
          </a:prstGeom>
          <a:solidFill>
            <a:srgbClr val="CCECFF"/>
          </a:solidFill>
          <a:ln w="38100">
            <a:solidFill>
              <a:schemeClr val="bg1"/>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5" name="56 Flecha derecha"/>
          <p:cNvSpPr>
            <a:spLocks noChangeArrowheads="1"/>
          </p:cNvSpPr>
          <p:nvPr/>
        </p:nvSpPr>
        <p:spPr bwMode="auto">
          <a:xfrm>
            <a:off x="3967165" y="1810594"/>
            <a:ext cx="1790700" cy="1995488"/>
          </a:xfrm>
          <a:prstGeom prst="rightArrow">
            <a:avLst>
              <a:gd name="adj1" fmla="val 74074"/>
              <a:gd name="adj2" fmla="val 27093"/>
            </a:avLst>
          </a:prstGeom>
          <a:solidFill>
            <a:srgbClr val="99FFCC"/>
          </a:solidFill>
          <a:ln w="9525">
            <a:solidFill>
              <a:srgbClr val="5CB5CB"/>
            </a:solidFill>
            <a:miter lim="800000"/>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6" name="4 Rectángulo redondeado"/>
          <p:cNvSpPr>
            <a:spLocks noChangeArrowheads="1"/>
          </p:cNvSpPr>
          <p:nvPr/>
        </p:nvSpPr>
        <p:spPr bwMode="auto">
          <a:xfrm>
            <a:off x="285750" y="1494680"/>
            <a:ext cx="3441700" cy="2595562"/>
          </a:xfrm>
          <a:prstGeom prst="roundRect">
            <a:avLst>
              <a:gd name="adj" fmla="val 16667"/>
            </a:avLst>
          </a:prstGeom>
          <a:solidFill>
            <a:schemeClr val="tx2">
              <a:lumMod val="50000"/>
            </a:schemeClr>
          </a:solidFill>
          <a:ln>
            <a:headEnd/>
            <a:tailEnd/>
          </a:ln>
        </p:spPr>
        <p:style>
          <a:lnRef idx="3">
            <a:schemeClr val="lt1"/>
          </a:lnRef>
          <a:fillRef idx="1">
            <a:schemeClr val="accent4"/>
          </a:fillRef>
          <a:effectRef idx="1">
            <a:schemeClr val="accent4"/>
          </a:effectRef>
          <a:fontRef idx="minor">
            <a:schemeClr val="lt1"/>
          </a:fontRef>
        </p:style>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7" name="5 CuadroTexto"/>
          <p:cNvSpPr txBox="1">
            <a:spLocks noChangeArrowheads="1"/>
          </p:cNvSpPr>
          <p:nvPr/>
        </p:nvSpPr>
        <p:spPr bwMode="auto">
          <a:xfrm>
            <a:off x="717342" y="1562942"/>
            <a:ext cx="2494850"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eaLnBrk="1" hangingPunct="1"/>
            <a:r>
              <a:rPr lang="en-US" sz="2000" dirty="0" smtClean="0">
                <a:solidFill>
                  <a:schemeClr val="bg1"/>
                </a:solidFill>
                <a:latin typeface="Arial" charset="0"/>
                <a:cs typeface="Arial" charset="0"/>
              </a:rPr>
              <a:t>FIWARE Catalogue</a:t>
            </a:r>
            <a:endParaRPr lang="en-US" sz="2000" dirty="0">
              <a:solidFill>
                <a:schemeClr val="bg1"/>
              </a:solidFill>
              <a:latin typeface="Arial" charset="0"/>
              <a:cs typeface="Arial" charset="0"/>
            </a:endParaRPr>
          </a:p>
        </p:txBody>
      </p:sp>
      <p:sp>
        <p:nvSpPr>
          <p:cNvPr id="8" name="6 Rectángulo redondeado"/>
          <p:cNvSpPr>
            <a:spLocks noChangeArrowheads="1"/>
          </p:cNvSpPr>
          <p:nvPr/>
        </p:nvSpPr>
        <p:spPr bwMode="auto">
          <a:xfrm>
            <a:off x="444503" y="2129682"/>
            <a:ext cx="895350"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9" name="8 Rectángulo redondeado"/>
          <p:cNvSpPr>
            <a:spLocks noChangeArrowheads="1"/>
          </p:cNvSpPr>
          <p:nvPr/>
        </p:nvSpPr>
        <p:spPr bwMode="auto">
          <a:xfrm>
            <a:off x="1492250" y="2129682"/>
            <a:ext cx="896938"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0" name="9 Rectángulo redondeado"/>
          <p:cNvSpPr>
            <a:spLocks noChangeArrowheads="1"/>
          </p:cNvSpPr>
          <p:nvPr/>
        </p:nvSpPr>
        <p:spPr bwMode="auto">
          <a:xfrm>
            <a:off x="2541590" y="2129682"/>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1" name="10 Rectángulo redondeado"/>
          <p:cNvSpPr>
            <a:spLocks noChangeArrowheads="1"/>
          </p:cNvSpPr>
          <p:nvPr/>
        </p:nvSpPr>
        <p:spPr bwMode="auto">
          <a:xfrm>
            <a:off x="444503" y="2739280"/>
            <a:ext cx="895350"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2" name="11 Rectángulo redondeado"/>
          <p:cNvSpPr>
            <a:spLocks noChangeArrowheads="1"/>
          </p:cNvSpPr>
          <p:nvPr/>
        </p:nvSpPr>
        <p:spPr bwMode="auto">
          <a:xfrm>
            <a:off x="1492250" y="2739280"/>
            <a:ext cx="896938"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3" name="12 Rectángulo redondeado"/>
          <p:cNvSpPr>
            <a:spLocks noChangeArrowheads="1"/>
          </p:cNvSpPr>
          <p:nvPr/>
        </p:nvSpPr>
        <p:spPr bwMode="auto">
          <a:xfrm>
            <a:off x="2541590" y="2739280"/>
            <a:ext cx="895350"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4" name="13 Rectángulo redondeado"/>
          <p:cNvSpPr>
            <a:spLocks noChangeArrowheads="1"/>
          </p:cNvSpPr>
          <p:nvPr/>
        </p:nvSpPr>
        <p:spPr bwMode="auto">
          <a:xfrm>
            <a:off x="444503" y="3348882"/>
            <a:ext cx="895350"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5" name="14 Rectángulo redondeado"/>
          <p:cNvSpPr>
            <a:spLocks noChangeArrowheads="1"/>
          </p:cNvSpPr>
          <p:nvPr/>
        </p:nvSpPr>
        <p:spPr bwMode="auto">
          <a:xfrm>
            <a:off x="1492250" y="3348882"/>
            <a:ext cx="896938"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6" name="15 Rectángulo redondeado"/>
          <p:cNvSpPr>
            <a:spLocks noChangeArrowheads="1"/>
          </p:cNvSpPr>
          <p:nvPr/>
        </p:nvSpPr>
        <p:spPr bwMode="auto">
          <a:xfrm>
            <a:off x="2541590" y="3348882"/>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cxnSp>
        <p:nvCxnSpPr>
          <p:cNvPr id="17" name="17 Conector recto de flecha"/>
          <p:cNvCxnSpPr>
            <a:cxnSpLocks noChangeShapeType="1"/>
          </p:cNvCxnSpPr>
          <p:nvPr/>
        </p:nvCxnSpPr>
        <p:spPr bwMode="auto">
          <a:xfrm>
            <a:off x="1944695" y="3579071"/>
            <a:ext cx="1000125" cy="682625"/>
          </a:xfrm>
          <a:prstGeom prst="straightConnector1">
            <a:avLst/>
          </a:prstGeom>
          <a:noFill/>
          <a:ln w="28575">
            <a:solidFill>
              <a:srgbClr val="003F52"/>
            </a:solidFill>
            <a:prstDash val="sysDash"/>
            <a:round/>
            <a:headEnd type="arrow" w="med" len="med"/>
            <a:tailEnd/>
          </a:ln>
          <a:extLst>
            <a:ext uri="{909E8E84-426E-40DD-AFC4-6F175D3DCCD1}">
              <a14:hiddenFill xmlns:a14="http://schemas.microsoft.com/office/drawing/2010/main" xmlns="">
                <a:noFill/>
              </a14:hiddenFill>
            </a:ext>
          </a:extLst>
        </p:spPr>
      </p:cxnSp>
      <p:sp>
        <p:nvSpPr>
          <p:cNvPr id="18" name="19 CuadroTexto"/>
          <p:cNvSpPr txBox="1">
            <a:spLocks noChangeArrowheads="1"/>
          </p:cNvSpPr>
          <p:nvPr/>
        </p:nvSpPr>
        <p:spPr bwMode="auto">
          <a:xfrm>
            <a:off x="2543179" y="4261692"/>
            <a:ext cx="3025059"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eaLnBrk="1" hangingPunct="1"/>
            <a:r>
              <a:rPr lang="en-US" sz="1600" dirty="0" smtClean="0">
                <a:latin typeface="Arial" charset="0"/>
                <a:cs typeface="Arial" charset="0"/>
              </a:rPr>
              <a:t>FIWARE GE implementations</a:t>
            </a:r>
            <a:endParaRPr lang="en-US" sz="1600" dirty="0">
              <a:latin typeface="Arial" charset="0"/>
              <a:cs typeface="Arial" charset="0"/>
            </a:endParaRPr>
          </a:p>
        </p:txBody>
      </p:sp>
      <p:cxnSp>
        <p:nvCxnSpPr>
          <p:cNvPr id="19" name="21 Conector recto de flecha"/>
          <p:cNvCxnSpPr>
            <a:cxnSpLocks noChangeShapeType="1"/>
          </p:cNvCxnSpPr>
          <p:nvPr/>
        </p:nvCxnSpPr>
        <p:spPr bwMode="auto">
          <a:xfrm rot="5400000">
            <a:off x="2647163" y="3919586"/>
            <a:ext cx="682625" cy="1588"/>
          </a:xfrm>
          <a:prstGeom prst="straightConnector1">
            <a:avLst/>
          </a:prstGeom>
          <a:noFill/>
          <a:ln w="28575">
            <a:solidFill>
              <a:srgbClr val="003F52"/>
            </a:solidFill>
            <a:prstDash val="sysDash"/>
            <a:round/>
            <a:headEnd type="arrow" w="med" len="med"/>
            <a:tailEnd/>
          </a:ln>
          <a:extLst>
            <a:ext uri="{909E8E84-426E-40DD-AFC4-6F175D3DCCD1}">
              <a14:hiddenFill xmlns:a14="http://schemas.microsoft.com/office/drawing/2010/main" xmlns="">
                <a:noFill/>
              </a14:hiddenFill>
            </a:ext>
          </a:extLst>
        </p:spPr>
      </p:cxnSp>
      <p:cxnSp>
        <p:nvCxnSpPr>
          <p:cNvPr id="20" name="22 Conector recto de flecha"/>
          <p:cNvCxnSpPr>
            <a:cxnSpLocks noChangeShapeType="1"/>
          </p:cNvCxnSpPr>
          <p:nvPr/>
        </p:nvCxnSpPr>
        <p:spPr bwMode="auto">
          <a:xfrm rot="10800000">
            <a:off x="2838033" y="2353519"/>
            <a:ext cx="1496229" cy="232572"/>
          </a:xfrm>
          <a:prstGeom prst="straightConnector1">
            <a:avLst/>
          </a:prstGeom>
          <a:noFill/>
          <a:ln w="28575">
            <a:solidFill>
              <a:srgbClr val="003F52"/>
            </a:solidFill>
            <a:round/>
            <a:headEnd type="arrow" w="med" len="med"/>
            <a:tailEnd/>
          </a:ln>
          <a:extLst>
            <a:ext uri="{909E8E84-426E-40DD-AFC4-6F175D3DCCD1}">
              <a14:hiddenFill xmlns:a14="http://schemas.microsoft.com/office/drawing/2010/main" xmlns="">
                <a:noFill/>
              </a14:hiddenFill>
            </a:ext>
          </a:extLst>
        </p:spPr>
      </p:cxnSp>
      <p:cxnSp>
        <p:nvCxnSpPr>
          <p:cNvPr id="21" name="23 Conector recto de flecha"/>
          <p:cNvCxnSpPr>
            <a:cxnSpLocks noChangeShapeType="1"/>
          </p:cNvCxnSpPr>
          <p:nvPr/>
        </p:nvCxnSpPr>
        <p:spPr bwMode="auto">
          <a:xfrm rot="10800000" flipV="1">
            <a:off x="2038307" y="2938830"/>
            <a:ext cx="2295950" cy="77525"/>
          </a:xfrm>
          <a:prstGeom prst="straightConnector1">
            <a:avLst/>
          </a:prstGeom>
          <a:noFill/>
          <a:ln w="28575">
            <a:solidFill>
              <a:srgbClr val="003F52"/>
            </a:solidFill>
            <a:round/>
            <a:headEnd type="arrow" w="med" len="med"/>
            <a:tailEnd/>
          </a:ln>
          <a:extLst>
            <a:ext uri="{909E8E84-426E-40DD-AFC4-6F175D3DCCD1}">
              <a14:hiddenFill xmlns:a14="http://schemas.microsoft.com/office/drawing/2010/main" xmlns="">
                <a:noFill/>
              </a14:hiddenFill>
            </a:ext>
          </a:extLst>
        </p:spPr>
      </p:cxnSp>
      <p:cxnSp>
        <p:nvCxnSpPr>
          <p:cNvPr id="22" name="40 Conector recto de flecha"/>
          <p:cNvCxnSpPr>
            <a:cxnSpLocks noChangeShapeType="1"/>
          </p:cNvCxnSpPr>
          <p:nvPr/>
        </p:nvCxnSpPr>
        <p:spPr bwMode="auto">
          <a:xfrm rot="10800000" flipV="1">
            <a:off x="3032206" y="3055117"/>
            <a:ext cx="1323894" cy="562052"/>
          </a:xfrm>
          <a:prstGeom prst="straightConnector1">
            <a:avLst/>
          </a:prstGeom>
          <a:noFill/>
          <a:ln w="28575">
            <a:solidFill>
              <a:srgbClr val="003F52"/>
            </a:solidFill>
            <a:round/>
            <a:headEnd type="arrow" w="med" len="med"/>
            <a:tailEnd/>
          </a:ln>
          <a:extLst>
            <a:ext uri="{909E8E84-426E-40DD-AFC4-6F175D3DCCD1}">
              <a14:hiddenFill xmlns:a14="http://schemas.microsoft.com/office/drawing/2010/main" xmlns="">
                <a:noFill/>
              </a14:hiddenFill>
            </a:ext>
          </a:extLst>
        </p:spPr>
      </p:cxnSp>
      <p:pic>
        <p:nvPicPr>
          <p:cNvPr id="23" name="Picture 2" descr="C:\Users\jhierro\Pictures\Galería multimedia de Microsoft\00357499.wmf"/>
          <p:cNvPicPr>
            <a:picLocks noChangeAspect="1" noChangeArrowheads="1"/>
          </p:cNvPicPr>
          <p:nvPr/>
        </p:nvPicPr>
        <p:blipFill>
          <a:blip r:embed="rId2" cstate="print">
            <a:extLst>
              <a:ext uri="{28A0092B-C50C-407E-A947-70E740481C1C}">
                <a14:useLocalDpi xmlns:a14="http://schemas.microsoft.com/office/drawing/2010/main" xmlns="" val="0"/>
              </a:ext>
            </a:extLst>
          </a:blip>
          <a:srcRect/>
          <a:stretch>
            <a:fillRect/>
          </a:stretch>
        </p:blipFill>
        <p:spPr bwMode="auto">
          <a:xfrm>
            <a:off x="4419600" y="2353519"/>
            <a:ext cx="909638" cy="90963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4" name="57 Rectángulo redondeado"/>
          <p:cNvSpPr>
            <a:spLocks noChangeArrowheads="1"/>
          </p:cNvSpPr>
          <p:nvPr/>
        </p:nvSpPr>
        <p:spPr bwMode="auto">
          <a:xfrm>
            <a:off x="6054725" y="2143968"/>
            <a:ext cx="2686050" cy="2001838"/>
          </a:xfrm>
          <a:prstGeom prst="roundRect">
            <a:avLst>
              <a:gd name="adj" fmla="val 16667"/>
            </a:avLst>
          </a:prstGeom>
          <a:solidFill>
            <a:srgbClr val="3366FF"/>
          </a:solidFill>
          <a:ln w="38100">
            <a:solidFill>
              <a:schemeClr val="bg1"/>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25" name="58 Rectángulo redondeado"/>
          <p:cNvSpPr>
            <a:spLocks noChangeArrowheads="1"/>
          </p:cNvSpPr>
          <p:nvPr/>
        </p:nvSpPr>
        <p:spPr bwMode="auto">
          <a:xfrm>
            <a:off x="6394451" y="2929780"/>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6" name="59 Rectángulo redondeado"/>
          <p:cNvSpPr>
            <a:spLocks noChangeArrowheads="1"/>
          </p:cNvSpPr>
          <p:nvPr/>
        </p:nvSpPr>
        <p:spPr bwMode="auto">
          <a:xfrm>
            <a:off x="7561266" y="2929780"/>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7" name="60 Rectángulo redondeado"/>
          <p:cNvSpPr>
            <a:spLocks noChangeArrowheads="1"/>
          </p:cNvSpPr>
          <p:nvPr/>
        </p:nvSpPr>
        <p:spPr bwMode="auto">
          <a:xfrm>
            <a:off x="6394451" y="3502869"/>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8" name="61 Rectángulo redondeado"/>
          <p:cNvSpPr>
            <a:spLocks noChangeArrowheads="1"/>
          </p:cNvSpPr>
          <p:nvPr/>
        </p:nvSpPr>
        <p:spPr bwMode="auto">
          <a:xfrm>
            <a:off x="7561266" y="3502869"/>
            <a:ext cx="895350" cy="457200"/>
          </a:xfrm>
          <a:prstGeom prst="roundRect">
            <a:avLst>
              <a:gd name="adj" fmla="val 16667"/>
            </a:avLst>
          </a:prstGeom>
          <a:gradFill flip="none" rotWithShape="1">
            <a:gsLst>
              <a:gs pos="0">
                <a:schemeClr val="bg1"/>
              </a:gs>
              <a:gs pos="60000">
                <a:srgbClr val="CC9900">
                  <a:alpha val="70000"/>
                </a:srgbClr>
              </a:gs>
              <a:gs pos="100000">
                <a:srgbClr val="CC99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9" name="62 CuadroTexto"/>
          <p:cNvSpPr txBox="1">
            <a:spLocks noChangeArrowheads="1"/>
          </p:cNvSpPr>
          <p:nvPr/>
        </p:nvSpPr>
        <p:spPr bwMode="auto">
          <a:xfrm>
            <a:off x="6196013" y="2199533"/>
            <a:ext cx="240347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n-US" sz="1800" dirty="0" smtClean="0">
                <a:solidFill>
                  <a:schemeClr val="bg1"/>
                </a:solidFill>
                <a:latin typeface="Arial" charset="0"/>
                <a:cs typeface="Arial" charset="0"/>
              </a:rPr>
              <a:t>FIWARE </a:t>
            </a:r>
            <a:r>
              <a:rPr lang="en-US" sz="1800" dirty="0">
                <a:solidFill>
                  <a:schemeClr val="bg1"/>
                </a:solidFill>
                <a:latin typeface="Arial" charset="0"/>
                <a:cs typeface="Arial" charset="0"/>
              </a:rPr>
              <a:t>Instance</a:t>
            </a:r>
          </a:p>
        </p:txBody>
      </p:sp>
      <p:sp>
        <p:nvSpPr>
          <p:cNvPr id="30" name="32 CuadroTexto"/>
          <p:cNvSpPr txBox="1">
            <a:spLocks noChangeArrowheads="1"/>
          </p:cNvSpPr>
          <p:nvPr/>
        </p:nvSpPr>
        <p:spPr bwMode="auto">
          <a:xfrm>
            <a:off x="6194642" y="1450876"/>
            <a:ext cx="240347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s-ES" sz="1800" dirty="0" err="1" smtClean="0">
                <a:latin typeface="Arial" charset="0"/>
                <a:cs typeface="Arial" charset="0"/>
              </a:rPr>
              <a:t>Future</a:t>
            </a:r>
            <a:r>
              <a:rPr lang="es-ES" sz="1800" dirty="0" smtClean="0">
                <a:latin typeface="Arial" charset="0"/>
                <a:cs typeface="Arial" charset="0"/>
              </a:rPr>
              <a:t> Internet App</a:t>
            </a:r>
            <a:endParaRPr lang="es-ES" sz="1800" dirty="0">
              <a:latin typeface="Arial" charset="0"/>
              <a:cs typeface="Arial" charset="0"/>
            </a:endParaRPr>
          </a:p>
        </p:txBody>
      </p:sp>
      <p:sp>
        <p:nvSpPr>
          <p:cNvPr id="31" name="32 CuadroTexto"/>
          <p:cNvSpPr txBox="1">
            <a:spLocks noChangeArrowheads="1"/>
          </p:cNvSpPr>
          <p:nvPr/>
        </p:nvSpPr>
        <p:spPr bwMode="auto">
          <a:xfrm>
            <a:off x="4052893" y="3606056"/>
            <a:ext cx="2403475" cy="30777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eaLnBrk="1" hangingPunct="1"/>
            <a:r>
              <a:rPr lang="en-US" sz="1400" i="1">
                <a:latin typeface="Arial" charset="0"/>
                <a:cs typeface="Arial" charset="0"/>
              </a:rPr>
              <a:t>assemble…</a:t>
            </a:r>
          </a:p>
        </p:txBody>
      </p:sp>
      <p:cxnSp>
        <p:nvCxnSpPr>
          <p:cNvPr id="32" name="21 Conector recto de flecha"/>
          <p:cNvCxnSpPr>
            <a:cxnSpLocks noChangeShapeType="1"/>
          </p:cNvCxnSpPr>
          <p:nvPr/>
        </p:nvCxnSpPr>
        <p:spPr bwMode="auto">
          <a:xfrm>
            <a:off x="8009910" y="3754987"/>
            <a:ext cx="9757" cy="583608"/>
          </a:xfrm>
          <a:prstGeom prst="straightConnector1">
            <a:avLst/>
          </a:prstGeom>
          <a:noFill/>
          <a:ln w="28575">
            <a:solidFill>
              <a:srgbClr val="003F52"/>
            </a:solidFill>
            <a:prstDash val="sysDash"/>
            <a:round/>
            <a:headEnd type="arrow" w="med" len="med"/>
            <a:tailEnd/>
          </a:ln>
          <a:extLst>
            <a:ext uri="{909E8E84-426E-40DD-AFC4-6F175D3DCCD1}">
              <a14:hiddenFill xmlns:a14="http://schemas.microsoft.com/office/drawing/2010/main" xmlns="">
                <a:noFill/>
              </a14:hiddenFill>
            </a:ext>
          </a:extLst>
        </p:spPr>
      </p:cxnSp>
      <p:sp>
        <p:nvSpPr>
          <p:cNvPr id="33" name="19 CuadroTexto"/>
          <p:cNvSpPr txBox="1">
            <a:spLocks noChangeArrowheads="1"/>
          </p:cNvSpPr>
          <p:nvPr/>
        </p:nvSpPr>
        <p:spPr bwMode="auto">
          <a:xfrm>
            <a:off x="6448135" y="4296493"/>
            <a:ext cx="2656496" cy="33855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eaLnBrk="1" hangingPunct="1"/>
            <a:r>
              <a:rPr lang="en-US" sz="1600" dirty="0" smtClean="0">
                <a:latin typeface="Arial" charset="0"/>
                <a:cs typeface="Arial" charset="0"/>
              </a:rPr>
              <a:t>added-value components</a:t>
            </a:r>
            <a:endParaRPr lang="en-US" sz="1600" dirty="0">
              <a:latin typeface="Arial" charset="0"/>
              <a:cs typeface="Arial" charset="0"/>
            </a:endParaRPr>
          </a:p>
        </p:txBody>
      </p:sp>
    </p:spTree>
    <p:extLst>
      <p:ext uri="{BB962C8B-B14F-4D97-AF65-F5344CB8AC3E}">
        <p14:creationId xmlns:p14="http://schemas.microsoft.com/office/powerpoint/2010/main" xmlns="" val="4265645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anim calcmode="lin" valueType="num">
                                      <p:cBhvr>
                                        <p:cTn id="13" dur="1000" fill="hold"/>
                                        <p:tgtEl>
                                          <p:spTgt spid="8"/>
                                        </p:tgtEl>
                                        <p:attrNameLst>
                                          <p:attrName>ppt_x</p:attrName>
                                        </p:attrNameLst>
                                      </p:cBhvr>
                                      <p:tavLst>
                                        <p:tav tm="0">
                                          <p:val>
                                            <p:strVal val="#ppt_x"/>
                                          </p:val>
                                        </p:tav>
                                        <p:tav tm="100000">
                                          <p:val>
                                            <p:strVal val="#ppt_x"/>
                                          </p:val>
                                        </p:tav>
                                      </p:tavLst>
                                    </p:anim>
                                    <p:anim calcmode="lin" valueType="num">
                                      <p:cBhvr>
                                        <p:cTn id="14" dur="1000" fill="hold"/>
                                        <p:tgtEl>
                                          <p:spTgt spid="8"/>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1000"/>
                                        <p:tgtEl>
                                          <p:spTgt spid="9"/>
                                        </p:tgtEl>
                                      </p:cBhvr>
                                    </p:animEffect>
                                    <p:anim calcmode="lin" valueType="num">
                                      <p:cBhvr>
                                        <p:cTn id="18" dur="1000" fill="hold"/>
                                        <p:tgtEl>
                                          <p:spTgt spid="9"/>
                                        </p:tgtEl>
                                        <p:attrNameLst>
                                          <p:attrName>ppt_x</p:attrName>
                                        </p:attrNameLst>
                                      </p:cBhvr>
                                      <p:tavLst>
                                        <p:tav tm="0">
                                          <p:val>
                                            <p:strVal val="#ppt_x"/>
                                          </p:val>
                                        </p:tav>
                                        <p:tav tm="100000">
                                          <p:val>
                                            <p:strVal val="#ppt_x"/>
                                          </p:val>
                                        </p:tav>
                                      </p:tavLst>
                                    </p:anim>
                                    <p:anim calcmode="lin" valueType="num">
                                      <p:cBhvr>
                                        <p:cTn id="19" dur="1000" fill="hold"/>
                                        <p:tgtEl>
                                          <p:spTgt spid="9"/>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1000"/>
                                        <p:tgtEl>
                                          <p:spTgt spid="10"/>
                                        </p:tgtEl>
                                      </p:cBhvr>
                                    </p:animEffect>
                                    <p:anim calcmode="lin" valueType="num">
                                      <p:cBhvr>
                                        <p:cTn id="23" dur="1000" fill="hold"/>
                                        <p:tgtEl>
                                          <p:spTgt spid="10"/>
                                        </p:tgtEl>
                                        <p:attrNameLst>
                                          <p:attrName>ppt_x</p:attrName>
                                        </p:attrNameLst>
                                      </p:cBhvr>
                                      <p:tavLst>
                                        <p:tav tm="0">
                                          <p:val>
                                            <p:strVal val="#ppt_x"/>
                                          </p:val>
                                        </p:tav>
                                        <p:tav tm="100000">
                                          <p:val>
                                            <p:strVal val="#ppt_x"/>
                                          </p:val>
                                        </p:tav>
                                      </p:tavLst>
                                    </p:anim>
                                    <p:anim calcmode="lin" valueType="num">
                                      <p:cBhvr>
                                        <p:cTn id="24" dur="1000" fill="hold"/>
                                        <p:tgtEl>
                                          <p:spTgt spid="10"/>
                                        </p:tgtEl>
                                        <p:attrNameLst>
                                          <p:attrName>ppt_y</p:attrName>
                                        </p:attrNameLst>
                                      </p:cBhvr>
                                      <p:tavLst>
                                        <p:tav tm="0">
                                          <p:val>
                                            <p:strVal val="#ppt_y+.1"/>
                                          </p:val>
                                        </p:tav>
                                        <p:tav tm="100000">
                                          <p:val>
                                            <p:strVal val="#ppt_y"/>
                                          </p:val>
                                        </p:tav>
                                      </p:tavLst>
                                    </p:anim>
                                  </p:childTnLst>
                                </p:cTn>
                              </p:par>
                              <p:par>
                                <p:cTn id="25" presetID="42"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1000"/>
                                        <p:tgtEl>
                                          <p:spTgt spid="11"/>
                                        </p:tgtEl>
                                      </p:cBhvr>
                                    </p:animEffect>
                                    <p:anim calcmode="lin" valueType="num">
                                      <p:cBhvr>
                                        <p:cTn id="28" dur="1000" fill="hold"/>
                                        <p:tgtEl>
                                          <p:spTgt spid="11"/>
                                        </p:tgtEl>
                                        <p:attrNameLst>
                                          <p:attrName>ppt_x</p:attrName>
                                        </p:attrNameLst>
                                      </p:cBhvr>
                                      <p:tavLst>
                                        <p:tav tm="0">
                                          <p:val>
                                            <p:strVal val="#ppt_x"/>
                                          </p:val>
                                        </p:tav>
                                        <p:tav tm="100000">
                                          <p:val>
                                            <p:strVal val="#ppt_x"/>
                                          </p:val>
                                        </p:tav>
                                      </p:tavLst>
                                    </p:anim>
                                    <p:anim calcmode="lin" valueType="num">
                                      <p:cBhvr>
                                        <p:cTn id="29" dur="1000" fill="hold"/>
                                        <p:tgtEl>
                                          <p:spTgt spid="11"/>
                                        </p:tgtEl>
                                        <p:attrNameLst>
                                          <p:attrName>ppt_y</p:attrName>
                                        </p:attrNameLst>
                                      </p:cBhvr>
                                      <p:tavLst>
                                        <p:tav tm="0">
                                          <p:val>
                                            <p:strVal val="#ppt_y+.1"/>
                                          </p:val>
                                        </p:tav>
                                        <p:tav tm="100000">
                                          <p:val>
                                            <p:strVal val="#ppt_y"/>
                                          </p:val>
                                        </p:tav>
                                      </p:tavLst>
                                    </p:anim>
                                  </p:childTnLst>
                                </p:cTn>
                              </p:par>
                              <p:par>
                                <p:cTn id="30" presetID="42"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anim calcmode="lin" valueType="num">
                                      <p:cBhvr>
                                        <p:cTn id="33" dur="1000" fill="hold"/>
                                        <p:tgtEl>
                                          <p:spTgt spid="12"/>
                                        </p:tgtEl>
                                        <p:attrNameLst>
                                          <p:attrName>ppt_x</p:attrName>
                                        </p:attrNameLst>
                                      </p:cBhvr>
                                      <p:tavLst>
                                        <p:tav tm="0">
                                          <p:val>
                                            <p:strVal val="#ppt_x"/>
                                          </p:val>
                                        </p:tav>
                                        <p:tav tm="100000">
                                          <p:val>
                                            <p:strVal val="#ppt_x"/>
                                          </p:val>
                                        </p:tav>
                                      </p:tavLst>
                                    </p:anim>
                                    <p:anim calcmode="lin" valueType="num">
                                      <p:cBhvr>
                                        <p:cTn id="34" dur="1000" fill="hold"/>
                                        <p:tgtEl>
                                          <p:spTgt spid="12"/>
                                        </p:tgtEl>
                                        <p:attrNameLst>
                                          <p:attrName>ppt_y</p:attrName>
                                        </p:attrNameLst>
                                      </p:cBhvr>
                                      <p:tavLst>
                                        <p:tav tm="0">
                                          <p:val>
                                            <p:strVal val="#ppt_y+.1"/>
                                          </p:val>
                                        </p:tav>
                                        <p:tav tm="100000">
                                          <p:val>
                                            <p:strVal val="#ppt_y"/>
                                          </p:val>
                                        </p:tav>
                                      </p:tavLst>
                                    </p:anim>
                                  </p:childTnLst>
                                </p:cTn>
                              </p:par>
                              <p:par>
                                <p:cTn id="35" presetID="42"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anim calcmode="lin" valueType="num">
                                      <p:cBhvr>
                                        <p:cTn id="38" dur="1000" fill="hold"/>
                                        <p:tgtEl>
                                          <p:spTgt spid="13"/>
                                        </p:tgtEl>
                                        <p:attrNameLst>
                                          <p:attrName>ppt_x</p:attrName>
                                        </p:attrNameLst>
                                      </p:cBhvr>
                                      <p:tavLst>
                                        <p:tav tm="0">
                                          <p:val>
                                            <p:strVal val="#ppt_x"/>
                                          </p:val>
                                        </p:tav>
                                        <p:tav tm="100000">
                                          <p:val>
                                            <p:strVal val="#ppt_x"/>
                                          </p:val>
                                        </p:tav>
                                      </p:tavLst>
                                    </p:anim>
                                    <p:anim calcmode="lin" valueType="num">
                                      <p:cBhvr>
                                        <p:cTn id="39" dur="1000" fill="hold"/>
                                        <p:tgtEl>
                                          <p:spTgt spid="13"/>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anim calcmode="lin" valueType="num">
                                      <p:cBhvr>
                                        <p:cTn id="43" dur="1000" fill="hold"/>
                                        <p:tgtEl>
                                          <p:spTgt spid="14"/>
                                        </p:tgtEl>
                                        <p:attrNameLst>
                                          <p:attrName>ppt_x</p:attrName>
                                        </p:attrNameLst>
                                      </p:cBhvr>
                                      <p:tavLst>
                                        <p:tav tm="0">
                                          <p:val>
                                            <p:strVal val="#ppt_x"/>
                                          </p:val>
                                        </p:tav>
                                        <p:tav tm="100000">
                                          <p:val>
                                            <p:strVal val="#ppt_x"/>
                                          </p:val>
                                        </p:tav>
                                      </p:tavLst>
                                    </p:anim>
                                    <p:anim calcmode="lin" valueType="num">
                                      <p:cBhvr>
                                        <p:cTn id="44" dur="1000" fill="hold"/>
                                        <p:tgtEl>
                                          <p:spTgt spid="14"/>
                                        </p:tgtEl>
                                        <p:attrNameLst>
                                          <p:attrName>ppt_y</p:attrName>
                                        </p:attrNameLst>
                                      </p:cBhvr>
                                      <p:tavLst>
                                        <p:tav tm="0">
                                          <p:val>
                                            <p:strVal val="#ppt_y+.1"/>
                                          </p:val>
                                        </p:tav>
                                        <p:tav tm="100000">
                                          <p:val>
                                            <p:strVal val="#ppt_y"/>
                                          </p:val>
                                        </p:tav>
                                      </p:tavLst>
                                    </p:anim>
                                  </p:childTnLst>
                                </p:cTn>
                              </p:par>
                              <p:par>
                                <p:cTn id="45" presetID="42"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1000"/>
                                        <p:tgtEl>
                                          <p:spTgt spid="15"/>
                                        </p:tgtEl>
                                      </p:cBhvr>
                                    </p:animEffect>
                                    <p:anim calcmode="lin" valueType="num">
                                      <p:cBhvr>
                                        <p:cTn id="48" dur="1000" fill="hold"/>
                                        <p:tgtEl>
                                          <p:spTgt spid="15"/>
                                        </p:tgtEl>
                                        <p:attrNameLst>
                                          <p:attrName>ppt_x</p:attrName>
                                        </p:attrNameLst>
                                      </p:cBhvr>
                                      <p:tavLst>
                                        <p:tav tm="0">
                                          <p:val>
                                            <p:strVal val="#ppt_x"/>
                                          </p:val>
                                        </p:tav>
                                        <p:tav tm="100000">
                                          <p:val>
                                            <p:strVal val="#ppt_x"/>
                                          </p:val>
                                        </p:tav>
                                      </p:tavLst>
                                    </p:anim>
                                    <p:anim calcmode="lin" valueType="num">
                                      <p:cBhvr>
                                        <p:cTn id="49" dur="1000" fill="hold"/>
                                        <p:tgtEl>
                                          <p:spTgt spid="15"/>
                                        </p:tgtEl>
                                        <p:attrNameLst>
                                          <p:attrName>ppt_y</p:attrName>
                                        </p:attrNameLst>
                                      </p:cBhvr>
                                      <p:tavLst>
                                        <p:tav tm="0">
                                          <p:val>
                                            <p:strVal val="#ppt_y+.1"/>
                                          </p:val>
                                        </p:tav>
                                        <p:tav tm="100000">
                                          <p:val>
                                            <p:strVal val="#ppt_y"/>
                                          </p:val>
                                        </p:tav>
                                      </p:tavLst>
                                    </p:anim>
                                  </p:childTnLst>
                                </p:cTn>
                              </p:par>
                              <p:par>
                                <p:cTn id="50" presetID="42" presetClass="entr" presetSubtype="0" fill="hold" grpId="0" nodeType="with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1000"/>
                                        <p:tgtEl>
                                          <p:spTgt spid="16"/>
                                        </p:tgtEl>
                                      </p:cBhvr>
                                    </p:animEffect>
                                    <p:anim calcmode="lin" valueType="num">
                                      <p:cBhvr>
                                        <p:cTn id="53" dur="1000" fill="hold"/>
                                        <p:tgtEl>
                                          <p:spTgt spid="16"/>
                                        </p:tgtEl>
                                        <p:attrNameLst>
                                          <p:attrName>ppt_x</p:attrName>
                                        </p:attrNameLst>
                                      </p:cBhvr>
                                      <p:tavLst>
                                        <p:tav tm="0">
                                          <p:val>
                                            <p:strVal val="#ppt_x"/>
                                          </p:val>
                                        </p:tav>
                                        <p:tav tm="100000">
                                          <p:val>
                                            <p:strVal val="#ppt_x"/>
                                          </p:val>
                                        </p:tav>
                                      </p:tavLst>
                                    </p:anim>
                                    <p:anim calcmode="lin" valueType="num">
                                      <p:cBhvr>
                                        <p:cTn id="54" dur="1000" fill="hold"/>
                                        <p:tgtEl>
                                          <p:spTgt spid="16"/>
                                        </p:tgtEl>
                                        <p:attrNameLst>
                                          <p:attrName>ppt_y</p:attrName>
                                        </p:attrNameLst>
                                      </p:cBhvr>
                                      <p:tavLst>
                                        <p:tav tm="0">
                                          <p:val>
                                            <p:strVal val="#ppt_y+.1"/>
                                          </p:val>
                                        </p:tav>
                                        <p:tav tm="100000">
                                          <p:val>
                                            <p:strVal val="#ppt_y"/>
                                          </p:val>
                                        </p:tav>
                                      </p:tavLst>
                                    </p:anim>
                                  </p:childTnLst>
                                </p:cTn>
                              </p:par>
                              <p:par>
                                <p:cTn id="55" presetID="42" presetClass="entr" presetSubtype="0" fill="hold" grpId="0" nodeType="with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1000"/>
                                        <p:tgtEl>
                                          <p:spTgt spid="6"/>
                                        </p:tgtEl>
                                      </p:cBhvr>
                                    </p:animEffect>
                                    <p:anim calcmode="lin" valueType="num">
                                      <p:cBhvr>
                                        <p:cTn id="58" dur="1000" fill="hold"/>
                                        <p:tgtEl>
                                          <p:spTgt spid="6"/>
                                        </p:tgtEl>
                                        <p:attrNameLst>
                                          <p:attrName>ppt_x</p:attrName>
                                        </p:attrNameLst>
                                      </p:cBhvr>
                                      <p:tavLst>
                                        <p:tav tm="0">
                                          <p:val>
                                            <p:strVal val="#ppt_x"/>
                                          </p:val>
                                        </p:tav>
                                        <p:tav tm="100000">
                                          <p:val>
                                            <p:strVal val="#ppt_x"/>
                                          </p:val>
                                        </p:tav>
                                      </p:tavLst>
                                    </p:anim>
                                    <p:anim calcmode="lin" valueType="num">
                                      <p:cBhvr>
                                        <p:cTn id="59" dur="1000" fill="hold"/>
                                        <p:tgtEl>
                                          <p:spTgt spid="6"/>
                                        </p:tgtEl>
                                        <p:attrNameLst>
                                          <p:attrName>ppt_y</p:attrName>
                                        </p:attrNameLst>
                                      </p:cBhvr>
                                      <p:tavLst>
                                        <p:tav tm="0">
                                          <p:val>
                                            <p:strVal val="#ppt_y+.1"/>
                                          </p:val>
                                        </p:tav>
                                        <p:tav tm="100000">
                                          <p:val>
                                            <p:strVal val="#ppt_y"/>
                                          </p:val>
                                        </p:tav>
                                      </p:tavLst>
                                    </p:anim>
                                  </p:childTnLst>
                                </p:cTn>
                              </p:par>
                            </p:childTnLst>
                          </p:cTn>
                        </p:par>
                        <p:par>
                          <p:cTn id="60" fill="hold">
                            <p:stCondLst>
                              <p:cond delay="1000"/>
                            </p:stCondLst>
                            <p:childTnLst>
                              <p:par>
                                <p:cTn id="61" presetID="42" presetClass="entr" presetSubtype="0" fill="hold" nodeType="afterEffect">
                                  <p:stCondLst>
                                    <p:cond delay="0"/>
                                  </p:stCondLst>
                                  <p:childTnLst>
                                    <p:set>
                                      <p:cBhvr>
                                        <p:cTn id="62" dur="1" fill="hold">
                                          <p:stCondLst>
                                            <p:cond delay="0"/>
                                          </p:stCondLst>
                                        </p:cTn>
                                        <p:tgtEl>
                                          <p:spTgt spid="17"/>
                                        </p:tgtEl>
                                        <p:attrNameLst>
                                          <p:attrName>style.visibility</p:attrName>
                                        </p:attrNameLst>
                                      </p:cBhvr>
                                      <p:to>
                                        <p:strVal val="visible"/>
                                      </p:to>
                                    </p:set>
                                    <p:animEffect transition="in" filter="fade">
                                      <p:cBhvr>
                                        <p:cTn id="63" dur="1000"/>
                                        <p:tgtEl>
                                          <p:spTgt spid="17"/>
                                        </p:tgtEl>
                                      </p:cBhvr>
                                    </p:animEffect>
                                    <p:anim calcmode="lin" valueType="num">
                                      <p:cBhvr>
                                        <p:cTn id="64" dur="1000" fill="hold"/>
                                        <p:tgtEl>
                                          <p:spTgt spid="17"/>
                                        </p:tgtEl>
                                        <p:attrNameLst>
                                          <p:attrName>ppt_x</p:attrName>
                                        </p:attrNameLst>
                                      </p:cBhvr>
                                      <p:tavLst>
                                        <p:tav tm="0">
                                          <p:val>
                                            <p:strVal val="#ppt_x"/>
                                          </p:val>
                                        </p:tav>
                                        <p:tav tm="100000">
                                          <p:val>
                                            <p:strVal val="#ppt_x"/>
                                          </p:val>
                                        </p:tav>
                                      </p:tavLst>
                                    </p:anim>
                                    <p:anim calcmode="lin" valueType="num">
                                      <p:cBhvr>
                                        <p:cTn id="65" dur="1000" fill="hold"/>
                                        <p:tgtEl>
                                          <p:spTgt spid="17"/>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7" dur="1" fill="hold">
                                          <p:stCondLst>
                                            <p:cond delay="0"/>
                                          </p:stCondLst>
                                        </p:cTn>
                                        <p:tgtEl>
                                          <p:spTgt spid="19"/>
                                        </p:tgtEl>
                                        <p:attrNameLst>
                                          <p:attrName>style.visibility</p:attrName>
                                        </p:attrNameLst>
                                      </p:cBhvr>
                                      <p:to>
                                        <p:strVal val="visible"/>
                                      </p:to>
                                    </p:set>
                                    <p:animEffect transition="in" filter="fade">
                                      <p:cBhvr>
                                        <p:cTn id="68" dur="1000"/>
                                        <p:tgtEl>
                                          <p:spTgt spid="19"/>
                                        </p:tgtEl>
                                      </p:cBhvr>
                                    </p:animEffect>
                                    <p:anim calcmode="lin" valueType="num">
                                      <p:cBhvr>
                                        <p:cTn id="69" dur="1000" fill="hold"/>
                                        <p:tgtEl>
                                          <p:spTgt spid="19"/>
                                        </p:tgtEl>
                                        <p:attrNameLst>
                                          <p:attrName>ppt_x</p:attrName>
                                        </p:attrNameLst>
                                      </p:cBhvr>
                                      <p:tavLst>
                                        <p:tav tm="0">
                                          <p:val>
                                            <p:strVal val="#ppt_x"/>
                                          </p:val>
                                        </p:tav>
                                        <p:tav tm="100000">
                                          <p:val>
                                            <p:strVal val="#ppt_x"/>
                                          </p:val>
                                        </p:tav>
                                      </p:tavLst>
                                    </p:anim>
                                    <p:anim calcmode="lin" valueType="num">
                                      <p:cBhvr>
                                        <p:cTn id="70" dur="1000" fill="hold"/>
                                        <p:tgtEl>
                                          <p:spTgt spid="19"/>
                                        </p:tgtEl>
                                        <p:attrNameLst>
                                          <p:attrName>ppt_y</p:attrName>
                                        </p:attrNameLst>
                                      </p:cBhvr>
                                      <p:tavLst>
                                        <p:tav tm="0">
                                          <p:val>
                                            <p:strVal val="#ppt_y+.1"/>
                                          </p:val>
                                        </p:tav>
                                        <p:tav tm="100000">
                                          <p:val>
                                            <p:strVal val="#ppt_y"/>
                                          </p:val>
                                        </p:tav>
                                      </p:tavLst>
                                    </p:anim>
                                  </p:childTnLst>
                                </p:cTn>
                              </p:par>
                              <p:par>
                                <p:cTn id="71" presetID="42" presetClass="entr" presetSubtype="0" fill="hold" grpId="0" nodeType="with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1000"/>
                                        <p:tgtEl>
                                          <p:spTgt spid="18"/>
                                        </p:tgtEl>
                                      </p:cBhvr>
                                    </p:animEffect>
                                    <p:anim calcmode="lin" valueType="num">
                                      <p:cBhvr>
                                        <p:cTn id="74" dur="1000" fill="hold"/>
                                        <p:tgtEl>
                                          <p:spTgt spid="18"/>
                                        </p:tgtEl>
                                        <p:attrNameLst>
                                          <p:attrName>ppt_x</p:attrName>
                                        </p:attrNameLst>
                                      </p:cBhvr>
                                      <p:tavLst>
                                        <p:tav tm="0">
                                          <p:val>
                                            <p:strVal val="#ppt_x"/>
                                          </p:val>
                                        </p:tav>
                                        <p:tav tm="100000">
                                          <p:val>
                                            <p:strVal val="#ppt_x"/>
                                          </p:val>
                                        </p:tav>
                                      </p:tavLst>
                                    </p:anim>
                                    <p:anim calcmode="lin" valueType="num">
                                      <p:cBhvr>
                                        <p:cTn id="75"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6" fill="hold">
                      <p:stCondLst>
                        <p:cond delay="indefinite"/>
                      </p:stCondLst>
                      <p:childTnLst>
                        <p:par>
                          <p:cTn id="77" fill="hold">
                            <p:stCondLst>
                              <p:cond delay="0"/>
                            </p:stCondLst>
                            <p:childTnLst>
                              <p:par>
                                <p:cTn id="78" presetID="42" presetClass="entr" presetSubtype="0" fill="hold" nodeType="clickEffect">
                                  <p:stCondLst>
                                    <p:cond delay="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1000"/>
                                        <p:tgtEl>
                                          <p:spTgt spid="23"/>
                                        </p:tgtEl>
                                      </p:cBhvr>
                                    </p:animEffect>
                                    <p:anim calcmode="lin" valueType="num">
                                      <p:cBhvr>
                                        <p:cTn id="81" dur="1000" fill="hold"/>
                                        <p:tgtEl>
                                          <p:spTgt spid="23"/>
                                        </p:tgtEl>
                                        <p:attrNameLst>
                                          <p:attrName>ppt_x</p:attrName>
                                        </p:attrNameLst>
                                      </p:cBhvr>
                                      <p:tavLst>
                                        <p:tav tm="0">
                                          <p:val>
                                            <p:strVal val="#ppt_x"/>
                                          </p:val>
                                        </p:tav>
                                        <p:tav tm="100000">
                                          <p:val>
                                            <p:strVal val="#ppt_x"/>
                                          </p:val>
                                        </p:tav>
                                      </p:tavLst>
                                    </p:anim>
                                    <p:anim calcmode="lin" valueType="num">
                                      <p:cBhvr>
                                        <p:cTn id="82" dur="1000" fill="hold"/>
                                        <p:tgtEl>
                                          <p:spTgt spid="23"/>
                                        </p:tgtEl>
                                        <p:attrNameLst>
                                          <p:attrName>ppt_y</p:attrName>
                                        </p:attrNameLst>
                                      </p:cBhvr>
                                      <p:tavLst>
                                        <p:tav tm="0">
                                          <p:val>
                                            <p:strVal val="#ppt_y+.1"/>
                                          </p:val>
                                        </p:tav>
                                        <p:tav tm="100000">
                                          <p:val>
                                            <p:strVal val="#ppt_y"/>
                                          </p:val>
                                        </p:tav>
                                      </p:tavLst>
                                    </p:anim>
                                  </p:childTnLst>
                                </p:cTn>
                              </p:par>
                              <p:par>
                                <p:cTn id="83" presetID="42" presetClass="entr" presetSubtype="0" fill="hold" grpId="0" nodeType="withEffect">
                                  <p:stCondLst>
                                    <p:cond delay="0"/>
                                  </p:stCondLst>
                                  <p:childTnLst>
                                    <p:set>
                                      <p:cBhvr>
                                        <p:cTn id="84" dur="1" fill="hold">
                                          <p:stCondLst>
                                            <p:cond delay="0"/>
                                          </p:stCondLst>
                                        </p:cTn>
                                        <p:tgtEl>
                                          <p:spTgt spid="5"/>
                                        </p:tgtEl>
                                        <p:attrNameLst>
                                          <p:attrName>style.visibility</p:attrName>
                                        </p:attrNameLst>
                                      </p:cBhvr>
                                      <p:to>
                                        <p:strVal val="visible"/>
                                      </p:to>
                                    </p:set>
                                    <p:animEffect transition="in" filter="fade">
                                      <p:cBhvr>
                                        <p:cTn id="85" dur="1000"/>
                                        <p:tgtEl>
                                          <p:spTgt spid="5"/>
                                        </p:tgtEl>
                                      </p:cBhvr>
                                    </p:animEffect>
                                    <p:anim calcmode="lin" valueType="num">
                                      <p:cBhvr>
                                        <p:cTn id="86" dur="1000" fill="hold"/>
                                        <p:tgtEl>
                                          <p:spTgt spid="5"/>
                                        </p:tgtEl>
                                        <p:attrNameLst>
                                          <p:attrName>ppt_x</p:attrName>
                                        </p:attrNameLst>
                                      </p:cBhvr>
                                      <p:tavLst>
                                        <p:tav tm="0">
                                          <p:val>
                                            <p:strVal val="#ppt_x"/>
                                          </p:val>
                                        </p:tav>
                                        <p:tav tm="100000">
                                          <p:val>
                                            <p:strVal val="#ppt_x"/>
                                          </p:val>
                                        </p:tav>
                                      </p:tavLst>
                                    </p:anim>
                                    <p:anim calcmode="lin" valueType="num">
                                      <p:cBhvr>
                                        <p:cTn id="87" dur="1000" fill="hold"/>
                                        <p:tgtEl>
                                          <p:spTgt spid="5"/>
                                        </p:tgtEl>
                                        <p:attrNameLst>
                                          <p:attrName>ppt_y</p:attrName>
                                        </p:attrNameLst>
                                      </p:cBhvr>
                                      <p:tavLst>
                                        <p:tav tm="0">
                                          <p:val>
                                            <p:strVal val="#ppt_y+.1"/>
                                          </p:val>
                                        </p:tav>
                                        <p:tav tm="100000">
                                          <p:val>
                                            <p:strVal val="#ppt_y"/>
                                          </p:val>
                                        </p:tav>
                                      </p:tavLst>
                                    </p:anim>
                                  </p:childTnLst>
                                </p:cTn>
                              </p:par>
                              <p:par>
                                <p:cTn id="88" presetID="42"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1000"/>
                                        <p:tgtEl>
                                          <p:spTgt spid="31"/>
                                        </p:tgtEl>
                                      </p:cBhvr>
                                    </p:animEffect>
                                    <p:anim calcmode="lin" valueType="num">
                                      <p:cBhvr>
                                        <p:cTn id="91" dur="1000" fill="hold"/>
                                        <p:tgtEl>
                                          <p:spTgt spid="31"/>
                                        </p:tgtEl>
                                        <p:attrNameLst>
                                          <p:attrName>ppt_x</p:attrName>
                                        </p:attrNameLst>
                                      </p:cBhvr>
                                      <p:tavLst>
                                        <p:tav tm="0">
                                          <p:val>
                                            <p:strVal val="#ppt_x"/>
                                          </p:val>
                                        </p:tav>
                                        <p:tav tm="100000">
                                          <p:val>
                                            <p:strVal val="#ppt_x"/>
                                          </p:val>
                                        </p:tav>
                                      </p:tavLst>
                                    </p:anim>
                                    <p:anim calcmode="lin" valueType="num">
                                      <p:cBhvr>
                                        <p:cTn id="92" dur="1000" fill="hold"/>
                                        <p:tgtEl>
                                          <p:spTgt spid="3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94" dur="1" fill="hold">
                                          <p:stCondLst>
                                            <p:cond delay="0"/>
                                          </p:stCondLst>
                                        </p:cTn>
                                        <p:tgtEl>
                                          <p:spTgt spid="20"/>
                                        </p:tgtEl>
                                        <p:attrNameLst>
                                          <p:attrName>style.visibility</p:attrName>
                                        </p:attrNameLst>
                                      </p:cBhvr>
                                      <p:to>
                                        <p:strVal val="visible"/>
                                      </p:to>
                                    </p:set>
                                    <p:animEffect transition="in" filter="fade">
                                      <p:cBhvr>
                                        <p:cTn id="95" dur="1000"/>
                                        <p:tgtEl>
                                          <p:spTgt spid="20"/>
                                        </p:tgtEl>
                                      </p:cBhvr>
                                    </p:animEffect>
                                    <p:anim calcmode="lin" valueType="num">
                                      <p:cBhvr>
                                        <p:cTn id="96" dur="1000" fill="hold"/>
                                        <p:tgtEl>
                                          <p:spTgt spid="20"/>
                                        </p:tgtEl>
                                        <p:attrNameLst>
                                          <p:attrName>ppt_x</p:attrName>
                                        </p:attrNameLst>
                                      </p:cBhvr>
                                      <p:tavLst>
                                        <p:tav tm="0">
                                          <p:val>
                                            <p:strVal val="#ppt_x"/>
                                          </p:val>
                                        </p:tav>
                                        <p:tav tm="100000">
                                          <p:val>
                                            <p:strVal val="#ppt_x"/>
                                          </p:val>
                                        </p:tav>
                                      </p:tavLst>
                                    </p:anim>
                                    <p:anim calcmode="lin" valueType="num">
                                      <p:cBhvr>
                                        <p:cTn id="97" dur="10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1000"/>
                                        <p:tgtEl>
                                          <p:spTgt spid="21"/>
                                        </p:tgtEl>
                                      </p:cBhvr>
                                    </p:animEffect>
                                    <p:anim calcmode="lin" valueType="num">
                                      <p:cBhvr>
                                        <p:cTn id="101" dur="1000" fill="hold"/>
                                        <p:tgtEl>
                                          <p:spTgt spid="21"/>
                                        </p:tgtEl>
                                        <p:attrNameLst>
                                          <p:attrName>ppt_x</p:attrName>
                                        </p:attrNameLst>
                                      </p:cBhvr>
                                      <p:tavLst>
                                        <p:tav tm="0">
                                          <p:val>
                                            <p:strVal val="#ppt_x"/>
                                          </p:val>
                                        </p:tav>
                                        <p:tav tm="100000">
                                          <p:val>
                                            <p:strVal val="#ppt_x"/>
                                          </p:val>
                                        </p:tav>
                                      </p:tavLst>
                                    </p:anim>
                                    <p:anim calcmode="lin" valueType="num">
                                      <p:cBhvr>
                                        <p:cTn id="102" dur="10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104" dur="1" fill="hold">
                                          <p:stCondLst>
                                            <p:cond delay="0"/>
                                          </p:stCondLst>
                                        </p:cTn>
                                        <p:tgtEl>
                                          <p:spTgt spid="22"/>
                                        </p:tgtEl>
                                        <p:attrNameLst>
                                          <p:attrName>style.visibility</p:attrName>
                                        </p:attrNameLst>
                                      </p:cBhvr>
                                      <p:to>
                                        <p:strVal val="visible"/>
                                      </p:to>
                                    </p:set>
                                    <p:animEffect transition="in" filter="fade">
                                      <p:cBhvr>
                                        <p:cTn id="105" dur="1000"/>
                                        <p:tgtEl>
                                          <p:spTgt spid="22"/>
                                        </p:tgtEl>
                                      </p:cBhvr>
                                    </p:animEffect>
                                    <p:anim calcmode="lin" valueType="num">
                                      <p:cBhvr>
                                        <p:cTn id="106" dur="1000" fill="hold"/>
                                        <p:tgtEl>
                                          <p:spTgt spid="22"/>
                                        </p:tgtEl>
                                        <p:attrNameLst>
                                          <p:attrName>ppt_x</p:attrName>
                                        </p:attrNameLst>
                                      </p:cBhvr>
                                      <p:tavLst>
                                        <p:tav tm="0">
                                          <p:val>
                                            <p:strVal val="#ppt_x"/>
                                          </p:val>
                                        </p:tav>
                                        <p:tav tm="100000">
                                          <p:val>
                                            <p:strVal val="#ppt_x"/>
                                          </p:val>
                                        </p:tav>
                                      </p:tavLst>
                                    </p:anim>
                                    <p:anim calcmode="lin" valueType="num">
                                      <p:cBhvr>
                                        <p:cTn id="107"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8" fill="hold">
                      <p:stCondLst>
                        <p:cond delay="indefinite"/>
                      </p:stCondLst>
                      <p:childTnLst>
                        <p:par>
                          <p:cTn id="109" fill="hold">
                            <p:stCondLst>
                              <p:cond delay="0"/>
                            </p:stCondLst>
                            <p:childTnLst>
                              <p:par>
                                <p:cTn id="110" presetID="42" presetClass="entr" presetSubtype="0" fill="hold" grpId="0" nodeType="clickEffect">
                                  <p:stCondLst>
                                    <p:cond delay="0"/>
                                  </p:stCondLst>
                                  <p:childTnLst>
                                    <p:set>
                                      <p:cBhvr>
                                        <p:cTn id="111" dur="1" fill="hold">
                                          <p:stCondLst>
                                            <p:cond delay="0"/>
                                          </p:stCondLst>
                                        </p:cTn>
                                        <p:tgtEl>
                                          <p:spTgt spid="24"/>
                                        </p:tgtEl>
                                        <p:attrNameLst>
                                          <p:attrName>style.visibility</p:attrName>
                                        </p:attrNameLst>
                                      </p:cBhvr>
                                      <p:to>
                                        <p:strVal val="visible"/>
                                      </p:to>
                                    </p:set>
                                    <p:animEffect transition="in" filter="fade">
                                      <p:cBhvr>
                                        <p:cTn id="112" dur="1000"/>
                                        <p:tgtEl>
                                          <p:spTgt spid="24"/>
                                        </p:tgtEl>
                                      </p:cBhvr>
                                    </p:animEffect>
                                    <p:anim calcmode="lin" valueType="num">
                                      <p:cBhvr>
                                        <p:cTn id="113" dur="1000" fill="hold"/>
                                        <p:tgtEl>
                                          <p:spTgt spid="24"/>
                                        </p:tgtEl>
                                        <p:attrNameLst>
                                          <p:attrName>ppt_x</p:attrName>
                                        </p:attrNameLst>
                                      </p:cBhvr>
                                      <p:tavLst>
                                        <p:tav tm="0">
                                          <p:val>
                                            <p:strVal val="#ppt_x"/>
                                          </p:val>
                                        </p:tav>
                                        <p:tav tm="100000">
                                          <p:val>
                                            <p:strVal val="#ppt_x"/>
                                          </p:val>
                                        </p:tav>
                                      </p:tavLst>
                                    </p:anim>
                                    <p:anim calcmode="lin" valueType="num">
                                      <p:cBhvr>
                                        <p:cTn id="114" dur="10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grpId="0" nodeType="with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fade">
                                      <p:cBhvr>
                                        <p:cTn id="117" dur="1000"/>
                                        <p:tgtEl>
                                          <p:spTgt spid="25"/>
                                        </p:tgtEl>
                                      </p:cBhvr>
                                    </p:animEffect>
                                    <p:anim calcmode="lin" valueType="num">
                                      <p:cBhvr>
                                        <p:cTn id="118" dur="1000" fill="hold"/>
                                        <p:tgtEl>
                                          <p:spTgt spid="25"/>
                                        </p:tgtEl>
                                        <p:attrNameLst>
                                          <p:attrName>ppt_x</p:attrName>
                                        </p:attrNameLst>
                                      </p:cBhvr>
                                      <p:tavLst>
                                        <p:tav tm="0">
                                          <p:val>
                                            <p:strVal val="#ppt_x"/>
                                          </p:val>
                                        </p:tav>
                                        <p:tav tm="100000">
                                          <p:val>
                                            <p:strVal val="#ppt_x"/>
                                          </p:val>
                                        </p:tav>
                                      </p:tavLst>
                                    </p:anim>
                                    <p:anim calcmode="lin" valueType="num">
                                      <p:cBhvr>
                                        <p:cTn id="119" dur="10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grpId="0" nodeType="withEffect">
                                  <p:stCondLst>
                                    <p:cond delay="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1000"/>
                                        <p:tgtEl>
                                          <p:spTgt spid="26"/>
                                        </p:tgtEl>
                                      </p:cBhvr>
                                    </p:animEffect>
                                    <p:anim calcmode="lin" valueType="num">
                                      <p:cBhvr>
                                        <p:cTn id="123" dur="1000" fill="hold"/>
                                        <p:tgtEl>
                                          <p:spTgt spid="26"/>
                                        </p:tgtEl>
                                        <p:attrNameLst>
                                          <p:attrName>ppt_x</p:attrName>
                                        </p:attrNameLst>
                                      </p:cBhvr>
                                      <p:tavLst>
                                        <p:tav tm="0">
                                          <p:val>
                                            <p:strVal val="#ppt_x"/>
                                          </p:val>
                                        </p:tav>
                                        <p:tav tm="100000">
                                          <p:val>
                                            <p:strVal val="#ppt_x"/>
                                          </p:val>
                                        </p:tav>
                                      </p:tavLst>
                                    </p:anim>
                                    <p:anim calcmode="lin" valueType="num">
                                      <p:cBhvr>
                                        <p:cTn id="124" dur="10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grpId="0" nodeType="withEffect">
                                  <p:stCondLst>
                                    <p:cond delay="0"/>
                                  </p:stCondLst>
                                  <p:childTnLst>
                                    <p:set>
                                      <p:cBhvr>
                                        <p:cTn id="126" dur="1" fill="hold">
                                          <p:stCondLst>
                                            <p:cond delay="0"/>
                                          </p:stCondLst>
                                        </p:cTn>
                                        <p:tgtEl>
                                          <p:spTgt spid="27"/>
                                        </p:tgtEl>
                                        <p:attrNameLst>
                                          <p:attrName>style.visibility</p:attrName>
                                        </p:attrNameLst>
                                      </p:cBhvr>
                                      <p:to>
                                        <p:strVal val="visible"/>
                                      </p:to>
                                    </p:set>
                                    <p:animEffect transition="in" filter="fade">
                                      <p:cBhvr>
                                        <p:cTn id="127" dur="1000"/>
                                        <p:tgtEl>
                                          <p:spTgt spid="27"/>
                                        </p:tgtEl>
                                      </p:cBhvr>
                                    </p:animEffect>
                                    <p:anim calcmode="lin" valueType="num">
                                      <p:cBhvr>
                                        <p:cTn id="128" dur="1000" fill="hold"/>
                                        <p:tgtEl>
                                          <p:spTgt spid="27"/>
                                        </p:tgtEl>
                                        <p:attrNameLst>
                                          <p:attrName>ppt_x</p:attrName>
                                        </p:attrNameLst>
                                      </p:cBhvr>
                                      <p:tavLst>
                                        <p:tav tm="0">
                                          <p:val>
                                            <p:strVal val="#ppt_x"/>
                                          </p:val>
                                        </p:tav>
                                        <p:tav tm="100000">
                                          <p:val>
                                            <p:strVal val="#ppt_x"/>
                                          </p:val>
                                        </p:tav>
                                      </p:tavLst>
                                    </p:anim>
                                    <p:anim calcmode="lin" valueType="num">
                                      <p:cBhvr>
                                        <p:cTn id="129" dur="10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grpId="0" nodeType="withEffect">
                                  <p:stCondLst>
                                    <p:cond delay="0"/>
                                  </p:stCondLst>
                                  <p:childTnLst>
                                    <p:set>
                                      <p:cBhvr>
                                        <p:cTn id="131" dur="1" fill="hold">
                                          <p:stCondLst>
                                            <p:cond delay="0"/>
                                          </p:stCondLst>
                                        </p:cTn>
                                        <p:tgtEl>
                                          <p:spTgt spid="28"/>
                                        </p:tgtEl>
                                        <p:attrNameLst>
                                          <p:attrName>style.visibility</p:attrName>
                                        </p:attrNameLst>
                                      </p:cBhvr>
                                      <p:to>
                                        <p:strVal val="visible"/>
                                      </p:to>
                                    </p:set>
                                    <p:animEffect transition="in" filter="fade">
                                      <p:cBhvr>
                                        <p:cTn id="132" dur="1000"/>
                                        <p:tgtEl>
                                          <p:spTgt spid="28"/>
                                        </p:tgtEl>
                                      </p:cBhvr>
                                    </p:animEffect>
                                    <p:anim calcmode="lin" valueType="num">
                                      <p:cBhvr>
                                        <p:cTn id="133" dur="1000" fill="hold"/>
                                        <p:tgtEl>
                                          <p:spTgt spid="28"/>
                                        </p:tgtEl>
                                        <p:attrNameLst>
                                          <p:attrName>ppt_x</p:attrName>
                                        </p:attrNameLst>
                                      </p:cBhvr>
                                      <p:tavLst>
                                        <p:tav tm="0">
                                          <p:val>
                                            <p:strVal val="#ppt_x"/>
                                          </p:val>
                                        </p:tav>
                                        <p:tav tm="100000">
                                          <p:val>
                                            <p:strVal val="#ppt_x"/>
                                          </p:val>
                                        </p:tav>
                                      </p:tavLst>
                                    </p:anim>
                                    <p:anim calcmode="lin" valueType="num">
                                      <p:cBhvr>
                                        <p:cTn id="134" dur="10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6" dur="1" fill="hold">
                                          <p:stCondLst>
                                            <p:cond delay="0"/>
                                          </p:stCondLst>
                                        </p:cTn>
                                        <p:tgtEl>
                                          <p:spTgt spid="32"/>
                                        </p:tgtEl>
                                        <p:attrNameLst>
                                          <p:attrName>style.visibility</p:attrName>
                                        </p:attrNameLst>
                                      </p:cBhvr>
                                      <p:to>
                                        <p:strVal val="visible"/>
                                      </p:to>
                                    </p:set>
                                    <p:animEffect transition="in" filter="fade">
                                      <p:cBhvr>
                                        <p:cTn id="137" dur="1000"/>
                                        <p:tgtEl>
                                          <p:spTgt spid="32"/>
                                        </p:tgtEl>
                                      </p:cBhvr>
                                    </p:animEffect>
                                    <p:anim calcmode="lin" valueType="num">
                                      <p:cBhvr>
                                        <p:cTn id="138" dur="1000" fill="hold"/>
                                        <p:tgtEl>
                                          <p:spTgt spid="32"/>
                                        </p:tgtEl>
                                        <p:attrNameLst>
                                          <p:attrName>ppt_x</p:attrName>
                                        </p:attrNameLst>
                                      </p:cBhvr>
                                      <p:tavLst>
                                        <p:tav tm="0">
                                          <p:val>
                                            <p:strVal val="#ppt_x"/>
                                          </p:val>
                                        </p:tav>
                                        <p:tav tm="100000">
                                          <p:val>
                                            <p:strVal val="#ppt_x"/>
                                          </p:val>
                                        </p:tav>
                                      </p:tavLst>
                                    </p:anim>
                                    <p:anim calcmode="lin" valueType="num">
                                      <p:cBhvr>
                                        <p:cTn id="139" dur="1000" fill="hold"/>
                                        <p:tgtEl>
                                          <p:spTgt spid="32"/>
                                        </p:tgtEl>
                                        <p:attrNameLst>
                                          <p:attrName>ppt_y</p:attrName>
                                        </p:attrNameLst>
                                      </p:cBhvr>
                                      <p:tavLst>
                                        <p:tav tm="0">
                                          <p:val>
                                            <p:strVal val="#ppt_y+.1"/>
                                          </p:val>
                                        </p:tav>
                                        <p:tav tm="100000">
                                          <p:val>
                                            <p:strVal val="#ppt_y"/>
                                          </p:val>
                                        </p:tav>
                                      </p:tavLst>
                                    </p:anim>
                                  </p:childTnLst>
                                </p:cTn>
                              </p:par>
                              <p:par>
                                <p:cTn id="140" presetID="42" presetClass="entr" presetSubtype="0" fill="hold" grpId="0" nodeType="withEffect">
                                  <p:stCondLst>
                                    <p:cond delay="0"/>
                                  </p:stCondLst>
                                  <p:childTnLst>
                                    <p:set>
                                      <p:cBhvr>
                                        <p:cTn id="141" dur="1" fill="hold">
                                          <p:stCondLst>
                                            <p:cond delay="0"/>
                                          </p:stCondLst>
                                        </p:cTn>
                                        <p:tgtEl>
                                          <p:spTgt spid="33"/>
                                        </p:tgtEl>
                                        <p:attrNameLst>
                                          <p:attrName>style.visibility</p:attrName>
                                        </p:attrNameLst>
                                      </p:cBhvr>
                                      <p:to>
                                        <p:strVal val="visible"/>
                                      </p:to>
                                    </p:set>
                                    <p:animEffect transition="in" filter="fade">
                                      <p:cBhvr>
                                        <p:cTn id="142" dur="1000"/>
                                        <p:tgtEl>
                                          <p:spTgt spid="33"/>
                                        </p:tgtEl>
                                      </p:cBhvr>
                                    </p:animEffect>
                                    <p:anim calcmode="lin" valueType="num">
                                      <p:cBhvr>
                                        <p:cTn id="143" dur="1000" fill="hold"/>
                                        <p:tgtEl>
                                          <p:spTgt spid="33"/>
                                        </p:tgtEl>
                                        <p:attrNameLst>
                                          <p:attrName>ppt_x</p:attrName>
                                        </p:attrNameLst>
                                      </p:cBhvr>
                                      <p:tavLst>
                                        <p:tav tm="0">
                                          <p:val>
                                            <p:strVal val="#ppt_x"/>
                                          </p:val>
                                        </p:tav>
                                        <p:tav tm="100000">
                                          <p:val>
                                            <p:strVal val="#ppt_x"/>
                                          </p:val>
                                        </p:tav>
                                      </p:tavLst>
                                    </p:anim>
                                    <p:anim calcmode="lin" valueType="num">
                                      <p:cBhvr>
                                        <p:cTn id="144" dur="1000" fill="hold"/>
                                        <p:tgtEl>
                                          <p:spTgt spid="33"/>
                                        </p:tgtEl>
                                        <p:attrNameLst>
                                          <p:attrName>ppt_y</p:attrName>
                                        </p:attrNameLst>
                                      </p:cBhvr>
                                      <p:tavLst>
                                        <p:tav tm="0">
                                          <p:val>
                                            <p:strVal val="#ppt_y+.1"/>
                                          </p:val>
                                        </p:tav>
                                        <p:tav tm="100000">
                                          <p:val>
                                            <p:strVal val="#ppt_y"/>
                                          </p:val>
                                        </p:tav>
                                      </p:tavLst>
                                    </p:anim>
                                  </p:childTnLst>
                                </p:cTn>
                              </p:par>
                              <p:par>
                                <p:cTn id="145" presetID="42" presetClass="entr" presetSubtype="0" fill="hold" grpId="0" nodeType="withEffect">
                                  <p:stCondLst>
                                    <p:cond delay="0"/>
                                  </p:stCondLst>
                                  <p:childTnLst>
                                    <p:set>
                                      <p:cBhvr>
                                        <p:cTn id="146" dur="1" fill="hold">
                                          <p:stCondLst>
                                            <p:cond delay="0"/>
                                          </p:stCondLst>
                                        </p:cTn>
                                        <p:tgtEl>
                                          <p:spTgt spid="29"/>
                                        </p:tgtEl>
                                        <p:attrNameLst>
                                          <p:attrName>style.visibility</p:attrName>
                                        </p:attrNameLst>
                                      </p:cBhvr>
                                      <p:to>
                                        <p:strVal val="visible"/>
                                      </p:to>
                                    </p:set>
                                    <p:animEffect transition="in" filter="fade">
                                      <p:cBhvr>
                                        <p:cTn id="147" dur="1000"/>
                                        <p:tgtEl>
                                          <p:spTgt spid="29"/>
                                        </p:tgtEl>
                                      </p:cBhvr>
                                    </p:animEffect>
                                    <p:anim calcmode="lin" valueType="num">
                                      <p:cBhvr>
                                        <p:cTn id="148" dur="1000" fill="hold"/>
                                        <p:tgtEl>
                                          <p:spTgt spid="29"/>
                                        </p:tgtEl>
                                        <p:attrNameLst>
                                          <p:attrName>ppt_x</p:attrName>
                                        </p:attrNameLst>
                                      </p:cBhvr>
                                      <p:tavLst>
                                        <p:tav tm="0">
                                          <p:val>
                                            <p:strVal val="#ppt_x"/>
                                          </p:val>
                                        </p:tav>
                                        <p:tav tm="100000">
                                          <p:val>
                                            <p:strVal val="#ppt_x"/>
                                          </p:val>
                                        </p:tav>
                                      </p:tavLst>
                                    </p:anim>
                                    <p:anim calcmode="lin" valueType="num">
                                      <p:cBhvr>
                                        <p:cTn id="149" dur="10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150" fill="hold">
                      <p:stCondLst>
                        <p:cond delay="indefinite"/>
                      </p:stCondLst>
                      <p:childTnLst>
                        <p:par>
                          <p:cTn id="151" fill="hold">
                            <p:stCondLst>
                              <p:cond delay="0"/>
                            </p:stCondLst>
                            <p:childTnLst>
                              <p:par>
                                <p:cTn id="152" presetID="42" presetClass="entr" presetSubtype="0" fill="hold" grpId="0" nodeType="clickEffect">
                                  <p:stCondLst>
                                    <p:cond delay="0"/>
                                  </p:stCondLst>
                                  <p:childTnLst>
                                    <p:set>
                                      <p:cBhvr>
                                        <p:cTn id="153" dur="1" fill="hold">
                                          <p:stCondLst>
                                            <p:cond delay="0"/>
                                          </p:stCondLst>
                                        </p:cTn>
                                        <p:tgtEl>
                                          <p:spTgt spid="30"/>
                                        </p:tgtEl>
                                        <p:attrNameLst>
                                          <p:attrName>style.visibility</p:attrName>
                                        </p:attrNameLst>
                                      </p:cBhvr>
                                      <p:to>
                                        <p:strVal val="visible"/>
                                      </p:to>
                                    </p:set>
                                    <p:animEffect transition="in" filter="fade">
                                      <p:cBhvr>
                                        <p:cTn id="154" dur="1000"/>
                                        <p:tgtEl>
                                          <p:spTgt spid="30"/>
                                        </p:tgtEl>
                                      </p:cBhvr>
                                    </p:animEffect>
                                    <p:anim calcmode="lin" valueType="num">
                                      <p:cBhvr>
                                        <p:cTn id="155" dur="1000" fill="hold"/>
                                        <p:tgtEl>
                                          <p:spTgt spid="30"/>
                                        </p:tgtEl>
                                        <p:attrNameLst>
                                          <p:attrName>ppt_x</p:attrName>
                                        </p:attrNameLst>
                                      </p:cBhvr>
                                      <p:tavLst>
                                        <p:tav tm="0">
                                          <p:val>
                                            <p:strVal val="#ppt_x"/>
                                          </p:val>
                                        </p:tav>
                                        <p:tav tm="100000">
                                          <p:val>
                                            <p:strVal val="#ppt_x"/>
                                          </p:val>
                                        </p:tav>
                                      </p:tavLst>
                                    </p:anim>
                                    <p:anim calcmode="lin" valueType="num">
                                      <p:cBhvr>
                                        <p:cTn id="156" dur="1000" fill="hold"/>
                                        <p:tgtEl>
                                          <p:spTgt spid="30"/>
                                        </p:tgtEl>
                                        <p:attrNameLst>
                                          <p:attrName>ppt_y</p:attrName>
                                        </p:attrNameLst>
                                      </p:cBhvr>
                                      <p:tavLst>
                                        <p:tav tm="0">
                                          <p:val>
                                            <p:strVal val="#ppt_y+.1"/>
                                          </p:val>
                                        </p:tav>
                                        <p:tav tm="100000">
                                          <p:val>
                                            <p:strVal val="#ppt_y"/>
                                          </p:val>
                                        </p:tav>
                                      </p:tavLst>
                                    </p:anim>
                                  </p:childTnLst>
                                </p:cTn>
                              </p:par>
                              <p:par>
                                <p:cTn id="157" presetID="42" presetClass="entr" presetSubtype="0" fill="hold" grpId="0" nodeType="withEffect">
                                  <p:stCondLst>
                                    <p:cond delay="0"/>
                                  </p:stCondLst>
                                  <p:childTnLst>
                                    <p:set>
                                      <p:cBhvr>
                                        <p:cTn id="158" dur="1" fill="hold">
                                          <p:stCondLst>
                                            <p:cond delay="0"/>
                                          </p:stCondLst>
                                        </p:cTn>
                                        <p:tgtEl>
                                          <p:spTgt spid="4"/>
                                        </p:tgtEl>
                                        <p:attrNameLst>
                                          <p:attrName>style.visibility</p:attrName>
                                        </p:attrNameLst>
                                      </p:cBhvr>
                                      <p:to>
                                        <p:strVal val="visible"/>
                                      </p:to>
                                    </p:set>
                                    <p:animEffect transition="in" filter="fade">
                                      <p:cBhvr>
                                        <p:cTn id="159" dur="1000"/>
                                        <p:tgtEl>
                                          <p:spTgt spid="4"/>
                                        </p:tgtEl>
                                      </p:cBhvr>
                                    </p:animEffect>
                                    <p:anim calcmode="lin" valueType="num">
                                      <p:cBhvr>
                                        <p:cTn id="160" dur="1000" fill="hold"/>
                                        <p:tgtEl>
                                          <p:spTgt spid="4"/>
                                        </p:tgtEl>
                                        <p:attrNameLst>
                                          <p:attrName>ppt_x</p:attrName>
                                        </p:attrNameLst>
                                      </p:cBhvr>
                                      <p:tavLst>
                                        <p:tav tm="0">
                                          <p:val>
                                            <p:strVal val="#ppt_x"/>
                                          </p:val>
                                        </p:tav>
                                        <p:tav tm="100000">
                                          <p:val>
                                            <p:strVal val="#ppt_x"/>
                                          </p:val>
                                        </p:tav>
                                      </p:tavLst>
                                    </p:anim>
                                    <p:anim calcmode="lin" valueType="num">
                                      <p:cBhvr>
                                        <p:cTn id="161"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8" grpId="0"/>
      <p:bldP spid="24" grpId="0" animBg="1"/>
      <p:bldP spid="25" grpId="0" animBg="1"/>
      <p:bldP spid="26" grpId="0" animBg="1"/>
      <p:bldP spid="27" grpId="0" animBg="1"/>
      <p:bldP spid="28" grpId="0" animBg="1"/>
      <p:bldP spid="29" grpId="0"/>
      <p:bldP spid="30" grpId="0"/>
      <p:bldP spid="31" grpId="0"/>
      <p:bldP spid="3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Notre contribution</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20</a:t>
            </a:fld>
            <a:endParaRPr lang="fr-BE"/>
          </a:p>
        </p:txBody>
      </p:sp>
      <p:sp>
        <p:nvSpPr>
          <p:cNvPr id="24" name="57 Rectángulo redondeado"/>
          <p:cNvSpPr>
            <a:spLocks noChangeArrowheads="1"/>
          </p:cNvSpPr>
          <p:nvPr/>
        </p:nvSpPr>
        <p:spPr bwMode="auto">
          <a:xfrm>
            <a:off x="6054725" y="2143968"/>
            <a:ext cx="2686050" cy="2001838"/>
          </a:xfrm>
          <a:prstGeom prst="roundRect">
            <a:avLst>
              <a:gd name="adj" fmla="val 16667"/>
            </a:avLst>
          </a:prstGeom>
          <a:solidFill>
            <a:srgbClr val="3366FF"/>
          </a:solidFill>
          <a:ln w="38100">
            <a:solidFill>
              <a:schemeClr val="bg1"/>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27" name="60 Rectángulo redondeado"/>
          <p:cNvSpPr>
            <a:spLocks noChangeArrowheads="1"/>
          </p:cNvSpPr>
          <p:nvPr/>
        </p:nvSpPr>
        <p:spPr bwMode="auto">
          <a:xfrm>
            <a:off x="6394451" y="3502869"/>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8" name="61 Rectángulo redondeado"/>
          <p:cNvSpPr>
            <a:spLocks noChangeArrowheads="1"/>
          </p:cNvSpPr>
          <p:nvPr/>
        </p:nvSpPr>
        <p:spPr bwMode="auto">
          <a:xfrm>
            <a:off x="7561266" y="3502869"/>
            <a:ext cx="895350" cy="457200"/>
          </a:xfrm>
          <a:prstGeom prst="roundRect">
            <a:avLst>
              <a:gd name="adj" fmla="val 16667"/>
            </a:avLst>
          </a:prstGeom>
          <a:gradFill flip="none" rotWithShape="1">
            <a:gsLst>
              <a:gs pos="0">
                <a:schemeClr val="bg1"/>
              </a:gs>
              <a:gs pos="60000">
                <a:srgbClr val="CC9900">
                  <a:alpha val="70000"/>
                </a:srgbClr>
              </a:gs>
              <a:gs pos="100000">
                <a:srgbClr val="CC99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9" name="62 CuadroTexto"/>
          <p:cNvSpPr txBox="1">
            <a:spLocks noChangeArrowheads="1"/>
          </p:cNvSpPr>
          <p:nvPr/>
        </p:nvSpPr>
        <p:spPr bwMode="auto">
          <a:xfrm>
            <a:off x="6196013" y="2199533"/>
            <a:ext cx="240347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n-US" sz="1800" dirty="0" smtClean="0">
                <a:solidFill>
                  <a:schemeClr val="bg1"/>
                </a:solidFill>
                <a:latin typeface="Arial" charset="0"/>
                <a:cs typeface="Arial" charset="0"/>
              </a:rPr>
              <a:t>FIWARE </a:t>
            </a:r>
            <a:r>
              <a:rPr lang="en-US" sz="1800" dirty="0">
                <a:solidFill>
                  <a:schemeClr val="bg1"/>
                </a:solidFill>
                <a:latin typeface="Arial" charset="0"/>
                <a:cs typeface="Arial" charset="0"/>
              </a:rPr>
              <a:t>Instance</a:t>
            </a:r>
          </a:p>
        </p:txBody>
      </p:sp>
      <p:pic>
        <p:nvPicPr>
          <p:cNvPr id="3074" name="Picture 2" descr="http://www.webswing.org/img/webswinglogo.png"/>
          <p:cNvPicPr>
            <a:picLocks noChangeAspect="1" noChangeArrowheads="1"/>
          </p:cNvPicPr>
          <p:nvPr/>
        </p:nvPicPr>
        <p:blipFill>
          <a:blip r:embed="rId2" cstate="print">
            <a:extLst>
              <a:ext uri="{28A0092B-C50C-407E-A947-70E740481C1C}">
                <a14:useLocalDpi xmlns:a14="http://schemas.microsoft.com/office/drawing/2010/main" xmlns="" val="0"/>
              </a:ext>
            </a:extLst>
          </a:blip>
          <a:srcRect/>
          <a:stretch>
            <a:fillRect/>
          </a:stretch>
        </p:blipFill>
        <p:spPr bwMode="auto">
          <a:xfrm>
            <a:off x="4572004" y="2931790"/>
            <a:ext cx="467999" cy="468000"/>
          </a:xfrm>
          <a:prstGeom prst="rect">
            <a:avLst/>
          </a:prstGeom>
          <a:noFill/>
          <a:extLst>
            <a:ext uri="{909E8E84-426E-40DD-AFC4-6F175D3DCCD1}">
              <a14:hiddenFill xmlns:a14="http://schemas.microsoft.com/office/drawing/2010/main" xmlns="">
                <a:solidFill>
                  <a:srgbClr val="FFFFFF"/>
                </a:solidFill>
              </a14:hiddenFill>
            </a:ext>
          </a:extLst>
        </p:spPr>
      </p:pic>
      <p:pic>
        <p:nvPicPr>
          <p:cNvPr id="3076" name="Picture 4" descr="Résultat de recherche d'images pour &quot;docker logo&quot;"/>
          <p:cNvPicPr>
            <a:picLocks noChangeAspect="1" noChangeArrowheads="1"/>
          </p:cNvPicPr>
          <p:nvPr/>
        </p:nvPicPr>
        <p:blipFill>
          <a:blip r:embed="rId3" cstate="print">
            <a:extLst>
              <a:ext uri="{28A0092B-C50C-407E-A947-70E740481C1C}">
                <a14:useLocalDpi xmlns:a14="http://schemas.microsoft.com/office/drawing/2010/main" xmlns="" val="0"/>
              </a:ext>
            </a:extLst>
          </a:blip>
          <a:srcRect/>
          <a:stretch>
            <a:fillRect/>
          </a:stretch>
        </p:blipFill>
        <p:spPr bwMode="auto">
          <a:xfrm>
            <a:off x="3347868" y="2859782"/>
            <a:ext cx="611999" cy="612000"/>
          </a:xfrm>
          <a:prstGeom prst="rect">
            <a:avLst/>
          </a:prstGeom>
          <a:noFill/>
          <a:extLst>
            <a:ext uri="{909E8E84-426E-40DD-AFC4-6F175D3DCCD1}">
              <a14:hiddenFill xmlns:a14="http://schemas.microsoft.com/office/drawing/2010/main" xmlns="">
                <a:solidFill>
                  <a:srgbClr val="FFFFFF"/>
                </a:solidFill>
              </a14:hiddenFill>
            </a:ext>
          </a:extLst>
        </p:spPr>
      </p:pic>
      <p:sp>
        <p:nvSpPr>
          <p:cNvPr id="36" name="Bulle ronde 35"/>
          <p:cNvSpPr/>
          <p:nvPr/>
        </p:nvSpPr>
        <p:spPr>
          <a:xfrm>
            <a:off x="4644008" y="1779664"/>
            <a:ext cx="1800200" cy="936104"/>
          </a:xfrm>
          <a:prstGeom prst="wedgeEllipseCallout">
            <a:avLst>
              <a:gd name="adj1" fmla="val -36309"/>
              <a:gd name="adj2" fmla="val 701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smtClean="0"/>
              <a:t>WebSwing</a:t>
            </a:r>
            <a:endParaRPr lang="fr-FR" dirty="0"/>
          </a:p>
        </p:txBody>
      </p:sp>
      <p:sp>
        <p:nvSpPr>
          <p:cNvPr id="39" name="Bulle ronde 38"/>
          <p:cNvSpPr/>
          <p:nvPr/>
        </p:nvSpPr>
        <p:spPr>
          <a:xfrm>
            <a:off x="1619672" y="1779664"/>
            <a:ext cx="1800200" cy="936104"/>
          </a:xfrm>
          <a:prstGeom prst="wedgeEllipseCallout">
            <a:avLst>
              <a:gd name="adj1" fmla="val 44644"/>
              <a:gd name="adj2" fmla="val 7242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smtClean="0"/>
              <a:t>Docker</a:t>
            </a:r>
            <a:endParaRPr lang="fr-FR" dirty="0"/>
          </a:p>
        </p:txBody>
      </p:sp>
    </p:spTree>
    <p:extLst>
      <p:ext uri="{BB962C8B-B14F-4D97-AF65-F5344CB8AC3E}">
        <p14:creationId xmlns:p14="http://schemas.microsoft.com/office/powerpoint/2010/main" xmlns="" val="3231193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 0 L -0.34844 0.00031 " pathEditMode="relative" ptsTypes="AA">
                                      <p:cBhvr>
                                        <p:cTn id="6" dur="2000" fill="hold"/>
                                        <p:tgtEl>
                                          <p:spTgt spid="24"/>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 0 L -0.34844 0.00031 " pathEditMode="relative" ptsTypes="AA">
                                      <p:cBhvr>
                                        <p:cTn id="8" dur="2000" fill="hold"/>
                                        <p:tgtEl>
                                          <p:spTgt spid="29"/>
                                        </p:tgtEl>
                                        <p:attrNameLst>
                                          <p:attrName>ppt_x</p:attrName>
                                          <p:attrName>ppt_y</p:attrName>
                                        </p:attrNameLst>
                                      </p:cBhvr>
                                    </p:animMotion>
                                  </p:childTnLst>
                                </p:cTn>
                              </p:par>
                              <p:par>
                                <p:cTn id="9" presetID="0" presetClass="path" presetSubtype="0" accel="50000" decel="50000" fill="hold" grpId="0" nodeType="withEffect">
                                  <p:stCondLst>
                                    <p:cond delay="0"/>
                                  </p:stCondLst>
                                  <p:childTnLst>
                                    <p:animMotion origin="layout" path="M -3.88889E-6 2.71605E-6 L -0.35017 2.71605E-6 L -0.35069 -0.11358 " pathEditMode="relative" rAng="0" ptsTypes="AAA">
                                      <p:cBhvr>
                                        <p:cTn id="10" dur="2400" fill="hold"/>
                                        <p:tgtEl>
                                          <p:spTgt spid="27"/>
                                        </p:tgtEl>
                                        <p:attrNameLst>
                                          <p:attrName>ppt_x</p:attrName>
                                          <p:attrName>ppt_y</p:attrName>
                                        </p:attrNameLst>
                                      </p:cBhvr>
                                      <p:rCtr x="-17535" y="-5679"/>
                                    </p:animMotion>
                                  </p:childTnLst>
                                </p:cTn>
                              </p:par>
                              <p:par>
                                <p:cTn id="11" presetID="0" presetClass="path" presetSubtype="0" accel="50000" decel="50000" fill="hold" grpId="0" nodeType="withEffect">
                                  <p:stCondLst>
                                    <p:cond delay="0"/>
                                  </p:stCondLst>
                                  <p:childTnLst>
                                    <p:animMotion origin="layout" path="M 0 0 L -0.3493 0 L -0.3493 -0.11389 " pathEditMode="relative" ptsTypes="AAA">
                                      <p:cBhvr>
                                        <p:cTn id="12" dur="2400" fill="hold"/>
                                        <p:tgtEl>
                                          <p:spTgt spid="28"/>
                                        </p:tgtEl>
                                        <p:attrNameLst>
                                          <p:attrName>ppt_x</p:attrName>
                                          <p:attrName>ppt_y</p:attrName>
                                        </p:attrNameLst>
                                      </p:cBhvr>
                                    </p:animMotion>
                                  </p:childTnLst>
                                </p:cTn>
                              </p:par>
                            </p:childTnLst>
                          </p:cTn>
                        </p:par>
                        <p:par>
                          <p:cTn id="13" fill="hold">
                            <p:stCondLst>
                              <p:cond delay="2400"/>
                            </p:stCondLst>
                            <p:childTnLst>
                              <p:par>
                                <p:cTn id="14" presetID="10" presetClass="entr" presetSubtype="0" fill="hold" nodeType="afterEffect">
                                  <p:stCondLst>
                                    <p:cond delay="0"/>
                                  </p:stCondLst>
                                  <p:childTnLst>
                                    <p:set>
                                      <p:cBhvr>
                                        <p:cTn id="15" dur="1" fill="hold">
                                          <p:stCondLst>
                                            <p:cond delay="0"/>
                                          </p:stCondLst>
                                        </p:cTn>
                                        <p:tgtEl>
                                          <p:spTgt spid="3074"/>
                                        </p:tgtEl>
                                        <p:attrNameLst>
                                          <p:attrName>style.visibility</p:attrName>
                                        </p:attrNameLst>
                                      </p:cBhvr>
                                      <p:to>
                                        <p:strVal val="visible"/>
                                      </p:to>
                                    </p:set>
                                    <p:animEffect transition="in" filter="fade">
                                      <p:cBhvr>
                                        <p:cTn id="16" dur="500"/>
                                        <p:tgtEl>
                                          <p:spTgt spid="3074"/>
                                        </p:tgtEl>
                                      </p:cBhvr>
                                    </p:animEffect>
                                  </p:childTnLst>
                                </p:cTn>
                              </p:par>
                              <p:par>
                                <p:cTn id="17" presetID="10" presetClass="entr" presetSubtype="0" fill="hold" nodeType="withEffect">
                                  <p:stCondLst>
                                    <p:cond delay="0"/>
                                  </p:stCondLst>
                                  <p:childTnLst>
                                    <p:set>
                                      <p:cBhvr>
                                        <p:cTn id="18" dur="1" fill="hold">
                                          <p:stCondLst>
                                            <p:cond delay="0"/>
                                          </p:stCondLst>
                                        </p:cTn>
                                        <p:tgtEl>
                                          <p:spTgt spid="3076"/>
                                        </p:tgtEl>
                                        <p:attrNameLst>
                                          <p:attrName>style.visibility</p:attrName>
                                        </p:attrNameLst>
                                      </p:cBhvr>
                                      <p:to>
                                        <p:strVal val="visible"/>
                                      </p:to>
                                    </p:set>
                                    <p:animEffect transition="in" filter="fade">
                                      <p:cBhvr>
                                        <p:cTn id="19" dur="500"/>
                                        <p:tgtEl>
                                          <p:spTgt spid="3076"/>
                                        </p:tgtEl>
                                      </p:cBhvr>
                                    </p:animEffect>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36"/>
                                        </p:tgtEl>
                                        <p:attrNameLst>
                                          <p:attrName>style.visibility</p:attrName>
                                        </p:attrNameLst>
                                      </p:cBhvr>
                                      <p:to>
                                        <p:strVal val="visible"/>
                                      </p:to>
                                    </p:set>
                                    <p:animEffect transition="in" filter="fade">
                                      <p:cBhvr>
                                        <p:cTn id="24" dur="1000"/>
                                        <p:tgtEl>
                                          <p:spTgt spid="36"/>
                                        </p:tgtEl>
                                      </p:cBhvr>
                                    </p:animEffect>
                                    <p:anim calcmode="lin" valueType="num">
                                      <p:cBhvr>
                                        <p:cTn id="25" dur="1000" fill="hold"/>
                                        <p:tgtEl>
                                          <p:spTgt spid="36"/>
                                        </p:tgtEl>
                                        <p:attrNameLst>
                                          <p:attrName>ppt_x</p:attrName>
                                        </p:attrNameLst>
                                      </p:cBhvr>
                                      <p:tavLst>
                                        <p:tav tm="0">
                                          <p:val>
                                            <p:strVal val="#ppt_x"/>
                                          </p:val>
                                        </p:tav>
                                        <p:tav tm="100000">
                                          <p:val>
                                            <p:strVal val="#ppt_x"/>
                                          </p:val>
                                        </p:tav>
                                      </p:tavLst>
                                    </p:anim>
                                    <p:anim calcmode="lin" valueType="num">
                                      <p:cBhvr>
                                        <p:cTn id="26" dur="10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39"/>
                                        </p:tgtEl>
                                        <p:attrNameLst>
                                          <p:attrName>style.visibility</p:attrName>
                                        </p:attrNameLst>
                                      </p:cBhvr>
                                      <p:to>
                                        <p:strVal val="visible"/>
                                      </p:to>
                                    </p:set>
                                    <p:animEffect transition="in" filter="fade">
                                      <p:cBhvr>
                                        <p:cTn id="31" dur="1000"/>
                                        <p:tgtEl>
                                          <p:spTgt spid="39"/>
                                        </p:tgtEl>
                                      </p:cBhvr>
                                    </p:animEffect>
                                    <p:anim calcmode="lin" valueType="num">
                                      <p:cBhvr>
                                        <p:cTn id="32" dur="1000" fill="hold"/>
                                        <p:tgtEl>
                                          <p:spTgt spid="39"/>
                                        </p:tgtEl>
                                        <p:attrNameLst>
                                          <p:attrName>ppt_x</p:attrName>
                                        </p:attrNameLst>
                                      </p:cBhvr>
                                      <p:tavLst>
                                        <p:tav tm="0">
                                          <p:val>
                                            <p:strVal val="#ppt_x"/>
                                          </p:val>
                                        </p:tav>
                                        <p:tav tm="100000">
                                          <p:val>
                                            <p:strVal val="#ppt_x"/>
                                          </p:val>
                                        </p:tav>
                                      </p:tavLst>
                                    </p:anim>
                                    <p:anim calcmode="lin" valueType="num">
                                      <p:cBhvr>
                                        <p:cTn id="33" dur="1000" fill="hold"/>
                                        <p:tgtEl>
                                          <p:spTgt spid="3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7" grpId="0" animBg="1"/>
      <p:bldP spid="28" grpId="0" animBg="1"/>
      <p:bldP spid="29" grpId="0"/>
      <p:bldP spid="36" grpId="0" animBg="1"/>
      <p:bldP spid="39"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21</a:t>
            </a:fld>
            <a:endParaRPr lang="fr-BE"/>
          </a:p>
        </p:txBody>
      </p:sp>
      <p:sp>
        <p:nvSpPr>
          <p:cNvPr id="24" name="57 Rectángulo redondeado"/>
          <p:cNvSpPr>
            <a:spLocks noChangeArrowheads="1"/>
          </p:cNvSpPr>
          <p:nvPr/>
        </p:nvSpPr>
        <p:spPr bwMode="auto">
          <a:xfrm>
            <a:off x="2843808" y="2143968"/>
            <a:ext cx="2686050" cy="2001838"/>
          </a:xfrm>
          <a:prstGeom prst="roundRect">
            <a:avLst>
              <a:gd name="adj" fmla="val 16667"/>
            </a:avLst>
          </a:prstGeom>
          <a:solidFill>
            <a:srgbClr val="3366FF"/>
          </a:solidFill>
          <a:ln w="38100">
            <a:solidFill>
              <a:schemeClr val="bg1"/>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27" name="60 Rectángulo redondeado"/>
          <p:cNvSpPr>
            <a:spLocks noChangeArrowheads="1"/>
          </p:cNvSpPr>
          <p:nvPr/>
        </p:nvSpPr>
        <p:spPr bwMode="auto">
          <a:xfrm>
            <a:off x="3172594" y="2906638"/>
            <a:ext cx="895350" cy="457200"/>
          </a:xfrm>
          <a:prstGeom prst="roundRect">
            <a:avLst>
              <a:gd name="adj" fmla="val 16667"/>
            </a:avLst>
          </a:prstGeom>
          <a:gradFill flip="none" rotWithShape="1">
            <a:gsLst>
              <a:gs pos="0">
                <a:schemeClr val="bg1"/>
              </a:gs>
              <a:gs pos="60000">
                <a:srgbClr val="FFFF33">
                  <a:alpha val="70000"/>
                </a:srgbClr>
              </a:gs>
              <a:gs pos="100000">
                <a:srgbClr val="FFFF33"/>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8" name="61 Rectángulo redondeado"/>
          <p:cNvSpPr>
            <a:spLocks noChangeArrowheads="1"/>
          </p:cNvSpPr>
          <p:nvPr/>
        </p:nvSpPr>
        <p:spPr bwMode="auto">
          <a:xfrm>
            <a:off x="4355976" y="2931790"/>
            <a:ext cx="895350" cy="457200"/>
          </a:xfrm>
          <a:prstGeom prst="roundRect">
            <a:avLst>
              <a:gd name="adj" fmla="val 16667"/>
            </a:avLst>
          </a:prstGeom>
          <a:gradFill flip="none" rotWithShape="1">
            <a:gsLst>
              <a:gs pos="0">
                <a:schemeClr val="bg1"/>
              </a:gs>
              <a:gs pos="60000">
                <a:srgbClr val="CC9900">
                  <a:alpha val="70000"/>
                </a:srgbClr>
              </a:gs>
              <a:gs pos="100000">
                <a:srgbClr val="CC9900"/>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9" name="62 CuadroTexto"/>
          <p:cNvSpPr txBox="1">
            <a:spLocks noChangeArrowheads="1"/>
          </p:cNvSpPr>
          <p:nvPr/>
        </p:nvSpPr>
        <p:spPr bwMode="auto">
          <a:xfrm>
            <a:off x="3032625" y="2199533"/>
            <a:ext cx="240347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n-US" sz="1800" dirty="0" smtClean="0">
                <a:solidFill>
                  <a:schemeClr val="bg1"/>
                </a:solidFill>
                <a:latin typeface="Arial" charset="0"/>
                <a:cs typeface="Arial" charset="0"/>
              </a:rPr>
              <a:t>FIWARE </a:t>
            </a:r>
            <a:r>
              <a:rPr lang="en-US" sz="1800" dirty="0">
                <a:solidFill>
                  <a:schemeClr val="bg1"/>
                </a:solidFill>
                <a:latin typeface="Arial" charset="0"/>
                <a:cs typeface="Arial" charset="0"/>
              </a:rPr>
              <a:t>Instance</a:t>
            </a:r>
          </a:p>
        </p:txBody>
      </p:sp>
      <p:pic>
        <p:nvPicPr>
          <p:cNvPr id="3074" name="Picture 2" descr="http://www.webswing.org/img/webswinglogo.png"/>
          <p:cNvPicPr>
            <a:picLocks noChangeAspect="1" noChangeArrowheads="1"/>
          </p:cNvPicPr>
          <p:nvPr/>
        </p:nvPicPr>
        <p:blipFill>
          <a:blip r:embed="rId2" cstate="print">
            <a:extLst>
              <a:ext uri="{28A0092B-C50C-407E-A947-70E740481C1C}">
                <a14:useLocalDpi xmlns:a14="http://schemas.microsoft.com/office/drawing/2010/main" xmlns="" val="0"/>
              </a:ext>
            </a:extLst>
          </a:blip>
          <a:srcRect/>
          <a:stretch>
            <a:fillRect/>
          </a:stretch>
        </p:blipFill>
        <p:spPr bwMode="auto">
          <a:xfrm>
            <a:off x="4572004" y="2931790"/>
            <a:ext cx="467999" cy="468000"/>
          </a:xfrm>
          <a:prstGeom prst="rect">
            <a:avLst/>
          </a:prstGeom>
          <a:noFill/>
          <a:extLst>
            <a:ext uri="{909E8E84-426E-40DD-AFC4-6F175D3DCCD1}">
              <a14:hiddenFill xmlns:a14="http://schemas.microsoft.com/office/drawing/2010/main" xmlns="">
                <a:solidFill>
                  <a:srgbClr val="FFFFFF"/>
                </a:solidFill>
              </a14:hiddenFill>
            </a:ext>
          </a:extLst>
        </p:spPr>
      </p:pic>
      <p:pic>
        <p:nvPicPr>
          <p:cNvPr id="3076" name="Picture 4" descr="Résultat de recherche d'images pour &quot;docker logo&quot;"/>
          <p:cNvPicPr>
            <a:picLocks noChangeAspect="1" noChangeArrowheads="1"/>
          </p:cNvPicPr>
          <p:nvPr/>
        </p:nvPicPr>
        <p:blipFill>
          <a:blip r:embed="rId3" cstate="print">
            <a:extLst>
              <a:ext uri="{28A0092B-C50C-407E-A947-70E740481C1C}">
                <a14:useLocalDpi xmlns:a14="http://schemas.microsoft.com/office/drawing/2010/main" xmlns="" val="0"/>
              </a:ext>
            </a:extLst>
          </a:blip>
          <a:srcRect/>
          <a:stretch>
            <a:fillRect/>
          </a:stretch>
        </p:blipFill>
        <p:spPr bwMode="auto">
          <a:xfrm>
            <a:off x="3347868" y="2859782"/>
            <a:ext cx="611999" cy="612000"/>
          </a:xfrm>
          <a:prstGeom prst="rect">
            <a:avLst/>
          </a:prstGeom>
          <a:noFill/>
          <a:extLst>
            <a:ext uri="{909E8E84-426E-40DD-AFC4-6F175D3DCCD1}">
              <a14:hiddenFill xmlns:a14="http://schemas.microsoft.com/office/drawing/2010/main" xmlns="">
                <a:solidFill>
                  <a:srgbClr val="FFFFFF"/>
                </a:solidFill>
              </a14:hiddenFill>
            </a:ext>
          </a:extLst>
        </p:spPr>
      </p:pic>
      <p:sp>
        <p:nvSpPr>
          <p:cNvPr id="36" name="Bulle ronde 35"/>
          <p:cNvSpPr/>
          <p:nvPr/>
        </p:nvSpPr>
        <p:spPr>
          <a:xfrm>
            <a:off x="4644008" y="1779664"/>
            <a:ext cx="1800200" cy="936104"/>
          </a:xfrm>
          <a:prstGeom prst="wedgeEllipseCallout">
            <a:avLst>
              <a:gd name="adj1" fmla="val -36309"/>
              <a:gd name="adj2" fmla="val 701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smtClean="0"/>
              <a:t>WebSwing</a:t>
            </a:r>
            <a:endParaRPr lang="fr-FR" dirty="0"/>
          </a:p>
        </p:txBody>
      </p:sp>
      <p:sp>
        <p:nvSpPr>
          <p:cNvPr id="39" name="Bulle ronde 38"/>
          <p:cNvSpPr/>
          <p:nvPr/>
        </p:nvSpPr>
        <p:spPr>
          <a:xfrm>
            <a:off x="1619672" y="1779664"/>
            <a:ext cx="1800200" cy="936104"/>
          </a:xfrm>
          <a:prstGeom prst="wedgeEllipseCallout">
            <a:avLst>
              <a:gd name="adj1" fmla="val 44644"/>
              <a:gd name="adj2" fmla="val 72421"/>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smtClean="0"/>
              <a:t>Docker</a:t>
            </a:r>
            <a:endParaRPr lang="fr-FR" dirty="0"/>
          </a:p>
        </p:txBody>
      </p:sp>
      <p:sp>
        <p:nvSpPr>
          <p:cNvPr id="12" name="6 Rectángulo redondeado"/>
          <p:cNvSpPr>
            <a:spLocks noChangeArrowheads="1"/>
          </p:cNvSpPr>
          <p:nvPr/>
        </p:nvSpPr>
        <p:spPr bwMode="auto">
          <a:xfrm>
            <a:off x="3820666" y="2931790"/>
            <a:ext cx="895350"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Tree>
    <p:extLst>
      <p:ext uri="{BB962C8B-B14F-4D97-AF65-F5344CB8AC3E}">
        <p14:creationId xmlns:p14="http://schemas.microsoft.com/office/powerpoint/2010/main" xmlns="" val="20937770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xit" presetSubtype="0" fill="hold" grpId="0" nodeType="withEffect">
                                  <p:stCondLst>
                                    <p:cond delay="0"/>
                                  </p:stCondLst>
                                  <p:childTnLst>
                                    <p:animEffect transition="out" filter="fade">
                                      <p:cBhvr>
                                        <p:cTn id="6" dur="1000"/>
                                        <p:tgtEl>
                                          <p:spTgt spid="39"/>
                                        </p:tgtEl>
                                      </p:cBhvr>
                                    </p:animEffect>
                                    <p:anim calcmode="lin" valueType="num">
                                      <p:cBhvr>
                                        <p:cTn id="7" dur="1000"/>
                                        <p:tgtEl>
                                          <p:spTgt spid="39"/>
                                        </p:tgtEl>
                                        <p:attrNameLst>
                                          <p:attrName>ppt_x</p:attrName>
                                        </p:attrNameLst>
                                      </p:cBhvr>
                                      <p:tavLst>
                                        <p:tav tm="0">
                                          <p:val>
                                            <p:strVal val="ppt_x"/>
                                          </p:val>
                                        </p:tav>
                                        <p:tav tm="100000">
                                          <p:val>
                                            <p:strVal val="ppt_x"/>
                                          </p:val>
                                        </p:tav>
                                      </p:tavLst>
                                    </p:anim>
                                    <p:anim calcmode="lin" valueType="num">
                                      <p:cBhvr>
                                        <p:cTn id="8" dur="1000"/>
                                        <p:tgtEl>
                                          <p:spTgt spid="39"/>
                                        </p:tgtEl>
                                        <p:attrNameLst>
                                          <p:attrName>ppt_y</p:attrName>
                                        </p:attrNameLst>
                                      </p:cBhvr>
                                      <p:tavLst>
                                        <p:tav tm="0">
                                          <p:val>
                                            <p:strVal val="ppt_y"/>
                                          </p:val>
                                        </p:tav>
                                        <p:tav tm="100000">
                                          <p:val>
                                            <p:strVal val="ppt_y+.1"/>
                                          </p:val>
                                        </p:tav>
                                      </p:tavLst>
                                    </p:anim>
                                    <p:set>
                                      <p:cBhvr>
                                        <p:cTn id="9" dur="1" fill="hold">
                                          <p:stCondLst>
                                            <p:cond delay="999"/>
                                          </p:stCondLst>
                                        </p:cTn>
                                        <p:tgtEl>
                                          <p:spTgt spid="39"/>
                                        </p:tgtEl>
                                        <p:attrNameLst>
                                          <p:attrName>style.visibility</p:attrName>
                                        </p:attrNameLst>
                                      </p:cBhvr>
                                      <p:to>
                                        <p:strVal val="hidden"/>
                                      </p:to>
                                    </p:set>
                                  </p:childTnLst>
                                </p:cTn>
                              </p:par>
                              <p:par>
                                <p:cTn id="10" presetID="42" presetClass="exit" presetSubtype="0" fill="hold" grpId="0" nodeType="withEffect">
                                  <p:stCondLst>
                                    <p:cond delay="0"/>
                                  </p:stCondLst>
                                  <p:childTnLst>
                                    <p:animEffect transition="out" filter="fade">
                                      <p:cBhvr>
                                        <p:cTn id="11" dur="1000"/>
                                        <p:tgtEl>
                                          <p:spTgt spid="36"/>
                                        </p:tgtEl>
                                      </p:cBhvr>
                                    </p:animEffect>
                                    <p:anim calcmode="lin" valueType="num">
                                      <p:cBhvr>
                                        <p:cTn id="12" dur="1000"/>
                                        <p:tgtEl>
                                          <p:spTgt spid="36"/>
                                        </p:tgtEl>
                                        <p:attrNameLst>
                                          <p:attrName>ppt_x</p:attrName>
                                        </p:attrNameLst>
                                      </p:cBhvr>
                                      <p:tavLst>
                                        <p:tav tm="0">
                                          <p:val>
                                            <p:strVal val="ppt_x"/>
                                          </p:val>
                                        </p:tav>
                                        <p:tav tm="100000">
                                          <p:val>
                                            <p:strVal val="ppt_x"/>
                                          </p:val>
                                        </p:tav>
                                      </p:tavLst>
                                    </p:anim>
                                    <p:anim calcmode="lin" valueType="num">
                                      <p:cBhvr>
                                        <p:cTn id="13" dur="1000"/>
                                        <p:tgtEl>
                                          <p:spTgt spid="36"/>
                                        </p:tgtEl>
                                        <p:attrNameLst>
                                          <p:attrName>ppt_y</p:attrName>
                                        </p:attrNameLst>
                                      </p:cBhvr>
                                      <p:tavLst>
                                        <p:tav tm="0">
                                          <p:val>
                                            <p:strVal val="ppt_y"/>
                                          </p:val>
                                        </p:tav>
                                        <p:tav tm="100000">
                                          <p:val>
                                            <p:strVal val="ppt_y+.1"/>
                                          </p:val>
                                        </p:tav>
                                      </p:tavLst>
                                    </p:anim>
                                    <p:set>
                                      <p:cBhvr>
                                        <p:cTn id="14" dur="1" fill="hold">
                                          <p:stCondLst>
                                            <p:cond delay="999"/>
                                          </p:stCondLst>
                                        </p:cTn>
                                        <p:tgtEl>
                                          <p:spTgt spid="36"/>
                                        </p:tgtEl>
                                        <p:attrNameLst>
                                          <p:attrName>style.visibility</p:attrName>
                                        </p:attrNameLst>
                                      </p:cBhvr>
                                      <p:to>
                                        <p:strVal val="hidden"/>
                                      </p:to>
                                    </p:set>
                                  </p:childTnLst>
                                </p:cTn>
                              </p:par>
                              <p:par>
                                <p:cTn id="15" presetID="0" presetClass="path" presetSubtype="0" accel="50000" decel="50000" fill="hold" grpId="0" nodeType="withEffect">
                                  <p:stCondLst>
                                    <p:cond delay="0"/>
                                  </p:stCondLst>
                                  <p:childTnLst>
                                    <p:animMotion origin="layout" path="M 0 0 L 0.06806 -0.00154 " pathEditMode="relative" ptsTypes="AA">
                                      <p:cBhvr>
                                        <p:cTn id="16" dur="2000" fill="hold"/>
                                        <p:tgtEl>
                                          <p:spTgt spid="27"/>
                                        </p:tgtEl>
                                        <p:attrNameLst>
                                          <p:attrName>ppt_x</p:attrName>
                                          <p:attrName>ppt_y</p:attrName>
                                        </p:attrNameLst>
                                      </p:cBhvr>
                                    </p:animMotion>
                                  </p:childTnLst>
                                </p:cTn>
                              </p:par>
                              <p:par>
                                <p:cTn id="17" presetID="0" presetClass="path" presetSubtype="0" accel="50000" decel="50000" fill="hold" nodeType="withEffect">
                                  <p:stCondLst>
                                    <p:cond delay="0"/>
                                  </p:stCondLst>
                                  <p:childTnLst>
                                    <p:animMotion origin="layout" path="M 0 0 L 0.06806 -0.00154 " pathEditMode="relative" ptsTypes="AA">
                                      <p:cBhvr>
                                        <p:cTn id="18" dur="2000" fill="hold"/>
                                        <p:tgtEl>
                                          <p:spTgt spid="3076"/>
                                        </p:tgtEl>
                                        <p:attrNameLst>
                                          <p:attrName>ppt_x</p:attrName>
                                          <p:attrName>ppt_y</p:attrName>
                                        </p:attrNameLst>
                                      </p:cBhvr>
                                    </p:animMotion>
                                  </p:childTnLst>
                                </p:cTn>
                              </p:par>
                              <p:par>
                                <p:cTn id="19" presetID="0" presetClass="path" presetSubtype="0" accel="50000" decel="50000" fill="hold" grpId="0" nodeType="withEffect">
                                  <p:stCondLst>
                                    <p:cond delay="0"/>
                                  </p:stCondLst>
                                  <p:childTnLst>
                                    <p:animMotion origin="layout" path="M 0 0 L -0.06337 -0.00124 " pathEditMode="relative" ptsTypes="AA">
                                      <p:cBhvr>
                                        <p:cTn id="20" dur="2000" fill="hold"/>
                                        <p:tgtEl>
                                          <p:spTgt spid="28"/>
                                        </p:tgtEl>
                                        <p:attrNameLst>
                                          <p:attrName>ppt_x</p:attrName>
                                          <p:attrName>ppt_y</p:attrName>
                                        </p:attrNameLst>
                                      </p:cBhvr>
                                    </p:animMotion>
                                  </p:childTnLst>
                                </p:cTn>
                              </p:par>
                              <p:par>
                                <p:cTn id="21" presetID="0" presetClass="path" presetSubtype="0" accel="50000" decel="50000" fill="hold" nodeType="withEffect">
                                  <p:stCondLst>
                                    <p:cond delay="0"/>
                                  </p:stCondLst>
                                  <p:childTnLst>
                                    <p:animMotion origin="layout" path="M 0 0 L -0.06337 -0.00124 " pathEditMode="relative" ptsTypes="AA">
                                      <p:cBhvr>
                                        <p:cTn id="22" dur="2000" fill="hold"/>
                                        <p:tgtEl>
                                          <p:spTgt spid="3074"/>
                                        </p:tgtEl>
                                        <p:attrNameLst>
                                          <p:attrName>ppt_x</p:attrName>
                                          <p:attrName>ppt_y</p:attrName>
                                        </p:attrNameLst>
                                      </p:cBhvr>
                                    </p:animMotion>
                                  </p:childTnLst>
                                </p:cTn>
                              </p:par>
                              <p:par>
                                <p:cTn id="23" presetID="42" presetClass="exit" presetSubtype="0" fill="hold" grpId="0" nodeType="withEffect">
                                  <p:stCondLst>
                                    <p:cond delay="0"/>
                                  </p:stCondLst>
                                  <p:childTnLst>
                                    <p:animEffect transition="out" filter="fade">
                                      <p:cBhvr>
                                        <p:cTn id="24" dur="1000"/>
                                        <p:tgtEl>
                                          <p:spTgt spid="24"/>
                                        </p:tgtEl>
                                      </p:cBhvr>
                                    </p:animEffect>
                                    <p:anim calcmode="lin" valueType="num">
                                      <p:cBhvr>
                                        <p:cTn id="25" dur="1000"/>
                                        <p:tgtEl>
                                          <p:spTgt spid="24"/>
                                        </p:tgtEl>
                                        <p:attrNameLst>
                                          <p:attrName>ppt_x</p:attrName>
                                        </p:attrNameLst>
                                      </p:cBhvr>
                                      <p:tavLst>
                                        <p:tav tm="0">
                                          <p:val>
                                            <p:strVal val="ppt_x"/>
                                          </p:val>
                                        </p:tav>
                                        <p:tav tm="100000">
                                          <p:val>
                                            <p:strVal val="ppt_x"/>
                                          </p:val>
                                        </p:tav>
                                      </p:tavLst>
                                    </p:anim>
                                    <p:anim calcmode="lin" valueType="num">
                                      <p:cBhvr>
                                        <p:cTn id="26" dur="1000"/>
                                        <p:tgtEl>
                                          <p:spTgt spid="24"/>
                                        </p:tgtEl>
                                        <p:attrNameLst>
                                          <p:attrName>ppt_y</p:attrName>
                                        </p:attrNameLst>
                                      </p:cBhvr>
                                      <p:tavLst>
                                        <p:tav tm="0">
                                          <p:val>
                                            <p:strVal val="ppt_y"/>
                                          </p:val>
                                        </p:tav>
                                        <p:tav tm="100000">
                                          <p:val>
                                            <p:strVal val="ppt_y+.1"/>
                                          </p:val>
                                        </p:tav>
                                      </p:tavLst>
                                    </p:anim>
                                    <p:set>
                                      <p:cBhvr>
                                        <p:cTn id="27" dur="1" fill="hold">
                                          <p:stCondLst>
                                            <p:cond delay="999"/>
                                          </p:stCondLst>
                                        </p:cTn>
                                        <p:tgtEl>
                                          <p:spTgt spid="24"/>
                                        </p:tgtEl>
                                        <p:attrNameLst>
                                          <p:attrName>style.visibility</p:attrName>
                                        </p:attrNameLst>
                                      </p:cBhvr>
                                      <p:to>
                                        <p:strVal val="hidden"/>
                                      </p:to>
                                    </p:set>
                                  </p:childTnLst>
                                </p:cTn>
                              </p:par>
                            </p:childTnLst>
                          </p:cTn>
                        </p:par>
                        <p:par>
                          <p:cTn id="28" fill="hold">
                            <p:stCondLst>
                              <p:cond delay="2000"/>
                            </p:stCondLst>
                            <p:childTnLst>
                              <p:par>
                                <p:cTn id="29" presetID="1" presetClass="exit" presetSubtype="0" fill="hold" grpId="1" nodeType="afterEffect">
                                  <p:stCondLst>
                                    <p:cond delay="0"/>
                                  </p:stCondLst>
                                  <p:childTnLst>
                                    <p:set>
                                      <p:cBhvr>
                                        <p:cTn id="30" dur="1" fill="hold">
                                          <p:stCondLst>
                                            <p:cond delay="0"/>
                                          </p:stCondLst>
                                        </p:cTn>
                                        <p:tgtEl>
                                          <p:spTgt spid="27"/>
                                        </p:tgtEl>
                                        <p:attrNameLst>
                                          <p:attrName>style.visibility</p:attrName>
                                        </p:attrNameLst>
                                      </p:cBhvr>
                                      <p:to>
                                        <p:strVal val="hidden"/>
                                      </p:to>
                                    </p:set>
                                  </p:childTnLst>
                                </p:cTn>
                              </p:par>
                              <p:par>
                                <p:cTn id="31" presetID="1" presetClass="exit" presetSubtype="0" fill="hold" nodeType="withEffect">
                                  <p:stCondLst>
                                    <p:cond delay="0"/>
                                  </p:stCondLst>
                                  <p:childTnLst>
                                    <p:set>
                                      <p:cBhvr>
                                        <p:cTn id="32" dur="1" fill="hold">
                                          <p:stCondLst>
                                            <p:cond delay="0"/>
                                          </p:stCondLst>
                                        </p:cTn>
                                        <p:tgtEl>
                                          <p:spTgt spid="3076"/>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8"/>
                                        </p:tgtEl>
                                        <p:attrNameLst>
                                          <p:attrName>style.visibility</p:attrName>
                                        </p:attrNameLst>
                                      </p:cBhvr>
                                      <p:to>
                                        <p:strVal val="hidden"/>
                                      </p:to>
                                    </p:set>
                                  </p:childTnLst>
                                </p:cTn>
                              </p:par>
                              <p:par>
                                <p:cTn id="35" presetID="1" presetClass="exit" presetSubtype="0" fill="hold" nodeType="withEffect">
                                  <p:stCondLst>
                                    <p:cond delay="0"/>
                                  </p:stCondLst>
                                  <p:childTnLst>
                                    <p:set>
                                      <p:cBhvr>
                                        <p:cTn id="36" dur="1" fill="hold">
                                          <p:stCondLst>
                                            <p:cond delay="0"/>
                                          </p:stCondLst>
                                        </p:cTn>
                                        <p:tgtEl>
                                          <p:spTgt spid="3074"/>
                                        </p:tgtEl>
                                        <p:attrNameLst>
                                          <p:attrName>style.visibility</p:attrName>
                                        </p:attrNameLst>
                                      </p:cBhvr>
                                      <p:to>
                                        <p:strVal val="hidden"/>
                                      </p:to>
                                    </p:set>
                                  </p:childTnLst>
                                </p:cTn>
                              </p:par>
                            </p:childTnLst>
                          </p:cTn>
                        </p:par>
                        <p:par>
                          <p:cTn id="37" fill="hold">
                            <p:stCondLst>
                              <p:cond delay="2000"/>
                            </p:stCondLst>
                            <p:childTnLst>
                              <p:par>
                                <p:cTn id="38" presetID="1" presetClass="entr" presetSubtype="0" fill="hold" grpId="0" nodeType="afterEffect">
                                  <p:stCondLst>
                                    <p:cond delay="0"/>
                                  </p:stCondLst>
                                  <p:childTnLst>
                                    <p:set>
                                      <p:cBhvr>
                                        <p:cTn id="39" dur="1" fill="hold">
                                          <p:stCondLst>
                                            <p:cond delay="0"/>
                                          </p:stCondLst>
                                        </p:cTn>
                                        <p:tgtEl>
                                          <p:spTgt spid="12"/>
                                        </p:tgtEl>
                                        <p:attrNameLst>
                                          <p:attrName>style.visibility</p:attrName>
                                        </p:attrNameLst>
                                      </p:cBhvr>
                                      <p:to>
                                        <p:strVal val="visible"/>
                                      </p:to>
                                    </p:set>
                                  </p:childTnLst>
                                </p:cTn>
                              </p:par>
                              <p:par>
                                <p:cTn id="40" presetID="42" presetClass="exit" presetSubtype="0" fill="hold" grpId="0" nodeType="withEffect">
                                  <p:stCondLst>
                                    <p:cond delay="0"/>
                                  </p:stCondLst>
                                  <p:childTnLst>
                                    <p:animEffect transition="out" filter="fade">
                                      <p:cBhvr>
                                        <p:cTn id="41" dur="1000"/>
                                        <p:tgtEl>
                                          <p:spTgt spid="29"/>
                                        </p:tgtEl>
                                      </p:cBhvr>
                                    </p:animEffect>
                                    <p:anim calcmode="lin" valueType="num">
                                      <p:cBhvr>
                                        <p:cTn id="42" dur="1000"/>
                                        <p:tgtEl>
                                          <p:spTgt spid="29"/>
                                        </p:tgtEl>
                                        <p:attrNameLst>
                                          <p:attrName>ppt_x</p:attrName>
                                        </p:attrNameLst>
                                      </p:cBhvr>
                                      <p:tavLst>
                                        <p:tav tm="0">
                                          <p:val>
                                            <p:strVal val="ppt_x"/>
                                          </p:val>
                                        </p:tav>
                                        <p:tav tm="100000">
                                          <p:val>
                                            <p:strVal val="ppt_x"/>
                                          </p:val>
                                        </p:tav>
                                      </p:tavLst>
                                    </p:anim>
                                    <p:anim calcmode="lin" valueType="num">
                                      <p:cBhvr>
                                        <p:cTn id="43" dur="1000"/>
                                        <p:tgtEl>
                                          <p:spTgt spid="29"/>
                                        </p:tgtEl>
                                        <p:attrNameLst>
                                          <p:attrName>ppt_y</p:attrName>
                                        </p:attrNameLst>
                                      </p:cBhvr>
                                      <p:tavLst>
                                        <p:tav tm="0">
                                          <p:val>
                                            <p:strVal val="ppt_y"/>
                                          </p:val>
                                        </p:tav>
                                        <p:tav tm="100000">
                                          <p:val>
                                            <p:strVal val="ppt_y+.1"/>
                                          </p:val>
                                        </p:tav>
                                      </p:tavLst>
                                    </p:anim>
                                    <p:set>
                                      <p:cBhvr>
                                        <p:cTn id="44" dur="1" fill="hold">
                                          <p:stCondLst>
                                            <p:cond delay="999"/>
                                          </p:stCondLst>
                                        </p:cTn>
                                        <p:tgtEl>
                                          <p:spTgt spid="2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7" grpId="0" animBg="1"/>
      <p:bldP spid="27" grpId="1" animBg="1"/>
      <p:bldP spid="28" grpId="0" animBg="1"/>
      <p:bldP spid="28" grpId="1" animBg="1"/>
      <p:bldP spid="29" grpId="0"/>
      <p:bldP spid="36" grpId="0" animBg="1"/>
      <p:bldP spid="39" grpId="0" animBg="1"/>
      <p:bldP spid="1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22</a:t>
            </a:fld>
            <a:endParaRPr lang="fr-BE"/>
          </a:p>
        </p:txBody>
      </p:sp>
      <p:sp>
        <p:nvSpPr>
          <p:cNvPr id="12" name="6 Rectángulo redondeado"/>
          <p:cNvSpPr>
            <a:spLocks noChangeArrowheads="1"/>
          </p:cNvSpPr>
          <p:nvPr/>
        </p:nvSpPr>
        <p:spPr bwMode="auto">
          <a:xfrm>
            <a:off x="3820666" y="2931790"/>
            <a:ext cx="895350" cy="457200"/>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15" name="4 Rectángulo redondeado"/>
          <p:cNvSpPr>
            <a:spLocks noChangeArrowheads="1"/>
          </p:cNvSpPr>
          <p:nvPr/>
        </p:nvSpPr>
        <p:spPr bwMode="auto">
          <a:xfrm>
            <a:off x="1371600" y="2499742"/>
            <a:ext cx="4568552" cy="1273596"/>
          </a:xfrm>
          <a:prstGeom prst="roundRect">
            <a:avLst>
              <a:gd name="adj" fmla="val 16667"/>
            </a:avLst>
          </a:prstGeom>
          <a:solidFill>
            <a:schemeClr val="tx2">
              <a:lumMod val="50000"/>
            </a:schemeClr>
          </a:solidFill>
          <a:ln>
            <a:headEnd/>
            <a:tailEnd/>
          </a:ln>
        </p:spPr>
        <p:style>
          <a:lnRef idx="3">
            <a:schemeClr val="lt1"/>
          </a:lnRef>
          <a:fillRef idx="1">
            <a:schemeClr val="accent4"/>
          </a:fillRef>
          <a:effectRef idx="1">
            <a:schemeClr val="accent4"/>
          </a:effectRef>
          <a:fontRef idx="minor">
            <a:schemeClr val="lt1"/>
          </a:fontRef>
        </p:style>
        <p:txBody>
          <a:bodyPr wrap="none" lIns="0" tIns="0" rIns="0" bIns="0" anchor="ctr"/>
          <a:lstStyle/>
          <a:p>
            <a:pPr algn="ctr" eaLnBrk="0" hangingPunct="0">
              <a:defRPr/>
            </a:pPr>
            <a:endParaRPr lang="es-ES" dirty="0">
              <a:latin typeface="TheSansCorrespondence" pitchFamily="34" charset="0"/>
              <a:ea typeface="+mn-ea"/>
              <a:cs typeface="+mn-cs"/>
            </a:endParaRPr>
          </a:p>
        </p:txBody>
      </p:sp>
      <p:sp>
        <p:nvSpPr>
          <p:cNvPr id="16" name="5 CuadroTexto"/>
          <p:cNvSpPr txBox="1">
            <a:spLocks noChangeArrowheads="1"/>
          </p:cNvSpPr>
          <p:nvPr/>
        </p:nvSpPr>
        <p:spPr bwMode="auto">
          <a:xfrm>
            <a:off x="0" y="2936485"/>
            <a:ext cx="1259632" cy="4001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a:spAutoFit/>
          </a:bodyPr>
          <a:lstStyle>
            <a:lvl1pPr eaLnBrk="0" hangingPunct="0">
              <a:defRPr sz="1200" b="1">
                <a:solidFill>
                  <a:schemeClr val="tx1"/>
                </a:solidFill>
                <a:latin typeface="TheSansCorrespondence" charset="0"/>
                <a:ea typeface="ＭＳ Ｐゴシック" charset="0"/>
                <a:cs typeface="ＭＳ Ｐゴシック" charset="0"/>
              </a:defRPr>
            </a:lvl1pPr>
            <a:lvl2pPr marL="742950" indent="-285750" eaLnBrk="0" hangingPunct="0">
              <a:defRPr sz="1200" b="1">
                <a:solidFill>
                  <a:schemeClr val="tx1"/>
                </a:solidFill>
                <a:latin typeface="TheSansCorrespondence" charset="0"/>
                <a:ea typeface="ＭＳ Ｐゴシック" charset="0"/>
              </a:defRPr>
            </a:lvl2pPr>
            <a:lvl3pPr marL="1143000" indent="-228600" eaLnBrk="0" hangingPunct="0">
              <a:defRPr sz="1200" b="1">
                <a:solidFill>
                  <a:schemeClr val="tx1"/>
                </a:solidFill>
                <a:latin typeface="TheSansCorrespondence" charset="0"/>
                <a:ea typeface="ＭＳ Ｐゴシック" charset="0"/>
              </a:defRPr>
            </a:lvl3pPr>
            <a:lvl4pPr marL="1600200" indent="-228600" eaLnBrk="0" hangingPunct="0">
              <a:defRPr sz="1200" b="1">
                <a:solidFill>
                  <a:schemeClr val="tx1"/>
                </a:solidFill>
                <a:latin typeface="TheSansCorrespondence" charset="0"/>
                <a:ea typeface="ＭＳ Ｐゴシック" charset="0"/>
              </a:defRPr>
            </a:lvl4pPr>
            <a:lvl5pPr marL="2057400" indent="-228600" eaLnBrk="0" hangingPunct="0">
              <a:defRPr sz="1200" b="1">
                <a:solidFill>
                  <a:schemeClr val="tx1"/>
                </a:solidFill>
                <a:latin typeface="TheSansCorrespondence" charset="0"/>
                <a:ea typeface="ＭＳ Ｐゴシック" charset="0"/>
              </a:defRPr>
            </a:lvl5pPr>
            <a:lvl6pPr marL="2514600" indent="-228600" eaLnBrk="0" fontAlgn="base" hangingPunct="0">
              <a:spcBef>
                <a:spcPct val="0"/>
              </a:spcBef>
              <a:spcAft>
                <a:spcPct val="0"/>
              </a:spcAft>
              <a:defRPr sz="1200" b="1">
                <a:solidFill>
                  <a:schemeClr val="tx1"/>
                </a:solidFill>
                <a:latin typeface="TheSansCorrespondence" charset="0"/>
                <a:ea typeface="ＭＳ Ｐゴシック" charset="0"/>
              </a:defRPr>
            </a:lvl6pPr>
            <a:lvl7pPr marL="2971800" indent="-228600" eaLnBrk="0" fontAlgn="base" hangingPunct="0">
              <a:spcBef>
                <a:spcPct val="0"/>
              </a:spcBef>
              <a:spcAft>
                <a:spcPct val="0"/>
              </a:spcAft>
              <a:defRPr sz="1200" b="1">
                <a:solidFill>
                  <a:schemeClr val="tx1"/>
                </a:solidFill>
                <a:latin typeface="TheSansCorrespondence" charset="0"/>
                <a:ea typeface="ＭＳ Ｐゴシック" charset="0"/>
              </a:defRPr>
            </a:lvl7pPr>
            <a:lvl8pPr marL="3429000" indent="-228600" eaLnBrk="0" fontAlgn="base" hangingPunct="0">
              <a:spcBef>
                <a:spcPct val="0"/>
              </a:spcBef>
              <a:spcAft>
                <a:spcPct val="0"/>
              </a:spcAft>
              <a:defRPr sz="1200" b="1">
                <a:solidFill>
                  <a:schemeClr val="tx1"/>
                </a:solidFill>
                <a:latin typeface="TheSansCorrespondence" charset="0"/>
                <a:ea typeface="ＭＳ Ｐゴシック" charset="0"/>
              </a:defRPr>
            </a:lvl8pPr>
            <a:lvl9pPr marL="3886200" indent="-228600" eaLnBrk="0" fontAlgn="base" hangingPunct="0">
              <a:spcBef>
                <a:spcPct val="0"/>
              </a:spcBef>
              <a:spcAft>
                <a:spcPct val="0"/>
              </a:spcAft>
              <a:defRPr sz="1200" b="1">
                <a:solidFill>
                  <a:schemeClr val="tx1"/>
                </a:solidFill>
                <a:latin typeface="TheSansCorrespondence" charset="0"/>
                <a:ea typeface="ＭＳ Ｐゴシック" charset="0"/>
              </a:defRPr>
            </a:lvl9pPr>
          </a:lstStyle>
          <a:p>
            <a:pPr algn="ctr" eaLnBrk="1" hangingPunct="1"/>
            <a:r>
              <a:rPr lang="en-US" sz="2000" dirty="0" smtClean="0">
                <a:latin typeface="Arial" charset="0"/>
                <a:cs typeface="Arial" charset="0"/>
              </a:rPr>
              <a:t>FIWARE</a:t>
            </a:r>
            <a:endParaRPr lang="en-US" sz="2000" dirty="0">
              <a:latin typeface="Arial" charset="0"/>
              <a:cs typeface="Arial" charset="0"/>
            </a:endParaRPr>
          </a:p>
        </p:txBody>
      </p:sp>
      <p:grpSp>
        <p:nvGrpSpPr>
          <p:cNvPr id="17" name="Group 23"/>
          <p:cNvGrpSpPr/>
          <p:nvPr/>
        </p:nvGrpSpPr>
        <p:grpSpPr>
          <a:xfrm>
            <a:off x="2483769" y="2672191"/>
            <a:ext cx="3312368" cy="902288"/>
            <a:chOff x="2759244" y="5061949"/>
            <a:chExt cx="6023442" cy="902288"/>
          </a:xfrm>
        </p:grpSpPr>
        <p:sp>
          <p:nvSpPr>
            <p:cNvPr id="18" name="10 Rectángulo redondeado"/>
            <p:cNvSpPr>
              <a:spLocks noChangeArrowheads="1"/>
            </p:cNvSpPr>
            <p:nvPr/>
          </p:nvSpPr>
          <p:spPr bwMode="auto">
            <a:xfrm>
              <a:off x="3639376" y="50746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19" name="11 Rectángulo redondeado"/>
            <p:cNvSpPr>
              <a:spLocks noChangeArrowheads="1"/>
            </p:cNvSpPr>
            <p:nvPr/>
          </p:nvSpPr>
          <p:spPr bwMode="auto">
            <a:xfrm>
              <a:off x="4518184" y="5074649"/>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0" name="12 Rectángulo redondeado"/>
            <p:cNvSpPr>
              <a:spLocks noChangeArrowheads="1"/>
            </p:cNvSpPr>
            <p:nvPr/>
          </p:nvSpPr>
          <p:spPr bwMode="auto">
            <a:xfrm>
              <a:off x="5398316" y="50746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1" name="13 Rectángulo redondeado"/>
            <p:cNvSpPr>
              <a:spLocks noChangeArrowheads="1"/>
            </p:cNvSpPr>
            <p:nvPr/>
          </p:nvSpPr>
          <p:spPr bwMode="auto">
            <a:xfrm>
              <a:off x="3639376" y="55829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2" name="14 Rectángulo redondeado"/>
            <p:cNvSpPr>
              <a:spLocks noChangeArrowheads="1"/>
            </p:cNvSpPr>
            <p:nvPr/>
          </p:nvSpPr>
          <p:spPr bwMode="auto">
            <a:xfrm>
              <a:off x="4518184" y="5582985"/>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3" name="15 Rectángulo redondeado"/>
            <p:cNvSpPr>
              <a:spLocks noChangeArrowheads="1"/>
            </p:cNvSpPr>
            <p:nvPr/>
          </p:nvSpPr>
          <p:spPr bwMode="auto">
            <a:xfrm>
              <a:off x="5398316" y="55829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5" name="12 Rectángulo redondeado"/>
            <p:cNvSpPr>
              <a:spLocks noChangeArrowheads="1"/>
            </p:cNvSpPr>
            <p:nvPr/>
          </p:nvSpPr>
          <p:spPr bwMode="auto">
            <a:xfrm>
              <a:off x="8036067" y="50619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26" name="10 Rectángulo redondeado"/>
            <p:cNvSpPr>
              <a:spLocks noChangeArrowheads="1"/>
            </p:cNvSpPr>
            <p:nvPr/>
          </p:nvSpPr>
          <p:spPr bwMode="auto">
            <a:xfrm>
              <a:off x="6277124" y="5061949"/>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0" name="11 Rectángulo redondeado"/>
            <p:cNvSpPr>
              <a:spLocks noChangeArrowheads="1"/>
            </p:cNvSpPr>
            <p:nvPr/>
          </p:nvSpPr>
          <p:spPr bwMode="auto">
            <a:xfrm>
              <a:off x="7155932" y="5061949"/>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1" name="13 Rectángulo redondeado"/>
            <p:cNvSpPr>
              <a:spLocks noChangeArrowheads="1"/>
            </p:cNvSpPr>
            <p:nvPr/>
          </p:nvSpPr>
          <p:spPr bwMode="auto">
            <a:xfrm>
              <a:off x="6277124" y="55702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2" name="14 Rectángulo redondeado"/>
            <p:cNvSpPr>
              <a:spLocks noChangeArrowheads="1"/>
            </p:cNvSpPr>
            <p:nvPr/>
          </p:nvSpPr>
          <p:spPr bwMode="auto">
            <a:xfrm>
              <a:off x="7155932" y="5570285"/>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3" name="15 Rectángulo redondeado"/>
            <p:cNvSpPr>
              <a:spLocks noChangeArrowheads="1"/>
            </p:cNvSpPr>
            <p:nvPr/>
          </p:nvSpPr>
          <p:spPr bwMode="auto">
            <a:xfrm>
              <a:off x="8036067" y="5570285"/>
              <a:ext cx="746619"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4" name="11 Rectángulo redondeado"/>
            <p:cNvSpPr>
              <a:spLocks noChangeArrowheads="1"/>
            </p:cNvSpPr>
            <p:nvPr/>
          </p:nvSpPr>
          <p:spPr bwMode="auto">
            <a:xfrm>
              <a:off x="2759244" y="5061949"/>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sp>
          <p:nvSpPr>
            <p:cNvPr id="35" name="14 Rectángulo redondeado"/>
            <p:cNvSpPr>
              <a:spLocks noChangeArrowheads="1"/>
            </p:cNvSpPr>
            <p:nvPr/>
          </p:nvSpPr>
          <p:spPr bwMode="auto">
            <a:xfrm>
              <a:off x="2759244" y="5570285"/>
              <a:ext cx="747943" cy="381252"/>
            </a:xfrm>
            <a:prstGeom prst="roundRect">
              <a:avLst>
                <a:gd name="adj" fmla="val 16667"/>
              </a:avLst>
            </a:prstGeom>
            <a:gradFill flip="none" rotWithShape="1">
              <a:gsLst>
                <a:gs pos="0">
                  <a:schemeClr val="bg1"/>
                </a:gs>
                <a:gs pos="60000">
                  <a:schemeClr val="tx2">
                    <a:lumMod val="60000"/>
                    <a:lumOff val="40000"/>
                    <a:alpha val="70000"/>
                  </a:schemeClr>
                </a:gs>
                <a:gs pos="100000">
                  <a:schemeClr val="tx2">
                    <a:lumMod val="60000"/>
                    <a:lumOff val="40000"/>
                  </a:schemeClr>
                </a:gs>
              </a:gsLst>
              <a:lin ang="5400000" scaled="0"/>
              <a:tileRect/>
            </a:gradFill>
            <a:ln w="9525">
              <a:solidFill>
                <a:srgbClr val="52A4B8"/>
              </a:solidFill>
              <a:round/>
              <a:headEnd/>
              <a:tailEnd/>
            </a:ln>
            <a:effectLst>
              <a:outerShdw dist="20000" dir="5400000" rotWithShape="0">
                <a:srgbClr val="808080">
                  <a:alpha val="37999"/>
                </a:srgbClr>
              </a:outerShdw>
            </a:effectLst>
          </p:spPr>
          <p:txBody>
            <a:bodyPr wrap="none" lIns="0" tIns="0" rIns="0" bIns="0" anchor="ctr"/>
            <a:lstStyle/>
            <a:p>
              <a:pPr algn="ctr" eaLnBrk="0" hangingPunct="0"/>
              <a:endParaRPr lang="es-ES" dirty="0">
                <a:latin typeface="TheSansCorrespondence" pitchFamily="34" charset="0"/>
                <a:ea typeface="+mn-ea"/>
                <a:cs typeface="+mn-cs"/>
              </a:endParaRPr>
            </a:p>
          </p:txBody>
        </p:sp>
      </p:grpSp>
      <p:sp>
        <p:nvSpPr>
          <p:cNvPr id="37" name="TextBox 17"/>
          <p:cNvSpPr txBox="1"/>
          <p:nvPr/>
        </p:nvSpPr>
        <p:spPr>
          <a:xfrm>
            <a:off x="1612900" y="2931542"/>
            <a:ext cx="582836" cy="369332"/>
          </a:xfrm>
          <a:prstGeom prst="rect">
            <a:avLst/>
          </a:prstGeom>
          <a:noFill/>
        </p:spPr>
        <p:txBody>
          <a:bodyPr wrap="square" rtlCol="0">
            <a:spAutoFit/>
          </a:bodyPr>
          <a:lstStyle/>
          <a:p>
            <a:r>
              <a:rPr lang="en-US" sz="1800" dirty="0" smtClean="0">
                <a:solidFill>
                  <a:schemeClr val="bg1"/>
                </a:solidFill>
              </a:rPr>
              <a:t>GEs</a:t>
            </a:r>
            <a:endParaRPr lang="en-US" sz="1800" dirty="0">
              <a:solidFill>
                <a:schemeClr val="bg1"/>
              </a:solidFill>
            </a:endParaRPr>
          </a:p>
        </p:txBody>
      </p:sp>
      <p:sp>
        <p:nvSpPr>
          <p:cNvPr id="38" name="Left Brace 18"/>
          <p:cNvSpPr/>
          <p:nvPr/>
        </p:nvSpPr>
        <p:spPr bwMode="auto">
          <a:xfrm>
            <a:off x="2195736" y="2666641"/>
            <a:ext cx="216024" cy="939800"/>
          </a:xfrm>
          <a:prstGeom prst="leftBrace">
            <a:avLst/>
          </a:prstGeom>
          <a:noFill/>
          <a:ln w="28575" cap="flat" cmpd="sng" algn="ctr">
            <a:solidFill>
              <a:schemeClr val="bg2"/>
            </a:solidFill>
            <a:prstDash val="solid"/>
            <a:round/>
            <a:headEnd type="none" w="med" len="med"/>
            <a:tailEnd type="none" w="med" len="med"/>
          </a:ln>
          <a:effectLst/>
          <a:ex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1200" b="1" i="0" u="none" strike="noStrike" cap="none" normalizeH="0" baseline="0" smtClean="0">
              <a:ln>
                <a:noFill/>
              </a:ln>
              <a:solidFill>
                <a:schemeClr val="tx1"/>
              </a:solidFill>
              <a:effectLst/>
              <a:latin typeface="TheSansCorrespondence" pitchFamily="34" charset="0"/>
            </a:endParaRPr>
          </a:p>
        </p:txBody>
      </p:sp>
      <p:sp>
        <p:nvSpPr>
          <p:cNvPr id="4" name="Plus 3"/>
          <p:cNvSpPr/>
          <p:nvPr/>
        </p:nvSpPr>
        <p:spPr>
          <a:xfrm>
            <a:off x="6012160" y="2814371"/>
            <a:ext cx="648072" cy="693485"/>
          </a:xfrm>
          <a:prstGeom prst="mathPlus">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xmlns="" val="36852845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2.77778E-7 3.82716E-6 L 0.09948 0.04012 C 0.12049 0.04907 0.15174 0.05401 0.1842 0.05401 C 0.22135 0.05401 0.25104 0.04907 0.27205 0.04012 L 0.3717 3.82716E-6 " pathEditMode="relative" rAng="0" ptsTypes="FffFF">
                                      <p:cBhvr>
                                        <p:cTn id="6" dur="2000" fill="hold"/>
                                        <p:tgtEl>
                                          <p:spTgt spid="12"/>
                                        </p:tgtEl>
                                        <p:attrNameLst>
                                          <p:attrName>ppt_x</p:attrName>
                                          <p:attrName>ppt_y</p:attrName>
                                        </p:attrNameLst>
                                      </p:cBhvr>
                                      <p:rCtr x="18576" y="2685"/>
                                    </p:animMotion>
                                  </p:childTnLst>
                                </p:cTn>
                              </p:par>
                            </p:childTnLst>
                          </p:cTn>
                        </p:par>
                      </p:childTnLst>
                    </p:cTn>
                  </p:par>
                  <p:par>
                    <p:cTn id="7" fill="hold">
                      <p:stCondLst>
                        <p:cond delay="indefinite"/>
                      </p:stCondLst>
                      <p:childTnLst>
                        <p:par>
                          <p:cTn id="8" fill="hold">
                            <p:stCondLst>
                              <p:cond delay="0"/>
                            </p:stCondLst>
                            <p:childTnLst>
                              <p:par>
                                <p:cTn id="9" presetID="42"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1000"/>
                                        <p:tgtEl>
                                          <p:spTgt spid="17"/>
                                        </p:tgtEl>
                                      </p:cBhvr>
                                    </p:animEffect>
                                    <p:anim calcmode="lin" valueType="num">
                                      <p:cBhvr>
                                        <p:cTn id="12" dur="1000" fill="hold"/>
                                        <p:tgtEl>
                                          <p:spTgt spid="17"/>
                                        </p:tgtEl>
                                        <p:attrNameLst>
                                          <p:attrName>ppt_x</p:attrName>
                                        </p:attrNameLst>
                                      </p:cBhvr>
                                      <p:tavLst>
                                        <p:tav tm="0">
                                          <p:val>
                                            <p:strVal val="#ppt_x"/>
                                          </p:val>
                                        </p:tav>
                                        <p:tav tm="100000">
                                          <p:val>
                                            <p:strVal val="#ppt_x"/>
                                          </p:val>
                                        </p:tav>
                                      </p:tavLst>
                                    </p:anim>
                                    <p:anim calcmode="lin" valueType="num">
                                      <p:cBhvr>
                                        <p:cTn id="13" dur="1000" fill="hold"/>
                                        <p:tgtEl>
                                          <p:spTgt spid="17"/>
                                        </p:tgtEl>
                                        <p:attrNameLst>
                                          <p:attrName>ppt_y</p:attrName>
                                        </p:attrNameLst>
                                      </p:cBhvr>
                                      <p:tavLst>
                                        <p:tav tm="0">
                                          <p:val>
                                            <p:strVal val="#ppt_y+.1"/>
                                          </p:val>
                                        </p:tav>
                                        <p:tav tm="100000">
                                          <p:val>
                                            <p:strVal val="#ppt_y"/>
                                          </p:val>
                                        </p:tav>
                                      </p:tavLst>
                                    </p:anim>
                                  </p:childTnLst>
                                </p:cTn>
                              </p:par>
                              <p:par>
                                <p:cTn id="14" presetID="42" presetClass="entr" presetSubtype="0" fill="hold" grpId="0" nodeType="withEffect">
                                  <p:stCondLst>
                                    <p:cond delay="0"/>
                                  </p:stCondLst>
                                  <p:childTnLst>
                                    <p:set>
                                      <p:cBhvr>
                                        <p:cTn id="15" dur="1" fill="hold">
                                          <p:stCondLst>
                                            <p:cond delay="0"/>
                                          </p:stCondLst>
                                        </p:cTn>
                                        <p:tgtEl>
                                          <p:spTgt spid="15"/>
                                        </p:tgtEl>
                                        <p:attrNameLst>
                                          <p:attrName>style.visibility</p:attrName>
                                        </p:attrNameLst>
                                      </p:cBhvr>
                                      <p:to>
                                        <p:strVal val="visible"/>
                                      </p:to>
                                    </p:set>
                                    <p:animEffect transition="in" filter="fade">
                                      <p:cBhvr>
                                        <p:cTn id="16" dur="1000"/>
                                        <p:tgtEl>
                                          <p:spTgt spid="15"/>
                                        </p:tgtEl>
                                      </p:cBhvr>
                                    </p:animEffect>
                                    <p:anim calcmode="lin" valueType="num">
                                      <p:cBhvr>
                                        <p:cTn id="17" dur="1000" fill="hold"/>
                                        <p:tgtEl>
                                          <p:spTgt spid="15"/>
                                        </p:tgtEl>
                                        <p:attrNameLst>
                                          <p:attrName>ppt_x</p:attrName>
                                        </p:attrNameLst>
                                      </p:cBhvr>
                                      <p:tavLst>
                                        <p:tav tm="0">
                                          <p:val>
                                            <p:strVal val="#ppt_x"/>
                                          </p:val>
                                        </p:tav>
                                        <p:tav tm="100000">
                                          <p:val>
                                            <p:strVal val="#ppt_x"/>
                                          </p:val>
                                        </p:tav>
                                      </p:tavLst>
                                    </p:anim>
                                    <p:anim calcmode="lin" valueType="num">
                                      <p:cBhvr>
                                        <p:cTn id="18" dur="1000" fill="hold"/>
                                        <p:tgtEl>
                                          <p:spTgt spid="15"/>
                                        </p:tgtEl>
                                        <p:attrNameLst>
                                          <p:attrName>ppt_y</p:attrName>
                                        </p:attrNameLst>
                                      </p:cBhvr>
                                      <p:tavLst>
                                        <p:tav tm="0">
                                          <p:val>
                                            <p:strVal val="#ppt_y+.1"/>
                                          </p:val>
                                        </p:tav>
                                        <p:tav tm="100000">
                                          <p:val>
                                            <p:strVal val="#ppt_y"/>
                                          </p:val>
                                        </p:tav>
                                      </p:tavLst>
                                    </p:anim>
                                  </p:childTnLst>
                                </p:cTn>
                              </p:par>
                              <p:par>
                                <p:cTn id="19" presetID="42" presetClass="entr" presetSubtype="0" fill="hold" grpId="0" nodeType="withEffect">
                                  <p:stCondLst>
                                    <p:cond delay="0"/>
                                  </p:stCondLst>
                                  <p:childTnLst>
                                    <p:set>
                                      <p:cBhvr>
                                        <p:cTn id="20" dur="1" fill="hold">
                                          <p:stCondLst>
                                            <p:cond delay="0"/>
                                          </p:stCondLst>
                                        </p:cTn>
                                        <p:tgtEl>
                                          <p:spTgt spid="38"/>
                                        </p:tgtEl>
                                        <p:attrNameLst>
                                          <p:attrName>style.visibility</p:attrName>
                                        </p:attrNameLst>
                                      </p:cBhvr>
                                      <p:to>
                                        <p:strVal val="visible"/>
                                      </p:to>
                                    </p:set>
                                    <p:animEffect transition="in" filter="fade">
                                      <p:cBhvr>
                                        <p:cTn id="21" dur="1000"/>
                                        <p:tgtEl>
                                          <p:spTgt spid="38"/>
                                        </p:tgtEl>
                                      </p:cBhvr>
                                    </p:animEffect>
                                    <p:anim calcmode="lin" valueType="num">
                                      <p:cBhvr>
                                        <p:cTn id="22" dur="1000" fill="hold"/>
                                        <p:tgtEl>
                                          <p:spTgt spid="38"/>
                                        </p:tgtEl>
                                        <p:attrNameLst>
                                          <p:attrName>ppt_x</p:attrName>
                                        </p:attrNameLst>
                                      </p:cBhvr>
                                      <p:tavLst>
                                        <p:tav tm="0">
                                          <p:val>
                                            <p:strVal val="#ppt_x"/>
                                          </p:val>
                                        </p:tav>
                                        <p:tav tm="100000">
                                          <p:val>
                                            <p:strVal val="#ppt_x"/>
                                          </p:val>
                                        </p:tav>
                                      </p:tavLst>
                                    </p:anim>
                                    <p:anim calcmode="lin" valueType="num">
                                      <p:cBhvr>
                                        <p:cTn id="23" dur="1000" fill="hold"/>
                                        <p:tgtEl>
                                          <p:spTgt spid="38"/>
                                        </p:tgtEl>
                                        <p:attrNameLst>
                                          <p:attrName>ppt_y</p:attrName>
                                        </p:attrNameLst>
                                      </p:cBhvr>
                                      <p:tavLst>
                                        <p:tav tm="0">
                                          <p:val>
                                            <p:strVal val="#ppt_y+.1"/>
                                          </p:val>
                                        </p:tav>
                                        <p:tav tm="100000">
                                          <p:val>
                                            <p:strVal val="#ppt_y"/>
                                          </p:val>
                                        </p:tav>
                                      </p:tavLst>
                                    </p:anim>
                                  </p:childTnLst>
                                </p:cTn>
                              </p:par>
                              <p:par>
                                <p:cTn id="24" presetID="42" presetClass="entr" presetSubtype="0" fill="hold" grpId="0"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1000"/>
                                        <p:tgtEl>
                                          <p:spTgt spid="37"/>
                                        </p:tgtEl>
                                      </p:cBhvr>
                                    </p:animEffect>
                                    <p:anim calcmode="lin" valueType="num">
                                      <p:cBhvr>
                                        <p:cTn id="27" dur="1000" fill="hold"/>
                                        <p:tgtEl>
                                          <p:spTgt spid="37"/>
                                        </p:tgtEl>
                                        <p:attrNameLst>
                                          <p:attrName>ppt_x</p:attrName>
                                        </p:attrNameLst>
                                      </p:cBhvr>
                                      <p:tavLst>
                                        <p:tav tm="0">
                                          <p:val>
                                            <p:strVal val="#ppt_x"/>
                                          </p:val>
                                        </p:tav>
                                        <p:tav tm="100000">
                                          <p:val>
                                            <p:strVal val="#ppt_x"/>
                                          </p:val>
                                        </p:tav>
                                      </p:tavLst>
                                    </p:anim>
                                    <p:anim calcmode="lin" valueType="num">
                                      <p:cBhvr>
                                        <p:cTn id="28" dur="1000" fill="hold"/>
                                        <p:tgtEl>
                                          <p:spTgt spid="37"/>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1000"/>
                                        <p:tgtEl>
                                          <p:spTgt spid="16"/>
                                        </p:tgtEl>
                                      </p:cBhvr>
                                    </p:animEffect>
                                    <p:anim calcmode="lin" valueType="num">
                                      <p:cBhvr>
                                        <p:cTn id="32" dur="1000" fill="hold"/>
                                        <p:tgtEl>
                                          <p:spTgt spid="16"/>
                                        </p:tgtEl>
                                        <p:attrNameLst>
                                          <p:attrName>ppt_x</p:attrName>
                                        </p:attrNameLst>
                                      </p:cBhvr>
                                      <p:tavLst>
                                        <p:tav tm="0">
                                          <p:val>
                                            <p:strVal val="#ppt_x"/>
                                          </p:val>
                                        </p:tav>
                                        <p:tav tm="100000">
                                          <p:val>
                                            <p:strVal val="#ppt_x"/>
                                          </p:val>
                                        </p:tav>
                                      </p:tavLst>
                                    </p:anim>
                                    <p:anim calcmode="lin" valueType="num">
                                      <p:cBhvr>
                                        <p:cTn id="33" dur="1000" fill="hold"/>
                                        <p:tgtEl>
                                          <p:spTgt spid="16"/>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anim calcmode="lin" valueType="num">
                                      <p:cBhvr>
                                        <p:cTn id="37" dur="1000" fill="hold"/>
                                        <p:tgtEl>
                                          <p:spTgt spid="4"/>
                                        </p:tgtEl>
                                        <p:attrNameLst>
                                          <p:attrName>ppt_x</p:attrName>
                                        </p:attrNameLst>
                                      </p:cBhvr>
                                      <p:tavLst>
                                        <p:tav tm="0">
                                          <p:val>
                                            <p:strVal val="#ppt_x"/>
                                          </p:val>
                                        </p:tav>
                                        <p:tav tm="100000">
                                          <p:val>
                                            <p:strVal val="#ppt_x"/>
                                          </p:val>
                                        </p:tav>
                                      </p:tavLst>
                                    </p:anim>
                                    <p:anim calcmode="lin" valueType="num">
                                      <p:cBhvr>
                                        <p:cTn id="38"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5" grpId="0" animBg="1"/>
      <p:bldP spid="16" grpId="0"/>
      <p:bldP spid="37" grpId="0"/>
      <p:bldP spid="38" grpId="0" animBg="1"/>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html5 java"/>
          <p:cNvPicPr>
            <a:picLocks noChangeAspect="1" noChangeArrowheads="1"/>
          </p:cNvPicPr>
          <p:nvPr/>
        </p:nvPicPr>
        <p:blipFill>
          <a:blip r:embed="rId2">
            <a:extLst>
              <a:ext uri="{28A0092B-C50C-407E-A947-70E740481C1C}">
                <a14:useLocalDpi xmlns:a14="http://schemas.microsoft.com/office/drawing/2010/main" xmlns="" val="0"/>
              </a:ext>
            </a:extLst>
          </a:blip>
          <a:srcRect/>
          <a:stretch>
            <a:fillRect/>
          </a:stretch>
        </p:blipFill>
        <p:spPr bwMode="auto">
          <a:xfrm>
            <a:off x="6588228" y="3291830"/>
            <a:ext cx="2526225" cy="1800000"/>
          </a:xfrm>
          <a:prstGeom prst="rect">
            <a:avLst/>
          </a:prstGeom>
          <a:noFill/>
          <a:extLst>
            <a:ext uri="{909E8E84-426E-40DD-AFC4-6F175D3DCCD1}">
              <a14:hiddenFill xmlns:a14="http://schemas.microsoft.com/office/drawing/2010/main" xmlns="">
                <a:solidFill>
                  <a:srgbClr val="FFFFFF"/>
                </a:solidFill>
              </a14:hiddenFill>
            </a:ext>
          </a:extLst>
        </p:spPr>
      </p:pic>
      <p:sp>
        <p:nvSpPr>
          <p:cNvPr id="4" name="Titre 3"/>
          <p:cNvSpPr>
            <a:spLocks noGrp="1"/>
          </p:cNvSpPr>
          <p:nvPr>
            <p:ph type="title"/>
          </p:nvPr>
        </p:nvSpPr>
        <p:spPr/>
        <p:txBody>
          <a:bodyPr/>
          <a:lstStyle/>
          <a:p>
            <a:r>
              <a:rPr lang="fr-FR" dirty="0" err="1" smtClean="0"/>
              <a:t>Webswing</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23</a:t>
            </a:fld>
            <a:endParaRPr lang="fr-BE"/>
          </a:p>
        </p:txBody>
      </p:sp>
      <p:sp>
        <p:nvSpPr>
          <p:cNvPr id="2" name="Espace réservé du contenu 1"/>
          <p:cNvSpPr>
            <a:spLocks noGrp="1"/>
          </p:cNvSpPr>
          <p:nvPr>
            <p:ph sz="quarter" idx="1"/>
          </p:nvPr>
        </p:nvSpPr>
        <p:spPr/>
        <p:txBody>
          <a:bodyPr/>
          <a:lstStyle/>
          <a:p>
            <a:pPr marL="0" indent="0">
              <a:buNone/>
            </a:pPr>
            <a:endParaRPr lang="fr-FR" dirty="0" smtClean="0"/>
          </a:p>
          <a:p>
            <a:r>
              <a:rPr lang="fr-FR" dirty="0" smtClean="0"/>
              <a:t>C’est un serveur web,</a:t>
            </a:r>
          </a:p>
          <a:p>
            <a:pPr marL="0" indent="0">
              <a:buNone/>
            </a:pPr>
            <a:endParaRPr lang="fr-FR" dirty="0" smtClean="0"/>
          </a:p>
          <a:p>
            <a:r>
              <a:rPr lang="fr-FR" dirty="0" smtClean="0"/>
              <a:t>Permet d’exécuter les applications swing dans le navigateur web en utilisant HTML5.</a:t>
            </a:r>
            <a:endParaRPr lang="fr-FR" dirty="0"/>
          </a:p>
        </p:txBody>
      </p:sp>
    </p:spTree>
    <p:extLst>
      <p:ext uri="{BB962C8B-B14F-4D97-AF65-F5344CB8AC3E}">
        <p14:creationId xmlns:p14="http://schemas.microsoft.com/office/powerpoint/2010/main" xmlns="" val="140213909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Docker</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24</a:t>
            </a:fld>
            <a:endParaRPr lang="fr-BE"/>
          </a:p>
        </p:txBody>
      </p:sp>
      <p:sp>
        <p:nvSpPr>
          <p:cNvPr id="2" name="Espace réservé du contenu 1"/>
          <p:cNvSpPr>
            <a:spLocks noGrp="1"/>
          </p:cNvSpPr>
          <p:nvPr>
            <p:ph sz="quarter" idx="1"/>
          </p:nvPr>
        </p:nvSpPr>
        <p:spPr/>
        <p:txBody>
          <a:bodyPr>
            <a:normAutofit/>
          </a:bodyPr>
          <a:lstStyle/>
          <a:p>
            <a:r>
              <a:rPr lang="fr-FR" dirty="0" smtClean="0"/>
              <a:t>Plate-forme </a:t>
            </a:r>
            <a:r>
              <a:rPr lang="fr-FR" dirty="0"/>
              <a:t>mondiale de conteneurs </a:t>
            </a:r>
            <a:r>
              <a:rPr lang="fr-FR" dirty="0" smtClean="0"/>
              <a:t>logiciels,</a:t>
            </a:r>
          </a:p>
          <a:p>
            <a:pPr marL="0" indent="0">
              <a:buNone/>
            </a:pPr>
            <a:endParaRPr lang="fr-FR" dirty="0" smtClean="0"/>
          </a:p>
          <a:p>
            <a:r>
              <a:rPr lang="fr-FR" dirty="0" smtClean="0"/>
              <a:t>Automatise </a:t>
            </a:r>
            <a:r>
              <a:rPr lang="fr-FR" dirty="0"/>
              <a:t>les tâches répétitives d’installation et de configuration des environnements de </a:t>
            </a:r>
            <a:r>
              <a:rPr lang="fr-FR" dirty="0" smtClean="0"/>
              <a:t>développement,</a:t>
            </a:r>
          </a:p>
          <a:p>
            <a:pPr marL="0" indent="0">
              <a:buNone/>
            </a:pPr>
            <a:endParaRPr lang="fr-FR" dirty="0" smtClean="0"/>
          </a:p>
          <a:p>
            <a:r>
              <a:rPr lang="fr-FR" dirty="0" smtClean="0"/>
              <a:t>Utilisé pour </a:t>
            </a:r>
            <a:r>
              <a:rPr lang="fr-FR" dirty="0"/>
              <a:t>éliminer les problèmes de «sa marche sur ma machine» lors de la collaboration sur le </a:t>
            </a:r>
            <a:r>
              <a:rPr lang="fr-FR" dirty="0" smtClean="0"/>
              <a:t>code.</a:t>
            </a:r>
            <a:endParaRPr lang="fr-FR" dirty="0"/>
          </a:p>
        </p:txBody>
      </p:sp>
      <p:pic>
        <p:nvPicPr>
          <p:cNvPr id="5" name="Picture 2" descr="http://virtualization.info/en/files/2014/01/clip_image0011.jpg"/>
          <p:cNvPicPr>
            <a:picLocks noChangeAspect="1" noChangeArrowheads="1"/>
          </p:cNvPicPr>
          <p:nvPr/>
        </p:nvPicPr>
        <p:blipFill>
          <a:blip r:embed="rId2">
            <a:extLst>
              <a:ext uri="{28A0092B-C50C-407E-A947-70E740481C1C}">
                <a14:useLocalDpi xmlns:a14="http://schemas.microsoft.com/office/drawing/2010/main" xmlns="" val="0"/>
              </a:ext>
            </a:extLst>
          </a:blip>
          <a:srcRect/>
          <a:stretch>
            <a:fillRect/>
          </a:stretch>
        </p:blipFill>
        <p:spPr bwMode="auto">
          <a:xfrm>
            <a:off x="2195740" y="1419624"/>
            <a:ext cx="4619625" cy="2538803"/>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xmlns="" val="758525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xit" presetSubtype="0" fill="hold" nodeType="clickEffect">
                                  <p:stCondLst>
                                    <p:cond delay="0"/>
                                  </p:stCondLst>
                                  <p:childTnLst>
                                    <p:animEffect transition="out" filter="fade">
                                      <p:cBhvr>
                                        <p:cTn id="13" dur="500"/>
                                        <p:tgtEl>
                                          <p:spTgt spid="5"/>
                                        </p:tgtEl>
                                      </p:cBhvr>
                                    </p:animEffect>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Conteneur</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25</a:t>
            </a:fld>
            <a:endParaRPr lang="fr-BE"/>
          </a:p>
        </p:txBody>
      </p:sp>
      <p:sp>
        <p:nvSpPr>
          <p:cNvPr id="2" name="Espace réservé du contenu 1"/>
          <p:cNvSpPr>
            <a:spLocks noGrp="1"/>
          </p:cNvSpPr>
          <p:nvPr>
            <p:ph sz="quarter" idx="1"/>
          </p:nvPr>
        </p:nvSpPr>
        <p:spPr/>
        <p:txBody>
          <a:bodyPr>
            <a:normAutofit/>
          </a:bodyPr>
          <a:lstStyle/>
          <a:p>
            <a:r>
              <a:rPr lang="fr-FR" dirty="0"/>
              <a:t>Les conteneurs isolent le logiciel de son </a:t>
            </a:r>
            <a:r>
              <a:rPr lang="fr-FR" dirty="0" smtClean="0"/>
              <a:t>environnement,</a:t>
            </a:r>
          </a:p>
          <a:p>
            <a:pPr marL="0" indent="0">
              <a:buNone/>
            </a:pPr>
            <a:endParaRPr lang="fr-FR" dirty="0" smtClean="0"/>
          </a:p>
          <a:p>
            <a:r>
              <a:rPr lang="fr-FR" dirty="0" smtClean="0"/>
              <a:t>Contribuent </a:t>
            </a:r>
            <a:r>
              <a:rPr lang="fr-FR" dirty="0"/>
              <a:t>à réduire les conflits entre les équipes qui exécutent différents logiciels sur la même infrastructure.</a:t>
            </a:r>
            <a:endParaRPr lang="fr-FR" dirty="0" smtClean="0"/>
          </a:p>
          <a:p>
            <a:pPr marL="0" indent="0">
              <a:buNone/>
            </a:pPr>
            <a:endParaRPr lang="fr-FR" dirty="0" smtClean="0"/>
          </a:p>
          <a:p>
            <a:r>
              <a:rPr lang="fr-FR" dirty="0" smtClean="0"/>
              <a:t>Garantit </a:t>
            </a:r>
            <a:r>
              <a:rPr lang="fr-FR" dirty="0"/>
              <a:t>que les logiciels fonctionneront toujours de la même manière, quel que soit l'endroit où ils sont </a:t>
            </a:r>
            <a:r>
              <a:rPr lang="fr-FR" dirty="0" smtClean="0"/>
              <a:t>déployés</a:t>
            </a:r>
            <a:endParaRPr lang="fr-FR" dirty="0"/>
          </a:p>
        </p:txBody>
      </p:sp>
    </p:spTree>
    <p:extLst>
      <p:ext uri="{BB962C8B-B14F-4D97-AF65-F5344CB8AC3E}">
        <p14:creationId xmlns:p14="http://schemas.microsoft.com/office/powerpoint/2010/main" xmlns="" val="142030425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p:txBody>
          <a:bodyPr/>
          <a:lstStyle/>
          <a:p>
            <a:r>
              <a:rPr lang="fr-FR" dirty="0" smtClean="0"/>
              <a:t>VM vs Docker</a:t>
            </a:r>
            <a:endParaRPr lang="fr-FR" dirty="0"/>
          </a:p>
        </p:txBody>
      </p:sp>
      <p:sp>
        <p:nvSpPr>
          <p:cNvPr id="6" name="Espace réservé du numéro de diapositive 5"/>
          <p:cNvSpPr>
            <a:spLocks noGrp="1"/>
          </p:cNvSpPr>
          <p:nvPr>
            <p:ph type="sldNum" sz="quarter" idx="12"/>
          </p:nvPr>
        </p:nvSpPr>
        <p:spPr/>
        <p:txBody>
          <a:bodyPr/>
          <a:lstStyle/>
          <a:p>
            <a:fld id="{CF4668DC-857F-487D-BFFA-8C0CA5037977}" type="slidenum">
              <a:rPr lang="fr-BE" smtClean="0"/>
              <a:pPr/>
              <a:t>26</a:t>
            </a:fld>
            <a:endParaRPr lang="fr-BE"/>
          </a:p>
        </p:txBody>
      </p:sp>
      <p:pic>
        <p:nvPicPr>
          <p:cNvPr id="5" name="Picture 4" descr="http://www.jayway.com/wp-content/uploads/2015/03/vm-vs-docker-table.png"/>
          <p:cNvPicPr>
            <a:picLocks noChangeAspect="1" noChangeArrowheads="1"/>
          </p:cNvPicPr>
          <p:nvPr/>
        </p:nvPicPr>
        <p:blipFill>
          <a:blip r:embed="rId2" cstate="print">
            <a:extLst>
              <a:ext uri="{28A0092B-C50C-407E-A947-70E740481C1C}">
                <a14:useLocalDpi xmlns:a14="http://schemas.microsoft.com/office/drawing/2010/main" xmlns="" val="0"/>
              </a:ext>
            </a:extLst>
          </a:blip>
          <a:srcRect/>
          <a:stretch>
            <a:fillRect/>
          </a:stretch>
        </p:blipFill>
        <p:spPr bwMode="auto">
          <a:xfrm>
            <a:off x="35500" y="909082"/>
            <a:ext cx="3945083" cy="2958812"/>
          </a:xfrm>
          <a:prstGeom prst="rect">
            <a:avLst/>
          </a:prstGeom>
          <a:noFill/>
          <a:extLst>
            <a:ext uri="{909E8E84-426E-40DD-AFC4-6F175D3DCCD1}">
              <a14:hiddenFill xmlns:a14="http://schemas.microsoft.com/office/drawing/2010/main" xmlns="">
                <a:solidFill>
                  <a:srgbClr val="FFFFFF"/>
                </a:solidFill>
              </a14:hiddenFill>
            </a:ext>
          </a:extLst>
        </p:spPr>
      </p:pic>
      <p:pic>
        <p:nvPicPr>
          <p:cNvPr id="4098" name="Picture 2"/>
          <p:cNvPicPr>
            <a:picLocks noChangeAspect="1" noChangeArrowheads="1"/>
          </p:cNvPicPr>
          <p:nvPr/>
        </p:nvPicPr>
        <p:blipFill>
          <a:blip r:embed="rId3" cstate="print">
            <a:extLst>
              <a:ext uri="{28A0092B-C50C-407E-A947-70E740481C1C}">
                <a14:useLocalDpi xmlns:a14="http://schemas.microsoft.com/office/drawing/2010/main" xmlns="" val="0"/>
              </a:ext>
            </a:extLst>
          </a:blip>
          <a:srcRect/>
          <a:stretch>
            <a:fillRect/>
          </a:stretch>
        </p:blipFill>
        <p:spPr bwMode="auto">
          <a:xfrm>
            <a:off x="3823899" y="2752038"/>
            <a:ext cx="5356617" cy="2412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xmlns="" val="61729660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Docker Services</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27</a:t>
            </a:fld>
            <a:endParaRPr lang="fr-BE"/>
          </a:p>
        </p:txBody>
      </p:sp>
      <p:pic>
        <p:nvPicPr>
          <p:cNvPr id="5122" name="Picture 2"/>
          <p:cNvPicPr>
            <a:picLocks noChangeAspect="1" noChangeArrowheads="1"/>
          </p:cNvPicPr>
          <p:nvPr/>
        </p:nvPicPr>
        <p:blipFill>
          <a:blip r:embed="rId2" cstate="print">
            <a:extLst>
              <a:ext uri="{28A0092B-C50C-407E-A947-70E740481C1C}">
                <a14:useLocalDpi xmlns:a14="http://schemas.microsoft.com/office/drawing/2010/main" xmlns="" val="0"/>
              </a:ext>
            </a:extLst>
          </a:blip>
          <a:srcRect/>
          <a:stretch>
            <a:fillRect/>
          </a:stretch>
        </p:blipFill>
        <p:spPr bwMode="auto">
          <a:xfrm>
            <a:off x="2638419" y="1167966"/>
            <a:ext cx="3805793" cy="334800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pic>
    </p:spTree>
    <p:extLst>
      <p:ext uri="{BB962C8B-B14F-4D97-AF65-F5344CB8AC3E}">
        <p14:creationId xmlns:p14="http://schemas.microsoft.com/office/powerpoint/2010/main" xmlns="" val="2482001356"/>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p:cNvSpPr>
            <a:spLocks noGrp="1"/>
          </p:cNvSpPr>
          <p:nvPr>
            <p:ph type="title"/>
          </p:nvPr>
        </p:nvSpPr>
        <p:spPr/>
        <p:txBody>
          <a:bodyPr/>
          <a:lstStyle/>
          <a:p>
            <a:r>
              <a:rPr lang="fr-FR" dirty="0" smtClean="0"/>
              <a:t>Docker </a:t>
            </a:r>
            <a:r>
              <a:rPr lang="fr-FR" dirty="0" err="1" smtClean="0"/>
              <a:t>Swarm</a:t>
            </a:r>
            <a:endParaRPr lang="fr-FR" dirty="0"/>
          </a:p>
        </p:txBody>
      </p:sp>
      <p:sp>
        <p:nvSpPr>
          <p:cNvPr id="5" name="Espace réservé du numéro de diapositive 4"/>
          <p:cNvSpPr>
            <a:spLocks noGrp="1"/>
          </p:cNvSpPr>
          <p:nvPr>
            <p:ph type="sldNum" sz="quarter" idx="12"/>
          </p:nvPr>
        </p:nvSpPr>
        <p:spPr/>
        <p:txBody>
          <a:bodyPr/>
          <a:lstStyle/>
          <a:p>
            <a:fld id="{CF4668DC-857F-487D-BFFA-8C0CA5037977}" type="slidenum">
              <a:rPr lang="fr-BE" smtClean="0"/>
              <a:pPr/>
              <a:t>28</a:t>
            </a:fld>
            <a:endParaRPr lang="fr-BE"/>
          </a:p>
        </p:txBody>
      </p:sp>
      <p:pic>
        <p:nvPicPr>
          <p:cNvPr id="4" name="Picture 3"/>
          <p:cNvPicPr>
            <a:picLocks noChangeAspect="1"/>
          </p:cNvPicPr>
          <p:nvPr/>
        </p:nvPicPr>
        <p:blipFill>
          <a:blip r:embed="rId2">
            <a:extLst>
              <a:ext uri="{28A0092B-C50C-407E-A947-70E740481C1C}">
                <a14:useLocalDpi xmlns:a14="http://schemas.microsoft.com/office/drawing/2010/main" xmlns="" val="0"/>
              </a:ext>
            </a:extLst>
          </a:blip>
          <a:stretch>
            <a:fillRect/>
          </a:stretch>
        </p:blipFill>
        <p:spPr>
          <a:xfrm>
            <a:off x="1045888" y="987574"/>
            <a:ext cx="7846592" cy="3384000"/>
          </a:xfrm>
          <a:prstGeom prst="rect">
            <a:avLst/>
          </a:prstGeom>
        </p:spPr>
      </p:pic>
    </p:spTree>
    <p:extLst>
      <p:ext uri="{BB962C8B-B14F-4D97-AF65-F5344CB8AC3E}">
        <p14:creationId xmlns:p14="http://schemas.microsoft.com/office/powerpoint/2010/main" xmlns="" val="367845250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La solution en action</a:t>
            </a:r>
            <a:endParaRPr lang="fr-FR" dirty="0"/>
          </a:p>
        </p:txBody>
      </p:sp>
      <p:sp>
        <p:nvSpPr>
          <p:cNvPr id="3" name="Espace réservé du texte 2"/>
          <p:cNvSpPr>
            <a:spLocks noGrp="1"/>
          </p:cNvSpPr>
          <p:nvPr>
            <p:ph type="body" idx="1"/>
          </p:nvPr>
        </p:nvSpPr>
        <p:spPr/>
        <p:txBody>
          <a:bodyPr/>
          <a:lstStyle/>
          <a:p>
            <a:endParaRPr lang="fr-FR"/>
          </a:p>
        </p:txBody>
      </p:sp>
    </p:spTree>
    <p:extLst>
      <p:ext uri="{BB962C8B-B14F-4D97-AF65-F5344CB8AC3E}">
        <p14:creationId xmlns:p14="http://schemas.microsoft.com/office/powerpoint/2010/main" xmlns="" val="262983247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Conclusion</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30</a:t>
            </a:fld>
            <a:endParaRPr lang="fr-BE"/>
          </a:p>
        </p:txBody>
      </p:sp>
      <p:sp>
        <p:nvSpPr>
          <p:cNvPr id="2" name="Espace réservé du contenu 1"/>
          <p:cNvSpPr>
            <a:spLocks noGrp="1"/>
          </p:cNvSpPr>
          <p:nvPr>
            <p:ph sz="quarter" idx="1"/>
          </p:nvPr>
        </p:nvSpPr>
        <p:spPr/>
        <p:txBody>
          <a:bodyPr>
            <a:normAutofit/>
          </a:bodyPr>
          <a:lstStyle/>
          <a:p>
            <a:r>
              <a:rPr lang="fr-FR" dirty="0"/>
              <a:t>Le concept de ville intelligente est relativement </a:t>
            </a:r>
            <a:r>
              <a:rPr lang="fr-FR" dirty="0" smtClean="0"/>
              <a:t>nouveau,</a:t>
            </a:r>
          </a:p>
          <a:p>
            <a:pPr marL="0" indent="0">
              <a:buNone/>
            </a:pPr>
            <a:endParaRPr lang="fr-FR" dirty="0" smtClean="0"/>
          </a:p>
          <a:p>
            <a:r>
              <a:rPr lang="fr-FR" dirty="0"/>
              <a:t>Les </a:t>
            </a:r>
            <a:r>
              <a:rPr lang="fr-FR" dirty="0" smtClean="0"/>
              <a:t>applications </a:t>
            </a:r>
            <a:r>
              <a:rPr lang="fr-FR" dirty="0"/>
              <a:t>obsolètes « </a:t>
            </a:r>
            <a:r>
              <a:rPr lang="fr-FR" dirty="0" err="1"/>
              <a:t>Legacy</a:t>
            </a:r>
            <a:r>
              <a:rPr lang="fr-FR" dirty="0"/>
              <a:t> » continuent d'être utilisé dans les </a:t>
            </a:r>
            <a:r>
              <a:rPr lang="fr-FR" dirty="0" smtClean="0"/>
              <a:t>organisations,</a:t>
            </a:r>
          </a:p>
          <a:p>
            <a:pPr marL="0" indent="0">
              <a:buNone/>
            </a:pPr>
            <a:endParaRPr lang="fr-FR" dirty="0"/>
          </a:p>
          <a:p>
            <a:r>
              <a:rPr lang="fr-FR" dirty="0" smtClean="0"/>
              <a:t>La transformation des applications </a:t>
            </a:r>
            <a:r>
              <a:rPr lang="fr-FR" dirty="0"/>
              <a:t>obsolètes</a:t>
            </a:r>
            <a:r>
              <a:rPr lang="fr-FR" dirty="0" smtClean="0"/>
              <a:t> en service web peut réduire les cout d’adoption des villes intelligentes.</a:t>
            </a:r>
            <a:endParaRPr lang="fr-FR" dirty="0"/>
          </a:p>
        </p:txBody>
      </p:sp>
    </p:spTree>
    <p:extLst>
      <p:ext uri="{BB962C8B-B14F-4D97-AF65-F5344CB8AC3E}">
        <p14:creationId xmlns:p14="http://schemas.microsoft.com/office/powerpoint/2010/main" xmlns="" val="355829829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p:cNvSpPr>
            <a:spLocks noGrp="1"/>
          </p:cNvSpPr>
          <p:nvPr>
            <p:ph type="title"/>
          </p:nvPr>
        </p:nvSpPr>
        <p:spPr/>
        <p:txBody>
          <a:bodyPr/>
          <a:lstStyle/>
          <a:p>
            <a:r>
              <a:rPr lang="fr-FR" dirty="0" smtClean="0"/>
              <a:t>Perspectives</a:t>
            </a:r>
            <a:endParaRPr lang="fr-FR" dirty="0"/>
          </a:p>
        </p:txBody>
      </p:sp>
      <p:sp>
        <p:nvSpPr>
          <p:cNvPr id="3" name="Espace réservé du numéro de diapositive 2"/>
          <p:cNvSpPr>
            <a:spLocks noGrp="1"/>
          </p:cNvSpPr>
          <p:nvPr>
            <p:ph type="sldNum" sz="quarter" idx="12"/>
          </p:nvPr>
        </p:nvSpPr>
        <p:spPr/>
        <p:txBody>
          <a:bodyPr/>
          <a:lstStyle/>
          <a:p>
            <a:fld id="{CF4668DC-857F-487D-BFFA-8C0CA5037977}" type="slidenum">
              <a:rPr lang="fr-BE" smtClean="0"/>
              <a:pPr/>
              <a:t>31</a:t>
            </a:fld>
            <a:endParaRPr lang="fr-BE"/>
          </a:p>
        </p:txBody>
      </p:sp>
      <p:sp>
        <p:nvSpPr>
          <p:cNvPr id="2" name="Espace réservé du contenu 1"/>
          <p:cNvSpPr>
            <a:spLocks noGrp="1"/>
          </p:cNvSpPr>
          <p:nvPr>
            <p:ph sz="quarter" idx="1"/>
          </p:nvPr>
        </p:nvSpPr>
        <p:spPr/>
        <p:txBody>
          <a:bodyPr/>
          <a:lstStyle/>
          <a:p>
            <a:r>
              <a:rPr lang="fr-FR" dirty="0" smtClean="0"/>
              <a:t>Supporter </a:t>
            </a:r>
            <a:r>
              <a:rPr lang="fr-FR" dirty="0"/>
              <a:t>de nouvelles applications écrites en d’autre langage de </a:t>
            </a:r>
            <a:r>
              <a:rPr lang="fr-FR" dirty="0" smtClean="0"/>
              <a:t>programmation,</a:t>
            </a:r>
          </a:p>
          <a:p>
            <a:pPr marL="0" indent="0">
              <a:buNone/>
            </a:pPr>
            <a:endParaRPr lang="fr-FR" dirty="0"/>
          </a:p>
          <a:p>
            <a:r>
              <a:rPr lang="fr-FR" dirty="0" smtClean="0"/>
              <a:t>Diviser </a:t>
            </a:r>
            <a:r>
              <a:rPr lang="fr-FR" dirty="0"/>
              <a:t>le projet </a:t>
            </a:r>
            <a:r>
              <a:rPr lang="fr-FR" dirty="0" err="1" smtClean="0"/>
              <a:t>Webswing</a:t>
            </a:r>
            <a:r>
              <a:rPr lang="fr-FR" dirty="0" smtClean="0"/>
              <a:t> </a:t>
            </a:r>
            <a:r>
              <a:rPr lang="fr-FR" dirty="0"/>
              <a:t>en plusieurs </a:t>
            </a:r>
            <a:r>
              <a:rPr lang="fr-FR" dirty="0" smtClean="0"/>
              <a:t>micro-services pour plus de performance.</a:t>
            </a:r>
            <a:endParaRPr lang="fr-FR" dirty="0"/>
          </a:p>
        </p:txBody>
      </p:sp>
    </p:spTree>
    <p:extLst>
      <p:ext uri="{BB962C8B-B14F-4D97-AF65-F5344CB8AC3E}">
        <p14:creationId xmlns:p14="http://schemas.microsoft.com/office/powerpoint/2010/main" xmlns="" val="322740963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p:cNvSpPr>
            <a:spLocks noGrp="1"/>
          </p:cNvSpPr>
          <p:nvPr>
            <p:ph type="subTitle" idx="1"/>
          </p:nvPr>
        </p:nvSpPr>
        <p:spPr/>
        <p:txBody>
          <a:bodyPr/>
          <a:lstStyle/>
          <a:p>
            <a:r>
              <a:rPr lang="fr-FR" dirty="0" smtClean="0"/>
              <a:t>Ramadan Karim</a:t>
            </a:r>
            <a:endParaRPr lang="fr-FR" dirty="0"/>
          </a:p>
        </p:txBody>
      </p:sp>
      <p:sp>
        <p:nvSpPr>
          <p:cNvPr id="2" name="Titre 1"/>
          <p:cNvSpPr>
            <a:spLocks noGrp="1"/>
          </p:cNvSpPr>
          <p:nvPr>
            <p:ph type="ctrTitle"/>
          </p:nvPr>
        </p:nvSpPr>
        <p:spPr/>
        <p:txBody>
          <a:bodyPr/>
          <a:lstStyle/>
          <a:p>
            <a:r>
              <a:rPr lang="fr-FR" dirty="0" smtClean="0"/>
              <a:t>Merci</a:t>
            </a:r>
            <a:endParaRPr lang="fr-FR" dirty="0"/>
          </a:p>
        </p:txBody>
      </p:sp>
    </p:spTree>
    <p:extLst>
      <p:ext uri="{BB962C8B-B14F-4D97-AF65-F5344CB8AC3E}">
        <p14:creationId xmlns:p14="http://schemas.microsoft.com/office/powerpoint/2010/main" xmlns="" val="1633780384"/>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apitaux">
  <a:themeElements>
    <a:clrScheme name="Capitaux">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pitaux">
      <a:majorFont>
        <a:latin typeface="Franklin Gothic Book"/>
        <a:ea typeface=""/>
        <a:cs typeface=""/>
        <a:font script="Grek" typeface="Calibri"/>
        <a:font script="Cyrl" typeface="Calibri"/>
        <a:font script="Jpan" typeface="HGｺﾞｼｯｸM"/>
        <a:font script="Hang" typeface="바탕"/>
        <a:font script="Hans" typeface="幼圆"/>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majorFont>
      <a:minorFont>
        <a:latin typeface="Perpetua"/>
        <a:ea typeface=""/>
        <a:cs typeface=""/>
        <a:font script="Grek" typeface="Cambria"/>
        <a:font script="Cyrl" typeface="Cambria"/>
        <a:font script="Jpan" typeface="HG創英ﾌﾟﾚｾﾞﾝｽEB"/>
        <a:font script="Hang" typeface="맑은 고딕"/>
        <a:font script="Hans" typeface="宋体"/>
        <a:font script="Hant" typeface="新細明體"/>
        <a:font script="Arab" typeface="Times New Roman"/>
        <a:font script="Hebr" typeface="Aharoni"/>
        <a:font script="Thai" typeface="Eucrosia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Capitaux">
      <a:fillStyleLst>
        <a:solidFill>
          <a:schemeClr val="phClr"/>
        </a:solidFill>
        <a:blipFill>
          <a:blip xmlns:r="http://schemas.openxmlformats.org/officeDocument/2006/relationships" r:embed="rId1">
            <a:duotone>
              <a:schemeClr val="phClr">
                <a:tint val="30000"/>
                <a:satMod val="300000"/>
              </a:schemeClr>
              <a:schemeClr val="phClr">
                <a:tint val="40000"/>
                <a:satMod val="200000"/>
              </a:schemeClr>
            </a:duotone>
          </a:blip>
          <a:tile tx="0" ty="0" sx="70000" sy="70000" flip="none" algn="ctr"/>
        </a:blipFill>
        <a:blipFill>
          <a:blip xmlns:r="http://schemas.openxmlformats.org/officeDocument/2006/relationships" r:embed="rId1">
            <a:duotone>
              <a:schemeClr val="phClr">
                <a:shade val="22000"/>
                <a:satMod val="160000"/>
              </a:schemeClr>
              <a:schemeClr val="phClr">
                <a:shade val="45000"/>
                <a:satMod val="100000"/>
              </a:schemeClr>
            </a:duotone>
          </a:blip>
          <a:tile tx="0" ty="0" sx="65000" sy="65000" flip="none" algn="ctr"/>
        </a:blipFill>
      </a:fillStyleLst>
      <a:lnStyleLst>
        <a:ln w="9525" cap="flat" cmpd="sng" algn="ctr">
          <a:solidFill>
            <a:schemeClr val="phClr">
              <a:shade val="60000"/>
              <a:satMod val="110000"/>
            </a:schemeClr>
          </a:solidFill>
          <a:prstDash val="solid"/>
        </a:ln>
        <a:ln w="127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algn="t" rotWithShape="0">
              <a:srgbClr val="000000">
                <a:alpha val="50000"/>
              </a:srgbClr>
            </a:outerShdw>
          </a:effectLst>
        </a:effectStyle>
        <a:effectStyle>
          <a:effectLst>
            <a:outerShdw blurRad="38100" dist="25400" dir="5400000" algn="t" rotWithShape="0">
              <a:srgbClr val="000000">
                <a:alpha val="50000"/>
              </a:srgbClr>
            </a:outerShdw>
          </a:effectLst>
        </a:effectStyle>
        <a:effectStyle>
          <a:effectLst>
            <a:outerShdw blurRad="50800" dist="50800" dir="5400000" algn="t" rotWithShape="0">
              <a:srgbClr val="000000">
                <a:alpha val="60000"/>
              </a:srgbClr>
            </a:outerShdw>
          </a:effectLst>
          <a:scene3d>
            <a:camera prst="isometricBottomUp" fov="0">
              <a:rot lat="0" lon="0" rev="0"/>
            </a:camera>
            <a:lightRig rig="soft" dir="b">
              <a:rot lat="0" lon="0" rev="9000000"/>
            </a:lightRig>
          </a:scene3d>
          <a:sp3d contourW="35000" prstMaterial="matte">
            <a:bevelT w="45000" h="38100" prst="convex"/>
            <a:contourClr>
              <a:schemeClr val="phClr">
                <a:tint val="10000"/>
                <a:satMod val="130000"/>
              </a:schemeClr>
            </a:contourClr>
          </a:sp3d>
        </a:effectStyle>
      </a:effectStyleLst>
      <a:bgFillStyleLst>
        <a:solidFill>
          <a:schemeClr val="phClr"/>
        </a:solidFill>
        <a:gradFill rotWithShape="1">
          <a:gsLst>
            <a:gs pos="0">
              <a:schemeClr val="phClr">
                <a:shade val="40000"/>
                <a:satMod val="165000"/>
              </a:schemeClr>
            </a:gs>
            <a:gs pos="50000">
              <a:schemeClr val="phClr">
                <a:shade val="80000"/>
                <a:satMod val="155000"/>
              </a:schemeClr>
            </a:gs>
            <a:gs pos="100000">
              <a:schemeClr val="phClr">
                <a:tint val="95000"/>
                <a:satMod val="200000"/>
              </a:schemeClr>
            </a:gs>
          </a:gsLst>
          <a:lin ang="16200000" scaled="1"/>
        </a:gradFill>
        <a:blipFill>
          <a:blip xmlns:r="http://schemas.openxmlformats.org/officeDocument/2006/relationships" r:embed="rId1">
            <a:duotone>
              <a:schemeClr val="phClr">
                <a:tint val="95000"/>
                <a:satMod val="200000"/>
              </a:schemeClr>
              <a:schemeClr val="phClr">
                <a:shade val="80000"/>
                <a:satMod val="100000"/>
              </a:schemeClr>
            </a:duotone>
          </a:blip>
          <a:tile tx="0" ty="0" sx="55000" sy="55000" flip="none" algn="tl"/>
        </a:blip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Equity</Template>
  <TotalTime>1157</TotalTime>
  <Words>1262</Words>
  <Application>Microsoft Office PowerPoint</Application>
  <PresentationFormat>Affichage à l'écran (16:9)</PresentationFormat>
  <Paragraphs>197</Paragraphs>
  <Slides>32</Slides>
  <Notes>13</Notes>
  <HiddenSlides>0</HiddenSlides>
  <MMClips>0</MMClips>
  <ScaleCrop>false</ScaleCrop>
  <HeadingPairs>
    <vt:vector size="4" baseType="variant">
      <vt:variant>
        <vt:lpstr>Thème</vt:lpstr>
      </vt:variant>
      <vt:variant>
        <vt:i4>1</vt:i4>
      </vt:variant>
      <vt:variant>
        <vt:lpstr>Titres des diapositives</vt:lpstr>
      </vt:variant>
      <vt:variant>
        <vt:i4>32</vt:i4>
      </vt:variant>
    </vt:vector>
  </HeadingPairs>
  <TitlesOfParts>
    <vt:vector size="33" baseType="lpstr">
      <vt:lpstr>Capitaux</vt:lpstr>
      <vt:lpstr>Diapositive 1</vt:lpstr>
      <vt:lpstr>Plan</vt:lpstr>
      <vt:lpstr>Introduction</vt:lpstr>
      <vt:lpstr>Smart City</vt:lpstr>
      <vt:lpstr>Problématique</vt:lpstr>
      <vt:lpstr>Motivation</vt:lpstr>
      <vt:lpstr>Objectif</vt:lpstr>
      <vt:lpstr>Cloud Computing</vt:lpstr>
      <vt:lpstr>Cloud Computing</vt:lpstr>
      <vt:lpstr>Modèles de service</vt:lpstr>
      <vt:lpstr>Modèles de déploiement</vt:lpstr>
      <vt:lpstr>La virtualisation</vt:lpstr>
      <vt:lpstr>Les domaines de la virtualisation</vt:lpstr>
      <vt:lpstr>Avantages du Cloud</vt:lpstr>
      <vt:lpstr>FIWARE</vt:lpstr>
      <vt:lpstr>Architecture du FIWARE</vt:lpstr>
      <vt:lpstr>FIWARE chapters</vt:lpstr>
      <vt:lpstr>Cloud Hosting</vt:lpstr>
      <vt:lpstr>Diapositive 19</vt:lpstr>
      <vt:lpstr>Notre contribution</vt:lpstr>
      <vt:lpstr>Diapositive 21</vt:lpstr>
      <vt:lpstr>Diapositive 22</vt:lpstr>
      <vt:lpstr>Webswing</vt:lpstr>
      <vt:lpstr>Docker</vt:lpstr>
      <vt:lpstr>Conteneur</vt:lpstr>
      <vt:lpstr>VM vs Docker</vt:lpstr>
      <vt:lpstr>Docker Services</vt:lpstr>
      <vt:lpstr>Docker Swarm</vt:lpstr>
      <vt:lpstr>La solution en action</vt:lpstr>
      <vt:lpstr>Conclusion</vt:lpstr>
      <vt:lpstr>Perspectives</vt:lpstr>
      <vt:lpstr>Merci</vt:lpstr>
    </vt:vector>
  </TitlesOfParts>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imed eddine</dc:creator>
  <cp:lastModifiedBy>soufiane</cp:lastModifiedBy>
  <cp:revision>69</cp:revision>
  <dcterms:created xsi:type="dcterms:W3CDTF">2017-06-17T04:19:02Z</dcterms:created>
  <dcterms:modified xsi:type="dcterms:W3CDTF">2018-06-24T14:08:58Z</dcterms:modified>
</cp:coreProperties>
</file>