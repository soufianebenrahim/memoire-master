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13" r:id="rId1"/>
  </p:sldMasterIdLst>
  <p:notesMasterIdLst>
    <p:notesMasterId r:id="rId30"/>
  </p:notesMasterIdLst>
  <p:sldIdLst>
    <p:sldId id="256" r:id="rId2"/>
    <p:sldId id="265" r:id="rId3"/>
    <p:sldId id="264" r:id="rId4"/>
    <p:sldId id="296" r:id="rId5"/>
    <p:sldId id="297" r:id="rId6"/>
    <p:sldId id="298" r:id="rId7"/>
    <p:sldId id="299" r:id="rId8"/>
    <p:sldId id="269" r:id="rId9"/>
    <p:sldId id="266" r:id="rId10"/>
    <p:sldId id="300" r:id="rId11"/>
    <p:sldId id="267" r:id="rId12"/>
    <p:sldId id="268" r:id="rId13"/>
    <p:sldId id="270" r:id="rId14"/>
    <p:sldId id="276" r:id="rId15"/>
    <p:sldId id="301" r:id="rId16"/>
    <p:sldId id="275" r:id="rId17"/>
    <p:sldId id="302" r:id="rId18"/>
    <p:sldId id="303" r:id="rId19"/>
    <p:sldId id="304" r:id="rId20"/>
    <p:sldId id="305" r:id="rId21"/>
    <p:sldId id="273" r:id="rId22"/>
    <p:sldId id="292" r:id="rId23"/>
    <p:sldId id="294" r:id="rId24"/>
    <p:sldId id="306" r:id="rId25"/>
    <p:sldId id="307" r:id="rId26"/>
    <p:sldId id="285" r:id="rId27"/>
    <p:sldId id="286" r:id="rId28"/>
    <p:sldId id="288" r:id="rId29"/>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8" autoAdjust="0"/>
    <p:restoredTop sz="94680" autoAdjust="0"/>
  </p:normalViewPr>
  <p:slideViewPr>
    <p:cSldViewPr>
      <p:cViewPr varScale="1">
        <p:scale>
          <a:sx n="92" d="100"/>
          <a:sy n="92" d="100"/>
        </p:scale>
        <p:origin x="-744" y="-102"/>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4405F2-21D4-4322-8F43-88587026B278}" type="datetimeFigureOut">
              <a:rPr lang="fr-FR" smtClean="0"/>
              <a:pPr/>
              <a:t>24/06/2018</a:t>
            </a:fld>
            <a:endParaRPr lang="fr-FR"/>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101F6EB-9E6A-4C0D-B326-6BD7C74A0994}" type="slidenum">
              <a:rPr lang="fr-FR" smtClean="0"/>
              <a:pPr/>
              <a:t>‹N°›</a:t>
            </a:fld>
            <a:endParaRPr lang="fr-FR"/>
          </a:p>
        </p:txBody>
      </p:sp>
    </p:spTree>
    <p:extLst>
      <p:ext uri="{BB962C8B-B14F-4D97-AF65-F5344CB8AC3E}">
        <p14:creationId xmlns="" xmlns:p14="http://schemas.microsoft.com/office/powerpoint/2010/main" val="2210152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sz="1200" b="0" i="0" u="none" strike="noStrike" kern="1200" baseline="0" dirty="0" smtClean="0">
                <a:solidFill>
                  <a:schemeClr val="tx1"/>
                </a:solidFill>
                <a:latin typeface="+mn-lt"/>
                <a:ea typeface="+mn-ea"/>
                <a:cs typeface="+mn-cs"/>
              </a:rPr>
              <a:t>Le besoin de villes intelligentes augmente de jour en jour avec l'augmentation de la population car les ressources terrestres sont limitées.</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3</a:t>
            </a:fld>
            <a:endParaRPr lang="fr-FR"/>
          </a:p>
        </p:txBody>
      </p:sp>
    </p:spTree>
    <p:extLst>
      <p:ext uri="{BB962C8B-B14F-4D97-AF65-F5344CB8AC3E}">
        <p14:creationId xmlns="" xmlns:p14="http://schemas.microsoft.com/office/powerpoint/2010/main" val="381174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dirty="0" smtClean="0"/>
              <a:t>Une ville intelligente peut avoir un ou plusieurs composants intelligents, y compris le transport intelligent, le réseau intelligent, les soins de santé intelligents et la gouvernance intelligente. L’Internet of </a:t>
            </a:r>
            <a:r>
              <a:rPr lang="fr-FR" dirty="0" err="1" smtClean="0"/>
              <a:t>Things</a:t>
            </a:r>
            <a:r>
              <a:rPr lang="fr-FR" dirty="0" smtClean="0"/>
              <a:t> (</a:t>
            </a:r>
            <a:r>
              <a:rPr lang="fr-FR" dirty="0" err="1" smtClean="0"/>
              <a:t>IoT</a:t>
            </a:r>
            <a:r>
              <a:rPr lang="fr-FR" dirty="0" smtClean="0"/>
              <a:t>), les Cyber </a:t>
            </a:r>
            <a:r>
              <a:rPr lang="fr-FR" dirty="0" err="1" smtClean="0"/>
              <a:t>Physical</a:t>
            </a:r>
            <a:r>
              <a:rPr lang="fr-FR" dirty="0" smtClean="0"/>
              <a:t> </a:t>
            </a:r>
            <a:r>
              <a:rPr lang="fr-FR" dirty="0" err="1" smtClean="0"/>
              <a:t>Systems</a:t>
            </a:r>
            <a:r>
              <a:rPr lang="fr-FR" dirty="0" smtClean="0"/>
              <a:t> (CPS) et </a:t>
            </a:r>
            <a:r>
              <a:rPr lang="fr-FR" dirty="0" err="1" smtClean="0"/>
              <a:t>Big</a:t>
            </a:r>
            <a:r>
              <a:rPr lang="fr-FR" dirty="0" smtClean="0"/>
              <a:t> Data sont des technologies clés dans le contexte des technologies de l'information et de la communication (TIC) et essentielles à l’implémentation des villes intelligentes</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8</a:t>
            </a:fld>
            <a:endParaRPr lang="fr-FR"/>
          </a:p>
        </p:txBody>
      </p:sp>
    </p:spTree>
    <p:extLst>
      <p:ext uri="{BB962C8B-B14F-4D97-AF65-F5344CB8AC3E}">
        <p14:creationId xmlns="" xmlns:p14="http://schemas.microsoft.com/office/powerpoint/2010/main" val="77974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sz="1200" b="0" i="0" u="none" strike="noStrike" kern="1200" baseline="0" dirty="0" err="1" smtClean="0">
                <a:solidFill>
                  <a:schemeClr val="tx1"/>
                </a:solidFill>
                <a:latin typeface="+mn-lt"/>
                <a:ea typeface="+mn-ea"/>
                <a:cs typeface="+mn-cs"/>
              </a:rPr>
              <a:t>malgre</a:t>
            </a:r>
            <a:r>
              <a:rPr lang="fr-FR" sz="1200" b="0" i="0" u="none" strike="noStrike" kern="1200" baseline="0" dirty="0" smtClean="0">
                <a:solidFill>
                  <a:schemeClr val="tx1"/>
                </a:solidFill>
                <a:latin typeface="+mn-lt"/>
                <a:ea typeface="+mn-ea"/>
                <a:cs typeface="+mn-cs"/>
              </a:rPr>
              <a:t> qu'il est supplanté par des systèmes plus modernes</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9</a:t>
            </a:fld>
            <a:endParaRPr lang="fr-FR"/>
          </a:p>
        </p:txBody>
      </p:sp>
    </p:spTree>
    <p:extLst>
      <p:ext uri="{BB962C8B-B14F-4D97-AF65-F5344CB8AC3E}">
        <p14:creationId xmlns="" xmlns:p14="http://schemas.microsoft.com/office/powerpoint/2010/main" val="13197525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sz="1200" b="0" i="0" u="none" strike="noStrike" kern="1200" baseline="0" dirty="0" smtClean="0">
                <a:solidFill>
                  <a:schemeClr val="tx1"/>
                </a:solidFill>
                <a:latin typeface="+mn-lt"/>
                <a:ea typeface="+mn-ea"/>
                <a:cs typeface="+mn-cs"/>
              </a:rPr>
              <a:t>Il existe plusieurs raisons pour lesquelles on doit conserver une application ancienne ou </a:t>
            </a:r>
            <a:r>
              <a:rPr lang="fr-FR" sz="1200" b="0" i="0" u="none" strike="noStrike" kern="1200" baseline="0" dirty="0" err="1" smtClean="0">
                <a:solidFill>
                  <a:schemeClr val="tx1"/>
                </a:solidFill>
                <a:latin typeface="+mn-lt"/>
                <a:ea typeface="+mn-ea"/>
                <a:cs typeface="+mn-cs"/>
              </a:rPr>
              <a:t>legacy</a:t>
            </a:r>
            <a:r>
              <a:rPr lang="fr-FR" sz="1200" b="0" i="0" u="none" strike="noStrike" kern="1200" baseline="0" dirty="0" smtClean="0">
                <a:solidFill>
                  <a:schemeClr val="tx1"/>
                </a:solidFill>
                <a:latin typeface="+mn-lt"/>
                <a:ea typeface="+mn-ea"/>
                <a:cs typeface="+mn-cs"/>
              </a:rPr>
              <a:t>. </a:t>
            </a:r>
          </a:p>
          <a:p>
            <a:r>
              <a:rPr lang="fr-FR" sz="1200" b="0" i="0" u="none" strike="noStrike" kern="1200" baseline="0" dirty="0" smtClean="0">
                <a:solidFill>
                  <a:schemeClr val="tx1"/>
                </a:solidFill>
                <a:latin typeface="+mn-lt"/>
                <a:ea typeface="+mn-ea"/>
                <a:cs typeface="+mn-cs"/>
              </a:rPr>
              <a:t>Il peut être difficile à gérer et coûteux à remplacer, en particulier si les </a:t>
            </a:r>
          </a:p>
          <a:p>
            <a:r>
              <a:rPr lang="fr-FR" sz="1200" b="0" i="0" u="none" strike="noStrike" kern="1200" baseline="0" dirty="0" smtClean="0">
                <a:solidFill>
                  <a:schemeClr val="tx1"/>
                </a:solidFill>
                <a:latin typeface="+mn-lt"/>
                <a:ea typeface="+mn-ea"/>
                <a:cs typeface="+mn-cs"/>
              </a:rPr>
              <a:t>risques opérationnels peuvent être trop élevés, </a:t>
            </a:r>
          </a:p>
          <a:p>
            <a:r>
              <a:rPr lang="fr-FR" sz="1200" b="0" i="0" u="none" strike="noStrike" kern="1200" baseline="0" dirty="0" smtClean="0">
                <a:solidFill>
                  <a:schemeClr val="tx1"/>
                </a:solidFill>
                <a:latin typeface="+mn-lt"/>
                <a:ea typeface="+mn-ea"/>
                <a:cs typeface="+mn-cs"/>
              </a:rPr>
              <a:t>surtout si des données vitales peuvent être perdues ou corrompues.</a:t>
            </a:r>
          </a:p>
          <a:p>
            <a:r>
              <a:rPr lang="fr-FR" sz="1200" b="0" i="0" u="none" strike="noStrike" kern="1200" baseline="0" dirty="0" smtClean="0">
                <a:solidFill>
                  <a:schemeClr val="tx1"/>
                </a:solidFill>
                <a:latin typeface="+mn-lt"/>
                <a:ea typeface="+mn-ea"/>
                <a:cs typeface="+mn-cs"/>
              </a:rPr>
              <a:t>la transformation de ces applications en services web, peut nous éviter les coûts de leur réingénierie et les risques qui peuvent se poser,</a:t>
            </a:r>
          </a:p>
          <a:p>
            <a:r>
              <a:rPr lang="fr-FR" sz="1200" b="0" i="0" u="none" strike="noStrike" kern="1200" baseline="0" dirty="0" smtClean="0">
                <a:solidFill>
                  <a:schemeClr val="tx1"/>
                </a:solidFill>
                <a:latin typeface="+mn-lt"/>
                <a:ea typeface="+mn-ea"/>
                <a:cs typeface="+mn-cs"/>
              </a:rPr>
              <a:t>en plus l’utilisateur n’a plus besoins de les installer, il suffit qu’il dispose d’un navigateur web pour qu’il utilise ces applications</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11</a:t>
            </a:fld>
            <a:endParaRPr lang="fr-FR"/>
          </a:p>
        </p:txBody>
      </p:sp>
    </p:spTree>
    <p:extLst>
      <p:ext uri="{BB962C8B-B14F-4D97-AF65-F5344CB8AC3E}">
        <p14:creationId xmlns="" xmlns:p14="http://schemas.microsoft.com/office/powerpoint/2010/main" val="1514366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dirty="0" smtClean="0"/>
              <a:t>L’objectif de notre contribution est d’offrir une solution qui permet de transformer des applications obsolètes « </a:t>
            </a:r>
            <a:r>
              <a:rPr lang="fr-FR" dirty="0" err="1" smtClean="0"/>
              <a:t>legacy</a:t>
            </a:r>
            <a:r>
              <a:rPr lang="fr-FR" dirty="0" smtClean="0"/>
              <a:t> » développé en JAVA en service web « </a:t>
            </a:r>
            <a:r>
              <a:rPr lang="fr-FR" dirty="0" err="1" smtClean="0"/>
              <a:t>SaaS</a:t>
            </a:r>
            <a:r>
              <a:rPr lang="fr-FR" dirty="0" smtClean="0"/>
              <a:t> » et les rendre accessible via le navigateur web afin de les intégrer dans un Cloud standardisé « FIWARE »</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12</a:t>
            </a:fld>
            <a:endParaRPr lang="fr-FR"/>
          </a:p>
        </p:txBody>
      </p:sp>
    </p:spTree>
    <p:extLst>
      <p:ext uri="{BB962C8B-B14F-4D97-AF65-F5344CB8AC3E}">
        <p14:creationId xmlns="" xmlns:p14="http://schemas.microsoft.com/office/powerpoint/2010/main" val="36576801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dirty="0" smtClean="0"/>
              <a:t>Le Cloud </a:t>
            </a:r>
            <a:r>
              <a:rPr lang="fr-FR" dirty="0" err="1" smtClean="0"/>
              <a:t>Computing</a:t>
            </a:r>
            <a:r>
              <a:rPr lang="fr-FR" dirty="0" smtClean="0"/>
              <a:t> est un modèle informatique pratique pour établir un accès facile et à la demande, par le réseau, à un réservoir partagé de ressources informatiques configurables</a:t>
            </a:r>
          </a:p>
          <a:p>
            <a:r>
              <a:rPr lang="fr-FR" dirty="0" smtClean="0"/>
              <a:t>(le but) (Afin) de pouvoir utiliser des ressources informatiques sans les posséder.</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14</a:t>
            </a:fld>
            <a:endParaRPr lang="fr-FR"/>
          </a:p>
        </p:txBody>
      </p:sp>
    </p:spTree>
    <p:extLst>
      <p:ext uri="{BB962C8B-B14F-4D97-AF65-F5344CB8AC3E}">
        <p14:creationId xmlns="" xmlns:p14="http://schemas.microsoft.com/office/powerpoint/2010/main" val="1484945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sz="1200" dirty="0" err="1" smtClean="0">
                <a:latin typeface="+mn-lt"/>
                <a:cs typeface="Calibri"/>
              </a:rPr>
              <a:t>IaaS</a:t>
            </a:r>
            <a:r>
              <a:rPr lang="fr-FR" sz="1200" dirty="0" smtClean="0">
                <a:latin typeface="+mn-lt"/>
                <a:cs typeface="Calibri"/>
              </a:rPr>
              <a:t> </a:t>
            </a:r>
            <a:r>
              <a:rPr lang="fr-FR" sz="1200" spc="-10" dirty="0" smtClean="0">
                <a:latin typeface="+mn-lt"/>
                <a:cs typeface="Calibri"/>
              </a:rPr>
              <a:t>(Infrastructure </a:t>
            </a:r>
            <a:r>
              <a:rPr lang="fr-FR" sz="1200" dirty="0" smtClean="0">
                <a:latin typeface="+mn-lt"/>
                <a:cs typeface="Calibri"/>
              </a:rPr>
              <a:t>as a  Service) : </a:t>
            </a:r>
            <a:r>
              <a:rPr lang="fr-FR" sz="1200" spc="-5" dirty="0" smtClean="0">
                <a:latin typeface="+mn-lt"/>
                <a:cs typeface="Calibri"/>
              </a:rPr>
              <a:t>Un </a:t>
            </a:r>
            <a:r>
              <a:rPr lang="fr-FR" sz="1200" spc="-15" dirty="0" smtClean="0">
                <a:latin typeface="+mn-lt"/>
                <a:cs typeface="Calibri"/>
              </a:rPr>
              <a:t>prestataire </a:t>
            </a:r>
            <a:r>
              <a:rPr lang="fr-FR" sz="1200" spc="-10" dirty="0" smtClean="0">
                <a:latin typeface="+mn-lt"/>
                <a:cs typeface="Calibri"/>
              </a:rPr>
              <a:t>vous fournit </a:t>
            </a:r>
            <a:r>
              <a:rPr lang="fr-FR" sz="1200" dirty="0" smtClean="0">
                <a:latin typeface="+mn-lt"/>
                <a:cs typeface="Calibri"/>
              </a:rPr>
              <a:t>un </a:t>
            </a:r>
            <a:r>
              <a:rPr lang="fr-FR" sz="1200" spc="-5" dirty="0" smtClean="0">
                <a:latin typeface="+mn-lt"/>
                <a:cs typeface="Calibri"/>
              </a:rPr>
              <a:t>accès </a:t>
            </a:r>
            <a:r>
              <a:rPr lang="fr-FR" sz="1200" dirty="0" smtClean="0">
                <a:latin typeface="+mn-lt"/>
                <a:cs typeface="Calibri"/>
              </a:rPr>
              <a:t>à </a:t>
            </a:r>
            <a:r>
              <a:rPr lang="fr-FR" sz="1200" spc="-10" dirty="0" smtClean="0">
                <a:latin typeface="+mn-lt"/>
                <a:cs typeface="Calibri"/>
              </a:rPr>
              <a:t>tout </a:t>
            </a:r>
            <a:r>
              <a:rPr lang="fr-FR" sz="1200" spc="-5" dirty="0" smtClean="0">
                <a:latin typeface="+mn-lt"/>
                <a:cs typeface="Calibri"/>
              </a:rPr>
              <a:t>ou partie  </a:t>
            </a:r>
            <a:r>
              <a:rPr lang="fr-FR" sz="1200" dirty="0" smtClean="0">
                <a:latin typeface="+mn-lt"/>
                <a:cs typeface="Calibri"/>
              </a:rPr>
              <a:t>de </a:t>
            </a:r>
            <a:r>
              <a:rPr lang="fr-FR" sz="1200" spc="-5" dirty="0" smtClean="0">
                <a:latin typeface="+mn-lt"/>
                <a:cs typeface="Calibri"/>
              </a:rPr>
              <a:t>son </a:t>
            </a:r>
            <a:r>
              <a:rPr lang="fr-FR" sz="1200" spc="-10" dirty="0" smtClean="0">
                <a:latin typeface="+mn-lt"/>
                <a:cs typeface="Calibri"/>
              </a:rPr>
              <a:t>infrastructure</a:t>
            </a:r>
            <a:r>
              <a:rPr lang="fr-FR" sz="1200" spc="-40" dirty="0" smtClean="0">
                <a:latin typeface="+mn-lt"/>
                <a:cs typeface="Calibri"/>
              </a:rPr>
              <a:t> </a:t>
            </a:r>
            <a:r>
              <a:rPr lang="fr-FR" sz="1200" spc="-5" dirty="0" smtClean="0">
                <a:latin typeface="+mn-lt"/>
                <a:cs typeface="Calibri"/>
              </a:rPr>
              <a:t>technique</a:t>
            </a:r>
          </a:p>
          <a:p>
            <a:r>
              <a:rPr lang="fr-FR" sz="1200" spc="-5" dirty="0" smtClean="0">
                <a:latin typeface="+mn-lt"/>
                <a:cs typeface="Calibri"/>
              </a:rPr>
              <a:t>Le modèle de services «Infrastructure en tant que service» (</a:t>
            </a:r>
            <a:r>
              <a:rPr lang="fr-FR" sz="1200" spc="-5" dirty="0" err="1" smtClean="0">
                <a:latin typeface="+mn-lt"/>
                <a:cs typeface="Calibri"/>
              </a:rPr>
              <a:t>IaaS</a:t>
            </a:r>
            <a:r>
              <a:rPr lang="fr-FR" sz="1200" spc="-5" dirty="0" smtClean="0">
                <a:latin typeface="+mn-lt"/>
                <a:cs typeface="Calibri"/>
              </a:rPr>
              <a:t>) est situé juste au-dessous du précédent (</a:t>
            </a:r>
            <a:r>
              <a:rPr lang="fr-FR" sz="1200" spc="-5" dirty="0" err="1" smtClean="0">
                <a:latin typeface="+mn-lt"/>
                <a:cs typeface="Calibri"/>
              </a:rPr>
              <a:t>PaaS</a:t>
            </a:r>
            <a:r>
              <a:rPr lang="fr-FR" sz="1200" spc="-5" dirty="0" smtClean="0">
                <a:latin typeface="+mn-lt"/>
                <a:cs typeface="Calibri"/>
              </a:rPr>
              <a:t>), puisqu’il permet de créer un pool de ressources virtuelles en divisant les ressources physiques à l’aide des technologies de virtualisation.</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spc="-45" dirty="0" err="1" smtClean="0">
                <a:latin typeface="+mn-lt"/>
                <a:cs typeface="Calibri"/>
              </a:rPr>
              <a:t>P</a:t>
            </a:r>
            <a:r>
              <a:rPr lang="fr-FR" sz="1200" dirty="0" err="1" smtClean="0">
                <a:latin typeface="+mn-lt"/>
                <a:cs typeface="Calibri"/>
              </a:rPr>
              <a:t>aaS</a:t>
            </a:r>
            <a:r>
              <a:rPr lang="fr-FR" sz="1200" baseline="0" dirty="0" smtClean="0">
                <a:latin typeface="+mn-lt"/>
                <a:cs typeface="Calibri"/>
              </a:rPr>
              <a:t> </a:t>
            </a:r>
            <a:r>
              <a:rPr lang="fr-FR" sz="1200" spc="-10" dirty="0" smtClean="0">
                <a:latin typeface="+mn-lt"/>
                <a:cs typeface="Calibri"/>
              </a:rPr>
              <a:t>(</a:t>
            </a:r>
            <a:r>
              <a:rPr lang="fr-FR" sz="1200" spc="-10" dirty="0" err="1" smtClean="0">
                <a:latin typeface="+mn-lt"/>
                <a:cs typeface="Calibri"/>
              </a:rPr>
              <a:t>P</a:t>
            </a:r>
            <a:r>
              <a:rPr lang="fr-FR" sz="1200" spc="-5" dirty="0" err="1" smtClean="0">
                <a:latin typeface="+mn-lt"/>
                <a:cs typeface="Calibri"/>
              </a:rPr>
              <a:t>l</a:t>
            </a:r>
            <a:r>
              <a:rPr lang="fr-FR" sz="1200" spc="-15" dirty="0" err="1" smtClean="0">
                <a:latin typeface="+mn-lt"/>
                <a:cs typeface="Calibri"/>
              </a:rPr>
              <a:t>a</a:t>
            </a:r>
            <a:r>
              <a:rPr lang="fr-FR" sz="1200" spc="-30" dirty="0" err="1" smtClean="0">
                <a:latin typeface="+mn-lt"/>
                <a:cs typeface="Calibri"/>
              </a:rPr>
              <a:t>t</a:t>
            </a:r>
            <a:r>
              <a:rPr lang="fr-FR" sz="1200" spc="-10" dirty="0" err="1" smtClean="0">
                <a:latin typeface="+mn-lt"/>
                <a:cs typeface="Calibri"/>
              </a:rPr>
              <a:t>e</a:t>
            </a:r>
            <a:r>
              <a:rPr lang="fr-FR" sz="1200" spc="-35" dirty="0" err="1" smtClean="0">
                <a:latin typeface="+mn-lt"/>
                <a:cs typeface="Calibri"/>
              </a:rPr>
              <a:t>f</a:t>
            </a:r>
            <a:r>
              <a:rPr lang="fr-FR" sz="1200" spc="-5" dirty="0" err="1" smtClean="0">
                <a:latin typeface="+mn-lt"/>
                <a:cs typeface="Calibri"/>
              </a:rPr>
              <a:t>orm</a:t>
            </a:r>
            <a:r>
              <a:rPr lang="fr-FR" sz="1200" spc="-5" dirty="0" smtClean="0">
                <a:latin typeface="+mn-lt"/>
                <a:cs typeface="Calibri"/>
              </a:rPr>
              <a:t> as </a:t>
            </a:r>
            <a:r>
              <a:rPr lang="fr-FR" sz="1200" dirty="0" smtClean="0">
                <a:latin typeface="+mn-lt"/>
                <a:cs typeface="Calibri"/>
              </a:rPr>
              <a:t>Service)</a:t>
            </a:r>
            <a:r>
              <a:rPr lang="fr-FR" sz="1200" baseline="0" dirty="0" smtClean="0">
                <a:latin typeface="+mn-lt"/>
                <a:cs typeface="Calibri"/>
              </a:rPr>
              <a:t> </a:t>
            </a:r>
            <a:r>
              <a:rPr lang="fr-FR" sz="1200" dirty="0" smtClean="0">
                <a:latin typeface="+mn-lt"/>
                <a:cs typeface="Calibri"/>
              </a:rPr>
              <a:t>:un ac</a:t>
            </a:r>
            <a:r>
              <a:rPr lang="fr-FR" sz="1200" spc="-10" dirty="0" smtClean="0">
                <a:latin typeface="+mn-lt"/>
                <a:cs typeface="Calibri"/>
              </a:rPr>
              <a:t>c</a:t>
            </a:r>
            <a:r>
              <a:rPr lang="fr-FR" sz="1200" dirty="0" smtClean="0">
                <a:latin typeface="+mn-lt"/>
                <a:cs typeface="Calibri"/>
              </a:rPr>
              <a:t>ès à </a:t>
            </a:r>
            <a:r>
              <a:rPr lang="fr-FR" sz="1200" spc="-10" dirty="0" smtClean="0">
                <a:latin typeface="+mn-lt"/>
                <a:cs typeface="Calibri"/>
              </a:rPr>
              <a:t>l’infrastructure + </a:t>
            </a:r>
            <a:r>
              <a:rPr lang="fr-FR" sz="1200" dirty="0" smtClean="0">
                <a:latin typeface="+mn-lt"/>
                <a:cs typeface="Calibri"/>
              </a:rPr>
              <a:t>ac</a:t>
            </a:r>
            <a:r>
              <a:rPr lang="fr-FR" sz="1200" spc="-10" dirty="0" smtClean="0">
                <a:latin typeface="+mn-lt"/>
                <a:cs typeface="Calibri"/>
              </a:rPr>
              <a:t>c</a:t>
            </a:r>
            <a:r>
              <a:rPr lang="fr-FR" sz="1200" dirty="0" smtClean="0">
                <a:latin typeface="+mn-lt"/>
                <a:cs typeface="Calibri"/>
              </a:rPr>
              <a:t>ès à </a:t>
            </a:r>
            <a:r>
              <a:rPr lang="fr-FR" sz="1200" spc="-5" dirty="0" smtClean="0">
                <a:latin typeface="+mn-lt"/>
                <a:cs typeface="Calibri"/>
              </a:rPr>
              <a:t>u</a:t>
            </a:r>
            <a:r>
              <a:rPr lang="fr-FR" sz="1200" spc="10" dirty="0" smtClean="0">
                <a:latin typeface="+mn-lt"/>
                <a:cs typeface="Calibri"/>
              </a:rPr>
              <a:t>n</a:t>
            </a:r>
            <a:r>
              <a:rPr lang="fr-FR" sz="1200" dirty="0" smtClean="0">
                <a:latin typeface="+mn-lt"/>
                <a:cs typeface="Calibri"/>
              </a:rPr>
              <a:t>e </a:t>
            </a:r>
            <a:r>
              <a:rPr lang="fr-FR" sz="1200" spc="-10" dirty="0" smtClean="0">
                <a:latin typeface="+mn-lt"/>
                <a:cs typeface="Calibri"/>
              </a:rPr>
              <a:t>plate-forme </a:t>
            </a:r>
            <a:r>
              <a:rPr lang="fr-FR" sz="1200" dirty="0" smtClean="0">
                <a:latin typeface="+mn-lt"/>
                <a:cs typeface="Calibri"/>
              </a:rPr>
              <a:t>de </a:t>
            </a:r>
            <a:r>
              <a:rPr lang="fr-FR" sz="1200" spc="-5" dirty="0" smtClean="0">
                <a:latin typeface="+mn-lt"/>
                <a:cs typeface="Calibri"/>
              </a:rPr>
              <a:t>développement ,</a:t>
            </a:r>
          </a:p>
          <a:p>
            <a:pPr marL="0" marR="0" indent="0" algn="l" defTabSz="914400" rtl="0" eaLnBrk="1" fontAlgn="auto" latinLnBrk="0" hangingPunct="1">
              <a:lnSpc>
                <a:spcPct val="100000"/>
              </a:lnSpc>
              <a:spcBef>
                <a:spcPts val="0"/>
              </a:spcBef>
              <a:spcAft>
                <a:spcPts val="0"/>
              </a:spcAft>
              <a:buClrTx/>
              <a:buSzTx/>
              <a:buFontTx/>
              <a:buNone/>
              <a:tabLst/>
              <a:defRPr/>
            </a:pPr>
            <a:r>
              <a:rPr lang="fr-FR" sz="1200" b="0" i="0" u="none" strike="noStrike" kern="1200" baseline="0" dirty="0" smtClean="0">
                <a:solidFill>
                  <a:schemeClr val="tx1"/>
                </a:solidFill>
                <a:latin typeface="+mn-lt"/>
                <a:ea typeface="+mn-ea"/>
                <a:cs typeface="+mn-cs"/>
              </a:rPr>
              <a:t>Le modèle de services «plateforme en tant que service» (</a:t>
            </a:r>
            <a:r>
              <a:rPr lang="fr-FR" sz="1200" b="0" i="0" u="none" strike="noStrike" kern="1200" baseline="0" dirty="0" err="1" smtClean="0">
                <a:solidFill>
                  <a:schemeClr val="tx1"/>
                </a:solidFill>
                <a:latin typeface="+mn-lt"/>
                <a:ea typeface="+mn-ea"/>
                <a:cs typeface="+mn-cs"/>
              </a:rPr>
              <a:t>PaaS</a:t>
            </a:r>
            <a:r>
              <a:rPr lang="fr-FR" sz="1200" b="0" i="0" u="none" strike="noStrike" kern="1200" baseline="0" dirty="0" smtClean="0">
                <a:solidFill>
                  <a:schemeClr val="tx1"/>
                </a:solidFill>
                <a:latin typeface="+mn-lt"/>
                <a:ea typeface="+mn-ea"/>
                <a:cs typeface="+mn-cs"/>
              </a:rPr>
              <a:t>) est situé juste au-dessous du précédent (</a:t>
            </a:r>
            <a:r>
              <a:rPr lang="fr-FR" sz="1200" b="0" i="0" u="none" strike="noStrike" kern="1200" baseline="0" dirty="0" err="1" smtClean="0">
                <a:solidFill>
                  <a:schemeClr val="tx1"/>
                </a:solidFill>
                <a:latin typeface="+mn-lt"/>
                <a:ea typeface="+mn-ea"/>
                <a:cs typeface="+mn-cs"/>
              </a:rPr>
              <a:t>SaaS</a:t>
            </a:r>
            <a:r>
              <a:rPr lang="fr-FR" sz="1200" b="0" i="0" u="none" strike="noStrike" kern="1200" baseline="0" dirty="0" smtClean="0">
                <a:solidFill>
                  <a:schemeClr val="tx1"/>
                </a:solidFill>
                <a:latin typeface="+mn-lt"/>
                <a:ea typeface="+mn-ea"/>
                <a:cs typeface="+mn-cs"/>
              </a:rPr>
              <a:t>), puisqu’il permet de fournir aux développeurs (CSU) des ressources pour les environnements d’exécution, les cadres de développement de logiciels et le soutien du système d’exploitation</a:t>
            </a:r>
            <a:endParaRPr lang="fr-FR" sz="1200" dirty="0" smtClean="0">
              <a:latin typeface="+mn-lt"/>
              <a:cs typeface="Calibri"/>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err="1" smtClean="0">
                <a:latin typeface="+mn-lt"/>
                <a:cs typeface="Calibri"/>
              </a:rPr>
              <a:t>SaaS</a:t>
            </a:r>
            <a:r>
              <a:rPr lang="fr-FR" sz="1200" dirty="0" smtClean="0">
                <a:latin typeface="+mn-lt"/>
                <a:cs typeface="Calibri"/>
              </a:rPr>
              <a:t> </a:t>
            </a:r>
            <a:r>
              <a:rPr lang="fr-FR" sz="1200" spc="-10" dirty="0" smtClean="0">
                <a:latin typeface="+mn-lt"/>
                <a:cs typeface="Calibri"/>
              </a:rPr>
              <a:t>(Software </a:t>
            </a:r>
            <a:r>
              <a:rPr lang="fr-FR" sz="1200" dirty="0" smtClean="0">
                <a:latin typeface="+mn-lt"/>
                <a:cs typeface="Calibri"/>
              </a:rPr>
              <a:t>as a </a:t>
            </a:r>
            <a:r>
              <a:rPr lang="fr-FR" sz="1200" spc="-5" dirty="0" smtClean="0">
                <a:latin typeface="+mn-lt"/>
                <a:cs typeface="Calibri"/>
              </a:rPr>
              <a:t>Service)</a:t>
            </a:r>
            <a:r>
              <a:rPr lang="fr-FR" sz="1200" spc="270" dirty="0" smtClean="0">
                <a:latin typeface="+mn-lt"/>
                <a:cs typeface="Calibri"/>
              </a:rPr>
              <a:t> </a:t>
            </a:r>
            <a:r>
              <a:rPr lang="fr-FR" sz="1200" dirty="0" smtClean="0">
                <a:latin typeface="+mn-lt"/>
                <a:cs typeface="Calibri"/>
              </a:rPr>
              <a:t>:</a:t>
            </a:r>
            <a:r>
              <a:rPr lang="fr-FR" sz="1200" baseline="0" dirty="0" smtClean="0">
                <a:latin typeface="+mn-lt"/>
                <a:cs typeface="Calibri"/>
              </a:rPr>
              <a:t> </a:t>
            </a:r>
            <a:r>
              <a:rPr lang="fr-FR" sz="1200" spc="-25" dirty="0" smtClean="0">
                <a:latin typeface="+mn-lt"/>
                <a:cs typeface="Calibri"/>
              </a:rPr>
              <a:t>l’accès </a:t>
            </a:r>
            <a:r>
              <a:rPr lang="fr-FR" sz="1200" dirty="0" smtClean="0">
                <a:latin typeface="+mn-lt"/>
                <a:cs typeface="Calibri"/>
              </a:rPr>
              <a:t>à un logiciel </a:t>
            </a:r>
            <a:r>
              <a:rPr lang="fr-FR" sz="1200" spc="-5" dirty="0" smtClean="0">
                <a:latin typeface="+mn-lt"/>
                <a:cs typeface="Calibri"/>
              </a:rPr>
              <a:t>sous </a:t>
            </a:r>
            <a:r>
              <a:rPr lang="fr-FR" sz="1200" spc="-15" dirty="0" smtClean="0">
                <a:latin typeface="+mn-lt"/>
                <a:cs typeface="Calibri"/>
              </a:rPr>
              <a:t>forme  </a:t>
            </a:r>
            <a:r>
              <a:rPr lang="fr-FR" sz="1200" dirty="0" smtClean="0">
                <a:latin typeface="+mn-lt"/>
                <a:cs typeface="Calibri"/>
              </a:rPr>
              <a:t>de</a:t>
            </a:r>
            <a:r>
              <a:rPr lang="fr-FR" sz="1200" spc="-95" dirty="0" smtClean="0">
                <a:latin typeface="+mn-lt"/>
                <a:cs typeface="Calibri"/>
              </a:rPr>
              <a:t> </a:t>
            </a:r>
            <a:r>
              <a:rPr lang="fr-FR" sz="1200" dirty="0" smtClean="0">
                <a:latin typeface="+mn-lt"/>
                <a:cs typeface="Calibri"/>
              </a:rPr>
              <a:t>service. Le modèle de services «logiciel en tant que service» (</a:t>
            </a:r>
            <a:r>
              <a:rPr lang="fr-FR" sz="1200" dirty="0" err="1" smtClean="0">
                <a:latin typeface="+mn-lt"/>
                <a:cs typeface="Calibri"/>
              </a:rPr>
              <a:t>SaaS</a:t>
            </a:r>
            <a:r>
              <a:rPr lang="fr-FR" sz="1200" dirty="0" smtClean="0">
                <a:latin typeface="+mn-lt"/>
                <a:cs typeface="Calibri"/>
              </a:rPr>
              <a:t>) permet de fournir des applications à la demande sur Internet.</a:t>
            </a:r>
          </a:p>
          <a:p>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16</a:t>
            </a:fld>
            <a:endParaRPr lang="fr-FR"/>
          </a:p>
        </p:txBody>
      </p:sp>
    </p:spTree>
    <p:extLst>
      <p:ext uri="{BB962C8B-B14F-4D97-AF65-F5344CB8AC3E}">
        <p14:creationId xmlns="" xmlns:p14="http://schemas.microsoft.com/office/powerpoint/2010/main" val="3481318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pPr marL="12700" marR="1275715" indent="363855" algn="just">
              <a:lnSpc>
                <a:spcPct val="100000"/>
              </a:lnSpc>
              <a:spcBef>
                <a:spcPts val="2225"/>
              </a:spcBef>
            </a:pPr>
            <a:r>
              <a:rPr lang="fr-FR" sz="1200" dirty="0" smtClean="0">
                <a:latin typeface="+mn-lt"/>
                <a:cs typeface="Calibri"/>
              </a:rPr>
              <a:t>Une </a:t>
            </a:r>
            <a:r>
              <a:rPr lang="fr-FR" sz="1200" spc="-5" dirty="0" smtClean="0">
                <a:latin typeface="+mn-lt"/>
                <a:cs typeface="Calibri"/>
              </a:rPr>
              <a:t>technologie </a:t>
            </a:r>
            <a:r>
              <a:rPr lang="fr-FR" sz="1200" dirty="0" smtClean="0">
                <a:latin typeface="+mn-lt"/>
                <a:cs typeface="Calibri"/>
              </a:rPr>
              <a:t>qui </a:t>
            </a:r>
            <a:r>
              <a:rPr lang="fr-FR" sz="1200" spc="-5" dirty="0" smtClean="0">
                <a:latin typeface="+mn-lt"/>
                <a:cs typeface="Calibri"/>
              </a:rPr>
              <a:t>permet </a:t>
            </a:r>
            <a:r>
              <a:rPr lang="fr-FR" sz="1200" dirty="0" smtClean="0">
                <a:latin typeface="+mn-lt"/>
                <a:cs typeface="Calibri"/>
              </a:rPr>
              <a:t>une </a:t>
            </a:r>
            <a:r>
              <a:rPr lang="fr-FR" sz="1200" spc="-10" dirty="0" smtClean="0">
                <a:latin typeface="+mn-lt"/>
                <a:cs typeface="Calibri"/>
              </a:rPr>
              <a:t>gestion </a:t>
            </a:r>
            <a:r>
              <a:rPr lang="fr-FR" sz="1200" spc="-5" dirty="0" smtClean="0">
                <a:latin typeface="+mn-lt"/>
                <a:cs typeface="Calibri"/>
              </a:rPr>
              <a:t>optimisée </a:t>
            </a:r>
            <a:r>
              <a:rPr lang="fr-FR" sz="1200" dirty="0" smtClean="0">
                <a:latin typeface="+mn-lt"/>
                <a:cs typeface="Calibri"/>
              </a:rPr>
              <a:t>des </a:t>
            </a:r>
            <a:r>
              <a:rPr lang="fr-FR" sz="1200" spc="-10" dirty="0" smtClean="0">
                <a:latin typeface="+mn-lt"/>
                <a:cs typeface="Calibri"/>
              </a:rPr>
              <a:t>ressources matérielles </a:t>
            </a:r>
            <a:r>
              <a:rPr lang="fr-FR" sz="1200" dirty="0" smtClean="0">
                <a:latin typeface="+mn-lt"/>
                <a:cs typeface="Calibri"/>
              </a:rPr>
              <a:t>en </a:t>
            </a:r>
            <a:r>
              <a:rPr lang="fr-FR" sz="1200" spc="-5" dirty="0" smtClean="0">
                <a:latin typeface="+mn-lt"/>
                <a:cs typeface="Calibri"/>
              </a:rPr>
              <a:t>disposant </a:t>
            </a:r>
            <a:r>
              <a:rPr lang="fr-FR" sz="1200" dirty="0" smtClean="0">
                <a:latin typeface="+mn-lt"/>
                <a:cs typeface="Calibri"/>
              </a:rPr>
              <a:t>de </a:t>
            </a:r>
            <a:r>
              <a:rPr lang="fr-FR" sz="1200" spc="-5" dirty="0" smtClean="0">
                <a:latin typeface="+mn-lt"/>
                <a:cs typeface="Calibri"/>
              </a:rPr>
              <a:t>plusieurs </a:t>
            </a:r>
            <a:r>
              <a:rPr lang="fr-FR" sz="1200" dirty="0" smtClean="0">
                <a:latin typeface="+mn-lt"/>
                <a:cs typeface="Calibri"/>
              </a:rPr>
              <a:t>machines </a:t>
            </a:r>
            <a:r>
              <a:rPr lang="fr-FR" sz="1200" spc="-5" dirty="0" smtClean="0">
                <a:latin typeface="+mn-lt"/>
                <a:cs typeface="Calibri"/>
              </a:rPr>
              <a:t>virtuelles  sur </a:t>
            </a:r>
            <a:r>
              <a:rPr lang="fr-FR" sz="1200" dirty="0" smtClean="0">
                <a:latin typeface="+mn-lt"/>
                <a:cs typeface="Calibri"/>
              </a:rPr>
              <a:t>une machine</a:t>
            </a:r>
            <a:r>
              <a:rPr lang="fr-FR" sz="1200" spc="-50" dirty="0" smtClean="0">
                <a:latin typeface="+mn-lt"/>
                <a:cs typeface="Calibri"/>
              </a:rPr>
              <a:t> </a:t>
            </a:r>
            <a:r>
              <a:rPr lang="fr-FR" sz="1200" spc="-10" dirty="0" smtClean="0">
                <a:latin typeface="+mn-lt"/>
                <a:cs typeface="Calibri"/>
              </a:rPr>
              <a:t>physique.</a:t>
            </a:r>
            <a:endParaRPr lang="fr-FR" sz="1200" dirty="0" smtClean="0">
              <a:latin typeface="+mn-lt"/>
              <a:cs typeface="Calibri"/>
            </a:endParaRPr>
          </a:p>
          <a:p>
            <a:pPr marL="12700" marR="1203325" indent="363855" algn="just">
              <a:lnSpc>
                <a:spcPct val="100000"/>
              </a:lnSpc>
              <a:spcBef>
                <a:spcPts val="1485"/>
              </a:spcBef>
            </a:pPr>
            <a:r>
              <a:rPr lang="fr-FR" sz="1200" spc="-5" dirty="0" smtClean="0">
                <a:latin typeface="+mn-lt"/>
                <a:cs typeface="Calibri"/>
              </a:rPr>
              <a:t>Un serveur </a:t>
            </a:r>
            <a:r>
              <a:rPr lang="fr-FR" sz="1200" spc="-10" dirty="0" smtClean="0">
                <a:latin typeface="+mn-lt"/>
                <a:cs typeface="Calibri"/>
              </a:rPr>
              <a:t>tournant </a:t>
            </a:r>
            <a:r>
              <a:rPr lang="fr-FR" sz="1200" dirty="0" smtClean="0">
                <a:latin typeface="+mn-lt"/>
                <a:cs typeface="Calibri"/>
              </a:rPr>
              <a:t>à </a:t>
            </a:r>
            <a:r>
              <a:rPr lang="fr-FR" sz="1200" spc="-5" dirty="0" smtClean="0">
                <a:latin typeface="+mn-lt"/>
                <a:cs typeface="Calibri"/>
              </a:rPr>
              <a:t>90% </a:t>
            </a:r>
            <a:r>
              <a:rPr lang="fr-FR" sz="1200" dirty="0" smtClean="0">
                <a:latin typeface="+mn-lt"/>
                <a:cs typeface="Calibri"/>
              </a:rPr>
              <a:t>de ses </a:t>
            </a:r>
            <a:r>
              <a:rPr lang="fr-FR" sz="1200" spc="-10" dirty="0" smtClean="0">
                <a:latin typeface="+mn-lt"/>
                <a:cs typeface="Calibri"/>
              </a:rPr>
              <a:t>capacités </a:t>
            </a:r>
            <a:r>
              <a:rPr lang="fr-FR" sz="1200" dirty="0" smtClean="0">
                <a:latin typeface="+mn-lt"/>
                <a:cs typeface="Calibri"/>
              </a:rPr>
              <a:t>ne </a:t>
            </a:r>
            <a:r>
              <a:rPr lang="fr-FR" sz="1200" spc="-5" dirty="0" smtClean="0">
                <a:latin typeface="+mn-lt"/>
                <a:cs typeface="Calibri"/>
              </a:rPr>
              <a:t>consomme pas beaucoup plus </a:t>
            </a:r>
            <a:r>
              <a:rPr lang="fr-FR" sz="1200" spc="-20" dirty="0" smtClean="0">
                <a:latin typeface="+mn-lt"/>
                <a:cs typeface="Calibri"/>
              </a:rPr>
              <a:t>d’énergie </a:t>
            </a:r>
            <a:r>
              <a:rPr lang="fr-FR" sz="1200" spc="-10" dirty="0" smtClean="0">
                <a:latin typeface="+mn-lt"/>
                <a:cs typeface="Calibri"/>
              </a:rPr>
              <a:t>qu’un </a:t>
            </a:r>
            <a:r>
              <a:rPr lang="fr-FR" sz="1200" spc="-5" dirty="0" smtClean="0">
                <a:latin typeface="+mn-lt"/>
                <a:cs typeface="Calibri"/>
              </a:rPr>
              <a:t>serveur </a:t>
            </a:r>
            <a:r>
              <a:rPr lang="fr-FR" sz="1200" spc="-10" dirty="0" smtClean="0">
                <a:latin typeface="+mn-lt"/>
                <a:cs typeface="Calibri"/>
              </a:rPr>
              <a:t>tournant </a:t>
            </a:r>
            <a:r>
              <a:rPr lang="fr-FR" sz="1200" dirty="0" smtClean="0">
                <a:latin typeface="+mn-lt"/>
                <a:cs typeface="Calibri"/>
              </a:rPr>
              <a:t>à </a:t>
            </a:r>
            <a:r>
              <a:rPr lang="fr-FR" sz="1200" spc="-5" dirty="0" smtClean="0">
                <a:latin typeface="+mn-lt"/>
                <a:cs typeface="Calibri"/>
              </a:rPr>
              <a:t>10% </a:t>
            </a:r>
            <a:r>
              <a:rPr lang="fr-FR" sz="1200" dirty="0" smtClean="0">
                <a:latin typeface="+mn-lt"/>
                <a:cs typeface="Calibri"/>
              </a:rPr>
              <a:t>de ses  </a:t>
            </a:r>
            <a:r>
              <a:rPr lang="fr-FR" sz="1200" spc="-10" dirty="0" smtClean="0">
                <a:latin typeface="+mn-lt"/>
                <a:cs typeface="Calibri"/>
              </a:rPr>
              <a:t>capacités</a:t>
            </a:r>
            <a:endParaRPr lang="fr-FR" sz="1200" dirty="0" smtClean="0">
              <a:latin typeface="+mn-lt"/>
              <a:cs typeface="Calibri"/>
            </a:endParaRPr>
          </a:p>
          <a:p>
            <a:pPr marL="0" marR="0" indent="0" algn="l" defTabSz="914400" rtl="0" eaLnBrk="1" fontAlgn="auto" latinLnBrk="0" hangingPunct="1">
              <a:lnSpc>
                <a:spcPct val="100000"/>
              </a:lnSpc>
              <a:spcBef>
                <a:spcPts val="0"/>
              </a:spcBef>
              <a:spcAft>
                <a:spcPts val="0"/>
              </a:spcAft>
              <a:buClrTx/>
              <a:buSzTx/>
              <a:buFontTx/>
              <a:buNone/>
              <a:tabLst/>
              <a:defRPr/>
            </a:pPr>
            <a:r>
              <a:rPr lang="fr-FR" sz="1200" dirty="0" smtClean="0">
                <a:latin typeface="+mn-lt"/>
                <a:cs typeface="Calibri"/>
              </a:rPr>
              <a:t>Ce </a:t>
            </a:r>
            <a:r>
              <a:rPr lang="fr-FR" sz="1200" spc="-5" dirty="0" smtClean="0">
                <a:latin typeface="+mn-lt"/>
                <a:cs typeface="Calibri"/>
              </a:rPr>
              <a:t>pri</a:t>
            </a:r>
            <a:r>
              <a:rPr lang="fr-FR" sz="1200" spc="10" dirty="0" smtClean="0">
                <a:latin typeface="+mn-lt"/>
                <a:cs typeface="Calibri"/>
              </a:rPr>
              <a:t>n</a:t>
            </a:r>
            <a:r>
              <a:rPr lang="fr-FR" sz="1200" spc="-10" dirty="0" smtClean="0">
                <a:latin typeface="+mn-lt"/>
                <a:cs typeface="Calibri"/>
              </a:rPr>
              <a:t>c</a:t>
            </a:r>
            <a:r>
              <a:rPr lang="fr-FR" sz="1200" spc="-5" dirty="0" smtClean="0">
                <a:latin typeface="+mn-lt"/>
                <a:cs typeface="Calibri"/>
              </a:rPr>
              <a:t>ip</a:t>
            </a:r>
            <a:r>
              <a:rPr lang="fr-FR" sz="1200" dirty="0" smtClean="0">
                <a:latin typeface="+mn-lt"/>
                <a:cs typeface="Calibri"/>
              </a:rPr>
              <a:t>e </a:t>
            </a:r>
            <a:r>
              <a:rPr lang="fr-FR" sz="1200" spc="-5" dirty="0" smtClean="0">
                <a:latin typeface="+mn-lt"/>
                <a:cs typeface="Calibri"/>
              </a:rPr>
              <a:t>p</a:t>
            </a:r>
            <a:r>
              <a:rPr lang="fr-FR" sz="1200" spc="15" dirty="0" smtClean="0">
                <a:latin typeface="+mn-lt"/>
                <a:cs typeface="Calibri"/>
              </a:rPr>
              <a:t>e</a:t>
            </a:r>
            <a:r>
              <a:rPr lang="fr-FR" sz="1200" dirty="0" smtClean="0">
                <a:latin typeface="+mn-lt"/>
                <a:cs typeface="Calibri"/>
              </a:rPr>
              <a:t>rm</a:t>
            </a:r>
            <a:r>
              <a:rPr lang="fr-FR" sz="1200" spc="-15" dirty="0" smtClean="0">
                <a:latin typeface="+mn-lt"/>
                <a:cs typeface="Calibri"/>
              </a:rPr>
              <a:t>e</a:t>
            </a:r>
            <a:r>
              <a:rPr lang="fr-FR" sz="1200" dirty="0" smtClean="0">
                <a:latin typeface="+mn-lt"/>
                <a:cs typeface="Calibri"/>
              </a:rPr>
              <a:t>t au</a:t>
            </a:r>
            <a:r>
              <a:rPr lang="fr-FR" sz="1200" spc="5" dirty="0" smtClean="0">
                <a:latin typeface="+mn-lt"/>
                <a:cs typeface="Calibri"/>
              </a:rPr>
              <a:t>s</a:t>
            </a:r>
            <a:r>
              <a:rPr lang="fr-FR" sz="1200" spc="-5" dirty="0" smtClean="0">
                <a:latin typeface="+mn-lt"/>
                <a:cs typeface="Calibri"/>
              </a:rPr>
              <a:t>s</a:t>
            </a:r>
            <a:r>
              <a:rPr lang="fr-FR" sz="1200" dirty="0" smtClean="0">
                <a:latin typeface="+mn-lt"/>
                <a:cs typeface="Calibri"/>
              </a:rPr>
              <a:t>i </a:t>
            </a:r>
            <a:r>
              <a:rPr lang="fr-FR" sz="1200" spc="-5" dirty="0" smtClean="0">
                <a:latin typeface="+mn-lt"/>
                <a:cs typeface="Calibri"/>
              </a:rPr>
              <a:t>d</a:t>
            </a:r>
            <a:r>
              <a:rPr lang="fr-FR" sz="1200" spc="-135" dirty="0" smtClean="0">
                <a:latin typeface="+mn-lt"/>
                <a:cs typeface="Calibri"/>
              </a:rPr>
              <a:t>’</a:t>
            </a:r>
            <a:r>
              <a:rPr lang="fr-FR" sz="1200" dirty="0" smtClean="0">
                <a:latin typeface="+mn-lt"/>
                <a:cs typeface="Calibri"/>
              </a:rPr>
              <a:t>êt</a:t>
            </a:r>
            <a:r>
              <a:rPr lang="fr-FR" sz="1200" spc="-30" dirty="0" smtClean="0">
                <a:latin typeface="+mn-lt"/>
                <a:cs typeface="Calibri"/>
              </a:rPr>
              <a:t>r</a:t>
            </a:r>
            <a:r>
              <a:rPr lang="fr-FR" sz="1200" dirty="0" smtClean="0">
                <a:latin typeface="+mn-lt"/>
                <a:cs typeface="Calibri"/>
              </a:rPr>
              <a:t>e </a:t>
            </a:r>
            <a:r>
              <a:rPr lang="fr-FR" sz="1200" spc="-5" dirty="0" smtClean="0">
                <a:latin typeface="+mn-lt"/>
                <a:cs typeface="Calibri"/>
              </a:rPr>
              <a:t>plus </a:t>
            </a:r>
            <a:r>
              <a:rPr lang="fr-FR" sz="1200" spc="-10" dirty="0" smtClean="0">
                <a:latin typeface="+mn-lt"/>
                <a:cs typeface="Calibri"/>
              </a:rPr>
              <a:t>flexible </a:t>
            </a:r>
            <a:r>
              <a:rPr lang="fr-FR" sz="1200" spc="-5" dirty="0" smtClean="0">
                <a:latin typeface="+mn-lt"/>
                <a:cs typeface="Calibri"/>
              </a:rPr>
              <a:t>dans </a:t>
            </a:r>
            <a:r>
              <a:rPr lang="fr-FR" sz="1200" spc="-20" dirty="0" smtClean="0">
                <a:latin typeface="+mn-lt"/>
                <a:cs typeface="Calibri"/>
              </a:rPr>
              <a:t>l’allocation </a:t>
            </a:r>
            <a:r>
              <a:rPr lang="fr-FR" sz="1200" dirty="0" smtClean="0">
                <a:latin typeface="+mn-lt"/>
                <a:cs typeface="Calibri"/>
              </a:rPr>
              <a:t>des</a:t>
            </a:r>
            <a:r>
              <a:rPr lang="fr-FR" sz="1200" spc="90" dirty="0" smtClean="0">
                <a:latin typeface="+mn-lt"/>
                <a:cs typeface="Calibri"/>
              </a:rPr>
              <a:t> </a:t>
            </a:r>
            <a:r>
              <a:rPr lang="fr-FR" sz="1200" spc="-10" dirty="0" smtClean="0">
                <a:latin typeface="+mn-lt"/>
                <a:cs typeface="Calibri"/>
              </a:rPr>
              <a:t>ressources.</a:t>
            </a:r>
            <a:endParaRPr lang="fr-FR" sz="1200" dirty="0" smtClean="0">
              <a:latin typeface="+mn-lt"/>
              <a:cs typeface="Calibri"/>
            </a:endParaRPr>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21</a:t>
            </a:fld>
            <a:endParaRPr lang="fr-FR"/>
          </a:p>
        </p:txBody>
      </p:sp>
    </p:spTree>
    <p:extLst>
      <p:ext uri="{BB962C8B-B14F-4D97-AF65-F5344CB8AC3E}">
        <p14:creationId xmlns="" xmlns:p14="http://schemas.microsoft.com/office/powerpoint/2010/main" val="34290776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commentaires 2"/>
          <p:cNvSpPr>
            <a:spLocks noGrp="1"/>
          </p:cNvSpPr>
          <p:nvPr>
            <p:ph type="body" idx="1"/>
          </p:nvPr>
        </p:nvSpPr>
        <p:spPr/>
        <p:txBody>
          <a:bodyPr/>
          <a:lstStyle/>
          <a:p>
            <a:r>
              <a:rPr lang="fr-FR" dirty="0" smtClean="0"/>
              <a:t>Ce travail peut être complété sur le plan implémentation par l’ajout du support de nouvelles applications écrites en d’autre langage de programmation.</a:t>
            </a:r>
          </a:p>
          <a:p>
            <a:r>
              <a:rPr lang="fr-FR" dirty="0" smtClean="0"/>
              <a:t>Pour le côté conceptuel, pour plus de performance l’architecture peut être améliorée en divisant le projet </a:t>
            </a:r>
            <a:r>
              <a:rPr lang="fr-FR" dirty="0" err="1" smtClean="0"/>
              <a:t>Webswing</a:t>
            </a:r>
            <a:r>
              <a:rPr lang="fr-FR" dirty="0" smtClean="0"/>
              <a:t> en plusieurs micro-services (considéré chaque module du projet comme un service).</a:t>
            </a:r>
            <a:endParaRPr lang="fr-FR" dirty="0"/>
          </a:p>
        </p:txBody>
      </p:sp>
      <p:sp>
        <p:nvSpPr>
          <p:cNvPr id="4" name="Espace réservé du numéro de diapositive 3"/>
          <p:cNvSpPr>
            <a:spLocks noGrp="1"/>
          </p:cNvSpPr>
          <p:nvPr>
            <p:ph type="sldNum" sz="quarter" idx="10"/>
          </p:nvPr>
        </p:nvSpPr>
        <p:spPr/>
        <p:txBody>
          <a:bodyPr/>
          <a:lstStyle/>
          <a:p>
            <a:fld id="{2101F6EB-9E6A-4C0D-B326-6BD7C74A0994}" type="slidenum">
              <a:rPr lang="fr-FR" smtClean="0"/>
              <a:pPr/>
              <a:t>27</a:t>
            </a:fld>
            <a:endParaRPr lang="fr-FR"/>
          </a:p>
        </p:txBody>
      </p:sp>
    </p:spTree>
    <p:extLst>
      <p:ext uri="{BB962C8B-B14F-4D97-AF65-F5344CB8AC3E}">
        <p14:creationId xmlns="" xmlns:p14="http://schemas.microsoft.com/office/powerpoint/2010/main" val="18273145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Triangle rectangle 9"/>
          <p:cNvSpPr/>
          <p:nvPr/>
        </p:nvSpPr>
        <p:spPr>
          <a:xfrm>
            <a:off x="-2" y="3498110"/>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re 8"/>
          <p:cNvSpPr>
            <a:spLocks noGrp="1"/>
          </p:cNvSpPr>
          <p:nvPr>
            <p:ph type="ctrTitle"/>
          </p:nvPr>
        </p:nvSpPr>
        <p:spPr>
          <a:xfrm>
            <a:off x="685800" y="1314451"/>
            <a:ext cx="7772400" cy="137232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fr-FR" smtClean="0"/>
              <a:t>Cliquez pour modifier le style du titre</a:t>
            </a:r>
            <a:endParaRPr kumimoji="0" lang="en-US"/>
          </a:p>
        </p:txBody>
      </p:sp>
      <p:sp>
        <p:nvSpPr>
          <p:cNvPr id="17" name="Sous-titre 16"/>
          <p:cNvSpPr>
            <a:spLocks noGrp="1"/>
          </p:cNvSpPr>
          <p:nvPr>
            <p:ph type="subTitle" idx="1"/>
          </p:nvPr>
        </p:nvSpPr>
        <p:spPr>
          <a:xfrm>
            <a:off x="685800" y="2708705"/>
            <a:ext cx="7772400" cy="899778"/>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fr-FR" smtClean="0"/>
              <a:t>Cliquez pour modifier le style des sous-titres du masque</a:t>
            </a:r>
            <a:endParaRPr kumimoji="0" lang="en-US"/>
          </a:p>
        </p:txBody>
      </p:sp>
      <p:grpSp>
        <p:nvGrpSpPr>
          <p:cNvPr id="2" name="Groupe 1"/>
          <p:cNvGrpSpPr/>
          <p:nvPr/>
        </p:nvGrpSpPr>
        <p:grpSpPr>
          <a:xfrm>
            <a:off x="-3765" y="3714750"/>
            <a:ext cx="9147765" cy="1434066"/>
            <a:chOff x="-3765" y="4832896"/>
            <a:chExt cx="9147765" cy="2032192"/>
          </a:xfrm>
        </p:grpSpPr>
        <p:sp>
          <p:nvSpPr>
            <p:cNvPr id="7" name="Forme libre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orme libre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orme libre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Connecteur droit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Espace réservé de la date 29"/>
          <p:cNvSpPr>
            <a:spLocks noGrp="1"/>
          </p:cNvSpPr>
          <p:nvPr>
            <p:ph type="dt" sz="half" idx="10"/>
          </p:nvPr>
        </p:nvSpPr>
        <p:spPr/>
        <p:txBody>
          <a:bodyPr/>
          <a:lstStyle>
            <a:lvl1pPr>
              <a:defRPr>
                <a:solidFill>
                  <a:srgbClr val="FFFFFF"/>
                </a:solidFill>
              </a:defRPr>
            </a:lvl1pPr>
            <a:extLst/>
          </a:lstStyle>
          <a:p>
            <a:fld id="{6901DD82-D536-43B8-86D9-932D8FF0AAD5}" type="datetimeFigureOut">
              <a:rPr lang="fr-FR" smtClean="0"/>
              <a:pPr/>
              <a:t>24/06/2018</a:t>
            </a:fld>
            <a:endParaRPr lang="fr-FR"/>
          </a:p>
        </p:txBody>
      </p:sp>
      <p:sp>
        <p:nvSpPr>
          <p:cNvPr id="19" name="Espace réservé du pied de page 18"/>
          <p:cNvSpPr>
            <a:spLocks noGrp="1"/>
          </p:cNvSpPr>
          <p:nvPr>
            <p:ph type="ftr" sz="quarter" idx="11"/>
          </p:nvPr>
        </p:nvSpPr>
        <p:spPr/>
        <p:txBody>
          <a:bodyPr/>
          <a:lstStyle>
            <a:lvl1pPr>
              <a:defRPr>
                <a:solidFill>
                  <a:schemeClr val="accent1">
                    <a:tint val="20000"/>
                  </a:schemeClr>
                </a:solidFill>
              </a:defRPr>
            </a:lvl1pPr>
            <a:extLst/>
          </a:lstStyle>
          <a:p>
            <a:endParaRPr lang="fr-BE"/>
          </a:p>
        </p:txBody>
      </p:sp>
      <p:sp>
        <p:nvSpPr>
          <p:cNvPr id="27" name="Espace réservé du numéro de diapositive 26"/>
          <p:cNvSpPr>
            <a:spLocks noGrp="1"/>
          </p:cNvSpPr>
          <p:nvPr>
            <p:ph type="sldNum" sz="quarter" idx="12"/>
          </p:nvPr>
        </p:nvSpPr>
        <p:spPr/>
        <p:txBody>
          <a:bodyPr/>
          <a:lstStyle>
            <a:lvl1pPr>
              <a:defRPr>
                <a:solidFill>
                  <a:srgbClr val="FFFFFF"/>
                </a:solidFill>
              </a:defRPr>
            </a:lvl1pPr>
            <a:extLst/>
          </a:lstStyle>
          <a:p>
            <a:fld id="{2F34291C-8D4B-4E25-8CF3-C704CF8D1F28}"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p:txBody>
          <a:bodyPr/>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7" name="Titre 6"/>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22376" y="794784"/>
            <a:ext cx="7772400" cy="13716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3922713" y="2198784"/>
            <a:ext cx="4572000" cy="1091166"/>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fr-FR" smtClean="0"/>
              <a:t>Cliquez pour modifier les styles du texte du masque</a:t>
            </a:r>
          </a:p>
        </p:txBody>
      </p:sp>
      <p:sp>
        <p:nvSpPr>
          <p:cNvPr id="4" name="Espace réservé de la date 3"/>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2F34291C-8D4B-4E25-8CF3-C704CF8D1F28}" type="slidenum">
              <a:rPr lang="fr-FR" smtClean="0"/>
              <a:pPr/>
              <a:t>‹N°›</a:t>
            </a:fld>
            <a:endParaRPr lang="fr-FR"/>
          </a:p>
        </p:txBody>
      </p:sp>
      <p:sp>
        <p:nvSpPr>
          <p:cNvPr id="7" name="Chevron 6"/>
          <p:cNvSpPr/>
          <p:nvPr/>
        </p:nvSpPr>
        <p:spPr>
          <a:xfrm>
            <a:off x="3636680"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2254104"/>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2">
        <a:schemeClr val="bg1"/>
      </p:bgRef>
    </p:bg>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57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u contenu 3"/>
          <p:cNvSpPr>
            <a:spLocks noGrp="1"/>
          </p:cNvSpPr>
          <p:nvPr>
            <p:ph sz="half" idx="2"/>
          </p:nvPr>
        </p:nvSpPr>
        <p:spPr>
          <a:xfrm>
            <a:off x="4648200" y="1110997"/>
            <a:ext cx="4038600" cy="3394472"/>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8" name="Titre 7"/>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457200" y="204788"/>
            <a:ext cx="8229600" cy="857250"/>
          </a:xfrm>
        </p:spPr>
        <p:txBody>
          <a:bodyPr anchor="ctr"/>
          <a:lstStyle>
            <a:lvl1pPr>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1"/>
          </p:nvPr>
        </p:nvSpPr>
        <p:spPr>
          <a:xfrm>
            <a:off x="457200" y="4057650"/>
            <a:ext cx="4040188"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645027" y="4057650"/>
            <a:ext cx="4041775" cy="5715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fr-FR" smtClean="0"/>
              <a:t>Cliquez pour modifier les styles du texte du masque</a:t>
            </a:r>
          </a:p>
        </p:txBody>
      </p:sp>
      <p:sp>
        <p:nvSpPr>
          <p:cNvPr id="5" name="Espace réservé du contenu 4"/>
          <p:cNvSpPr>
            <a:spLocks noGrp="1"/>
          </p:cNvSpPr>
          <p:nvPr>
            <p:ph sz="quarter" idx="2"/>
          </p:nvPr>
        </p:nvSpPr>
        <p:spPr>
          <a:xfrm>
            <a:off x="457200" y="1083221"/>
            <a:ext cx="4040188" cy="2956322"/>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Espace réservé du contenu 5"/>
          <p:cNvSpPr>
            <a:spLocks noGrp="1"/>
          </p:cNvSpPr>
          <p:nvPr>
            <p:ph sz="quarter" idx="4"/>
          </p:nvPr>
        </p:nvSpPr>
        <p:spPr>
          <a:xfrm>
            <a:off x="4645026" y="1083221"/>
            <a:ext cx="4041775" cy="2956322"/>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Espace réservé de la date 6"/>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8" name="Espace réservé du pied de page 7"/>
          <p:cNvSpPr>
            <a:spLocks noGrp="1"/>
          </p:cNvSpPr>
          <p:nvPr>
            <p:ph type="ftr" sz="quarter" idx="11"/>
          </p:nvPr>
        </p:nvSpPr>
        <p:spPr/>
        <p:txBody>
          <a:bodyPr/>
          <a:lstStyle>
            <a:extLst/>
          </a:lstStyle>
          <a:p>
            <a:endParaRPr lang="fr-BE"/>
          </a:p>
        </p:txBody>
      </p:sp>
      <p:sp>
        <p:nvSpPr>
          <p:cNvPr id="9" name="Espace réservé du numéro de diapositive 8"/>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bg>
      <p:bgRef idx="1002">
        <a:schemeClr val="bg1"/>
      </p:bgRef>
    </p:bg>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4" name="Espace réservé du pied de page 3"/>
          <p:cNvSpPr>
            <a:spLocks noGrp="1"/>
          </p:cNvSpPr>
          <p:nvPr>
            <p:ph type="ftr" sz="quarter" idx="11"/>
          </p:nvPr>
        </p:nvSpPr>
        <p:spPr/>
        <p:txBody>
          <a:bodyPr/>
          <a:lstStyle>
            <a:extLst/>
          </a:lstStyle>
          <a:p>
            <a:endParaRPr lang="fr-BE"/>
          </a:p>
        </p:txBody>
      </p:sp>
      <p:sp>
        <p:nvSpPr>
          <p:cNvPr id="5" name="Espace réservé du numéro de diapositive 4"/>
          <p:cNvSpPr>
            <a:spLocks noGrp="1"/>
          </p:cNvSpPr>
          <p:nvPr>
            <p:ph type="sldNum" sz="quarter" idx="12"/>
          </p:nvPr>
        </p:nvSpPr>
        <p:spPr/>
        <p:txBody>
          <a:bodyPr/>
          <a:lstStyle>
            <a:extLst/>
          </a:lstStyle>
          <a:p>
            <a:fld id="{CF4668DC-857F-487D-BFFA-8C0CA5037977}" type="slidenum">
              <a:rPr lang="fr-BE" smtClean="0"/>
              <a:pPr/>
              <a:t>‹N°›</a:t>
            </a:fld>
            <a:endParaRPr lang="fr-BE"/>
          </a:p>
        </p:txBody>
      </p:sp>
      <p:sp>
        <p:nvSpPr>
          <p:cNvPr id="6" name="Titre 5"/>
          <p:cNvSpPr>
            <a:spLocks noGrp="1"/>
          </p:cNvSpPr>
          <p:nvPr>
            <p:ph type="title"/>
          </p:nvPr>
        </p:nvSpPr>
        <p:spPr/>
        <p:txBody>
          <a:bodyPr rtlCol="0"/>
          <a:lstStyle>
            <a:extLst/>
          </a:lstStyle>
          <a:p>
            <a:r>
              <a:rPr kumimoji="0" lang="fr-FR" smtClean="0"/>
              <a:t>Cliquez pour modifier le style du titre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3" name="Espace réservé du pied de page 2"/>
          <p:cNvSpPr>
            <a:spLocks noGrp="1"/>
          </p:cNvSpPr>
          <p:nvPr>
            <p:ph type="ftr" sz="quarter" idx="11"/>
          </p:nvPr>
        </p:nvSpPr>
        <p:spPr/>
        <p:txBody>
          <a:bodyPr/>
          <a:lstStyle>
            <a:extLst/>
          </a:lstStyle>
          <a:p>
            <a:endParaRPr lang="fr-BE"/>
          </a:p>
        </p:txBody>
      </p:sp>
      <p:sp>
        <p:nvSpPr>
          <p:cNvPr id="4" name="Espace réservé du numéro de diapositive 3"/>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3">
        <a:schemeClr val="bg1"/>
      </p:bgRef>
    </p:bg>
    <p:spTree>
      <p:nvGrpSpPr>
        <p:cNvPr id="1" name=""/>
        <p:cNvGrpSpPr/>
        <p:nvPr/>
      </p:nvGrpSpPr>
      <p:grpSpPr>
        <a:xfrm>
          <a:off x="0" y="0"/>
          <a:ext cx="0" cy="0"/>
          <a:chOff x="0" y="0"/>
          <a:chExt cx="0" cy="0"/>
        </a:xfrm>
      </p:grpSpPr>
      <p:sp>
        <p:nvSpPr>
          <p:cNvPr id="2" name="Titre 1"/>
          <p:cNvSpPr>
            <a:spLocks noGrp="1"/>
          </p:cNvSpPr>
          <p:nvPr>
            <p:ph type="title"/>
          </p:nvPr>
        </p:nvSpPr>
        <p:spPr>
          <a:xfrm>
            <a:off x="914400" y="3657600"/>
            <a:ext cx="7481776" cy="3429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4419600" y="4016327"/>
            <a:ext cx="3974592" cy="6858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fr-FR" smtClean="0"/>
              <a:t>Cliquez pour modifier les styles du texte du masque</a:t>
            </a:r>
          </a:p>
        </p:txBody>
      </p:sp>
      <p:sp>
        <p:nvSpPr>
          <p:cNvPr id="4" name="Espace réservé du contenu 3"/>
          <p:cNvSpPr>
            <a:spLocks noGrp="1"/>
          </p:cNvSpPr>
          <p:nvPr>
            <p:ph sz="half" idx="1"/>
          </p:nvPr>
        </p:nvSpPr>
        <p:spPr>
          <a:xfrm>
            <a:off x="914400" y="205740"/>
            <a:ext cx="7479792" cy="3429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Espace réservé de la date 4"/>
          <p:cNvSpPr>
            <a:spLocks noGrp="1"/>
          </p:cNvSpPr>
          <p:nvPr>
            <p:ph type="dt" sz="half" idx="10"/>
          </p:nvPr>
        </p:nvSpPr>
        <p:spPr>
          <a:xfrm>
            <a:off x="6727032" y="4805958"/>
            <a:ext cx="1920240" cy="274320"/>
          </a:xfrm>
        </p:spPr>
        <p:txBody>
          <a:bodyPr/>
          <a:lstStyle>
            <a:extLst/>
          </a:lstStyle>
          <a:p>
            <a:fld id="{6901DD82-D536-43B8-86D9-932D8FF0AAD5}" type="datetimeFigureOut">
              <a:rPr lang="fr-FR" smtClean="0"/>
              <a:pPr/>
              <a:t>24/06/2018</a:t>
            </a:fld>
            <a:endParaRPr lang="fr-FR"/>
          </a:p>
        </p:txBody>
      </p:sp>
      <p:sp>
        <p:nvSpPr>
          <p:cNvPr id="6" name="Espace réservé du pied de page 5"/>
          <p:cNvSpPr>
            <a:spLocks noGrp="1"/>
          </p:cNvSpPr>
          <p:nvPr>
            <p:ph type="ftr" sz="quarter" idx="11"/>
          </p:nvPr>
        </p:nvSpPr>
        <p:spPr/>
        <p:txBody>
          <a:bodyPr/>
          <a:lstStyle>
            <a:extLst/>
          </a:lstStyle>
          <a:p>
            <a:endParaRPr lang="fr-BE"/>
          </a:p>
        </p:txBody>
      </p:sp>
      <p:sp>
        <p:nvSpPr>
          <p:cNvPr id="7" name="Espace réservé du numéro de diapositive 6"/>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bg>
      <p:bgRef idx="1002">
        <a:schemeClr val="bg1"/>
      </p:bgRef>
    </p:bg>
    <p:spTree>
      <p:nvGrpSpPr>
        <p:cNvPr id="1" name=""/>
        <p:cNvGrpSpPr/>
        <p:nvPr/>
      </p:nvGrpSpPr>
      <p:grpSpPr>
        <a:xfrm>
          <a:off x="0" y="0"/>
          <a:ext cx="0" cy="0"/>
          <a:chOff x="0" y="0"/>
          <a:chExt cx="0" cy="0"/>
        </a:xfrm>
      </p:grpSpPr>
      <p:sp>
        <p:nvSpPr>
          <p:cNvPr id="4" name="Espace réservé du texte 3"/>
          <p:cNvSpPr>
            <a:spLocks noGrp="1"/>
          </p:cNvSpPr>
          <p:nvPr>
            <p:ph type="body" sz="half" idx="2"/>
          </p:nvPr>
        </p:nvSpPr>
        <p:spPr>
          <a:xfrm>
            <a:off x="1141232" y="4082552"/>
            <a:ext cx="7162800" cy="486174"/>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fr-FR" smtClean="0"/>
              <a:t>Cliquez pour modifier les styles du texte du masque</a:t>
            </a:r>
          </a:p>
        </p:txBody>
      </p:sp>
      <p:sp>
        <p:nvSpPr>
          <p:cNvPr id="3" name="Espace réservé pour une image  2"/>
          <p:cNvSpPr>
            <a:spLocks noGrp="1"/>
          </p:cNvSpPr>
          <p:nvPr>
            <p:ph type="pic" idx="1"/>
          </p:nvPr>
        </p:nvSpPr>
        <p:spPr>
          <a:xfrm>
            <a:off x="228600" y="142476"/>
            <a:ext cx="8686800" cy="329184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fr-FR" smtClean="0"/>
              <a:t>Cliquez sur l'icône pour ajouter une image</a:t>
            </a:r>
            <a:endParaRPr kumimoji="0" lang="en-US" dirty="0"/>
          </a:p>
        </p:txBody>
      </p:sp>
      <p:sp>
        <p:nvSpPr>
          <p:cNvPr id="5" name="Espace réservé de la date 4"/>
          <p:cNvSpPr>
            <a:spLocks noGrp="1"/>
          </p:cNvSpPr>
          <p:nvPr>
            <p:ph type="dt" sz="half" idx="10"/>
          </p:nvPr>
        </p:nvSpPr>
        <p:spPr/>
        <p:txBody>
          <a:bodyPr/>
          <a:lstStyle>
            <a:lvl1pPr>
              <a:defRPr>
                <a:solidFill>
                  <a:schemeClr val="tx1"/>
                </a:solidFill>
              </a:defRPr>
            </a:lvl1pPr>
            <a:extLst/>
          </a:lstStyle>
          <a:p>
            <a:fld id="{6901DD82-D536-43B8-86D9-932D8FF0AAD5}" type="datetimeFigureOut">
              <a:rPr lang="fr-FR" smtClean="0"/>
              <a:pPr/>
              <a:t>24/06/2018</a:t>
            </a:fld>
            <a:endParaRPr lang="fr-FR"/>
          </a:p>
        </p:txBody>
      </p:sp>
      <p:sp>
        <p:nvSpPr>
          <p:cNvPr id="6" name="Espace réservé du pied de page 5"/>
          <p:cNvSpPr>
            <a:spLocks noGrp="1"/>
          </p:cNvSpPr>
          <p:nvPr>
            <p:ph type="ftr" sz="quarter" idx="11"/>
          </p:nvPr>
        </p:nvSpPr>
        <p:spPr>
          <a:xfrm>
            <a:off x="4380073" y="4805958"/>
            <a:ext cx="2350681" cy="273844"/>
          </a:xfrm>
        </p:spPr>
        <p:txBody>
          <a:bodyPr/>
          <a:lstStyle>
            <a:lvl1pPr>
              <a:defRPr>
                <a:solidFill>
                  <a:schemeClr val="tx1"/>
                </a:solidFill>
              </a:defRPr>
            </a:lvl1pPr>
            <a:extLst/>
          </a:lstStyle>
          <a:p>
            <a:endParaRPr lang="fr-BE"/>
          </a:p>
        </p:txBody>
      </p:sp>
      <p:sp>
        <p:nvSpPr>
          <p:cNvPr id="7" name="Espace réservé du numéro de diapositive 6"/>
          <p:cNvSpPr>
            <a:spLocks noGrp="1"/>
          </p:cNvSpPr>
          <p:nvPr>
            <p:ph type="sldNum" sz="quarter" idx="12"/>
          </p:nvPr>
        </p:nvSpPr>
        <p:spPr/>
        <p:txBody>
          <a:bodyPr/>
          <a:lstStyle>
            <a:lvl1pPr>
              <a:defRPr>
                <a:solidFill>
                  <a:schemeClr val="tx1"/>
                </a:solidFill>
              </a:defRPr>
            </a:lvl1pPr>
            <a:extLst/>
          </a:lstStyle>
          <a:p>
            <a:fld id="{CF4668DC-857F-487D-BFFA-8C0CA5037977}" type="slidenum">
              <a:rPr lang="fr-BE" smtClean="0"/>
              <a:pPr/>
              <a:t>‹N°›</a:t>
            </a:fld>
            <a:endParaRPr lang="fr-BE"/>
          </a:p>
        </p:txBody>
      </p:sp>
      <p:sp>
        <p:nvSpPr>
          <p:cNvPr id="2" name="Titre 1"/>
          <p:cNvSpPr>
            <a:spLocks noGrp="1"/>
          </p:cNvSpPr>
          <p:nvPr>
            <p:ph type="title"/>
          </p:nvPr>
        </p:nvSpPr>
        <p:spPr>
          <a:xfrm>
            <a:off x="228600" y="3648842"/>
            <a:ext cx="8075432" cy="422004"/>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fr-FR" smtClean="0"/>
              <a:t>Cliquez pour modifier le style du titre</a:t>
            </a:r>
            <a:endParaRPr kumimoji="0" lang="en-US"/>
          </a:p>
        </p:txBody>
      </p:sp>
      <p:sp>
        <p:nvSpPr>
          <p:cNvPr id="8" name="Forme libre 7"/>
          <p:cNvSpPr>
            <a:spLocks/>
          </p:cNvSpPr>
          <p:nvPr/>
        </p:nvSpPr>
        <p:spPr bwMode="auto">
          <a:xfrm>
            <a:off x="716437"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orme libre 8"/>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Triangle rectangle 9"/>
          <p:cNvSpPr>
            <a:spLocks/>
          </p:cNvSpPr>
          <p:nvPr/>
        </p:nvSpPr>
        <p:spPr bwMode="auto">
          <a:xfrm>
            <a:off x="-6042" y="4343440"/>
            <a:ext cx="3402314" cy="810651"/>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Connecteur droit 10"/>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3741330"/>
            <a:ext cx="182880" cy="17145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1110997"/>
            <a:ext cx="8229600" cy="3289553"/>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844013" y="205980"/>
            <a:ext cx="1777470" cy="4194571"/>
          </a:xfrm>
        </p:spPr>
        <p:txBody>
          <a:bodyPr vert="eaVert"/>
          <a:lstStyle>
            <a:extLst/>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a:xfrm>
            <a:off x="457200" y="205981"/>
            <a:ext cx="6324600" cy="4194570"/>
          </a:xfrm>
        </p:spPr>
        <p:txBody>
          <a:bodyPr vert="eaVert"/>
          <a:lstStyle>
            <a:extLs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extLst/>
          </a:lstStyle>
          <a:p>
            <a:fld id="{6901DD82-D536-43B8-86D9-932D8FF0AAD5}" type="datetimeFigureOut">
              <a:rPr lang="fr-FR" smtClean="0"/>
              <a:pPr/>
              <a:t>24/06/2018</a:t>
            </a:fld>
            <a:endParaRPr lang="fr-FR"/>
          </a:p>
        </p:txBody>
      </p:sp>
      <p:sp>
        <p:nvSpPr>
          <p:cNvPr id="5" name="Espace réservé du pied de page 4"/>
          <p:cNvSpPr>
            <a:spLocks noGrp="1"/>
          </p:cNvSpPr>
          <p:nvPr>
            <p:ph type="ftr" sz="quarter" idx="11"/>
          </p:nvPr>
        </p:nvSpPr>
        <p:spPr/>
        <p:txBody>
          <a:bodyPr/>
          <a:lstStyle>
            <a:extLst/>
          </a:lstStyle>
          <a:p>
            <a:endParaRPr lang="fr-BE"/>
          </a:p>
        </p:txBody>
      </p:sp>
      <p:sp>
        <p:nvSpPr>
          <p:cNvPr id="6" name="Espace réservé du numéro de diapositive 5"/>
          <p:cNvSpPr>
            <a:spLocks noGrp="1"/>
          </p:cNvSpPr>
          <p:nvPr>
            <p:ph type="sldNum" sz="quarter" idx="12"/>
          </p:nvPr>
        </p:nvSpPr>
        <p:spPr/>
        <p:txBody>
          <a:bodyPr/>
          <a:lstStyle>
            <a:extLst/>
          </a:lstStyle>
          <a:p>
            <a:fld id="{CF4668DC-857F-487D-BFFA-8C0CA5037977}" type="slidenum">
              <a:rPr lang="fr-BE" smtClean="0"/>
              <a:pPr/>
              <a:t>‹N°›</a:t>
            </a:fld>
            <a:endParaRPr lang="fr-B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orme libre 12"/>
          <p:cNvSpPr>
            <a:spLocks/>
          </p:cNvSpPr>
          <p:nvPr/>
        </p:nvSpPr>
        <p:spPr bwMode="auto">
          <a:xfrm>
            <a:off x="716437" y="3751495"/>
            <a:ext cx="3802003" cy="1082333"/>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orme libre 11"/>
          <p:cNvSpPr>
            <a:spLocks/>
          </p:cNvSpPr>
          <p:nvPr/>
        </p:nvSpPr>
        <p:spPr bwMode="auto">
          <a:xfrm>
            <a:off x="-53561" y="4338767"/>
            <a:ext cx="3802003" cy="6286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Triangle rectangle 13"/>
          <p:cNvSpPr>
            <a:spLocks/>
          </p:cNvSpPr>
          <p:nvPr/>
        </p:nvSpPr>
        <p:spPr bwMode="auto">
          <a:xfrm>
            <a:off x="-6042" y="4343440"/>
            <a:ext cx="3402314" cy="810651"/>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Connecteur droit 14"/>
          <p:cNvCxnSpPr/>
          <p:nvPr/>
        </p:nvCxnSpPr>
        <p:spPr>
          <a:xfrm>
            <a:off x="-9237" y="4340804"/>
            <a:ext cx="3405509" cy="813287"/>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Espace réservé du titre 8"/>
          <p:cNvSpPr>
            <a:spLocks noGrp="1"/>
          </p:cNvSpPr>
          <p:nvPr>
            <p:ph type="title"/>
          </p:nvPr>
        </p:nvSpPr>
        <p:spPr>
          <a:xfrm>
            <a:off x="457200" y="205979"/>
            <a:ext cx="8229600" cy="85725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fr-FR" smtClean="0"/>
              <a:t>Cliquez pour modifier le style du titre</a:t>
            </a:r>
            <a:endParaRPr kumimoji="0" lang="en-US"/>
          </a:p>
        </p:txBody>
      </p:sp>
      <p:sp>
        <p:nvSpPr>
          <p:cNvPr id="30" name="Espace réservé du texte 29"/>
          <p:cNvSpPr>
            <a:spLocks noGrp="1"/>
          </p:cNvSpPr>
          <p:nvPr>
            <p:ph type="body" idx="1"/>
          </p:nvPr>
        </p:nvSpPr>
        <p:spPr>
          <a:xfrm>
            <a:off x="457200" y="1110997"/>
            <a:ext cx="8229600" cy="3394472"/>
          </a:xfrm>
          <a:prstGeom prst="rect">
            <a:avLst/>
          </a:prstGeom>
        </p:spPr>
        <p:txBody>
          <a:bodyPr vert="horz">
            <a:normAutofit/>
          </a:bodyPr>
          <a:lstStyle>
            <a:extLst/>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Espace réservé de la date 9"/>
          <p:cNvSpPr>
            <a:spLocks noGrp="1"/>
          </p:cNvSpPr>
          <p:nvPr>
            <p:ph type="dt" sz="half" idx="2"/>
          </p:nvPr>
        </p:nvSpPr>
        <p:spPr>
          <a:xfrm>
            <a:off x="6727032" y="4805958"/>
            <a:ext cx="1920240" cy="274320"/>
          </a:xfrm>
          <a:prstGeom prst="rect">
            <a:avLst/>
          </a:prstGeom>
        </p:spPr>
        <p:txBody>
          <a:bodyPr vert="horz" anchor="b"/>
          <a:lstStyle>
            <a:lvl1pPr algn="l" eaLnBrk="1" latinLnBrk="0" hangingPunct="1">
              <a:defRPr kumimoji="0" sz="1000">
                <a:solidFill>
                  <a:schemeClr val="tx1"/>
                </a:solidFill>
              </a:defRPr>
            </a:lvl1pPr>
            <a:extLst/>
          </a:lstStyle>
          <a:p>
            <a:fld id="{6901DD82-D536-43B8-86D9-932D8FF0AAD5}" type="datetimeFigureOut">
              <a:rPr lang="fr-FR" smtClean="0"/>
              <a:pPr/>
              <a:t>24/06/2018</a:t>
            </a:fld>
            <a:endParaRPr lang="fr-FR"/>
          </a:p>
        </p:txBody>
      </p:sp>
      <p:sp>
        <p:nvSpPr>
          <p:cNvPr id="22" name="Espace réservé du pied de page 21"/>
          <p:cNvSpPr>
            <a:spLocks noGrp="1"/>
          </p:cNvSpPr>
          <p:nvPr>
            <p:ph type="ftr" sz="quarter" idx="3"/>
          </p:nvPr>
        </p:nvSpPr>
        <p:spPr>
          <a:xfrm>
            <a:off x="4380073" y="4805958"/>
            <a:ext cx="2350681" cy="273844"/>
          </a:xfrm>
          <a:prstGeom prst="rect">
            <a:avLst/>
          </a:prstGeom>
        </p:spPr>
        <p:txBody>
          <a:bodyPr vert="horz" anchor="b"/>
          <a:lstStyle>
            <a:lvl1pPr algn="r" eaLnBrk="1" latinLnBrk="0" hangingPunct="1">
              <a:defRPr kumimoji="0" sz="1000">
                <a:solidFill>
                  <a:schemeClr val="tx1"/>
                </a:solidFill>
              </a:defRPr>
            </a:lvl1pPr>
            <a:extLst/>
          </a:lstStyle>
          <a:p>
            <a:endParaRPr lang="fr-BE" dirty="0"/>
          </a:p>
        </p:txBody>
      </p:sp>
      <p:sp>
        <p:nvSpPr>
          <p:cNvPr id="18" name="Espace réservé du numéro de diapositive 17"/>
          <p:cNvSpPr>
            <a:spLocks noGrp="1"/>
          </p:cNvSpPr>
          <p:nvPr>
            <p:ph type="sldNum" sz="quarter" idx="4"/>
          </p:nvPr>
        </p:nvSpPr>
        <p:spPr>
          <a:xfrm>
            <a:off x="8647272" y="4805958"/>
            <a:ext cx="365760" cy="273844"/>
          </a:xfrm>
          <a:prstGeom prst="rect">
            <a:avLst/>
          </a:prstGeom>
        </p:spPr>
        <p:txBody>
          <a:bodyPr vert="horz" anchor="b"/>
          <a:lstStyle>
            <a:lvl1pPr algn="r" eaLnBrk="1" latinLnBrk="0" hangingPunct="1">
              <a:defRPr kumimoji="0" sz="1000" b="0">
                <a:solidFill>
                  <a:schemeClr val="tx1"/>
                </a:solidFill>
              </a:defRPr>
            </a:lvl1pPr>
            <a:extLst/>
          </a:lstStyle>
          <a:p>
            <a:fld id="{CF4668DC-857F-487D-BFFA-8C0CA5037977}" type="slidenum">
              <a:rPr lang="fr-BE" smtClean="0"/>
              <a:pPr/>
              <a:t>‹N°›</a:t>
            </a:fld>
            <a:endParaRPr lang="fr-BE" dirty="0"/>
          </a:p>
        </p:txBody>
      </p:sp>
    </p:spTree>
  </p:cSld>
  <p:clrMap bg1="lt1" tx1="dk1" bg2="lt2" tx2="dk2" accent1="accent1" accent2="accent2" accent3="accent3" accent4="accent4" accent5="accent5" accent6="accent6" hlink="hlink" folHlink="folHlink"/>
  <p:sldLayoutIdLst>
    <p:sldLayoutId id="2147484214" r:id="rId1"/>
    <p:sldLayoutId id="2147484215" r:id="rId2"/>
    <p:sldLayoutId id="2147484216" r:id="rId3"/>
    <p:sldLayoutId id="2147484217" r:id="rId4"/>
    <p:sldLayoutId id="2147484218" r:id="rId5"/>
    <p:sldLayoutId id="2147484219" r:id="rId6"/>
    <p:sldLayoutId id="2147484220" r:id="rId7"/>
    <p:sldLayoutId id="2147484221" r:id="rId8"/>
    <p:sldLayoutId id="2147484222" r:id="rId9"/>
    <p:sldLayoutId id="2147484223" r:id="rId10"/>
    <p:sldLayoutId id="2147484224"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slideLayout" Target="../slideLayouts/slideLayout1.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0" y="1357304"/>
            <a:ext cx="7058020" cy="1372321"/>
          </a:xfrm>
        </p:spPr>
        <p:txBody>
          <a:bodyPr>
            <a:normAutofit fontScale="90000"/>
          </a:bodyPr>
          <a:lstStyle/>
          <a:p>
            <a:r>
              <a:rPr lang="fr-FR" b="1" cap="small" dirty="0" smtClean="0">
                <a:solidFill>
                  <a:schemeClr val="tx1"/>
                </a:solidFill>
              </a:rPr>
              <a:t>Étude comparative de construction d'une application distribuée avec RMI et JCSP net</a:t>
            </a:r>
            <a:endParaRPr lang="fr-FR" dirty="0">
              <a:solidFill>
                <a:schemeClr val="tx1"/>
              </a:solidFill>
            </a:endParaRPr>
          </a:p>
        </p:txBody>
      </p:sp>
      <p:sp>
        <p:nvSpPr>
          <p:cNvPr id="3" name="Sous-titre 2"/>
          <p:cNvSpPr>
            <a:spLocks noGrp="1"/>
          </p:cNvSpPr>
          <p:nvPr>
            <p:ph type="subTitle" idx="1"/>
          </p:nvPr>
        </p:nvSpPr>
        <p:spPr/>
        <p:txBody>
          <a:bodyPr/>
          <a:lstStyle/>
          <a:p>
            <a:endParaRPr lang="fr-FR" dirty="0"/>
          </a:p>
        </p:txBody>
      </p:sp>
      <p:pic>
        <p:nvPicPr>
          <p:cNvPr id="4" name="Image 3"/>
          <p:cNvPicPr>
            <a:picLocks noChangeAspect="1"/>
          </p:cNvPicPr>
          <p:nvPr>
            <p:custDataLst>
              <p:tags r:id="rId1"/>
            </p:custDataLst>
          </p:nvPr>
        </p:nvPicPr>
        <p:blipFill>
          <a:blip r:embed="rId6" cstate="print">
            <a:extLst>
              <a:ext uri="{28A0092B-C50C-407E-A947-70E740481C1C}">
                <a14:useLocalDpi xmlns:a14="http://schemas.microsoft.com/office/drawing/2010/main" xmlns="" val="0"/>
              </a:ext>
            </a:extLst>
          </a:blip>
          <a:stretch>
            <a:fillRect/>
          </a:stretch>
        </p:blipFill>
        <p:spPr>
          <a:xfrm>
            <a:off x="134643" y="216932"/>
            <a:ext cx="1229448" cy="968069"/>
          </a:xfrm>
          <a:prstGeom prst="rect">
            <a:avLst/>
          </a:prstGeom>
        </p:spPr>
      </p:pic>
      <p:pic>
        <p:nvPicPr>
          <p:cNvPr id="5" name="Image 4"/>
          <p:cNvPicPr>
            <a:picLocks noChangeAspect="1"/>
          </p:cNvPicPr>
          <p:nvPr>
            <p:custDataLst>
              <p:tags r:id="rId2"/>
            </p:custDataLst>
          </p:nvPr>
        </p:nvPicPr>
        <p:blipFill>
          <a:blip r:embed="rId7">
            <a:clrChange>
              <a:clrFrom>
                <a:srgbClr val="FFFFFF"/>
              </a:clrFrom>
              <a:clrTo>
                <a:srgbClr val="FFFFFF">
                  <a:alpha val="0"/>
                </a:srgbClr>
              </a:clrTo>
            </a:clrChange>
          </a:blip>
          <a:stretch>
            <a:fillRect/>
          </a:stretch>
        </p:blipFill>
        <p:spPr>
          <a:xfrm>
            <a:off x="7236295" y="300549"/>
            <a:ext cx="1791971" cy="801435"/>
          </a:xfrm>
          <a:prstGeom prst="rect">
            <a:avLst/>
          </a:prstGeom>
        </p:spPr>
      </p:pic>
      <p:sp>
        <p:nvSpPr>
          <p:cNvPr id="6" name="Rectangle 3"/>
          <p:cNvSpPr>
            <a:spLocks noChangeArrowheads="1"/>
          </p:cNvSpPr>
          <p:nvPr>
            <p:custDataLst>
              <p:tags r:id="rId3"/>
            </p:custDataLst>
          </p:nvPr>
        </p:nvSpPr>
        <p:spPr bwMode="auto">
          <a:xfrm>
            <a:off x="6203653" y="3939803"/>
            <a:ext cx="2688557" cy="923330"/>
          </a:xfrm>
          <a:prstGeom prst="rect">
            <a:avLst/>
          </a:prstGeom>
          <a:noFill/>
          <a:ln w="9525">
            <a:noFill/>
            <a:miter lim="800000"/>
            <a:headEnd/>
            <a:tailEnd/>
          </a:ln>
        </p:spPr>
        <p:txBody>
          <a:bodyPr wrap="none">
            <a:prstTxWarp prst="textNoShape">
              <a:avLst/>
            </a:prstTxWarp>
            <a:spAutoFit/>
          </a:bodyPr>
          <a:lstStyle/>
          <a:p>
            <a:r>
              <a:rPr lang="fr-FR" b="1" dirty="0" smtClean="0">
                <a:solidFill>
                  <a:schemeClr val="bg1"/>
                </a:solidFill>
              </a:rPr>
              <a:t>Encadré par :</a:t>
            </a:r>
            <a:endParaRPr lang="fr-FR" dirty="0" smtClean="0">
              <a:solidFill>
                <a:schemeClr val="bg1"/>
              </a:solidFill>
            </a:endParaRPr>
          </a:p>
          <a:p>
            <a:r>
              <a:rPr lang="fr-FR" b="1" dirty="0" smtClean="0">
                <a:solidFill>
                  <a:schemeClr val="bg1"/>
                </a:solidFill>
              </a:rPr>
              <a:t>Dr BENOUHIBA Toufik.</a:t>
            </a:r>
            <a:endParaRPr lang="fr-FR" dirty="0" smtClean="0">
              <a:solidFill>
                <a:schemeClr val="bg1"/>
              </a:solidFill>
            </a:endParaRPr>
          </a:p>
          <a:p>
            <a:r>
              <a:rPr lang="fr-FR" b="1" dirty="0" smtClean="0">
                <a:solidFill>
                  <a:schemeClr val="bg1"/>
                </a:solidFill>
              </a:rPr>
              <a:t>Mr TRIMA Moncef.</a:t>
            </a:r>
            <a:endParaRPr lang="fr-FR" dirty="0">
              <a:solidFill>
                <a:schemeClr val="bg1"/>
              </a:solidFill>
            </a:endParaRPr>
          </a:p>
        </p:txBody>
      </p:sp>
      <p:sp>
        <p:nvSpPr>
          <p:cNvPr id="7" name="Rectangle 3"/>
          <p:cNvSpPr>
            <a:spLocks noChangeArrowheads="1"/>
          </p:cNvSpPr>
          <p:nvPr>
            <p:custDataLst>
              <p:tags r:id="rId4"/>
            </p:custDataLst>
          </p:nvPr>
        </p:nvSpPr>
        <p:spPr bwMode="auto">
          <a:xfrm>
            <a:off x="714348" y="3929072"/>
            <a:ext cx="2376264" cy="767582"/>
          </a:xfrm>
          <a:prstGeom prst="rect">
            <a:avLst/>
          </a:prstGeom>
          <a:noFill/>
          <a:ln w="9525">
            <a:noFill/>
            <a:miter lim="800000"/>
            <a:headEnd/>
            <a:tailEnd/>
          </a:ln>
        </p:spPr>
        <p:txBody>
          <a:bodyPr wrap="square" anchor="ctr" anchorCtr="0">
            <a:prstTxWarp prst="textNoShape">
              <a:avLst/>
            </a:prstTxWarp>
            <a:spAutoFit/>
          </a:bodyPr>
          <a:lstStyle/>
          <a:p>
            <a:r>
              <a:rPr lang="fr-FR" sz="1800" b="1" dirty="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rPr>
              <a:t>Préparé par : </a:t>
            </a:r>
          </a:p>
          <a:p>
            <a:endParaRPr lang="fr-FR" sz="788" b="1" dirty="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endParaRPr>
          </a:p>
          <a:p>
            <a:pPr marL="139304" indent="-139304">
              <a:buFont typeface="Wingdings" panose="05000000000000000000" pitchFamily="2" charset="2"/>
              <a:buChar char="§"/>
            </a:pPr>
            <a:r>
              <a:rPr lang="fr-FR" dirty="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rPr>
              <a:t>Mr. </a:t>
            </a:r>
            <a:r>
              <a:rPr lang="fr-FR" dirty="0" smtClean="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rPr>
              <a:t> </a:t>
            </a:r>
            <a:r>
              <a:rPr lang="fr-FR" dirty="0" smtClean="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rPr>
              <a:t>RAHIM Soufiane</a:t>
            </a:r>
            <a:endParaRPr lang="fr-FR" sz="1800" dirty="0">
              <a:ln w="3175">
                <a:noFill/>
              </a:ln>
              <a:solidFill>
                <a:schemeClr val="bg1"/>
              </a:solidFill>
              <a:latin typeface="Gill Sans MT" panose="020B0502020104020203" pitchFamily="34" charset="0"/>
              <a:ea typeface="Verdana" panose="020B0604030504040204" pitchFamily="34" charset="0"/>
              <a:cs typeface="Mangal" panose="02040503050203030202" pitchFamily="18" charset="0"/>
            </a:endParaRPr>
          </a:p>
        </p:txBody>
      </p:sp>
    </p:spTree>
    <p:extLst>
      <p:ext uri="{BB962C8B-B14F-4D97-AF65-F5344CB8AC3E}">
        <p14:creationId xmlns="" xmlns:p14="http://schemas.microsoft.com/office/powerpoint/2010/main" val="29839180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70000" lnSpcReduction="20000"/>
          </a:bodyPr>
          <a:lstStyle/>
          <a:p>
            <a:r>
              <a:rPr lang="fr-FR" dirty="0" smtClean="0"/>
              <a:t>Introduction</a:t>
            </a:r>
          </a:p>
          <a:p>
            <a:r>
              <a:rPr lang="fr-FR" dirty="0" smtClean="0"/>
              <a:t>RMI</a:t>
            </a:r>
          </a:p>
          <a:p>
            <a:r>
              <a:rPr lang="fr-FR" dirty="0" smtClean="0"/>
              <a:t>JCSP.net</a:t>
            </a:r>
          </a:p>
          <a:p>
            <a:pPr lvl="1"/>
            <a:r>
              <a:rPr lang="fr-FR" dirty="0" smtClean="0"/>
              <a:t>CSP</a:t>
            </a:r>
          </a:p>
          <a:p>
            <a:pPr lvl="1"/>
            <a:r>
              <a:rPr lang="fr-FR" dirty="0" smtClean="0"/>
              <a:t>JCSP</a:t>
            </a:r>
          </a:p>
          <a:p>
            <a:pPr lvl="1"/>
            <a:r>
              <a:rPr lang="fr-FR" dirty="0" smtClean="0"/>
              <a:t>JCSP.net</a:t>
            </a:r>
          </a:p>
          <a:p>
            <a:r>
              <a:rPr lang="fr-FR" dirty="0" smtClean="0"/>
              <a:t>Présentation de l’application </a:t>
            </a:r>
            <a:r>
              <a:rPr lang="fr-FR" dirty="0" err="1" smtClean="0"/>
              <a:t>MiniISente</a:t>
            </a:r>
            <a:r>
              <a:rPr lang="fr-FR" dirty="0" smtClean="0"/>
              <a:t> </a:t>
            </a:r>
          </a:p>
          <a:p>
            <a:pPr lvl="1"/>
            <a:r>
              <a:rPr lang="fr-FR" dirty="0" smtClean="0"/>
              <a:t>Conception avec RMI</a:t>
            </a:r>
          </a:p>
          <a:p>
            <a:pPr lvl="1"/>
            <a:r>
              <a:rPr lang="fr-FR" dirty="0" smtClean="0"/>
              <a:t>Conception avec JCSP.net</a:t>
            </a:r>
          </a:p>
          <a:p>
            <a:r>
              <a:rPr lang="fr-FR" dirty="0" smtClean="0"/>
              <a:t>Métriques</a:t>
            </a:r>
          </a:p>
          <a:p>
            <a:r>
              <a:rPr lang="fr-FR" dirty="0" smtClean="0"/>
              <a:t>Récapitulative</a:t>
            </a:r>
          </a:p>
          <a:p>
            <a:r>
              <a:rPr lang="fr-FR" dirty="0" smtClean="0"/>
              <a:t>Conclusion et perspective.</a:t>
            </a:r>
          </a:p>
        </p:txBody>
      </p:sp>
      <p:sp>
        <p:nvSpPr>
          <p:cNvPr id="3" name="Titre 2"/>
          <p:cNvSpPr>
            <a:spLocks noGrp="1"/>
          </p:cNvSpPr>
          <p:nvPr>
            <p:ph type="title"/>
          </p:nvPr>
        </p:nvSpPr>
        <p:spPr/>
        <p:txBody>
          <a:bodyPr/>
          <a:lstStyle/>
          <a:p>
            <a:r>
              <a:rPr lang="fr-FR" dirty="0" smtClean="0"/>
              <a:t>Plan</a:t>
            </a:r>
            <a:endParaRPr lang="fr-FR" dirty="0"/>
          </a:p>
        </p:txBody>
      </p:sp>
    </p:spTree>
    <p:extLst>
      <p:ext uri="{BB962C8B-B14F-4D97-AF65-F5344CB8AC3E}">
        <p14:creationId xmlns="" xmlns:p14="http://schemas.microsoft.com/office/powerpoint/2010/main" val="30843898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endParaRPr lang="fr-FR" dirty="0" smtClean="0"/>
          </a:p>
          <a:p>
            <a:r>
              <a:rPr lang="fr-FR" dirty="0" smtClean="0"/>
              <a:t>Tendance </a:t>
            </a:r>
            <a:r>
              <a:rPr lang="fr-FR" dirty="0" smtClean="0"/>
              <a:t>vers les systèmes distribuée</a:t>
            </a:r>
            <a:r>
              <a:rPr lang="fr-FR" dirty="0" smtClean="0"/>
              <a:t>,</a:t>
            </a:r>
          </a:p>
          <a:p>
            <a:pPr>
              <a:buNone/>
            </a:pPr>
            <a:endParaRPr lang="fr-FR" dirty="0" smtClean="0"/>
          </a:p>
          <a:p>
            <a:r>
              <a:rPr lang="fr-FR" dirty="0" smtClean="0"/>
              <a:t>La théorie est bien précise.</a:t>
            </a:r>
          </a:p>
          <a:p>
            <a:pPr>
              <a:buNone/>
            </a:pPr>
            <a:endParaRPr lang="fr-FR" dirty="0" smtClean="0"/>
          </a:p>
          <a:p>
            <a:r>
              <a:rPr lang="fr-FR" dirty="0" smtClean="0"/>
              <a:t>il reste l’aspect </a:t>
            </a:r>
            <a:r>
              <a:rPr lang="fr-FR" dirty="0" smtClean="0"/>
              <a:t>technique.</a:t>
            </a:r>
            <a:endParaRPr lang="fr-FR" dirty="0" smtClean="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3</a:t>
            </a:fld>
            <a:endParaRPr lang="fr-BE"/>
          </a:p>
        </p:txBody>
      </p:sp>
      <p:sp>
        <p:nvSpPr>
          <p:cNvPr id="4" name="Titre 3"/>
          <p:cNvSpPr>
            <a:spLocks noGrp="1"/>
          </p:cNvSpPr>
          <p:nvPr>
            <p:ph type="title"/>
          </p:nvPr>
        </p:nvSpPr>
        <p:spPr/>
        <p:txBody>
          <a:bodyPr/>
          <a:lstStyle/>
          <a:p>
            <a:r>
              <a:rPr lang="fr-FR" dirty="0" smtClean="0"/>
              <a:t>Introduction</a:t>
            </a:r>
            <a:endParaRPr lang="fr-FR" dirty="0"/>
          </a:p>
        </p:txBody>
      </p:sp>
    </p:spTree>
    <p:extLst>
      <p:ext uri="{BB962C8B-B14F-4D97-AF65-F5344CB8AC3E}">
        <p14:creationId xmlns="" xmlns:p14="http://schemas.microsoft.com/office/powerpoint/2010/main" val="355870877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dirty="0" smtClean="0"/>
              <a:t>responsabilité </a:t>
            </a:r>
            <a:r>
              <a:rPr lang="fr-FR" dirty="0" smtClean="0"/>
              <a:t>des développeurs</a:t>
            </a:r>
            <a:r>
              <a:rPr lang="fr-FR" dirty="0" smtClean="0"/>
              <a:t>.</a:t>
            </a:r>
          </a:p>
          <a:p>
            <a:pPr>
              <a:buNone/>
            </a:pPr>
            <a:endParaRPr lang="fr-FR" dirty="0" smtClean="0"/>
          </a:p>
          <a:p>
            <a:r>
              <a:rPr lang="fr-FR" dirty="0" smtClean="0"/>
              <a:t>La gestion de la concurrence.</a:t>
            </a:r>
          </a:p>
          <a:p>
            <a:pPr lvl="1"/>
            <a:r>
              <a:rPr lang="fr-FR" dirty="0" smtClean="0"/>
              <a:t>Conditions de course (Race conditions)</a:t>
            </a:r>
          </a:p>
          <a:p>
            <a:pPr lvl="1"/>
            <a:r>
              <a:rPr lang="fr-FR" dirty="0" err="1" smtClean="0"/>
              <a:t>Deadlocks</a:t>
            </a:r>
            <a:endParaRPr lang="fr-FR" dirty="0" smtClean="0"/>
          </a:p>
          <a:p>
            <a:pPr lvl="1"/>
            <a:r>
              <a:rPr lang="fr-FR" dirty="0" err="1" smtClean="0"/>
              <a:t>Livelocks</a:t>
            </a:r>
            <a:endParaRPr lang="fr-FR" dirty="0" smtClean="0"/>
          </a:p>
          <a:p>
            <a:pPr lvl="1"/>
            <a:r>
              <a:rPr lang="fr-FR" dirty="0" smtClean="0"/>
              <a:t>La famine des ressources :</a:t>
            </a:r>
          </a:p>
          <a:p>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4</a:t>
            </a:fld>
            <a:endParaRPr lang="fr-BE"/>
          </a:p>
        </p:txBody>
      </p:sp>
      <p:sp>
        <p:nvSpPr>
          <p:cNvPr id="4" name="Titre 3"/>
          <p:cNvSpPr>
            <a:spLocks noGrp="1"/>
          </p:cNvSpPr>
          <p:nvPr>
            <p:ph type="title"/>
          </p:nvPr>
        </p:nvSpPr>
        <p:spPr/>
        <p:txBody>
          <a:bodyPr/>
          <a:lstStyle/>
          <a:p>
            <a:r>
              <a:rPr lang="fr-FR" dirty="0" smtClean="0"/>
              <a:t>introduction</a:t>
            </a:r>
            <a:endParaRPr lang="fr-F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pPr lvl="0"/>
            <a:r>
              <a:rPr lang="fr-FR" dirty="0" smtClean="0"/>
              <a:t>Résoudre le problèmes de concurrences</a:t>
            </a:r>
          </a:p>
          <a:p>
            <a:pPr lvl="1"/>
            <a:r>
              <a:rPr lang="fr-FR" dirty="0" smtClean="0"/>
              <a:t>Utilisation une </a:t>
            </a:r>
            <a:r>
              <a:rPr lang="fr-FR" dirty="0" smtClean="0"/>
              <a:t>plateforme </a:t>
            </a:r>
            <a:r>
              <a:rPr lang="fr-FR" dirty="0" smtClean="0"/>
              <a:t>sure</a:t>
            </a:r>
            <a:endParaRPr lang="fr-FR" dirty="0" smtClean="0"/>
          </a:p>
          <a:p>
            <a:pPr lvl="1"/>
            <a:r>
              <a:rPr lang="fr-FR" dirty="0" smtClean="0"/>
              <a:t>appliquer </a:t>
            </a:r>
            <a:r>
              <a:rPr lang="fr-FR" dirty="0" smtClean="0"/>
              <a:t>des méthodes </a:t>
            </a:r>
            <a:r>
              <a:rPr lang="fr-FR" dirty="0" smtClean="0"/>
              <a:t>formelle</a:t>
            </a:r>
            <a:endParaRPr lang="fr-FR" dirty="0" smtClean="0"/>
          </a:p>
          <a:p>
            <a:pPr lvl="1"/>
            <a:r>
              <a:rPr lang="fr-FR" dirty="0" smtClean="0"/>
              <a:t>une </a:t>
            </a:r>
            <a:r>
              <a:rPr lang="fr-FR" dirty="0" smtClean="0"/>
              <a:t>plateforme </a:t>
            </a:r>
            <a:r>
              <a:rPr lang="fr-FR" dirty="0" smtClean="0"/>
              <a:t>formelle</a:t>
            </a:r>
            <a:endParaRPr lang="fr-FR" dirty="0" smtClean="0"/>
          </a:p>
          <a:p>
            <a:pPr lvl="1"/>
            <a:r>
              <a:rPr lang="fr-FR" dirty="0" smtClean="0"/>
              <a:t>un </a:t>
            </a:r>
            <a:r>
              <a:rPr lang="fr-FR" dirty="0" smtClean="0"/>
              <a:t>générateur de </a:t>
            </a:r>
            <a:r>
              <a:rPr lang="fr-FR" dirty="0" smtClean="0"/>
              <a:t>code</a:t>
            </a:r>
            <a:endParaRPr lang="fr-FR" dirty="0" smtClean="0"/>
          </a:p>
          <a:p>
            <a:endParaRPr lang="fr-FR" dirty="0" smtClean="0"/>
          </a:p>
          <a:p>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5</a:t>
            </a:fld>
            <a:endParaRPr lang="fr-BE"/>
          </a:p>
        </p:txBody>
      </p:sp>
      <p:sp>
        <p:nvSpPr>
          <p:cNvPr id="4" name="Titre 3"/>
          <p:cNvSpPr>
            <a:spLocks noGrp="1"/>
          </p:cNvSpPr>
          <p:nvPr>
            <p:ph type="title"/>
          </p:nvPr>
        </p:nvSpPr>
        <p:spPr/>
        <p:txBody>
          <a:bodyPr/>
          <a:lstStyle/>
          <a:p>
            <a:r>
              <a:rPr lang="fr-FR" dirty="0" smtClean="0"/>
              <a:t>Introduction </a:t>
            </a:r>
            <a:endParaRPr lang="fr-F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endParaRPr lang="fr-FR" dirty="0" smtClean="0"/>
          </a:p>
          <a:p>
            <a:r>
              <a:rPr lang="fr-FR" dirty="0" smtClean="0"/>
              <a:t>Chaque choix comporte des avenages et inconvénients </a:t>
            </a:r>
          </a:p>
          <a:p>
            <a:pPr>
              <a:buNone/>
            </a:pPr>
            <a:endParaRPr lang="fr-FR" dirty="0" smtClean="0"/>
          </a:p>
          <a:p>
            <a:r>
              <a:rPr lang="fr-FR" dirty="0" smtClean="0"/>
              <a:t>Nécessite de la comparaissent</a:t>
            </a:r>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6</a:t>
            </a:fld>
            <a:endParaRPr lang="fr-BE"/>
          </a:p>
        </p:txBody>
      </p:sp>
      <p:sp>
        <p:nvSpPr>
          <p:cNvPr id="4" name="Titre 3"/>
          <p:cNvSpPr>
            <a:spLocks noGrp="1"/>
          </p:cNvSpPr>
          <p:nvPr>
            <p:ph type="title"/>
          </p:nvPr>
        </p:nvSpPr>
        <p:spPr/>
        <p:txBody>
          <a:bodyPr/>
          <a:lstStyle/>
          <a:p>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lstStyle/>
          <a:p>
            <a:pPr algn="ctr"/>
            <a:r>
              <a:rPr lang="fr-FR" dirty="0" smtClean="0"/>
              <a:t>RMI</a:t>
            </a:r>
            <a:endParaRPr lang="fr-FR" dirty="0"/>
          </a:p>
        </p:txBody>
      </p:sp>
      <p:sp>
        <p:nvSpPr>
          <p:cNvPr id="6" name="Sous-titre 5"/>
          <p:cNvSpPr>
            <a:spLocks noGrp="1"/>
          </p:cNvSpPr>
          <p:nvPr>
            <p:ph type="subTitle" idx="1"/>
          </p:nvPr>
        </p:nvSpPr>
        <p:spPr/>
        <p:txBody>
          <a:bodyPr/>
          <a:lstStyle/>
          <a:p>
            <a:pPr algn="ctr"/>
            <a:r>
              <a:rPr lang="fr-FR" dirty="0" err="1" smtClean="0"/>
              <a:t>Remote</a:t>
            </a:r>
            <a:r>
              <a:rPr lang="fr-FR" dirty="0" smtClean="0"/>
              <a:t> </a:t>
            </a:r>
            <a:r>
              <a:rPr lang="fr-FR" dirty="0" err="1" smtClean="0"/>
              <a:t>methode</a:t>
            </a:r>
            <a:r>
              <a:rPr lang="fr-FR" dirty="0" smtClean="0"/>
              <a:t> invocation</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7</a:t>
            </a:fld>
            <a:endParaRPr lang="fr-B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8</a:t>
            </a:fld>
            <a:endParaRPr lang="fr-BE"/>
          </a:p>
        </p:txBody>
      </p:sp>
      <p:sp>
        <p:nvSpPr>
          <p:cNvPr id="4" name="Titre 3"/>
          <p:cNvSpPr>
            <a:spLocks noGrp="1"/>
          </p:cNvSpPr>
          <p:nvPr>
            <p:ph type="title"/>
          </p:nvPr>
        </p:nvSpPr>
        <p:spPr/>
        <p:txBody>
          <a:bodyPr/>
          <a:lstStyle/>
          <a:p>
            <a:r>
              <a:rPr lang="fr-FR" dirty="0" smtClean="0"/>
              <a:t>RIM</a:t>
            </a:r>
            <a:endParaRPr lang="fr-FR" dirty="0"/>
          </a:p>
        </p:txBody>
      </p:sp>
    </p:spTree>
    <p:extLst>
      <p:ext uri="{BB962C8B-B14F-4D97-AF65-F5344CB8AC3E}">
        <p14:creationId xmlns="" xmlns:p14="http://schemas.microsoft.com/office/powerpoint/2010/main" val="3746837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a:bodyPr>
          <a:lstStyle/>
          <a:p>
            <a:r>
              <a:rPr lang="fr-FR" dirty="0" smtClean="0"/>
              <a:t>permet d’appeler des méthodes d’un objet distant comme s’il était dans la même machine </a:t>
            </a:r>
            <a:r>
              <a:rPr lang="fr-FR" dirty="0" smtClean="0"/>
              <a:t>virtuelle.</a:t>
            </a:r>
            <a:endParaRPr lang="fr-FR" dirty="0" smtClean="0"/>
          </a:p>
          <a:p>
            <a:r>
              <a:rPr lang="fr-FR" dirty="0" smtClean="0"/>
              <a:t>Elle est utilisée en standard dans la plateforme JAVA depuis la version </a:t>
            </a:r>
            <a:r>
              <a:rPr lang="fr-FR" dirty="0" smtClean="0"/>
              <a:t>1.1</a:t>
            </a:r>
          </a:p>
          <a:p>
            <a:r>
              <a:rPr lang="fr-FR" dirty="0" smtClean="0"/>
              <a:t>Elle permet aux développeurs de se libérer des communications de la couche réseau </a:t>
            </a:r>
            <a:endParaRPr lang="fr-FR" dirty="0" smtClean="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9</a:t>
            </a:fld>
            <a:endParaRPr lang="fr-BE"/>
          </a:p>
        </p:txBody>
      </p:sp>
      <p:sp>
        <p:nvSpPr>
          <p:cNvPr id="4" name="Titre 3"/>
          <p:cNvSpPr>
            <a:spLocks noGrp="1"/>
          </p:cNvSpPr>
          <p:nvPr>
            <p:ph type="title"/>
          </p:nvPr>
        </p:nvSpPr>
        <p:spPr/>
        <p:txBody>
          <a:bodyPr/>
          <a:lstStyle/>
          <a:p>
            <a:r>
              <a:rPr lang="fr-FR" dirty="0" smtClean="0"/>
              <a:t>Définition </a:t>
            </a:r>
            <a:endParaRPr lang="fr-FR" dirty="0"/>
          </a:p>
        </p:txBody>
      </p:sp>
    </p:spTree>
    <p:extLst>
      <p:ext uri="{BB962C8B-B14F-4D97-AF65-F5344CB8AC3E}">
        <p14:creationId xmlns="" xmlns:p14="http://schemas.microsoft.com/office/powerpoint/2010/main" val="10248431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lstStyle/>
          <a:p>
            <a:pPr algn="ctr"/>
            <a:r>
              <a:rPr lang="fr-FR" dirty="0" smtClean="0"/>
              <a:t>RPC</a:t>
            </a:r>
            <a:endParaRPr lang="fr-FR" dirty="0"/>
          </a:p>
        </p:txBody>
      </p:sp>
      <p:sp>
        <p:nvSpPr>
          <p:cNvPr id="6" name="Sous-titre 5"/>
          <p:cNvSpPr>
            <a:spLocks noGrp="1"/>
          </p:cNvSpPr>
          <p:nvPr>
            <p:ph type="subTitle" idx="1"/>
          </p:nvPr>
        </p:nvSpPr>
        <p:spPr/>
        <p:txBody>
          <a:bodyPr/>
          <a:lstStyle/>
          <a:p>
            <a:pPr algn="ctr"/>
            <a:r>
              <a:rPr lang="fr-FR" dirty="0" err="1" smtClean="0"/>
              <a:t>Remote</a:t>
            </a:r>
            <a:r>
              <a:rPr lang="fr-FR" dirty="0" smtClean="0"/>
              <a:t> </a:t>
            </a:r>
            <a:r>
              <a:rPr lang="fr-FR" dirty="0" err="1" smtClean="0"/>
              <a:t>Procedure</a:t>
            </a:r>
            <a:r>
              <a:rPr lang="fr-FR" dirty="0" smtClean="0"/>
              <a:t> Call</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10</a:t>
            </a:fld>
            <a:endParaRPr lang="fr-B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11</a:t>
            </a:fld>
            <a:endParaRPr lang="fr-BE"/>
          </a:p>
        </p:txBody>
      </p:sp>
      <p:pic>
        <p:nvPicPr>
          <p:cNvPr id="1027" name="Picture 3"/>
          <p:cNvPicPr>
            <a:picLocks noGrp="1" noChangeAspect="1" noChangeArrowheads="1"/>
          </p:cNvPicPr>
          <p:nvPr>
            <p:ph idx="1"/>
          </p:nvPr>
        </p:nvPicPr>
        <p:blipFill>
          <a:blip r:embed="rId3"/>
          <a:srcRect l="18049" t="30402" r="9766" b="12769"/>
          <a:stretch>
            <a:fillRect/>
          </a:stretch>
        </p:blipFill>
        <p:spPr bwMode="auto">
          <a:xfrm>
            <a:off x="124323" y="500048"/>
            <a:ext cx="8876833" cy="3929090"/>
          </a:xfrm>
          <a:prstGeom prst="rect">
            <a:avLst/>
          </a:prstGeom>
          <a:noFill/>
          <a:ln w="9525">
            <a:noFill/>
            <a:miter lim="800000"/>
            <a:headEnd/>
            <a:tailEnd/>
          </a:ln>
          <a:effectLst/>
        </p:spPr>
      </p:pic>
    </p:spTree>
    <p:extLst>
      <p:ext uri="{BB962C8B-B14F-4D97-AF65-F5344CB8AC3E}">
        <p14:creationId xmlns="" xmlns:p14="http://schemas.microsoft.com/office/powerpoint/2010/main" val="31852610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20000"/>
          </a:bodyPr>
          <a:lstStyle/>
          <a:p>
            <a:r>
              <a:rPr lang="fr-FR" dirty="0" smtClean="0"/>
              <a:t>Le passage des paramètres par référence se fait par une technique de </a:t>
            </a:r>
            <a:r>
              <a:rPr lang="fr-FR" dirty="0" smtClean="0"/>
              <a:t>copie/restauration</a:t>
            </a:r>
          </a:p>
          <a:p>
            <a:r>
              <a:rPr lang="fr-FR" dirty="0" smtClean="0"/>
              <a:t>Le passage des structures complexes comme les arbres par références peut se faire en va-et-vient </a:t>
            </a:r>
            <a:endParaRPr lang="fr-FR" dirty="0" smtClean="0"/>
          </a:p>
          <a:p>
            <a:r>
              <a:rPr lang="fr-FR" dirty="0" smtClean="0"/>
              <a:t>coté client </a:t>
            </a:r>
            <a:r>
              <a:rPr lang="fr-FR" dirty="0" smtClean="0"/>
              <a:t>besoin d’une </a:t>
            </a:r>
            <a:r>
              <a:rPr lang="fr-FR" dirty="0" smtClean="0"/>
              <a:t>interface qui contient les entêtes des procédures à appeler. Dans la partie serveur, le programmeur doit implémenter cette </a:t>
            </a:r>
            <a:r>
              <a:rPr lang="fr-FR" dirty="0" smtClean="0"/>
              <a:t>interface</a:t>
            </a:r>
          </a:p>
          <a:p>
            <a:r>
              <a:rPr lang="fr-FR" dirty="0" smtClean="0"/>
              <a:t>RPC n'est pas forcément synchrone. Si on prend l'exemple de AJAX</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12</a:t>
            </a:fld>
            <a:endParaRPr lang="fr-BE"/>
          </a:p>
        </p:txBody>
      </p:sp>
      <p:sp>
        <p:nvSpPr>
          <p:cNvPr id="4" name="Titre 3"/>
          <p:cNvSpPr>
            <a:spLocks noGrp="1"/>
          </p:cNvSpPr>
          <p:nvPr>
            <p:ph type="title"/>
          </p:nvPr>
        </p:nvSpPr>
        <p:spPr/>
        <p:txBody>
          <a:bodyPr/>
          <a:lstStyle/>
          <a:p>
            <a:r>
              <a:rPr lang="fr-FR" dirty="0" smtClean="0"/>
              <a:t>Remarques</a:t>
            </a:r>
            <a:endParaRPr lang="fr-FR" dirty="0"/>
          </a:p>
        </p:txBody>
      </p:sp>
    </p:spTree>
    <p:extLst>
      <p:ext uri="{BB962C8B-B14F-4D97-AF65-F5344CB8AC3E}">
        <p14:creationId xmlns="" xmlns:p14="http://schemas.microsoft.com/office/powerpoint/2010/main" val="38381587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13</a:t>
            </a:fld>
            <a:endParaRPr lang="fr-BE"/>
          </a:p>
        </p:txBody>
      </p:sp>
      <p:sp>
        <p:nvSpPr>
          <p:cNvPr id="4" name="Titre 3"/>
          <p:cNvSpPr>
            <a:spLocks noGrp="1"/>
          </p:cNvSpPr>
          <p:nvPr>
            <p:ph type="title"/>
          </p:nvPr>
        </p:nvSpPr>
        <p:spPr/>
        <p:txBody>
          <a:bodyPr/>
          <a:lstStyle/>
          <a:p>
            <a:pPr algn="ctr"/>
            <a:r>
              <a:rPr lang="fr-FR" dirty="0" smtClean="0"/>
              <a:t>Architecture RMI </a:t>
            </a:r>
            <a:endParaRPr lang="fr-FR" dirty="0"/>
          </a:p>
        </p:txBody>
      </p:sp>
      <p:pic>
        <p:nvPicPr>
          <p:cNvPr id="2051" name="Picture 3"/>
          <p:cNvPicPr>
            <a:picLocks noGrp="1" noChangeAspect="1" noChangeArrowheads="1"/>
          </p:cNvPicPr>
          <p:nvPr>
            <p:ph idx="1"/>
          </p:nvPr>
        </p:nvPicPr>
        <p:blipFill>
          <a:blip r:embed="rId2"/>
          <a:srcRect l="3849" t="24088" r="22783" b="19083"/>
          <a:stretch>
            <a:fillRect/>
          </a:stretch>
        </p:blipFill>
        <p:spPr bwMode="auto">
          <a:xfrm>
            <a:off x="500034" y="1142991"/>
            <a:ext cx="8162450" cy="3554616"/>
          </a:xfrm>
          <a:prstGeom prst="rect">
            <a:avLst/>
          </a:prstGeom>
          <a:noFill/>
          <a:ln w="9525">
            <a:noFill/>
            <a:miter lim="800000"/>
            <a:headEnd/>
            <a:tailEnd/>
          </a:ln>
          <a:effectLst/>
        </p:spPr>
      </p:pic>
    </p:spTree>
    <p:extLst>
      <p:ext uri="{BB962C8B-B14F-4D97-AF65-F5344CB8AC3E}">
        <p14:creationId xmlns="" xmlns:p14="http://schemas.microsoft.com/office/powerpoint/2010/main" val="4648573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dirty="0" smtClean="0"/>
              <a:t>La définition formulée par le </a:t>
            </a:r>
            <a:r>
              <a:rPr lang="fr-FR" dirty="0"/>
              <a:t>NIST (</a:t>
            </a:r>
            <a:r>
              <a:rPr lang="fr-FR" dirty="0" smtClean="0"/>
              <a:t>National </a:t>
            </a:r>
            <a:r>
              <a:rPr lang="en-US" dirty="0"/>
              <a:t>Institute </a:t>
            </a:r>
            <a:r>
              <a:rPr lang="en-US" dirty="0" smtClean="0"/>
              <a:t>of Standards </a:t>
            </a:r>
            <a:r>
              <a:rPr lang="en-US" dirty="0"/>
              <a:t>and </a:t>
            </a:r>
            <a:r>
              <a:rPr lang="en-US" dirty="0" smtClean="0"/>
              <a:t>Technology):</a:t>
            </a:r>
          </a:p>
          <a:p>
            <a:pPr marL="0" indent="0">
              <a:buNone/>
            </a:pPr>
            <a:endParaRPr lang="fr-FR" dirty="0" smtClean="0"/>
          </a:p>
          <a:p>
            <a:pPr marL="0" indent="0">
              <a:buNone/>
            </a:pPr>
            <a:r>
              <a:rPr lang="fr-FR" dirty="0" smtClean="0"/>
              <a:t>« Le </a:t>
            </a:r>
            <a:r>
              <a:rPr lang="fr-FR" dirty="0"/>
              <a:t>Cloud </a:t>
            </a:r>
            <a:r>
              <a:rPr lang="fr-FR" dirty="0" err="1" smtClean="0"/>
              <a:t>Computing</a:t>
            </a:r>
            <a:r>
              <a:rPr lang="fr-FR" dirty="0" smtClean="0"/>
              <a:t> </a:t>
            </a:r>
            <a:r>
              <a:rPr lang="fr-FR" dirty="0"/>
              <a:t>est un modèle qui permet </a:t>
            </a:r>
            <a:r>
              <a:rPr lang="fr-FR" dirty="0" smtClean="0"/>
              <a:t>un accès omniprésent</a:t>
            </a:r>
            <a:r>
              <a:rPr lang="fr-FR" dirty="0"/>
              <a:t>, pratique et à la demande </a:t>
            </a:r>
            <a:r>
              <a:rPr lang="fr-FR" dirty="0" smtClean="0"/>
              <a:t>par </a:t>
            </a:r>
            <a:r>
              <a:rPr lang="fr-FR" dirty="0"/>
              <a:t>un </a:t>
            </a:r>
            <a:r>
              <a:rPr lang="fr-FR" dirty="0" smtClean="0"/>
              <a:t>réseau </a:t>
            </a:r>
            <a:r>
              <a:rPr lang="fr-FR" dirty="0"/>
              <a:t>partagé </a:t>
            </a:r>
            <a:r>
              <a:rPr lang="fr-FR" dirty="0" smtClean="0"/>
              <a:t> à </a:t>
            </a:r>
            <a:r>
              <a:rPr lang="fr-FR" dirty="0"/>
              <a:t>un ensemble de ressources </a:t>
            </a:r>
            <a:r>
              <a:rPr lang="fr-FR" dirty="0" smtClean="0"/>
              <a:t>informatiques configurables</a:t>
            </a:r>
            <a:r>
              <a:rPr lang="fr-FR" dirty="0"/>
              <a:t>. </a:t>
            </a:r>
            <a:r>
              <a:rPr lang="fr-FR" dirty="0" smtClean="0"/>
              <a:t>Ce </a:t>
            </a:r>
            <a:r>
              <a:rPr lang="fr-FR" dirty="0"/>
              <a:t>modèle est composé de 3 modèles </a:t>
            </a:r>
            <a:r>
              <a:rPr lang="fr-FR" dirty="0" smtClean="0"/>
              <a:t>de services et </a:t>
            </a:r>
            <a:r>
              <a:rPr lang="fr-FR" dirty="0"/>
              <a:t>de 4 modèles de déploiement</a:t>
            </a:r>
            <a:r>
              <a:rPr lang="fr-FR" dirty="0" smtClean="0"/>
              <a:t>. »</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14</a:t>
            </a:fld>
            <a:endParaRPr lang="fr-BE"/>
          </a:p>
        </p:txBody>
      </p:sp>
      <p:sp>
        <p:nvSpPr>
          <p:cNvPr id="4" name="Titre 3"/>
          <p:cNvSpPr>
            <a:spLocks noGrp="1"/>
          </p:cNvSpPr>
          <p:nvPr>
            <p:ph type="title"/>
          </p:nvPr>
        </p:nvSpPr>
        <p:spPr/>
        <p:txBody>
          <a:bodyPr/>
          <a:lstStyle/>
          <a:p>
            <a:r>
              <a:rPr lang="fr-FR" dirty="0" smtClean="0"/>
              <a:t>Cloud </a:t>
            </a:r>
            <a:r>
              <a:rPr lang="fr-FR" dirty="0" err="1" smtClean="0"/>
              <a:t>Computing</a:t>
            </a:r>
            <a:endParaRPr lang="fr-FR" dirty="0"/>
          </a:p>
        </p:txBody>
      </p:sp>
    </p:spTree>
    <p:extLst>
      <p:ext uri="{BB962C8B-B14F-4D97-AF65-F5344CB8AC3E}">
        <p14:creationId xmlns="" xmlns:p14="http://schemas.microsoft.com/office/powerpoint/2010/main" val="18111650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a:xfrm>
            <a:off x="685800" y="928677"/>
            <a:ext cx="7772400" cy="3000395"/>
          </a:xfrm>
        </p:spPr>
        <p:txBody>
          <a:bodyPr>
            <a:normAutofit fontScale="90000"/>
          </a:bodyPr>
          <a:lstStyle/>
          <a:p>
            <a:pPr algn="ctr"/>
            <a:r>
              <a:rPr lang="fr-FR" dirty="0" smtClean="0"/>
              <a:t>Mécanisme de téléchargement  des définitions des classes distantes </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15</a:t>
            </a:fld>
            <a:endParaRPr lang="fr-B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16</a:t>
            </a:fld>
            <a:endParaRPr lang="fr-BE"/>
          </a:p>
        </p:txBody>
      </p:sp>
      <p:pic>
        <p:nvPicPr>
          <p:cNvPr id="3074" name="Picture 2"/>
          <p:cNvPicPr>
            <a:picLocks noGrp="1" noChangeAspect="1" noChangeArrowheads="1"/>
          </p:cNvPicPr>
          <p:nvPr>
            <p:ph idx="1"/>
          </p:nvPr>
        </p:nvPicPr>
        <p:blipFill>
          <a:blip r:embed="rId3"/>
          <a:srcRect l="6216" t="24088" r="23966" b="23293"/>
          <a:stretch>
            <a:fillRect/>
          </a:stretch>
        </p:blipFill>
        <p:spPr bwMode="auto">
          <a:xfrm>
            <a:off x="500034" y="857238"/>
            <a:ext cx="8092496" cy="3429024"/>
          </a:xfrm>
          <a:prstGeom prst="rect">
            <a:avLst/>
          </a:prstGeom>
          <a:noFill/>
          <a:ln w="9525">
            <a:noFill/>
            <a:miter lim="800000"/>
            <a:headEnd/>
            <a:tailEnd/>
          </a:ln>
          <a:effectLst/>
        </p:spPr>
      </p:pic>
    </p:spTree>
    <p:extLst>
      <p:ext uri="{BB962C8B-B14F-4D97-AF65-F5344CB8AC3E}">
        <p14:creationId xmlns="" xmlns:p14="http://schemas.microsoft.com/office/powerpoint/2010/main" val="20013374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dirty="0" smtClean="0"/>
              <a:t>consiste a ne référencer un objet que a la réception d’une requête, puisque les références de ces objets par fois  peuvent attendre un millier voir même millions de référence</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17</a:t>
            </a:fld>
            <a:endParaRPr lang="fr-BE"/>
          </a:p>
        </p:txBody>
      </p:sp>
      <p:sp>
        <p:nvSpPr>
          <p:cNvPr id="4" name="Titre 3"/>
          <p:cNvSpPr>
            <a:spLocks noGrp="1"/>
          </p:cNvSpPr>
          <p:nvPr>
            <p:ph type="title"/>
          </p:nvPr>
        </p:nvSpPr>
        <p:spPr/>
        <p:txBody>
          <a:bodyPr>
            <a:normAutofit fontScale="90000"/>
          </a:bodyPr>
          <a:lstStyle/>
          <a:p>
            <a:r>
              <a:rPr lang="fr-FR" dirty="0" smtClean="0"/>
              <a:t>Le mécanisme d’activation des objets distants </a:t>
            </a:r>
            <a:endParaRPr lang="fr-F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dirty="0" smtClean="0"/>
              <a:t>Le gestionnaire de sécurité Java est une API qui peut être utilisée dans le cas de tentative d’accès au poste par des machines distantes, elle donne l main au administrateur de système  de donner les privilèges d’accéder au ressources de la machine a distance sans écrire de code </a:t>
            </a:r>
            <a:r>
              <a:rPr lang="fr-FR" dirty="0" smtClean="0"/>
              <a:t>supplémentaire.</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18</a:t>
            </a:fld>
            <a:endParaRPr lang="fr-BE"/>
          </a:p>
        </p:txBody>
      </p:sp>
      <p:sp>
        <p:nvSpPr>
          <p:cNvPr id="4" name="Titre 3"/>
          <p:cNvSpPr>
            <a:spLocks noGrp="1"/>
          </p:cNvSpPr>
          <p:nvPr>
            <p:ph type="title"/>
          </p:nvPr>
        </p:nvSpPr>
        <p:spPr/>
        <p:txBody>
          <a:bodyPr/>
          <a:lstStyle/>
          <a:p>
            <a:r>
              <a:rPr lang="fr-FR" dirty="0" smtClean="0"/>
              <a:t>Gestionnaire de sécurité java</a:t>
            </a:r>
            <a:endParaRPr lang="fr-F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20000"/>
          </a:bodyPr>
          <a:lstStyle/>
          <a:p>
            <a:r>
              <a:rPr lang="fr-FR" dirty="0" smtClean="0"/>
              <a:t>Le mécanisme </a:t>
            </a:r>
            <a:r>
              <a:rPr lang="fr-FR" dirty="0" err="1" smtClean="0"/>
              <a:t>Garbage</a:t>
            </a:r>
            <a:r>
              <a:rPr lang="fr-FR" dirty="0" smtClean="0"/>
              <a:t> </a:t>
            </a:r>
            <a:r>
              <a:rPr lang="fr-FR" dirty="0" err="1" smtClean="0"/>
              <a:t>collector</a:t>
            </a:r>
            <a:r>
              <a:rPr lang="fr-FR" dirty="0" smtClean="0"/>
              <a:t> distribué de Java utilise une technique de nombre de références pour chaque objet distant. Ce nombre est incrémenté chaque fois que il y a référencement par un client, ce client envoi un message indiquant que l’objet distant est référencé. Le nombre est décrémentée chaque fois que cette référence est libérée par le client. Dans ce cas, la machine virtuelle a le droit de récupérer cet objet s’il n ya pas une référence local de cet objet</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19</a:t>
            </a:fld>
            <a:endParaRPr lang="fr-BE"/>
          </a:p>
        </p:txBody>
      </p:sp>
      <p:sp>
        <p:nvSpPr>
          <p:cNvPr id="4" name="Titre 3"/>
          <p:cNvSpPr>
            <a:spLocks noGrp="1"/>
          </p:cNvSpPr>
          <p:nvPr>
            <p:ph type="title"/>
          </p:nvPr>
        </p:nvSpPr>
        <p:spPr/>
        <p:txBody>
          <a:bodyPr/>
          <a:lstStyle/>
          <a:p>
            <a:r>
              <a:rPr lang="fr-FR" dirty="0" err="1" smtClean="0"/>
              <a:t>Garbage</a:t>
            </a:r>
            <a:r>
              <a:rPr lang="fr-FR" dirty="0" smtClean="0"/>
              <a:t> </a:t>
            </a:r>
            <a:r>
              <a:rPr lang="fr-FR" dirty="0" err="1" smtClean="0"/>
              <a:t>collector</a:t>
            </a:r>
            <a:r>
              <a:rPr lang="fr-FR" dirty="0" smtClean="0"/>
              <a:t> distribué</a:t>
            </a:r>
            <a:endParaRPr lang="fr-F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p:txBody>
          <a:bodyPr/>
          <a:lstStyle/>
          <a:p>
            <a:r>
              <a:rPr lang="fr-FR" dirty="0" smtClean="0"/>
              <a:t>RMI en pratique</a:t>
            </a:r>
            <a:endParaRPr lang="fr-FR" dirty="0"/>
          </a:p>
        </p:txBody>
      </p:sp>
      <p:sp>
        <p:nvSpPr>
          <p:cNvPr id="5" name="Sous-titre 4"/>
          <p:cNvSpPr>
            <a:spLocks noGrp="1"/>
          </p:cNvSpPr>
          <p:nvPr>
            <p:ph type="subTitle" idx="1"/>
          </p:nvPr>
        </p:nvSpPr>
        <p:spPr/>
        <p:txBody>
          <a:bodyPr/>
          <a:lstStyle/>
          <a:p>
            <a:endParaRPr lang="fr-FR"/>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20</a:t>
            </a:fld>
            <a:endParaRPr lang="fr-B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p:cNvSpPr>
            <a:spLocks noGrp="1"/>
          </p:cNvSpPr>
          <p:nvPr>
            <p:ph idx="1"/>
          </p:nvPr>
        </p:nvSpPr>
        <p:spPr/>
        <p:txBody>
          <a:bodyPr>
            <a:normAutofit fontScale="77500" lnSpcReduction="20000"/>
          </a:bodyPr>
          <a:lstStyle/>
          <a:p>
            <a:r>
              <a:rPr lang="fr-FR" dirty="0" smtClean="0"/>
              <a:t>public class </a:t>
            </a:r>
            <a:r>
              <a:rPr lang="fr-FR" dirty="0" err="1" smtClean="0"/>
              <a:t>nomObjetDestant</a:t>
            </a:r>
            <a:r>
              <a:rPr lang="fr-FR" dirty="0" smtClean="0"/>
              <a:t> </a:t>
            </a:r>
            <a:r>
              <a:rPr lang="fr-FR" dirty="0" err="1" smtClean="0"/>
              <a:t>implements</a:t>
            </a:r>
            <a:r>
              <a:rPr lang="fr-FR" dirty="0" smtClean="0"/>
              <a:t> </a:t>
            </a:r>
            <a:r>
              <a:rPr lang="fr-FR" dirty="0" err="1" smtClean="0"/>
              <a:t>NomInterface</a:t>
            </a:r>
            <a:r>
              <a:rPr lang="fr-FR" dirty="0" smtClean="0"/>
              <a:t> </a:t>
            </a:r>
            <a:endParaRPr lang="fr-FR" dirty="0" smtClean="0"/>
          </a:p>
          <a:p>
            <a:r>
              <a:rPr lang="fr-FR" dirty="0" smtClean="0"/>
              <a:t>{</a:t>
            </a:r>
            <a:r>
              <a:rPr lang="fr-FR" dirty="0" smtClean="0"/>
              <a:t>	</a:t>
            </a:r>
            <a:endParaRPr lang="fr-FR" dirty="0" smtClean="0"/>
          </a:p>
          <a:p>
            <a:r>
              <a:rPr lang="fr-FR" dirty="0" smtClean="0"/>
              <a:t>Public </a:t>
            </a:r>
            <a:r>
              <a:rPr lang="fr-FR" dirty="0" err="1" smtClean="0"/>
              <a:t>nomObjetDestant</a:t>
            </a:r>
            <a:r>
              <a:rPr lang="fr-FR" dirty="0" smtClean="0"/>
              <a:t> </a:t>
            </a:r>
            <a:r>
              <a:rPr lang="fr-FR" dirty="0" smtClean="0"/>
              <a:t>() {		</a:t>
            </a:r>
            <a:endParaRPr lang="fr-FR" dirty="0" smtClean="0"/>
          </a:p>
          <a:p>
            <a:r>
              <a:rPr lang="fr-FR" dirty="0" smtClean="0"/>
              <a:t>super</a:t>
            </a:r>
            <a:r>
              <a:rPr lang="fr-FR" dirty="0" smtClean="0"/>
              <a:t>();    	</a:t>
            </a:r>
            <a:endParaRPr lang="fr-FR" dirty="0" smtClean="0"/>
          </a:p>
          <a:p>
            <a:r>
              <a:rPr lang="fr-FR" dirty="0" smtClean="0"/>
              <a:t>}</a:t>
            </a:r>
            <a:r>
              <a:rPr lang="fr-FR" dirty="0" smtClean="0"/>
              <a:t>	</a:t>
            </a:r>
            <a:endParaRPr lang="fr-FR" dirty="0" smtClean="0"/>
          </a:p>
          <a:p>
            <a:r>
              <a:rPr lang="fr-FR" dirty="0" smtClean="0"/>
              <a:t>Public </a:t>
            </a:r>
            <a:r>
              <a:rPr lang="fr-FR" dirty="0" err="1" smtClean="0"/>
              <a:t>TypedeRetour</a:t>
            </a:r>
            <a:r>
              <a:rPr lang="fr-FR" dirty="0" smtClean="0"/>
              <a:t> </a:t>
            </a:r>
            <a:r>
              <a:rPr lang="fr-FR" dirty="0" err="1" smtClean="0"/>
              <a:t>execute</a:t>
            </a:r>
            <a:r>
              <a:rPr lang="fr-FR" dirty="0" smtClean="0"/>
              <a:t> </a:t>
            </a:r>
            <a:r>
              <a:rPr lang="fr-FR" dirty="0" err="1" smtClean="0"/>
              <a:t>Task</a:t>
            </a:r>
            <a:r>
              <a:rPr lang="fr-FR" dirty="0" smtClean="0"/>
              <a:t>(</a:t>
            </a:r>
            <a:r>
              <a:rPr lang="fr-FR" dirty="0" err="1" smtClean="0"/>
              <a:t>TypeParametre</a:t>
            </a:r>
            <a:r>
              <a:rPr lang="fr-FR" dirty="0" smtClean="0"/>
              <a:t> </a:t>
            </a:r>
            <a:r>
              <a:rPr lang="fr-FR" dirty="0" smtClean="0"/>
              <a:t>t) {		</a:t>
            </a:r>
            <a:endParaRPr lang="fr-FR" dirty="0" smtClean="0"/>
          </a:p>
          <a:p>
            <a:r>
              <a:rPr lang="fr-FR" dirty="0" smtClean="0"/>
              <a:t>// </a:t>
            </a:r>
            <a:r>
              <a:rPr lang="fr-FR" dirty="0" smtClean="0"/>
              <a:t>Traitement a faire    	</a:t>
            </a:r>
            <a:endParaRPr lang="fr-FR" dirty="0" smtClean="0"/>
          </a:p>
          <a:p>
            <a:r>
              <a:rPr lang="fr-FR" dirty="0" smtClean="0"/>
              <a:t>}</a:t>
            </a:r>
          </a:p>
          <a:p>
            <a:r>
              <a:rPr lang="fr-FR" dirty="0" smtClean="0"/>
              <a:t>}</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21</a:t>
            </a:fld>
            <a:endParaRPr lang="fr-BE"/>
          </a:p>
        </p:txBody>
      </p:sp>
      <p:sp>
        <p:nvSpPr>
          <p:cNvPr id="4" name="Titre 3"/>
          <p:cNvSpPr>
            <a:spLocks noGrp="1"/>
          </p:cNvSpPr>
          <p:nvPr>
            <p:ph type="title"/>
          </p:nvPr>
        </p:nvSpPr>
        <p:spPr/>
        <p:txBody>
          <a:bodyPr/>
          <a:lstStyle/>
          <a:p>
            <a:r>
              <a:rPr lang="fr-FR" dirty="0" smtClean="0"/>
              <a:t>Objet </a:t>
            </a:r>
            <a:r>
              <a:rPr lang="fr-FR" dirty="0" err="1" smtClean="0"/>
              <a:t>destant</a:t>
            </a:r>
            <a:r>
              <a:rPr lang="fr-FR" dirty="0" smtClean="0"/>
              <a:t> </a:t>
            </a:r>
            <a:endParaRPr lang="fr-FR" dirty="0"/>
          </a:p>
        </p:txBody>
      </p:sp>
    </p:spTree>
    <p:extLst>
      <p:ext uri="{BB962C8B-B14F-4D97-AF65-F5344CB8AC3E}">
        <p14:creationId xmlns="" xmlns:p14="http://schemas.microsoft.com/office/powerpoint/2010/main" val="37688286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a:xfrm>
            <a:off x="457200" y="1110996"/>
            <a:ext cx="8229600" cy="3818207"/>
          </a:xfrm>
        </p:spPr>
        <p:txBody>
          <a:bodyPr>
            <a:normAutofit fontScale="55000" lnSpcReduction="20000"/>
          </a:bodyPr>
          <a:lstStyle/>
          <a:p>
            <a:pPr>
              <a:buNone/>
            </a:pPr>
            <a:r>
              <a:rPr lang="fr-FR" dirty="0" smtClean="0"/>
              <a:t>public class Lanceur </a:t>
            </a:r>
            <a:endParaRPr lang="fr-FR" dirty="0" smtClean="0"/>
          </a:p>
          <a:p>
            <a:pPr>
              <a:buNone/>
            </a:pPr>
            <a:r>
              <a:rPr lang="fr-FR" dirty="0" smtClean="0"/>
              <a:t>{</a:t>
            </a:r>
          </a:p>
          <a:p>
            <a:pPr>
              <a:buNone/>
            </a:pPr>
            <a:r>
              <a:rPr lang="fr-FR" dirty="0" smtClean="0"/>
              <a:t>public </a:t>
            </a:r>
            <a:r>
              <a:rPr lang="fr-FR" dirty="0" err="1" smtClean="0"/>
              <a:t>static</a:t>
            </a:r>
            <a:r>
              <a:rPr lang="fr-FR" dirty="0" smtClean="0"/>
              <a:t> </a:t>
            </a:r>
            <a:r>
              <a:rPr lang="fr-FR" dirty="0" err="1" smtClean="0"/>
              <a:t>void</a:t>
            </a:r>
            <a:r>
              <a:rPr lang="fr-FR" dirty="0" smtClean="0"/>
              <a:t> main(String[] </a:t>
            </a:r>
            <a:r>
              <a:rPr lang="fr-FR" dirty="0" err="1" smtClean="0"/>
              <a:t>args</a:t>
            </a:r>
            <a:r>
              <a:rPr lang="fr-FR" dirty="0" smtClean="0"/>
              <a:t>) </a:t>
            </a:r>
            <a:r>
              <a:rPr lang="fr-FR" dirty="0" smtClean="0"/>
              <a:t>{</a:t>
            </a:r>
          </a:p>
          <a:p>
            <a:pPr>
              <a:buNone/>
            </a:pPr>
            <a:r>
              <a:rPr lang="fr-FR" dirty="0" smtClean="0"/>
              <a:t>if </a:t>
            </a:r>
            <a:r>
              <a:rPr lang="fr-FR" dirty="0" smtClean="0"/>
              <a:t>(</a:t>
            </a:r>
            <a:r>
              <a:rPr lang="fr-FR" dirty="0" err="1" smtClean="0"/>
              <a:t>System.getSecurityManager</a:t>
            </a:r>
            <a:r>
              <a:rPr lang="fr-FR" dirty="0" smtClean="0"/>
              <a:t>() == </a:t>
            </a:r>
            <a:r>
              <a:rPr lang="fr-FR" dirty="0" err="1" smtClean="0"/>
              <a:t>null</a:t>
            </a:r>
            <a:r>
              <a:rPr lang="fr-FR" dirty="0" smtClean="0"/>
              <a:t>) {	</a:t>
            </a:r>
            <a:r>
              <a:rPr lang="fr-FR" dirty="0" err="1" smtClean="0"/>
              <a:t>System.setSecurityManager</a:t>
            </a:r>
            <a:r>
              <a:rPr lang="fr-FR" dirty="0" smtClean="0"/>
              <a:t>(new </a:t>
            </a:r>
            <a:r>
              <a:rPr lang="fr-FR" dirty="0" err="1" smtClean="0"/>
              <a:t>SecurityManager</a:t>
            </a:r>
            <a:r>
              <a:rPr lang="fr-FR" dirty="0" smtClean="0"/>
              <a:t>());</a:t>
            </a:r>
          </a:p>
          <a:p>
            <a:pPr>
              <a:buNone/>
            </a:pPr>
            <a:r>
              <a:rPr lang="fr-FR" dirty="0" smtClean="0"/>
              <a:t>}</a:t>
            </a:r>
          </a:p>
          <a:p>
            <a:pPr>
              <a:buNone/>
            </a:pPr>
            <a:r>
              <a:rPr lang="fr-FR" dirty="0" err="1" smtClean="0"/>
              <a:t>try</a:t>
            </a:r>
            <a:r>
              <a:rPr lang="fr-FR" dirty="0" smtClean="0"/>
              <a:t> {</a:t>
            </a:r>
          </a:p>
          <a:p>
            <a:pPr lvl="1">
              <a:buNone/>
            </a:pPr>
            <a:r>
              <a:rPr lang="fr-FR" dirty="0" err="1" smtClean="0"/>
              <a:t>nomInterfacenomObjet</a:t>
            </a:r>
            <a:r>
              <a:rPr lang="fr-FR" dirty="0" smtClean="0"/>
              <a:t> </a:t>
            </a:r>
            <a:r>
              <a:rPr lang="fr-FR" dirty="0" smtClean="0"/>
              <a:t>= new </a:t>
            </a:r>
            <a:r>
              <a:rPr lang="fr-FR" dirty="0" err="1" smtClean="0"/>
              <a:t>nomObjetDestant</a:t>
            </a:r>
            <a:r>
              <a:rPr lang="fr-FR" dirty="0" smtClean="0"/>
              <a:t>();</a:t>
            </a:r>
          </a:p>
          <a:p>
            <a:pPr lvl="1">
              <a:buNone/>
            </a:pPr>
            <a:r>
              <a:rPr lang="fr-FR" dirty="0" err="1" smtClean="0"/>
              <a:t>nomInterface</a:t>
            </a:r>
            <a:r>
              <a:rPr lang="fr-FR" dirty="0" smtClean="0"/>
              <a:t> </a:t>
            </a:r>
            <a:r>
              <a:rPr lang="fr-FR" dirty="0" smtClean="0"/>
              <a:t>stub =(</a:t>
            </a:r>
            <a:r>
              <a:rPr lang="fr-FR" dirty="0" err="1" smtClean="0"/>
              <a:t>nomInterface</a:t>
            </a:r>
            <a:r>
              <a:rPr lang="fr-FR" dirty="0" smtClean="0"/>
              <a:t>) </a:t>
            </a:r>
            <a:r>
              <a:rPr lang="fr-FR" dirty="0" err="1" smtClean="0"/>
              <a:t>UnicastRemoteObject.exportObject</a:t>
            </a:r>
            <a:r>
              <a:rPr lang="fr-FR" dirty="0" smtClean="0"/>
              <a:t>(</a:t>
            </a:r>
            <a:r>
              <a:rPr lang="fr-FR" dirty="0" err="1" smtClean="0"/>
              <a:t>nomObjet</a:t>
            </a:r>
            <a:r>
              <a:rPr lang="fr-FR" dirty="0" smtClean="0"/>
              <a:t>, 0</a:t>
            </a:r>
            <a:r>
              <a:rPr lang="fr-FR" dirty="0" smtClean="0"/>
              <a:t>);</a:t>
            </a:r>
          </a:p>
          <a:p>
            <a:pPr lvl="1">
              <a:buNone/>
            </a:pPr>
            <a:r>
              <a:rPr lang="fr-FR" dirty="0" err="1" smtClean="0"/>
              <a:t>Registry</a:t>
            </a:r>
            <a:r>
              <a:rPr lang="fr-FR" dirty="0" smtClean="0"/>
              <a:t> </a:t>
            </a:r>
            <a:r>
              <a:rPr lang="fr-FR" dirty="0" err="1" smtClean="0"/>
              <a:t>registry</a:t>
            </a:r>
            <a:r>
              <a:rPr lang="fr-FR" dirty="0" smtClean="0"/>
              <a:t> = </a:t>
            </a:r>
            <a:r>
              <a:rPr lang="fr-FR" dirty="0" err="1" smtClean="0"/>
              <a:t>LocateRegistry.getRegistry</a:t>
            </a:r>
            <a:r>
              <a:rPr lang="fr-FR" dirty="0" smtClean="0"/>
              <a:t>();</a:t>
            </a:r>
          </a:p>
          <a:p>
            <a:pPr lvl="1">
              <a:buNone/>
            </a:pPr>
            <a:r>
              <a:rPr lang="fr-FR" dirty="0" err="1" smtClean="0"/>
              <a:t>registry.rebind</a:t>
            </a:r>
            <a:r>
              <a:rPr lang="fr-FR" dirty="0" smtClean="0"/>
              <a:t>("</a:t>
            </a:r>
            <a:r>
              <a:rPr lang="fr-FR" dirty="0" err="1" smtClean="0"/>
              <a:t>nomSercvice</a:t>
            </a:r>
            <a:r>
              <a:rPr lang="fr-FR" dirty="0" smtClean="0"/>
              <a:t>", stub</a:t>
            </a:r>
            <a:r>
              <a:rPr lang="fr-FR" dirty="0" smtClean="0"/>
              <a:t>);</a:t>
            </a:r>
          </a:p>
          <a:p>
            <a:pPr>
              <a:buNone/>
            </a:pPr>
            <a:r>
              <a:rPr lang="fr-FR" dirty="0" smtClean="0"/>
              <a:t>} </a:t>
            </a:r>
            <a:r>
              <a:rPr lang="fr-FR" dirty="0" smtClean="0"/>
              <a:t>catch (Exception e) </a:t>
            </a:r>
            <a:r>
              <a:rPr lang="fr-FR" dirty="0" smtClean="0"/>
              <a:t>{</a:t>
            </a:r>
          </a:p>
          <a:p>
            <a:pPr lvl="1">
              <a:buNone/>
            </a:pPr>
            <a:r>
              <a:rPr lang="fr-FR" dirty="0" smtClean="0"/>
              <a:t>System.err.println</a:t>
            </a:r>
            <a:r>
              <a:rPr lang="fr-FR" dirty="0" smtClean="0"/>
              <a:t>("</a:t>
            </a:r>
            <a:r>
              <a:rPr lang="fr-FR" dirty="0" err="1" smtClean="0"/>
              <a:t>ComputeEngine</a:t>
            </a:r>
            <a:r>
              <a:rPr lang="fr-FR" dirty="0" smtClean="0"/>
              <a:t> exception</a:t>
            </a:r>
            <a:r>
              <a:rPr lang="fr-FR" dirty="0" smtClean="0"/>
              <a:t>:");</a:t>
            </a:r>
          </a:p>
          <a:p>
            <a:pPr lvl="1">
              <a:buNone/>
            </a:pPr>
            <a:r>
              <a:rPr lang="fr-FR" dirty="0" err="1" smtClean="0"/>
              <a:t>e.printStackTrace</a:t>
            </a:r>
            <a:r>
              <a:rPr lang="fr-FR" dirty="0" smtClean="0"/>
              <a:t>();</a:t>
            </a:r>
          </a:p>
          <a:p>
            <a:pPr>
              <a:buNone/>
            </a:pPr>
            <a:r>
              <a:rPr lang="fr-FR" dirty="0" smtClean="0"/>
              <a:t>}</a:t>
            </a:r>
          </a:p>
          <a:p>
            <a:pPr>
              <a:buNone/>
            </a:pPr>
            <a:r>
              <a:rPr lang="fr-FR" dirty="0" smtClean="0"/>
              <a:t>}</a:t>
            </a:r>
          </a:p>
          <a:p>
            <a:pPr>
              <a:buNone/>
            </a:pPr>
            <a:r>
              <a:rPr lang="fr-FR" dirty="0" smtClean="0"/>
              <a:t>}</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22</a:t>
            </a:fld>
            <a:endParaRPr lang="fr-BE"/>
          </a:p>
        </p:txBody>
      </p:sp>
      <p:sp>
        <p:nvSpPr>
          <p:cNvPr id="4" name="Titre 3"/>
          <p:cNvSpPr>
            <a:spLocks noGrp="1"/>
          </p:cNvSpPr>
          <p:nvPr>
            <p:ph type="title"/>
          </p:nvPr>
        </p:nvSpPr>
        <p:spPr/>
        <p:txBody>
          <a:bodyPr>
            <a:normAutofit/>
          </a:bodyPr>
          <a:lstStyle/>
          <a:p>
            <a:r>
              <a:rPr lang="fr-FR" dirty="0" smtClean="0"/>
              <a:t>Lancer le serveur</a:t>
            </a:r>
            <a:endParaRPr lang="fr-FR" dirty="0"/>
          </a:p>
        </p:txBody>
      </p:sp>
    </p:spTree>
    <p:extLst>
      <p:ext uri="{BB962C8B-B14F-4D97-AF65-F5344CB8AC3E}">
        <p14:creationId xmlns="" xmlns:p14="http://schemas.microsoft.com/office/powerpoint/2010/main" val="22130108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p:cNvSpPr>
            <a:spLocks noGrp="1"/>
          </p:cNvSpPr>
          <p:nvPr>
            <p:ph type="sldNum" sz="quarter" idx="12"/>
          </p:nvPr>
        </p:nvSpPr>
        <p:spPr/>
        <p:txBody>
          <a:bodyPr/>
          <a:lstStyle/>
          <a:p>
            <a:fld id="{CF4668DC-857F-487D-BFFA-8C0CA5037977}" type="slidenum">
              <a:rPr lang="fr-BE" smtClean="0"/>
              <a:pPr/>
              <a:t>23</a:t>
            </a:fld>
            <a:endParaRPr lang="fr-BE"/>
          </a:p>
        </p:txBody>
      </p:sp>
      <p:sp>
        <p:nvSpPr>
          <p:cNvPr id="4" name="Titre 3"/>
          <p:cNvSpPr>
            <a:spLocks noGrp="1"/>
          </p:cNvSpPr>
          <p:nvPr>
            <p:ph type="title"/>
          </p:nvPr>
        </p:nvSpPr>
        <p:spPr/>
        <p:txBody>
          <a:bodyPr/>
          <a:lstStyle/>
          <a:p>
            <a:r>
              <a:rPr lang="fr-FR" dirty="0" smtClean="0"/>
              <a:t>Création de client</a:t>
            </a:r>
            <a:endParaRPr lang="fr-FR" dirty="0"/>
          </a:p>
        </p:txBody>
      </p:sp>
      <p:sp>
        <p:nvSpPr>
          <p:cNvPr id="15" name="Espace réservé du contenu 14"/>
          <p:cNvSpPr>
            <a:spLocks noGrp="1"/>
          </p:cNvSpPr>
          <p:nvPr>
            <p:ph idx="1"/>
          </p:nvPr>
        </p:nvSpPr>
        <p:spPr>
          <a:xfrm>
            <a:off x="457200" y="1110996"/>
            <a:ext cx="8229600" cy="3746770"/>
          </a:xfrm>
        </p:spPr>
        <p:txBody>
          <a:bodyPr>
            <a:noAutofit/>
          </a:bodyPr>
          <a:lstStyle/>
          <a:p>
            <a:pPr>
              <a:buNone/>
            </a:pPr>
            <a:r>
              <a:rPr lang="fr-FR" sz="1400" dirty="0" smtClean="0"/>
              <a:t>public class </a:t>
            </a:r>
            <a:r>
              <a:rPr lang="fr-FR" sz="1400" dirty="0" err="1" smtClean="0"/>
              <a:t>ComputePi</a:t>
            </a:r>
            <a:r>
              <a:rPr lang="fr-FR" sz="1400" dirty="0" smtClean="0"/>
              <a:t> </a:t>
            </a:r>
            <a:r>
              <a:rPr lang="fr-FR" sz="1400" dirty="0" smtClean="0"/>
              <a:t>{</a:t>
            </a:r>
          </a:p>
          <a:p>
            <a:pPr>
              <a:buNone/>
            </a:pPr>
            <a:r>
              <a:rPr lang="fr-FR" sz="1400" dirty="0" smtClean="0"/>
              <a:t>public </a:t>
            </a:r>
            <a:r>
              <a:rPr lang="fr-FR" sz="1400" dirty="0" err="1" smtClean="0"/>
              <a:t>static</a:t>
            </a:r>
            <a:r>
              <a:rPr lang="fr-FR" sz="1400" dirty="0" smtClean="0"/>
              <a:t> </a:t>
            </a:r>
            <a:r>
              <a:rPr lang="fr-FR" sz="1400" dirty="0" err="1" smtClean="0"/>
              <a:t>void</a:t>
            </a:r>
            <a:r>
              <a:rPr lang="fr-FR" sz="1400" dirty="0" smtClean="0"/>
              <a:t> main(String </a:t>
            </a:r>
            <a:r>
              <a:rPr lang="fr-FR" sz="1400" dirty="0" err="1" smtClean="0"/>
              <a:t>args</a:t>
            </a:r>
            <a:r>
              <a:rPr lang="fr-FR" sz="1400" dirty="0" smtClean="0"/>
              <a:t>[]) </a:t>
            </a:r>
            <a:r>
              <a:rPr lang="fr-FR" sz="1400" dirty="0" smtClean="0"/>
              <a:t>{</a:t>
            </a:r>
          </a:p>
          <a:p>
            <a:pPr>
              <a:buNone/>
            </a:pPr>
            <a:r>
              <a:rPr lang="fr-FR" sz="1400" dirty="0" smtClean="0"/>
              <a:t>if </a:t>
            </a:r>
            <a:r>
              <a:rPr lang="fr-FR" sz="1400" dirty="0" smtClean="0"/>
              <a:t>(</a:t>
            </a:r>
            <a:r>
              <a:rPr lang="fr-FR" sz="1400" dirty="0" err="1" smtClean="0"/>
              <a:t>System.getSecurityManager</a:t>
            </a:r>
            <a:r>
              <a:rPr lang="fr-FR" sz="1400" dirty="0" smtClean="0"/>
              <a:t>() == </a:t>
            </a:r>
            <a:r>
              <a:rPr lang="fr-FR" sz="1400" dirty="0" err="1" smtClean="0"/>
              <a:t>null</a:t>
            </a:r>
            <a:r>
              <a:rPr lang="fr-FR" sz="1400" dirty="0" smtClean="0"/>
              <a:t>) {	</a:t>
            </a:r>
            <a:endParaRPr lang="fr-FR" sz="1400" dirty="0" smtClean="0"/>
          </a:p>
          <a:p>
            <a:pPr>
              <a:buNone/>
            </a:pPr>
            <a:r>
              <a:rPr lang="fr-FR" sz="1400" dirty="0" err="1" smtClean="0"/>
              <a:t>System.setSecurityManager</a:t>
            </a:r>
            <a:r>
              <a:rPr lang="fr-FR" sz="1400" dirty="0" smtClean="0"/>
              <a:t>(new </a:t>
            </a:r>
            <a:r>
              <a:rPr lang="fr-FR" sz="1400" dirty="0" err="1" smtClean="0"/>
              <a:t>SecurityManager</a:t>
            </a:r>
            <a:r>
              <a:rPr lang="fr-FR" sz="1400" dirty="0" smtClean="0"/>
              <a:t>());</a:t>
            </a:r>
          </a:p>
          <a:p>
            <a:pPr>
              <a:buNone/>
            </a:pPr>
            <a:r>
              <a:rPr lang="fr-FR" sz="1400" dirty="0" smtClean="0"/>
              <a:t>}</a:t>
            </a:r>
          </a:p>
          <a:p>
            <a:pPr>
              <a:buNone/>
            </a:pPr>
            <a:r>
              <a:rPr lang="fr-FR" sz="1400" dirty="0" err="1" smtClean="0"/>
              <a:t>try</a:t>
            </a:r>
            <a:r>
              <a:rPr lang="fr-FR" sz="1400" dirty="0" smtClean="0"/>
              <a:t> {</a:t>
            </a:r>
          </a:p>
          <a:p>
            <a:pPr>
              <a:buNone/>
            </a:pPr>
            <a:r>
              <a:rPr lang="fr-FR" sz="1400" dirty="0" err="1" smtClean="0"/>
              <a:t>Registry</a:t>
            </a:r>
            <a:r>
              <a:rPr lang="fr-FR" sz="1400" dirty="0" smtClean="0"/>
              <a:t> </a:t>
            </a:r>
            <a:r>
              <a:rPr lang="fr-FR" sz="1400" dirty="0" err="1" smtClean="0"/>
              <a:t>registry</a:t>
            </a:r>
            <a:r>
              <a:rPr lang="fr-FR" sz="1400" dirty="0" smtClean="0"/>
              <a:t> = </a:t>
            </a:r>
            <a:r>
              <a:rPr lang="fr-FR" sz="1400" dirty="0" err="1" smtClean="0"/>
              <a:t>LocateRegistry.getRegistry</a:t>
            </a:r>
            <a:r>
              <a:rPr lang="fr-FR" sz="1400" dirty="0" smtClean="0"/>
              <a:t> (</a:t>
            </a:r>
            <a:r>
              <a:rPr lang="fr-FR" sz="1400" dirty="0" err="1" smtClean="0"/>
              <a:t>args</a:t>
            </a:r>
            <a:r>
              <a:rPr lang="fr-FR" sz="1400" dirty="0" smtClean="0"/>
              <a:t>[0</a:t>
            </a:r>
            <a:r>
              <a:rPr lang="fr-FR" sz="1400" dirty="0" smtClean="0"/>
              <a:t>]);</a:t>
            </a:r>
          </a:p>
          <a:p>
            <a:pPr>
              <a:buNone/>
            </a:pPr>
            <a:r>
              <a:rPr lang="fr-FR" sz="1400" dirty="0" err="1" smtClean="0"/>
              <a:t>nomInterface</a:t>
            </a:r>
            <a:r>
              <a:rPr lang="fr-FR" sz="1400" dirty="0" smtClean="0"/>
              <a:t> </a:t>
            </a:r>
            <a:r>
              <a:rPr lang="fr-FR" sz="1400" dirty="0" err="1" smtClean="0"/>
              <a:t>comp</a:t>
            </a:r>
            <a:r>
              <a:rPr lang="fr-FR" sz="1400" dirty="0" smtClean="0"/>
              <a:t> = (</a:t>
            </a:r>
            <a:r>
              <a:rPr lang="fr-FR" sz="1400" dirty="0" err="1" smtClean="0"/>
              <a:t>nomInterface</a:t>
            </a:r>
            <a:r>
              <a:rPr lang="fr-FR" sz="1400" dirty="0" smtClean="0"/>
              <a:t>) </a:t>
            </a:r>
            <a:r>
              <a:rPr lang="fr-FR" sz="1400" dirty="0" err="1" smtClean="0"/>
              <a:t>registry.lookup</a:t>
            </a:r>
            <a:r>
              <a:rPr lang="fr-FR" sz="1400" dirty="0" smtClean="0"/>
              <a:t> ("</a:t>
            </a:r>
            <a:r>
              <a:rPr lang="fr-FR" sz="1400" dirty="0" err="1" smtClean="0"/>
              <a:t>Compute</a:t>
            </a:r>
            <a:r>
              <a:rPr lang="fr-FR" sz="1400" dirty="0" smtClean="0"/>
              <a:t>");</a:t>
            </a:r>
          </a:p>
          <a:p>
            <a:pPr>
              <a:buNone/>
            </a:pPr>
            <a:r>
              <a:rPr lang="fr-FR" sz="1400" dirty="0" err="1" smtClean="0"/>
              <a:t>TypeRetour</a:t>
            </a:r>
            <a:r>
              <a:rPr lang="fr-FR" sz="1400" dirty="0" smtClean="0"/>
              <a:t> </a:t>
            </a:r>
            <a:r>
              <a:rPr lang="fr-FR" sz="1400" dirty="0" smtClean="0"/>
              <a:t>valeur = </a:t>
            </a:r>
            <a:r>
              <a:rPr lang="fr-FR" sz="1400" dirty="0" err="1" smtClean="0"/>
              <a:t>comp.NomMethode</a:t>
            </a:r>
            <a:r>
              <a:rPr lang="fr-FR" sz="1400" dirty="0" smtClean="0"/>
              <a:t>();System.out.println(valeur</a:t>
            </a:r>
            <a:r>
              <a:rPr lang="fr-FR" sz="1400" dirty="0" smtClean="0"/>
              <a:t>);</a:t>
            </a:r>
          </a:p>
          <a:p>
            <a:pPr>
              <a:buNone/>
            </a:pPr>
            <a:r>
              <a:rPr lang="fr-FR" sz="1400" dirty="0" smtClean="0"/>
              <a:t>} </a:t>
            </a:r>
            <a:r>
              <a:rPr lang="fr-FR" sz="1400" dirty="0" smtClean="0"/>
              <a:t>catch (Exception e) {	</a:t>
            </a:r>
            <a:endParaRPr lang="fr-FR" sz="1400" dirty="0" smtClean="0"/>
          </a:p>
          <a:p>
            <a:pPr>
              <a:buNone/>
            </a:pPr>
            <a:r>
              <a:rPr lang="fr-FR" sz="1400" dirty="0" smtClean="0"/>
              <a:t>System.err.println</a:t>
            </a:r>
            <a:r>
              <a:rPr lang="fr-FR" sz="1400" dirty="0" smtClean="0"/>
              <a:t>("</a:t>
            </a:r>
            <a:r>
              <a:rPr lang="fr-FR" sz="1400" dirty="0" err="1" smtClean="0"/>
              <a:t>ComputePi</a:t>
            </a:r>
            <a:r>
              <a:rPr lang="fr-FR" sz="1400" dirty="0" smtClean="0"/>
              <a:t> exception:");	</a:t>
            </a:r>
            <a:endParaRPr lang="fr-FR" sz="1400" dirty="0" smtClean="0"/>
          </a:p>
          <a:p>
            <a:pPr>
              <a:buNone/>
            </a:pPr>
            <a:r>
              <a:rPr lang="fr-FR" sz="1400" dirty="0" err="1" smtClean="0"/>
              <a:t>e.printStackTrace</a:t>
            </a:r>
            <a:r>
              <a:rPr lang="fr-FR" sz="1400" dirty="0" smtClean="0"/>
              <a:t>();</a:t>
            </a:r>
          </a:p>
          <a:p>
            <a:pPr>
              <a:buNone/>
            </a:pPr>
            <a:r>
              <a:rPr lang="fr-FR" sz="1400" dirty="0" smtClean="0"/>
              <a:t>}</a:t>
            </a:r>
          </a:p>
          <a:p>
            <a:pPr>
              <a:buNone/>
            </a:pPr>
            <a:r>
              <a:rPr lang="fr-FR" sz="1400" dirty="0" smtClean="0"/>
              <a:t>}   </a:t>
            </a:r>
          </a:p>
          <a:p>
            <a:pPr>
              <a:buNone/>
            </a:pPr>
            <a:r>
              <a:rPr lang="fr-FR" sz="1400" dirty="0" smtClean="0"/>
              <a:t>} </a:t>
            </a:r>
            <a:endParaRPr lang="fr-FR" sz="1400" dirty="0"/>
          </a:p>
        </p:txBody>
      </p:sp>
    </p:spTree>
    <p:extLst>
      <p:ext uri="{BB962C8B-B14F-4D97-AF65-F5344CB8AC3E}">
        <p14:creationId xmlns="" xmlns:p14="http://schemas.microsoft.com/office/powerpoint/2010/main" val="31488880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b="1" dirty="0" smtClean="0"/>
              <a:t>Pour le serveur un ficher appelé </a:t>
            </a:r>
            <a:r>
              <a:rPr lang="fr-FR" b="1" dirty="0" err="1" smtClean="0"/>
              <a:t>server.policy</a:t>
            </a:r>
            <a:endParaRPr lang="fr-FR" dirty="0" smtClean="0"/>
          </a:p>
          <a:p>
            <a:pPr>
              <a:buNone/>
            </a:pPr>
            <a:r>
              <a:rPr lang="fr-FR" dirty="0" err="1" smtClean="0"/>
              <a:t>grantcodeBase</a:t>
            </a:r>
            <a:r>
              <a:rPr lang="fr-FR" dirty="0" smtClean="0"/>
              <a:t> "file:/</a:t>
            </a:r>
            <a:r>
              <a:rPr lang="fr-FR" dirty="0" smtClean="0"/>
              <a:t>home/ServerAP/src/</a:t>
            </a:r>
            <a:r>
              <a:rPr lang="fr-FR" dirty="0" smtClean="0"/>
              <a:t> "</a:t>
            </a:r>
            <a:r>
              <a:rPr lang="fr-FR" dirty="0" smtClean="0"/>
              <a:t> </a:t>
            </a:r>
          </a:p>
          <a:p>
            <a:pPr>
              <a:buNone/>
            </a:pPr>
            <a:r>
              <a:rPr lang="fr-FR" dirty="0" smtClean="0"/>
              <a:t>{</a:t>
            </a:r>
            <a:r>
              <a:rPr lang="fr-FR" dirty="0" err="1" smtClean="0"/>
              <a:t>permissionjava.security.AllPermission</a:t>
            </a:r>
            <a:r>
              <a:rPr lang="fr-FR" dirty="0" smtClean="0"/>
              <a:t>;}; </a:t>
            </a:r>
            <a:endParaRPr lang="fr-FR" dirty="0" smtClean="0"/>
          </a:p>
          <a:p>
            <a:pPr>
              <a:buNone/>
            </a:pPr>
            <a:r>
              <a:rPr lang="fr-FR" b="1" dirty="0" smtClean="0"/>
              <a:t>Pour</a:t>
            </a:r>
            <a:r>
              <a:rPr lang="fr-FR" b="1" dirty="0" smtClean="0"/>
              <a:t> </a:t>
            </a:r>
            <a:r>
              <a:rPr lang="fr-FR" b="1" dirty="0" smtClean="0"/>
              <a:t>le client un fichier appelé </a:t>
            </a:r>
            <a:r>
              <a:rPr lang="fr-FR" b="1" dirty="0" err="1" smtClean="0"/>
              <a:t>client.polycie</a:t>
            </a:r>
            <a:endParaRPr lang="fr-FR" dirty="0" smtClean="0"/>
          </a:p>
          <a:p>
            <a:pPr>
              <a:buNone/>
            </a:pPr>
            <a:r>
              <a:rPr lang="fr-FR" dirty="0" err="1" smtClean="0"/>
              <a:t>grantcodeBase</a:t>
            </a:r>
            <a:r>
              <a:rPr lang="fr-FR" dirty="0" smtClean="0"/>
              <a:t> "file:/home/ClientAP/src/" {</a:t>
            </a:r>
            <a:r>
              <a:rPr lang="fr-FR" dirty="0" err="1" smtClean="0"/>
              <a:t>permissionjava.security.AllPermission</a:t>
            </a:r>
            <a:r>
              <a:rPr lang="fr-FR" dirty="0" smtClean="0"/>
              <a:t>;};</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24</a:t>
            </a:fld>
            <a:endParaRPr lang="fr-BE"/>
          </a:p>
        </p:txBody>
      </p:sp>
      <p:sp>
        <p:nvSpPr>
          <p:cNvPr id="4" name="Titre 3"/>
          <p:cNvSpPr>
            <a:spLocks noGrp="1"/>
          </p:cNvSpPr>
          <p:nvPr>
            <p:ph type="title"/>
          </p:nvPr>
        </p:nvSpPr>
        <p:spPr/>
        <p:txBody>
          <a:bodyPr/>
          <a:lstStyle/>
          <a:p>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endParaRPr lang="fr-FR" dirty="0" smtClean="0"/>
          </a:p>
          <a:p>
            <a:r>
              <a:rPr lang="fr-FR" dirty="0" smtClean="0"/>
              <a:t>RMI simple a mettre en ouvre </a:t>
            </a:r>
          </a:p>
          <a:p>
            <a:pPr>
              <a:buNone/>
            </a:pPr>
            <a:endParaRPr lang="fr-FR" dirty="0" smtClean="0"/>
          </a:p>
          <a:p>
            <a:r>
              <a:rPr lang="fr-FR" dirty="0" smtClean="0"/>
              <a:t>Nécessite des </a:t>
            </a:r>
            <a:r>
              <a:rPr lang="fr-FR" dirty="0" smtClean="0"/>
              <a:t>efforts </a:t>
            </a:r>
            <a:r>
              <a:rPr lang="fr-FR" dirty="0" smtClean="0"/>
              <a:t>pour la gestion de la concurrence</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25</a:t>
            </a:fld>
            <a:endParaRPr lang="fr-BE"/>
          </a:p>
        </p:txBody>
      </p:sp>
      <p:sp>
        <p:nvSpPr>
          <p:cNvPr id="4" name="Titre 3"/>
          <p:cNvSpPr>
            <a:spLocks noGrp="1"/>
          </p:cNvSpPr>
          <p:nvPr>
            <p:ph type="title"/>
          </p:nvPr>
        </p:nvSpPr>
        <p:spPr/>
        <p:txBody>
          <a:bodyPr/>
          <a:lstStyle/>
          <a:p>
            <a:r>
              <a:rPr lang="fr-FR" dirty="0" smtClean="0"/>
              <a:t>Conclusion</a:t>
            </a:r>
            <a:endParaRPr lang="fr-F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normAutofit fontScale="92500" lnSpcReduction="10000"/>
          </a:bodyPr>
          <a:lstStyle/>
          <a:p>
            <a:r>
              <a:rPr lang="fr-FR" dirty="0"/>
              <a:t>Le concept de ville intelligente est relativement </a:t>
            </a:r>
            <a:r>
              <a:rPr lang="fr-FR" dirty="0" smtClean="0"/>
              <a:t>nouveau,</a:t>
            </a:r>
          </a:p>
          <a:p>
            <a:pPr marL="0" indent="0">
              <a:buNone/>
            </a:pPr>
            <a:endParaRPr lang="fr-FR" dirty="0" smtClean="0"/>
          </a:p>
          <a:p>
            <a:r>
              <a:rPr lang="fr-FR" dirty="0"/>
              <a:t>Les </a:t>
            </a:r>
            <a:r>
              <a:rPr lang="fr-FR" dirty="0" smtClean="0"/>
              <a:t>applications </a:t>
            </a:r>
            <a:r>
              <a:rPr lang="fr-FR" dirty="0"/>
              <a:t>obsolètes « </a:t>
            </a:r>
            <a:r>
              <a:rPr lang="fr-FR" dirty="0" err="1"/>
              <a:t>Legacy</a:t>
            </a:r>
            <a:r>
              <a:rPr lang="fr-FR" dirty="0"/>
              <a:t> » continuent d'être utilisé dans les </a:t>
            </a:r>
            <a:r>
              <a:rPr lang="fr-FR" dirty="0" smtClean="0"/>
              <a:t>organisations,</a:t>
            </a:r>
          </a:p>
          <a:p>
            <a:pPr marL="0" indent="0">
              <a:buNone/>
            </a:pPr>
            <a:endParaRPr lang="fr-FR" dirty="0"/>
          </a:p>
          <a:p>
            <a:r>
              <a:rPr lang="fr-FR" dirty="0" smtClean="0"/>
              <a:t>La transformation des applications </a:t>
            </a:r>
            <a:r>
              <a:rPr lang="fr-FR" dirty="0"/>
              <a:t>obsolètes</a:t>
            </a:r>
            <a:r>
              <a:rPr lang="fr-FR" dirty="0" smtClean="0"/>
              <a:t> en service web peut réduire les cout d’adoption des villes intelligentes.</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26</a:t>
            </a:fld>
            <a:endParaRPr lang="fr-BE"/>
          </a:p>
        </p:txBody>
      </p:sp>
      <p:sp>
        <p:nvSpPr>
          <p:cNvPr id="4" name="Titre 3"/>
          <p:cNvSpPr>
            <a:spLocks noGrp="1"/>
          </p:cNvSpPr>
          <p:nvPr>
            <p:ph type="title"/>
          </p:nvPr>
        </p:nvSpPr>
        <p:spPr/>
        <p:txBody>
          <a:bodyPr/>
          <a:lstStyle/>
          <a:p>
            <a:r>
              <a:rPr lang="fr-FR" dirty="0" smtClean="0"/>
              <a:t>Conclusion</a:t>
            </a:r>
            <a:endParaRPr lang="fr-FR" dirty="0"/>
          </a:p>
        </p:txBody>
      </p:sp>
    </p:spTree>
    <p:extLst>
      <p:ext uri="{BB962C8B-B14F-4D97-AF65-F5344CB8AC3E}">
        <p14:creationId xmlns="" xmlns:p14="http://schemas.microsoft.com/office/powerpoint/2010/main" val="35582982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dirty="0" smtClean="0"/>
              <a:t>Supporter </a:t>
            </a:r>
            <a:r>
              <a:rPr lang="fr-FR" dirty="0"/>
              <a:t>de nouvelles applications écrites en d’autre langage de </a:t>
            </a:r>
            <a:r>
              <a:rPr lang="fr-FR" dirty="0" smtClean="0"/>
              <a:t>programmation,</a:t>
            </a:r>
          </a:p>
          <a:p>
            <a:pPr marL="0" indent="0">
              <a:buNone/>
            </a:pPr>
            <a:endParaRPr lang="fr-FR" dirty="0"/>
          </a:p>
          <a:p>
            <a:r>
              <a:rPr lang="fr-FR" dirty="0" smtClean="0"/>
              <a:t>Diviser </a:t>
            </a:r>
            <a:r>
              <a:rPr lang="fr-FR" dirty="0"/>
              <a:t>le projet </a:t>
            </a:r>
            <a:r>
              <a:rPr lang="fr-FR" dirty="0" err="1" smtClean="0"/>
              <a:t>Webswing</a:t>
            </a:r>
            <a:r>
              <a:rPr lang="fr-FR" dirty="0" smtClean="0"/>
              <a:t> </a:t>
            </a:r>
            <a:r>
              <a:rPr lang="fr-FR" dirty="0"/>
              <a:t>en plusieurs </a:t>
            </a:r>
            <a:r>
              <a:rPr lang="fr-FR" dirty="0" smtClean="0"/>
              <a:t>micro-services pour plus de performance.</a:t>
            </a:r>
            <a:endParaRPr lang="fr-FR" dirty="0"/>
          </a:p>
        </p:txBody>
      </p:sp>
      <p:sp>
        <p:nvSpPr>
          <p:cNvPr id="3" name="Espace réservé du numéro de diapositive 2"/>
          <p:cNvSpPr>
            <a:spLocks noGrp="1"/>
          </p:cNvSpPr>
          <p:nvPr>
            <p:ph type="sldNum" sz="quarter" idx="12"/>
          </p:nvPr>
        </p:nvSpPr>
        <p:spPr/>
        <p:txBody>
          <a:bodyPr/>
          <a:lstStyle/>
          <a:p>
            <a:fld id="{CF4668DC-857F-487D-BFFA-8C0CA5037977}" type="slidenum">
              <a:rPr lang="fr-BE" smtClean="0"/>
              <a:pPr/>
              <a:t>27</a:t>
            </a:fld>
            <a:endParaRPr lang="fr-BE"/>
          </a:p>
        </p:txBody>
      </p:sp>
      <p:sp>
        <p:nvSpPr>
          <p:cNvPr id="4" name="Titre 3"/>
          <p:cNvSpPr>
            <a:spLocks noGrp="1"/>
          </p:cNvSpPr>
          <p:nvPr>
            <p:ph type="title"/>
          </p:nvPr>
        </p:nvSpPr>
        <p:spPr/>
        <p:txBody>
          <a:bodyPr/>
          <a:lstStyle/>
          <a:p>
            <a:r>
              <a:rPr lang="fr-FR" dirty="0" smtClean="0"/>
              <a:t>Perspectives</a:t>
            </a:r>
            <a:endParaRPr lang="fr-FR" dirty="0"/>
          </a:p>
        </p:txBody>
      </p:sp>
    </p:spTree>
    <p:extLst>
      <p:ext uri="{BB962C8B-B14F-4D97-AF65-F5344CB8AC3E}">
        <p14:creationId xmlns="" xmlns:p14="http://schemas.microsoft.com/office/powerpoint/2010/main" val="322740963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smtClean="0"/>
              <a:t>Merci</a:t>
            </a:r>
            <a:endParaRPr lang="fr-FR" dirty="0"/>
          </a:p>
        </p:txBody>
      </p:sp>
      <p:sp>
        <p:nvSpPr>
          <p:cNvPr id="3" name="Sous-titre 2"/>
          <p:cNvSpPr>
            <a:spLocks noGrp="1"/>
          </p:cNvSpPr>
          <p:nvPr>
            <p:ph type="subTitle" idx="1"/>
          </p:nvPr>
        </p:nvSpPr>
        <p:spPr/>
        <p:txBody>
          <a:bodyPr/>
          <a:lstStyle/>
          <a:p>
            <a:r>
              <a:rPr lang="fr-FR" dirty="0" smtClean="0"/>
              <a:t>Pour votre attention</a:t>
            </a:r>
            <a:endParaRPr lang="fr-FR" dirty="0"/>
          </a:p>
        </p:txBody>
      </p:sp>
    </p:spTree>
    <p:extLst>
      <p:ext uri="{BB962C8B-B14F-4D97-AF65-F5344CB8AC3E}">
        <p14:creationId xmlns="" xmlns:p14="http://schemas.microsoft.com/office/powerpoint/2010/main" val="1633780384"/>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UM" val="6"/>
</p:tagLst>
</file>

<file path=ppt/tags/tag2.xml><?xml version="1.0" encoding="utf-8"?>
<p:tagLst xmlns:a="http://schemas.openxmlformats.org/drawingml/2006/main" xmlns:r="http://schemas.openxmlformats.org/officeDocument/2006/relationships" xmlns:p="http://schemas.openxmlformats.org/presentationml/2006/main">
  <p:tag name="NUM" val="10"/>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Rotonde">
  <a:themeElements>
    <a:clrScheme name="Rotond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Rotond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Rotond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1259</TotalTime>
  <Words>1229</Words>
  <Application>Microsoft Office PowerPoint</Application>
  <PresentationFormat>Affichage à l'écran (16:9)</PresentationFormat>
  <Paragraphs>193</Paragraphs>
  <Slides>28</Slides>
  <Notes>9</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Rotonde</vt:lpstr>
      <vt:lpstr>Étude comparative de construction d'une application distribuée avec RMI et JCSP net</vt:lpstr>
      <vt:lpstr>Plan</vt:lpstr>
      <vt:lpstr>Introduction</vt:lpstr>
      <vt:lpstr>introduction</vt:lpstr>
      <vt:lpstr>Introduction </vt:lpstr>
      <vt:lpstr>Diapositive 6</vt:lpstr>
      <vt:lpstr>RMI</vt:lpstr>
      <vt:lpstr>RIM</vt:lpstr>
      <vt:lpstr>Définition </vt:lpstr>
      <vt:lpstr>RPC</vt:lpstr>
      <vt:lpstr>Diapositive 11</vt:lpstr>
      <vt:lpstr>Remarques</vt:lpstr>
      <vt:lpstr>Architecture RMI </vt:lpstr>
      <vt:lpstr>Cloud Computing</vt:lpstr>
      <vt:lpstr>Mécanisme de téléchargement  des définitions des classes distantes </vt:lpstr>
      <vt:lpstr>Diapositive 16</vt:lpstr>
      <vt:lpstr>Le mécanisme d’activation des objets distants </vt:lpstr>
      <vt:lpstr>Gestionnaire de sécurité java</vt:lpstr>
      <vt:lpstr>Garbage collector distribué</vt:lpstr>
      <vt:lpstr>RMI en pratique</vt:lpstr>
      <vt:lpstr>Objet destant </vt:lpstr>
      <vt:lpstr>Lancer le serveur</vt:lpstr>
      <vt:lpstr>Création de client</vt:lpstr>
      <vt:lpstr>Diapositive 24</vt:lpstr>
      <vt:lpstr>Conclusion</vt:lpstr>
      <vt:lpstr>Conclusion</vt:lpstr>
      <vt:lpstr>Perspectives</vt:lpstr>
      <vt:lpstr>Merci</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imed eddine</dc:creator>
  <cp:lastModifiedBy>soufiane</cp:lastModifiedBy>
  <cp:revision>102</cp:revision>
  <dcterms:created xsi:type="dcterms:W3CDTF">2017-06-17T04:19:02Z</dcterms:created>
  <dcterms:modified xsi:type="dcterms:W3CDTF">2018-06-24T22:49:03Z</dcterms:modified>
</cp:coreProperties>
</file>